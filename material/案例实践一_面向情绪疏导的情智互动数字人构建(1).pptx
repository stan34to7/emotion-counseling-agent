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21"/>
  </p:notesMasterIdLst>
  <p:sldIdLst>
    <p:sldId id="256" r:id="rId5"/>
    <p:sldId id="270" r:id="rId6"/>
    <p:sldId id="258" r:id="rId7"/>
    <p:sldId id="259" r:id="rId8"/>
    <p:sldId id="272" r:id="rId9"/>
    <p:sldId id="273" r:id="rId10"/>
    <p:sldId id="261" r:id="rId11"/>
    <p:sldId id="262" r:id="rId12"/>
    <p:sldId id="263" r:id="rId13"/>
    <p:sldId id="264" r:id="rId14"/>
    <p:sldId id="265" r:id="rId15"/>
    <p:sldId id="274" r:id="rId16"/>
    <p:sldId id="266" r:id="rId17"/>
    <p:sldId id="267" r:id="rId18"/>
    <p:sldId id="268" r:id="rId19"/>
    <p:sldId id="269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7" userDrawn="1">
          <p15:clr>
            <a:srgbClr val="747775"/>
          </p15:clr>
        </p15:guide>
        <p15:guide id="2" pos="277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420" y="56"/>
      </p:cViewPr>
      <p:guideLst>
        <p:guide orient="horz" pos="1627"/>
        <p:guide pos="27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本页为课题概况：一句话现实意义 + 案例标题，右侧为数字人、情绪曲线与游戏界面站位图。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第一步案例分析：梳理输入（人物视频）、输出（情绪标签+数字人交互反馈）与五项关键技术，绘制技术框架图。老师主讲左侧第一步文字，右侧为整体技术路线图。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第二步第（1）步：数据准备与预处理。主讲数据集 DFEW/MAFW、五折划分、抽帧统一、RetinaFace 人脸对齐与标准化增广；右侧为视频帧与情绪检测示意。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第二步第（2）步：部署候选模型。主讲语义引导视频情绪感知模型（ViT-B/16+Token化+MoE）、环境搭建与权重加载，并复现帧级 CNN 基线；右侧为模型结构示意图。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第一步案例分析：梳理输入（人物视频）、输出（情绪标签+数字人交互反馈）与五项关键技术，绘制技术框架图。老师主讲左侧第一步文字，右侧为整体技术路线图。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第三步第（1）（2）步：数据准备与三维人像重建。主讲授权素材抽帧、混元3D/Tripo 3D 由图像或文字重建三维人像；右侧为重建流程示意。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第三步第（1）（2）步：数据准备与三维人像重建。主讲授权素材抽帧、混元3D/Tripo 3D 由图像或文字重建三维人像；右侧为重建流程示意。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第三步第（3）（4）步：骨骼绑定与语音生成。主讲 MIA 结构感知绑骨、GPT-SoVITS/CosyVoice 文字转语音复刻；右侧为绑骨与语音波形示意。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第三步第（5）（6）步：唇形驱动与音画同步。主讲 Wav2Lip 口型序列生成、与外观资产对接驱动唇形表情头部动作；右侧为口型帧序列示意。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第四步第（1）（2）步：知识梳理与知识入库。主讲语料分众梳理、清洗分块、BGE 向量化与 FAISS 建索引；右侧为入库流程示意。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第四步第（3）（4）（5）步：检索问答接口、检索评测与迭代优化。主讲 Top-k 检索接大模型问答、问题集评测与迭代；右侧为检索问答流程示意。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第五步第（1）（2）步：用户状态感知与话术生成。主讲状态感知空间、提示词组装与共情话术生成，语音由数字人模块提供；右侧为智能体架构示意。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第五步第（1）（2）步：用户状态感知与话术生成。主讲状态感知空间、提示词组装与共情话术生成，语音由数字人模块提供；右侧为智能体架构示意。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第五步第（3）（4）（5）步：记忆与上下文、闭环集成、行为反馈。主讲多轮对话记忆、识别-检索-生成闭环与预留行为反馈接口；右侧为闭环回路示意。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第六步：游戏行为嵌入（拔高项）。主讲行为事件接入、规则/模板话术映射与可选的大模型语义理解；右侧为游戏界面与数字人话术示意。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技术路线图总览与小结：左侧五步任务流与培养能力，右侧自画五步闭环流程</a:t>
            </a:r>
            <a:r>
              <a:rPr lang="en-US" sz="12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；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9" hasCustomPrompt="1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 defTabSz="914400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ctr" defTabSz="914400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0" hasCustomPrompt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 defTabSz="914400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ctr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单击以编辑母版副标题样式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78"/>
          </p:nvPr>
        </p:nvSpPr>
        <p:spPr>
          <a:xfrm>
            <a:off x="7058025" y="4869657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800" b="0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79" hasCustomPrompt="1"/>
          </p:nvPr>
        </p:nvSpPr>
        <p:spPr>
          <a:xfrm>
            <a:off x="623888" y="1282306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914400">
              <a:lnSpc>
                <a:spcPct val="92000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0" hasCustomPrompt="1"/>
          </p:nvPr>
        </p:nvSpPr>
        <p:spPr>
          <a:xfrm>
            <a:off x="623888" y="3442099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92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3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89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0" hasCustomPrompt="1"/>
          </p:nvPr>
        </p:nvSpPr>
        <p:spPr>
          <a:xfrm>
            <a:off x="629841" y="273846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1" hasCustomPrompt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914400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2" hasCustomPrompt="1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3" hasCustomPrompt="1"/>
          </p:nvPr>
        </p:nvSpPr>
        <p:spPr>
          <a:xfrm>
            <a:off x="4629153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914400">
              <a:lnSpc>
                <a:spcPct val="92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4" hasCustomPrompt="1"/>
          </p:nvPr>
        </p:nvSpPr>
        <p:spPr>
          <a:xfrm>
            <a:off x="4629153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97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914400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06" hasCustomPrompt="1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35000" indent="-406400" algn="l" defTabSz="914400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104140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07" hasCustomPrompt="1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0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914400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112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3" hasCustomPrompt="1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92000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0" indent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1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8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22" hasCustomPrompt="1"/>
          </p:nvPr>
        </p:nvSpPr>
        <p:spPr>
          <a:xfrm>
            <a:off x="6543676" y="273845"/>
            <a:ext cx="1971675" cy="43588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Autofit/>
          </a:bodyPr>
          <a:lstStyle>
            <a:lvl1pPr algn="l" defTabSz="914400">
              <a:lnSpc>
                <a:spcPct val="92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 defTabSz="914400">
              <a:lnSpc>
                <a:spcPct val="92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3" hasCustomPrompt="1"/>
          </p:nvPr>
        </p:nvSpPr>
        <p:spPr>
          <a:xfrm>
            <a:off x="628653" y="273845"/>
            <a:ext cx="5800725" cy="435887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26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本讲内容&amp;金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47" b="907"/>
          <a:stretch>
            <a:fillRect/>
          </a:stretch>
        </p:blipFill>
        <p:spPr>
          <a:xfrm>
            <a:off x="0" y="4624387"/>
            <a:ext cx="9144000" cy="51911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465388" cy="108108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algn="r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等线 Light" panose="02010600030101010101" charset="-122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Autofit/>
          </a:bodyPr>
          <a:lstStyle>
            <a:lvl1pPr marL="584200" indent="-355600" algn="l">
              <a:lnSpc>
                <a:spcPct val="92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  <a:lvl2pPr marL="990600" indent="-304800"/>
            <a:lvl3pPr marL="1397000" indent="-254000"/>
            <a:lvl4pPr marL="1612900" indent="-12700"/>
            <a:lvl5pPr marL="2070100" indent="-12700"/>
            <a:lvl6pPr marL="2527300" indent="-12700"/>
            <a:lvl7pPr marL="2984500" indent="-12700"/>
            <a:lvl8pPr marL="3441700" indent="-12700"/>
            <a:lvl9pPr marL="3898900" indent="-12700"/>
          </a:lstStyle>
          <a:p>
            <a:pPr marL="22860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8580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114300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60020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  <a:p>
            <a:pPr marL="205740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90204"/>
              <a:buChar char="•"/>
            </a:pPr>
            <a:r>
              <a:rPr lang="en-US" sz="1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8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6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任务描述</a:t>
            </a: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面向情绪疏导的情智互动数字人构建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26324" y="648127"/>
            <a:ext cx="9034550" cy="1071452"/>
          </a:xfrm>
          <a:prstGeom prst="roundRect">
            <a:avLst>
              <a:gd name="adj" fmla="val 5332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285750" indent="-285750" algn="l" defTabSz="914400" eaLnBrk="1" fontAlgn="auto" latinLnBrk="0" hangingPunct="1">
              <a:lnSpc>
                <a:spcPct val="100000"/>
              </a:lnSpc>
              <a:buClr>
                <a:srgbClr val="111111"/>
              </a:buClr>
              <a:buFont typeface="Wingdings" panose="05000000000000000000" charset="0"/>
              <a:buChar char=""/>
              <a:defRPr/>
            </a:pPr>
            <a:r>
              <a:rPr lang="zh-CN" altLang="en-US" sz="1600" b="1">
                <a:latin typeface="微软雅黑" charset="0"/>
                <a:ea typeface="微软雅黑" charset="0"/>
                <a:sym typeface="+mn-ea"/>
              </a:rPr>
              <a:t>情绪状态往往难以通过语言完整表达，而面部表情、语音变化、创作过程和游戏行为都可以提供辅助线索。</a:t>
            </a:r>
            <a:endParaRPr lang="zh-CN" altLang="en-US" sz="1600" b="1">
              <a:latin typeface="微软雅黑" charset="0"/>
              <a:ea typeface="微软雅黑" charset="0"/>
            </a:endParaRPr>
          </a:p>
          <a:p>
            <a:pPr marL="285750" indent="-285750" algn="l" defTabSz="914400" eaLnBrk="1" fontAlgn="auto" latinLnBrk="0" hangingPunct="1">
              <a:lnSpc>
                <a:spcPct val="100000"/>
              </a:lnSpc>
              <a:buClr>
                <a:srgbClr val="111111"/>
              </a:buClr>
              <a:buFont typeface="Wingdings" panose="05000000000000000000" charset="0"/>
              <a:buChar char=""/>
              <a:defRPr/>
            </a:pPr>
            <a:r>
              <a:rPr lang="zh-CN" altLang="en-US" sz="1600" b="1" i="0" u="none" strike="noStrike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本案例实践内容包括研发基于视频的多模态情绪，搭建数字人外观与行为构建流程，构建情绪疏导知识库，设计并验证面向共情对话的智能体推理技术</a:t>
            </a:r>
          </a:p>
        </p:txBody>
      </p:sp>
      <p:sp>
        <p:nvSpPr>
          <p:cNvPr id="8" name="AutoShape 8"/>
          <p:cNvSpPr/>
          <p:nvPr/>
        </p:nvSpPr>
        <p:spPr>
          <a:xfrm>
            <a:off x="301633" y="2050168"/>
            <a:ext cx="4165600" cy="2806065"/>
          </a:xfrm>
          <a:prstGeom prst="rect">
            <a:avLst/>
          </a:prstGeom>
          <a:noFill/>
          <a:ln w="12700">
            <a:solidFill>
              <a:srgbClr val="D7E0E8"/>
            </a:solidFill>
            <a:prstDash val="solid"/>
          </a:ln>
        </p:spPr>
        <p:txBody>
          <a:bodyPr vert="horz" wrap="square" lIns="91440" tIns="25400" rIns="91440" bIns="25400" rtlCol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zh-CN" sz="1600" b="1" dirty="0">
                <a:latin typeface="微软雅黑" charset="0"/>
                <a:ea typeface="微软雅黑" charset="0"/>
                <a:cs typeface="微软雅黑" charset="0"/>
              </a:rPr>
              <a:t>任务流程概览</a:t>
            </a:r>
            <a:endParaRPr lang="en-US" altLang="zh-CN" sz="1600" b="1" dirty="0"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20000"/>
              </a:lnSpc>
            </a:pPr>
            <a:endParaRPr lang="zh-CN" altLang="zh-CN" sz="1600" dirty="0"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20000"/>
              </a:lnSpc>
            </a:pPr>
            <a:r>
              <a:rPr lang="zh-CN" altLang="zh-CN" sz="1600" dirty="0">
                <a:latin typeface="微软雅黑" charset="0"/>
                <a:ea typeface="微软雅黑" charset="0"/>
                <a:cs typeface="微软雅黑" charset="0"/>
              </a:rPr>
              <a:t>① 案例分析及技术框架构建</a:t>
            </a:r>
          </a:p>
          <a:p>
            <a:pPr algn="l">
              <a:lnSpc>
                <a:spcPct val="120000"/>
              </a:lnSpc>
            </a:pPr>
            <a:r>
              <a:rPr lang="zh-CN" altLang="zh-CN" sz="1600" dirty="0">
                <a:latin typeface="微软雅黑" charset="0"/>
                <a:ea typeface="微软雅黑" charset="0"/>
                <a:cs typeface="微软雅黑" charset="0"/>
              </a:rPr>
              <a:t>② 基于视频的多模态情绪识别</a:t>
            </a:r>
          </a:p>
          <a:p>
            <a:pPr algn="l">
              <a:lnSpc>
                <a:spcPct val="120000"/>
              </a:lnSpc>
            </a:pPr>
            <a:r>
              <a:rPr lang="zh-CN" altLang="zh-CN" sz="1600" dirty="0">
                <a:latin typeface="微软雅黑" charset="0"/>
                <a:ea typeface="微软雅黑" charset="0"/>
                <a:cs typeface="微软雅黑" charset="0"/>
              </a:rPr>
              <a:t>③ 数字人构建与语音驱动</a:t>
            </a:r>
            <a:endParaRPr lang="en-US" altLang="zh-CN" sz="1600" dirty="0"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20000"/>
              </a:lnSpc>
            </a:pPr>
            <a:r>
              <a:rPr lang="zh-CN" altLang="zh-CN" sz="1600" dirty="0">
                <a:latin typeface="微软雅黑" charset="0"/>
                <a:ea typeface="微软雅黑" charset="0"/>
                <a:cs typeface="微软雅黑" charset="0"/>
              </a:rPr>
              <a:t>④ 情绪疏导知识库与智能问答</a:t>
            </a:r>
          </a:p>
          <a:p>
            <a:pPr algn="l">
              <a:lnSpc>
                <a:spcPct val="120000"/>
              </a:lnSpc>
            </a:pPr>
            <a:r>
              <a:rPr lang="zh-CN" altLang="zh-CN" sz="1600" dirty="0">
                <a:latin typeface="微软雅黑" charset="0"/>
                <a:ea typeface="微软雅黑" charset="0"/>
                <a:cs typeface="微软雅黑" charset="0"/>
              </a:rPr>
              <a:t>⑤ 情绪疏导智能体</a:t>
            </a:r>
          </a:p>
          <a:p>
            <a:pPr algn="l">
              <a:lnSpc>
                <a:spcPct val="120000"/>
              </a:lnSpc>
            </a:pPr>
            <a:r>
              <a:rPr lang="zh-CN" altLang="zh-CN" sz="1600" dirty="0">
                <a:latin typeface="微软雅黑" charset="0"/>
                <a:ea typeface="微软雅黑" charset="0"/>
                <a:cs typeface="微软雅黑" charset="0"/>
              </a:rPr>
              <a:t>⑥ 游戏行为嵌入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061200" y="48006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5" name="AutoShape 10"/>
          <p:cNvSpPr/>
          <p:nvPr/>
        </p:nvSpPr>
        <p:spPr>
          <a:xfrm>
            <a:off x="7188200" y="49276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>
            <a:noAutofit/>
          </a:bodyPr>
          <a:lstStyle/>
          <a:p>
            <a:pPr algn="r">
              <a:defRPr/>
            </a:pPr>
            <a:endParaRPr sz="1000"/>
          </a:p>
        </p:txBody>
      </p:sp>
      <p:grpSp>
        <p:nvGrpSpPr>
          <p:cNvPr id="6" name="组合 5"/>
          <p:cNvGrpSpPr/>
          <p:nvPr/>
        </p:nvGrpSpPr>
        <p:grpSpPr>
          <a:xfrm>
            <a:off x="4863465" y="1788795"/>
            <a:ext cx="4279900" cy="3239770"/>
            <a:chOff x="5358" y="2056"/>
            <a:chExt cx="10229" cy="8332"/>
          </a:xfrm>
        </p:grpSpPr>
        <p:pic>
          <p:nvPicPr>
            <p:cNvPr id="64" name="图片 6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03" y="6728"/>
              <a:ext cx="3968" cy="3660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10987" y="6795"/>
              <a:ext cx="4600" cy="8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900" b="1" dirty="0">
                  <a:solidFill>
                    <a:srgbClr val="268208"/>
                  </a:solidFill>
                  <a:latin typeface="Times New Roman" panose="02020503050405090304" charset="0"/>
                  <a:cs typeface="Times New Roman" panose="02020503050405090304" charset="0"/>
                </a:rPr>
                <a:t>艺术创作游戏</a:t>
              </a:r>
              <a:endParaRPr lang="en-US" altLang="zh-CN" sz="900" b="1" dirty="0">
                <a:solidFill>
                  <a:srgbClr val="268208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43" name="圆角矩形 142"/>
            <p:cNvSpPr/>
            <p:nvPr/>
          </p:nvSpPr>
          <p:spPr>
            <a:xfrm>
              <a:off x="5384" y="2056"/>
              <a:ext cx="9887" cy="3827"/>
            </a:xfrm>
            <a:prstGeom prst="roundRect">
              <a:avLst>
                <a:gd name="adj" fmla="val 9942"/>
              </a:avLst>
            </a:prstGeom>
            <a:solidFill>
              <a:srgbClr val="F2F6FB"/>
            </a:solidFill>
            <a:ln>
              <a:solidFill>
                <a:srgbClr val="84A9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pic>
          <p:nvPicPr>
            <p:cNvPr id="144" name="图片 14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58" y="6937"/>
              <a:ext cx="4288" cy="3243"/>
            </a:xfrm>
            <a:prstGeom prst="rect">
              <a:avLst/>
            </a:prstGeom>
          </p:spPr>
        </p:pic>
        <p:sp>
          <p:nvSpPr>
            <p:cNvPr id="145" name="圆角矩形 144"/>
            <p:cNvSpPr/>
            <p:nvPr/>
          </p:nvSpPr>
          <p:spPr>
            <a:xfrm>
              <a:off x="5585" y="2713"/>
              <a:ext cx="4249" cy="3000"/>
            </a:xfrm>
            <a:prstGeom prst="roundRect">
              <a:avLst>
                <a:gd name="adj" fmla="val 9259"/>
              </a:avLst>
            </a:prstGeom>
            <a:solidFill>
              <a:srgbClr val="F0F6FB"/>
            </a:solidFill>
            <a:ln>
              <a:solidFill>
                <a:srgbClr val="84A9D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47" name="圆角矩形 146"/>
            <p:cNvSpPr/>
            <p:nvPr/>
          </p:nvSpPr>
          <p:spPr>
            <a:xfrm>
              <a:off x="10746" y="2713"/>
              <a:ext cx="4338" cy="3000"/>
            </a:xfrm>
            <a:prstGeom prst="roundRect">
              <a:avLst>
                <a:gd name="adj" fmla="val 9259"/>
              </a:avLst>
            </a:prstGeom>
            <a:solidFill>
              <a:srgbClr val="F2F7F6"/>
            </a:solidFill>
            <a:ln>
              <a:solidFill>
                <a:srgbClr val="A0C6A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5670" y="2056"/>
              <a:ext cx="9600" cy="6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000" b="1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</a:rPr>
                <a:t>3D </a:t>
              </a:r>
              <a:r>
                <a:rPr lang="zh-CN" altLang="en-US" sz="1000" b="1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</a:rPr>
                <a:t>数字人交互系统</a:t>
              </a: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5829" y="2713"/>
              <a:ext cx="3578" cy="6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</a:rPr>
                <a:t>视觉层</a:t>
              </a: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11141" y="2713"/>
              <a:ext cx="3578" cy="6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000" b="1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</a:rPr>
                <a:t>思考层</a:t>
              </a:r>
            </a:p>
          </p:txBody>
        </p:sp>
        <p:cxnSp>
          <p:nvCxnSpPr>
            <p:cNvPr id="152" name="直接箭头连接符 151"/>
            <p:cNvCxnSpPr>
              <a:stCxn id="144" idx="3"/>
              <a:endCxn id="64" idx="1"/>
            </p:cNvCxnSpPr>
            <p:nvPr/>
          </p:nvCxnSpPr>
          <p:spPr>
            <a:xfrm flipV="1">
              <a:off x="9646" y="8558"/>
              <a:ext cx="1657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3" name="直接箭头连接符 152"/>
            <p:cNvCxnSpPr>
              <a:stCxn id="145" idx="3"/>
              <a:endCxn id="147" idx="1"/>
            </p:cNvCxnSpPr>
            <p:nvPr/>
          </p:nvCxnSpPr>
          <p:spPr>
            <a:xfrm>
              <a:off x="9834" y="4213"/>
              <a:ext cx="91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ysDash"/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8" name="组合 157"/>
            <p:cNvGrpSpPr/>
            <p:nvPr/>
          </p:nvGrpSpPr>
          <p:grpSpPr>
            <a:xfrm>
              <a:off x="6360" y="3290"/>
              <a:ext cx="2338" cy="2341"/>
              <a:chOff x="205" y="4803"/>
              <a:chExt cx="2338" cy="2341"/>
            </a:xfrm>
          </p:grpSpPr>
          <p:sp>
            <p:nvSpPr>
              <p:cNvPr id="154" name="圆角矩形 153"/>
              <p:cNvSpPr/>
              <p:nvPr/>
            </p:nvSpPr>
            <p:spPr>
              <a:xfrm>
                <a:off x="205" y="4803"/>
                <a:ext cx="2339" cy="2341"/>
              </a:xfrm>
              <a:prstGeom prst="roundRect">
                <a:avLst/>
              </a:prstGeom>
              <a:solidFill>
                <a:srgbClr val="DECBE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00"/>
              </a:p>
            </p:txBody>
          </p:sp>
          <p:pic>
            <p:nvPicPr>
              <p:cNvPr id="151" name="图片 150"/>
              <p:cNvPicPr>
                <a:picLocks noChangeAspect="1"/>
              </p:cNvPicPr>
              <p:nvPr/>
            </p:nvPicPr>
            <p:blipFill>
              <a:blip r:embed="rId6"/>
              <a:srcRect t="16363" b="21263"/>
              <a:stretch>
                <a:fillRect/>
              </a:stretch>
            </p:blipFill>
            <p:spPr>
              <a:xfrm>
                <a:off x="407" y="4804"/>
                <a:ext cx="1788" cy="2340"/>
              </a:xfrm>
              <a:prstGeom prst="rect">
                <a:avLst/>
              </a:prstGeom>
            </p:spPr>
          </p:pic>
        </p:grpSp>
        <p:pic>
          <p:nvPicPr>
            <p:cNvPr id="159" name="图片 158" descr="点击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39" y="7568"/>
              <a:ext cx="847" cy="847"/>
            </a:xfrm>
            <a:prstGeom prst="rect">
              <a:avLst/>
            </a:prstGeom>
          </p:spPr>
        </p:pic>
        <p:sp>
          <p:nvSpPr>
            <p:cNvPr id="160" name="文本框 159"/>
            <p:cNvSpPr txBox="1"/>
            <p:nvPr/>
          </p:nvSpPr>
          <p:spPr>
            <a:xfrm>
              <a:off x="9542" y="8665"/>
              <a:ext cx="2140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 b="1" dirty="0">
                  <a:latin typeface="Times New Roman" panose="02020503050405090304" charset="0"/>
                  <a:cs typeface="Times New Roman" panose="02020503050405090304" charset="0"/>
                </a:rPr>
                <a:t>操作</a:t>
              </a:r>
              <a:endParaRPr lang="en-US" altLang="zh-CN" sz="1000" b="1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64" name="圆角矩形 163"/>
            <p:cNvSpPr/>
            <p:nvPr/>
          </p:nvSpPr>
          <p:spPr>
            <a:xfrm>
              <a:off x="10943" y="3415"/>
              <a:ext cx="3943" cy="829"/>
            </a:xfrm>
            <a:prstGeom prst="roundRect">
              <a:avLst/>
            </a:prstGeom>
            <a:solidFill>
              <a:srgbClr val="E5F3E7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dirty="0">
                  <a:solidFill>
                    <a:srgbClr val="353535"/>
                  </a:solidFill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用户情绪理解</a:t>
              </a:r>
              <a:endParaRPr lang="en-US" altLang="zh-CN" sz="1000" b="1" dirty="0">
                <a:solidFill>
                  <a:srgbClr val="353535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endParaRPr>
            </a:p>
          </p:txBody>
        </p:sp>
        <p:sp>
          <p:nvSpPr>
            <p:cNvPr id="165" name="圆角矩形 164"/>
            <p:cNvSpPr/>
            <p:nvPr/>
          </p:nvSpPr>
          <p:spPr>
            <a:xfrm>
              <a:off x="10943" y="4710"/>
              <a:ext cx="3943" cy="829"/>
            </a:xfrm>
            <a:prstGeom prst="roundRect">
              <a:avLst/>
            </a:prstGeom>
            <a:solidFill>
              <a:srgbClr val="E5F3E7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dirty="0">
                  <a:solidFill>
                    <a:srgbClr val="393939"/>
                  </a:solidFill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响应计划</a:t>
              </a:r>
              <a:endParaRPr lang="en-US" altLang="zh-CN" sz="1000" b="1" dirty="0">
                <a:solidFill>
                  <a:srgbClr val="393939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endParaRPr>
            </a:p>
          </p:txBody>
        </p:sp>
        <p:cxnSp>
          <p:nvCxnSpPr>
            <p:cNvPr id="166" name="直接箭头连接符 165"/>
            <p:cNvCxnSpPr>
              <a:stCxn id="164" idx="2"/>
              <a:endCxn id="165" idx="0"/>
            </p:cNvCxnSpPr>
            <p:nvPr/>
          </p:nvCxnSpPr>
          <p:spPr>
            <a:xfrm>
              <a:off x="12915" y="4244"/>
              <a:ext cx="0" cy="4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7" name="直接箭头连接符 166"/>
            <p:cNvCxnSpPr/>
            <p:nvPr/>
          </p:nvCxnSpPr>
          <p:spPr>
            <a:xfrm>
              <a:off x="8054" y="5707"/>
              <a:ext cx="13" cy="125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/>
            <p:nvPr/>
          </p:nvCxnSpPr>
          <p:spPr>
            <a:xfrm flipH="1">
              <a:off x="5871" y="5707"/>
              <a:ext cx="7" cy="125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 w="med" len="med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9" name="drawio2pptx:shape:84"/>
            <p:cNvSpPr/>
            <p:nvPr/>
          </p:nvSpPr>
          <p:spPr>
            <a:xfrm>
              <a:off x="5904" y="6297"/>
              <a:ext cx="1770" cy="34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sz="1200" b="1" i="0" u="none">
                <a:solidFill>
                  <a:srgbClr val="315DBD"/>
                </a:solidFill>
                <a:latin typeface="Arial Narrow" panose="020B0606020202030204"/>
              </a:endParaRPr>
            </a:p>
          </p:txBody>
        </p:sp>
        <p:sp>
          <p:nvSpPr>
            <p:cNvPr id="170" name="drawio2pptx:shape:91"/>
            <p:cNvSpPr txBox="1"/>
            <p:nvPr/>
          </p:nvSpPr>
          <p:spPr>
            <a:xfrm>
              <a:off x="5797" y="5999"/>
              <a:ext cx="2141" cy="6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latin typeface="Times New Roman" panose="02020503050405090304" charset="0"/>
                  <a:cs typeface="Times New Roman" panose="02020503050405090304" charset="0"/>
                </a:rPr>
                <a:t>用户输入</a:t>
              </a:r>
              <a:endParaRPr lang="en-US" altLang="zh-CN" sz="1000" b="1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7618" y="6035"/>
              <a:ext cx="2881" cy="6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dirty="0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响应</a:t>
              </a:r>
              <a:endParaRPr lang="en-US" altLang="zh-CN" sz="1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endParaRPr>
            </a:p>
          </p:txBody>
        </p:sp>
        <p:cxnSp>
          <p:nvCxnSpPr>
            <p:cNvPr id="173" name="直接箭头连接符 172"/>
            <p:cNvCxnSpPr>
              <a:stCxn id="24" idx="0"/>
            </p:cNvCxnSpPr>
            <p:nvPr/>
          </p:nvCxnSpPr>
          <p:spPr>
            <a:xfrm flipH="1" flipV="1">
              <a:off x="13284" y="5675"/>
              <a:ext cx="3" cy="11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4" name="文本框 173"/>
            <p:cNvSpPr txBox="1"/>
            <p:nvPr/>
          </p:nvSpPr>
          <p:spPr>
            <a:xfrm>
              <a:off x="13169" y="6114"/>
              <a:ext cx="2141" cy="6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000" b="1" dirty="0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构图</a:t>
              </a: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7116" y="6956"/>
              <a:ext cx="1234" cy="7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200" b="1">
                  <a:solidFill>
                    <a:srgbClr val="7030A0"/>
                  </a:solidFill>
                  <a:latin typeface="Times New Roman" panose="02020503050405090304" charset="0"/>
                  <a:cs typeface="Times New Roman" panose="02020503050405090304" charset="0"/>
                  <a:sym typeface="+mn-ea"/>
                </a:rPr>
                <a:t>用户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Freeform 5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4800600"/>
            <a:ext cx="876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>
            <a:noAutofit/>
          </a:bodyPr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 dirty="0" err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关键技术路线：识别</a:t>
            </a:r>
            <a:r>
              <a:rPr lang="en-US" sz="1600" b="1" i="0" u="none" strike="noStrike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en-US" sz="1600" b="1" i="0" u="none" strike="noStrike" dirty="0" err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数字人</a:t>
            </a:r>
            <a:r>
              <a:rPr lang="en-US" sz="1600" b="1" i="0" u="none" strike="noStrike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en-US" sz="1600" b="1" i="0" u="none" strike="noStrike" dirty="0" err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知识库</a:t>
            </a:r>
            <a:r>
              <a:rPr lang="en-US" sz="1600" b="1" i="0" u="none" strike="noStrike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en-US" sz="1600" b="1" i="0" u="none" strike="noStrike" dirty="0" err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</a:t>
            </a:r>
            <a:r>
              <a:rPr lang="en-US" sz="1600" b="1" i="0" u="none" strike="noStrike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en-US" sz="1600" b="1" i="0" u="none" strike="noStrike" dirty="0" err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游戏嵌入</a:t>
            </a:r>
            <a:r>
              <a:rPr lang="en-US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→ 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反馈</a:t>
            </a:r>
          </a:p>
        </p:txBody>
      </p:sp>
      <p:sp>
        <p:nvSpPr>
          <p:cNvPr id="7" name="AutoShape 7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482600" indent="0" algn="l" defTabSz="914400">
              <a:lnSpc>
                <a:spcPts val="2460"/>
              </a:lnSpc>
              <a:buClr>
                <a:srgbClr val="111111"/>
              </a:buClr>
              <a:defRPr/>
            </a:pPr>
            <a:r>
              <a:rPr lang="en-US" sz="1800" b="1" i="0" u="none" strike="noStrike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梳理输入数据、关键技术、输出结果，绘制技术框架图，明确各模块任务边界与依赖关系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061200" y="48006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步骤一：案例分析及技术框架构建</a:t>
            </a:r>
            <a:endParaRPr lang="en-US" sz="1100" dirty="0"/>
          </a:p>
        </p:txBody>
      </p:sp>
      <p:grpSp>
        <p:nvGrpSpPr>
          <p:cNvPr id="83" name="组合 82"/>
          <p:cNvGrpSpPr/>
          <p:nvPr/>
        </p:nvGrpSpPr>
        <p:grpSpPr>
          <a:xfrm>
            <a:off x="180975" y="1535430"/>
            <a:ext cx="8762365" cy="3213735"/>
            <a:chOff x="979" y="2678"/>
            <a:chExt cx="17208" cy="7027"/>
          </a:xfrm>
        </p:grpSpPr>
        <p:sp>
          <p:nvSpPr>
            <p:cNvPr id="14" name="Shape 11"/>
            <p:cNvSpPr/>
            <p:nvPr/>
          </p:nvSpPr>
          <p:spPr>
            <a:xfrm>
              <a:off x="979" y="2678"/>
              <a:ext cx="4666" cy="1642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2700">
              <a:solidFill>
                <a:srgbClr val="D7E0E8"/>
              </a:solidFill>
              <a:prstDash val="solid"/>
            </a:ln>
          </p:spPr>
        </p:sp>
        <p:sp>
          <p:nvSpPr>
            <p:cNvPr id="17" name="Shape 12"/>
            <p:cNvSpPr/>
            <p:nvPr/>
          </p:nvSpPr>
          <p:spPr>
            <a:xfrm>
              <a:off x="1210" y="2938"/>
              <a:ext cx="749" cy="461"/>
            </a:xfrm>
            <a:prstGeom prst="roundRect">
              <a:avLst>
                <a:gd name="adj" fmla="val 25000"/>
              </a:avLst>
            </a:prstGeom>
            <a:solidFill>
              <a:srgbClr val="2A8C87"/>
            </a:solidFill>
            <a:ln w="12700">
              <a:solidFill>
                <a:srgbClr val="2A8C87"/>
              </a:solidFill>
              <a:prstDash val="solid"/>
            </a:ln>
          </p:spPr>
        </p:sp>
        <p:sp>
          <p:nvSpPr>
            <p:cNvPr id="18" name="Text 13"/>
            <p:cNvSpPr/>
            <p:nvPr/>
          </p:nvSpPr>
          <p:spPr>
            <a:xfrm>
              <a:off x="1310" y="2995"/>
              <a:ext cx="5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5000"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Q1</a:t>
              </a:r>
              <a:endParaRPr lang="en-US" sz="95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2160" y="2923"/>
              <a:ext cx="3197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7500" lnSpcReduction="10000"/>
            </a:bodyPr>
            <a:lstStyle/>
            <a:p>
              <a:pPr marL="0" indent="0">
                <a:buNone/>
              </a:pPr>
              <a:r>
                <a:rPr lang="en-US" sz="1240" b="1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用户输入了哪些数据？</a:t>
              </a:r>
              <a:endParaRPr lang="en-US" sz="124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1238" y="3557"/>
              <a:ext cx="410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6171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视频 / 语音 / 文字 / 图像 / 行为事件</a:t>
              </a:r>
              <a:endParaRPr lang="en-US" sz="980" dirty="0"/>
            </a:p>
          </p:txBody>
        </p:sp>
        <p:sp>
          <p:nvSpPr>
            <p:cNvPr id="21" name="Shape 16"/>
            <p:cNvSpPr/>
            <p:nvPr/>
          </p:nvSpPr>
          <p:spPr>
            <a:xfrm>
              <a:off x="6048" y="2678"/>
              <a:ext cx="4666" cy="1642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2700">
              <a:solidFill>
                <a:srgbClr val="D7E0E8"/>
              </a:solidFill>
              <a:prstDash val="solid"/>
            </a:ln>
          </p:spPr>
        </p:sp>
        <p:sp>
          <p:nvSpPr>
            <p:cNvPr id="22" name="Shape 17"/>
            <p:cNvSpPr/>
            <p:nvPr/>
          </p:nvSpPr>
          <p:spPr>
            <a:xfrm>
              <a:off x="6278" y="2938"/>
              <a:ext cx="749" cy="461"/>
            </a:xfrm>
            <a:prstGeom prst="roundRect">
              <a:avLst>
                <a:gd name="adj" fmla="val 25000"/>
              </a:avLst>
            </a:prstGeom>
            <a:solidFill>
              <a:srgbClr val="2A8C87"/>
            </a:solidFill>
            <a:ln w="12700">
              <a:solidFill>
                <a:srgbClr val="2A8C87"/>
              </a:solidFill>
              <a:prstDash val="solid"/>
            </a:ln>
          </p:spPr>
        </p:sp>
        <p:sp>
          <p:nvSpPr>
            <p:cNvPr id="23" name="Text 18"/>
            <p:cNvSpPr/>
            <p:nvPr/>
          </p:nvSpPr>
          <p:spPr>
            <a:xfrm>
              <a:off x="6379" y="2995"/>
              <a:ext cx="5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5000"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Q2</a:t>
              </a:r>
              <a:endParaRPr lang="en-US" sz="950" dirty="0"/>
            </a:p>
          </p:txBody>
        </p:sp>
        <p:sp>
          <p:nvSpPr>
            <p:cNvPr id="24" name="Text 19"/>
            <p:cNvSpPr/>
            <p:nvPr/>
          </p:nvSpPr>
          <p:spPr>
            <a:xfrm>
              <a:off x="7229" y="2923"/>
              <a:ext cx="3197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40" b="1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每种数据由谁处理？</a:t>
              </a:r>
              <a:endParaRPr lang="en-US" sz="1240" dirty="0"/>
            </a:p>
          </p:txBody>
        </p:sp>
        <p:sp>
          <p:nvSpPr>
            <p:cNvPr id="25" name="Text 20"/>
            <p:cNvSpPr/>
            <p:nvPr/>
          </p:nvSpPr>
          <p:spPr>
            <a:xfrm>
              <a:off x="6307" y="3557"/>
              <a:ext cx="410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6171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感知层 / 检索层 / 状态管理 / 智能体</a:t>
              </a:r>
              <a:endParaRPr lang="en-US" sz="980" dirty="0"/>
            </a:p>
          </p:txBody>
        </p:sp>
        <p:sp>
          <p:nvSpPr>
            <p:cNvPr id="26" name="Shape 21"/>
            <p:cNvSpPr/>
            <p:nvPr/>
          </p:nvSpPr>
          <p:spPr>
            <a:xfrm>
              <a:off x="979" y="4723"/>
              <a:ext cx="4666" cy="1642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2700">
              <a:solidFill>
                <a:srgbClr val="D7E0E8"/>
              </a:solidFill>
              <a:prstDash val="solid"/>
            </a:ln>
          </p:spPr>
        </p:sp>
        <p:sp>
          <p:nvSpPr>
            <p:cNvPr id="27" name="Shape 22"/>
            <p:cNvSpPr/>
            <p:nvPr/>
          </p:nvSpPr>
          <p:spPr>
            <a:xfrm>
              <a:off x="1210" y="4982"/>
              <a:ext cx="749" cy="461"/>
            </a:xfrm>
            <a:prstGeom prst="roundRect">
              <a:avLst>
                <a:gd name="adj" fmla="val 25000"/>
              </a:avLst>
            </a:prstGeom>
            <a:solidFill>
              <a:srgbClr val="F26B5B"/>
            </a:solidFill>
            <a:ln w="12700">
              <a:solidFill>
                <a:srgbClr val="F26B5B"/>
              </a:solidFill>
              <a:prstDash val="solid"/>
            </a:ln>
          </p:spPr>
        </p:sp>
        <p:sp>
          <p:nvSpPr>
            <p:cNvPr id="28" name="Text 23"/>
            <p:cNvSpPr/>
            <p:nvPr/>
          </p:nvSpPr>
          <p:spPr>
            <a:xfrm>
              <a:off x="1310" y="5040"/>
              <a:ext cx="5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5000"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Q3</a:t>
              </a:r>
              <a:endParaRPr lang="en-US" sz="950" dirty="0"/>
            </a:p>
          </p:txBody>
        </p:sp>
        <p:sp>
          <p:nvSpPr>
            <p:cNvPr id="29" name="Text 24"/>
            <p:cNvSpPr/>
            <p:nvPr/>
          </p:nvSpPr>
          <p:spPr>
            <a:xfrm>
              <a:off x="2160" y="4968"/>
              <a:ext cx="3197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40" b="1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每个模块产出什么？</a:t>
              </a:r>
              <a:endParaRPr lang="en-US" sz="1240" dirty="0"/>
            </a:p>
          </p:txBody>
        </p:sp>
        <p:sp>
          <p:nvSpPr>
            <p:cNvPr id="30" name="Text 25"/>
            <p:cNvSpPr/>
            <p:nvPr/>
          </p:nvSpPr>
          <p:spPr>
            <a:xfrm>
              <a:off x="1238" y="5602"/>
              <a:ext cx="410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0000"/>
            </a:bodyPr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6171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标签 / 向量 / 状态 / 策略 / 话术 / 动作</a:t>
              </a:r>
              <a:endParaRPr lang="en-US" sz="980" dirty="0"/>
            </a:p>
          </p:txBody>
        </p:sp>
        <p:sp>
          <p:nvSpPr>
            <p:cNvPr id="31" name="Shape 26"/>
            <p:cNvSpPr/>
            <p:nvPr/>
          </p:nvSpPr>
          <p:spPr>
            <a:xfrm>
              <a:off x="6048" y="4723"/>
              <a:ext cx="4666" cy="1642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2700">
              <a:solidFill>
                <a:srgbClr val="D7E0E8"/>
              </a:solidFill>
              <a:prstDash val="solid"/>
            </a:ln>
          </p:spPr>
        </p:sp>
        <p:sp>
          <p:nvSpPr>
            <p:cNvPr id="32" name="Shape 27"/>
            <p:cNvSpPr/>
            <p:nvPr/>
          </p:nvSpPr>
          <p:spPr>
            <a:xfrm>
              <a:off x="6278" y="4982"/>
              <a:ext cx="749" cy="461"/>
            </a:xfrm>
            <a:prstGeom prst="roundRect">
              <a:avLst>
                <a:gd name="adj" fmla="val 25000"/>
              </a:avLst>
            </a:prstGeom>
            <a:solidFill>
              <a:srgbClr val="F26B5B"/>
            </a:solidFill>
            <a:ln w="12700">
              <a:solidFill>
                <a:srgbClr val="F26B5B"/>
              </a:solidFill>
              <a:prstDash val="solid"/>
            </a:ln>
          </p:spPr>
        </p:sp>
        <p:sp>
          <p:nvSpPr>
            <p:cNvPr id="55" name="Text 28"/>
            <p:cNvSpPr/>
            <p:nvPr/>
          </p:nvSpPr>
          <p:spPr>
            <a:xfrm>
              <a:off x="6379" y="5040"/>
              <a:ext cx="547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fontScale="95000"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Q4</a:t>
              </a:r>
              <a:endParaRPr lang="en-US" sz="950" dirty="0"/>
            </a:p>
          </p:txBody>
        </p:sp>
        <p:sp>
          <p:nvSpPr>
            <p:cNvPr id="56" name="Text 29"/>
            <p:cNvSpPr/>
            <p:nvPr/>
          </p:nvSpPr>
          <p:spPr>
            <a:xfrm>
              <a:off x="7229" y="4968"/>
              <a:ext cx="3197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240" b="1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模块如何形成闭环？</a:t>
              </a:r>
              <a:endParaRPr lang="en-US" sz="1240" dirty="0"/>
            </a:p>
          </p:txBody>
        </p:sp>
        <p:sp>
          <p:nvSpPr>
            <p:cNvPr id="57" name="Text 30"/>
            <p:cNvSpPr/>
            <p:nvPr/>
          </p:nvSpPr>
          <p:spPr>
            <a:xfrm>
              <a:off x="6307" y="5602"/>
              <a:ext cx="410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6171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输出反馈后再次采集行为并更新状态</a:t>
              </a:r>
              <a:endParaRPr lang="en-US" sz="980" dirty="0"/>
            </a:p>
          </p:txBody>
        </p:sp>
        <p:sp>
          <p:nvSpPr>
            <p:cNvPr id="58" name="Shape 31"/>
            <p:cNvSpPr/>
            <p:nvPr/>
          </p:nvSpPr>
          <p:spPr>
            <a:xfrm>
              <a:off x="11304" y="2678"/>
              <a:ext cx="6883" cy="7027"/>
            </a:xfrm>
            <a:prstGeom prst="roundRect">
              <a:avLst>
                <a:gd name="adj" fmla="val 2510"/>
              </a:avLst>
            </a:prstGeom>
            <a:solidFill>
              <a:srgbClr val="FFFFFF"/>
            </a:solidFill>
            <a:ln w="12700">
              <a:solidFill>
                <a:srgbClr val="D7E0E8"/>
              </a:solidFill>
              <a:prstDash val="solid"/>
            </a:ln>
          </p:spPr>
        </p:sp>
        <p:sp>
          <p:nvSpPr>
            <p:cNvPr id="59" name="Text 32"/>
            <p:cNvSpPr/>
            <p:nvPr/>
          </p:nvSpPr>
          <p:spPr>
            <a:xfrm>
              <a:off x="11736" y="3053"/>
              <a:ext cx="249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74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系统模块划分</a:t>
              </a:r>
              <a:endParaRPr lang="en-US" sz="1600" dirty="0"/>
            </a:p>
          </p:txBody>
        </p:sp>
        <p:sp>
          <p:nvSpPr>
            <p:cNvPr id="60" name="Shape 33"/>
            <p:cNvSpPr/>
            <p:nvPr/>
          </p:nvSpPr>
          <p:spPr>
            <a:xfrm>
              <a:off x="11736" y="3773"/>
              <a:ext cx="2333" cy="691"/>
            </a:xfrm>
            <a:prstGeom prst="roundRect">
              <a:avLst>
                <a:gd name="adj" fmla="val 16667"/>
              </a:avLst>
            </a:prstGeom>
            <a:solidFill>
              <a:srgbClr val="2A8C87">
                <a:alpha val="93000"/>
              </a:srgbClr>
            </a:solidFill>
            <a:ln w="12700">
              <a:solidFill>
                <a:srgbClr val="2A8C87"/>
              </a:solidFill>
              <a:prstDash val="solid"/>
            </a:ln>
          </p:spPr>
        </p:sp>
        <p:sp>
          <p:nvSpPr>
            <p:cNvPr id="61" name="Text 34"/>
            <p:cNvSpPr/>
            <p:nvPr/>
          </p:nvSpPr>
          <p:spPr>
            <a:xfrm>
              <a:off x="11866" y="3917"/>
              <a:ext cx="2074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04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视频情绪识别</a:t>
              </a:r>
              <a:endParaRPr lang="en-US" sz="1040" dirty="0"/>
            </a:p>
          </p:txBody>
        </p:sp>
        <p:sp>
          <p:nvSpPr>
            <p:cNvPr id="62" name="Shape 35"/>
            <p:cNvSpPr/>
            <p:nvPr/>
          </p:nvSpPr>
          <p:spPr>
            <a:xfrm>
              <a:off x="14227" y="3946"/>
              <a:ext cx="317" cy="317"/>
            </a:xfrm>
            <a:prstGeom prst="chevron">
              <a:avLst/>
            </a:prstGeom>
            <a:solidFill>
              <a:srgbClr val="AAB7C4"/>
            </a:solidFill>
            <a:ln w="12700">
              <a:solidFill>
                <a:srgbClr val="AAB7C4"/>
              </a:solidFill>
              <a:prstDash val="solid"/>
            </a:ln>
          </p:spPr>
        </p:sp>
        <p:sp>
          <p:nvSpPr>
            <p:cNvPr id="63" name="Text 36"/>
            <p:cNvSpPr/>
            <p:nvPr/>
          </p:nvSpPr>
          <p:spPr>
            <a:xfrm>
              <a:off x="14645" y="3874"/>
              <a:ext cx="2909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情绪标签 + 置信度</a:t>
              </a:r>
              <a:endParaRPr lang="en-US" sz="970" dirty="0"/>
            </a:p>
          </p:txBody>
        </p:sp>
        <p:sp>
          <p:nvSpPr>
            <p:cNvPr id="64" name="Shape 37"/>
            <p:cNvSpPr/>
            <p:nvPr/>
          </p:nvSpPr>
          <p:spPr>
            <a:xfrm>
              <a:off x="11736" y="4810"/>
              <a:ext cx="2333" cy="691"/>
            </a:xfrm>
            <a:prstGeom prst="roundRect">
              <a:avLst>
                <a:gd name="adj" fmla="val 16667"/>
              </a:avLst>
            </a:prstGeom>
            <a:solidFill>
              <a:srgbClr val="F2B544">
                <a:alpha val="93000"/>
              </a:srgbClr>
            </a:solidFill>
            <a:ln w="12700">
              <a:solidFill>
                <a:srgbClr val="F2B544"/>
              </a:solidFill>
              <a:prstDash val="solid"/>
            </a:ln>
          </p:spPr>
        </p:sp>
        <p:sp>
          <p:nvSpPr>
            <p:cNvPr id="65" name="Text 38"/>
            <p:cNvSpPr/>
            <p:nvPr/>
          </p:nvSpPr>
          <p:spPr>
            <a:xfrm>
              <a:off x="11866" y="4954"/>
              <a:ext cx="2074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04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情绪疏导知识库</a:t>
              </a:r>
              <a:endParaRPr lang="en-US" sz="1040" dirty="0"/>
            </a:p>
          </p:txBody>
        </p:sp>
        <p:sp>
          <p:nvSpPr>
            <p:cNvPr id="66" name="Shape 39"/>
            <p:cNvSpPr/>
            <p:nvPr/>
          </p:nvSpPr>
          <p:spPr>
            <a:xfrm>
              <a:off x="14227" y="4982"/>
              <a:ext cx="317" cy="317"/>
            </a:xfrm>
            <a:prstGeom prst="chevron">
              <a:avLst/>
            </a:prstGeom>
            <a:solidFill>
              <a:srgbClr val="AAB7C4"/>
            </a:solidFill>
            <a:ln w="12700">
              <a:solidFill>
                <a:srgbClr val="AAB7C4"/>
              </a:solidFill>
              <a:prstDash val="solid"/>
            </a:ln>
          </p:spPr>
        </p:sp>
        <p:sp>
          <p:nvSpPr>
            <p:cNvPr id="67" name="Text 40"/>
            <p:cNvSpPr/>
            <p:nvPr/>
          </p:nvSpPr>
          <p:spPr>
            <a:xfrm>
              <a:off x="14645" y="4910"/>
              <a:ext cx="2909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可检索疏导内容</a:t>
              </a:r>
              <a:endParaRPr lang="en-US" sz="970" dirty="0"/>
            </a:p>
          </p:txBody>
        </p:sp>
        <p:sp>
          <p:nvSpPr>
            <p:cNvPr id="68" name="Shape 41"/>
            <p:cNvSpPr/>
            <p:nvPr/>
          </p:nvSpPr>
          <p:spPr>
            <a:xfrm>
              <a:off x="11736" y="5846"/>
              <a:ext cx="2333" cy="691"/>
            </a:xfrm>
            <a:prstGeom prst="roundRect">
              <a:avLst>
                <a:gd name="adj" fmla="val 16667"/>
              </a:avLst>
            </a:prstGeom>
            <a:solidFill>
              <a:srgbClr val="F26B5B">
                <a:alpha val="93000"/>
              </a:srgbClr>
            </a:solidFill>
            <a:ln w="12700">
              <a:solidFill>
                <a:srgbClr val="F26B5B"/>
              </a:solidFill>
              <a:prstDash val="solid"/>
            </a:ln>
          </p:spPr>
        </p:sp>
        <p:sp>
          <p:nvSpPr>
            <p:cNvPr id="69" name="Text 42"/>
            <p:cNvSpPr/>
            <p:nvPr/>
          </p:nvSpPr>
          <p:spPr>
            <a:xfrm>
              <a:off x="11866" y="5990"/>
              <a:ext cx="2074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4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情绪疏导</a:t>
              </a:r>
              <a:r>
                <a:rPr lang="zh-CN" altLang="en-US" sz="104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大模型</a:t>
              </a:r>
            </a:p>
          </p:txBody>
        </p:sp>
        <p:sp>
          <p:nvSpPr>
            <p:cNvPr id="70" name="Shape 43"/>
            <p:cNvSpPr/>
            <p:nvPr/>
          </p:nvSpPr>
          <p:spPr>
            <a:xfrm>
              <a:off x="14227" y="6019"/>
              <a:ext cx="317" cy="317"/>
            </a:xfrm>
            <a:prstGeom prst="chevron">
              <a:avLst/>
            </a:prstGeom>
            <a:solidFill>
              <a:srgbClr val="AAB7C4"/>
            </a:solidFill>
            <a:ln w="12700">
              <a:solidFill>
                <a:srgbClr val="AAB7C4"/>
              </a:solidFill>
              <a:prstDash val="solid"/>
            </a:ln>
          </p:spPr>
        </p:sp>
        <p:sp>
          <p:nvSpPr>
            <p:cNvPr id="71" name="Text 44"/>
            <p:cNvSpPr/>
            <p:nvPr/>
          </p:nvSpPr>
          <p:spPr>
            <a:xfrm>
              <a:off x="14645" y="5947"/>
              <a:ext cx="2909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共情策略 + 话术</a:t>
              </a:r>
              <a:endParaRPr lang="en-US" sz="970" dirty="0"/>
            </a:p>
          </p:txBody>
        </p:sp>
        <p:sp>
          <p:nvSpPr>
            <p:cNvPr id="72" name="Shape 45"/>
            <p:cNvSpPr/>
            <p:nvPr/>
          </p:nvSpPr>
          <p:spPr>
            <a:xfrm>
              <a:off x="11736" y="6883"/>
              <a:ext cx="2333" cy="691"/>
            </a:xfrm>
            <a:prstGeom prst="roundRect">
              <a:avLst>
                <a:gd name="adj" fmla="val 16667"/>
              </a:avLst>
            </a:prstGeom>
            <a:solidFill>
              <a:srgbClr val="7566C8">
                <a:alpha val="93000"/>
              </a:srgbClr>
            </a:solidFill>
            <a:ln w="12700">
              <a:solidFill>
                <a:srgbClr val="7566C8"/>
              </a:solidFill>
              <a:prstDash val="solid"/>
            </a:ln>
          </p:spPr>
        </p:sp>
        <p:sp>
          <p:nvSpPr>
            <p:cNvPr id="73" name="Text 46"/>
            <p:cNvSpPr/>
            <p:nvPr/>
          </p:nvSpPr>
          <p:spPr>
            <a:xfrm>
              <a:off x="11866" y="7027"/>
              <a:ext cx="2074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4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3D 数字人</a:t>
              </a:r>
            </a:p>
          </p:txBody>
        </p:sp>
        <p:sp>
          <p:nvSpPr>
            <p:cNvPr id="74" name="Shape 47"/>
            <p:cNvSpPr/>
            <p:nvPr/>
          </p:nvSpPr>
          <p:spPr>
            <a:xfrm>
              <a:off x="14227" y="7056"/>
              <a:ext cx="317" cy="317"/>
            </a:xfrm>
            <a:prstGeom prst="chevron">
              <a:avLst/>
            </a:prstGeom>
            <a:solidFill>
              <a:srgbClr val="AAB7C4"/>
            </a:solidFill>
            <a:ln w="12700">
              <a:solidFill>
                <a:srgbClr val="AAB7C4"/>
              </a:solidFill>
              <a:prstDash val="solid"/>
            </a:ln>
          </p:spPr>
        </p:sp>
        <p:sp>
          <p:nvSpPr>
            <p:cNvPr id="75" name="Text 48"/>
            <p:cNvSpPr/>
            <p:nvPr/>
          </p:nvSpPr>
          <p:spPr>
            <a:xfrm>
              <a:off x="14645" y="6984"/>
              <a:ext cx="2909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语音 + 唇形 + 动作</a:t>
              </a:r>
              <a:endParaRPr lang="en-US" sz="970" dirty="0"/>
            </a:p>
          </p:txBody>
        </p:sp>
        <p:sp>
          <p:nvSpPr>
            <p:cNvPr id="76" name="Shape 49"/>
            <p:cNvSpPr/>
            <p:nvPr/>
          </p:nvSpPr>
          <p:spPr>
            <a:xfrm>
              <a:off x="11736" y="7920"/>
              <a:ext cx="2333" cy="691"/>
            </a:xfrm>
            <a:prstGeom prst="roundRect">
              <a:avLst>
                <a:gd name="adj" fmla="val 16667"/>
              </a:avLst>
            </a:prstGeom>
            <a:solidFill>
              <a:srgbClr val="3A9B75">
                <a:alpha val="93000"/>
              </a:srgbClr>
            </a:solidFill>
            <a:ln w="12700">
              <a:solidFill>
                <a:srgbClr val="3A9B75"/>
              </a:solidFill>
              <a:prstDash val="solid"/>
            </a:ln>
          </p:spPr>
        </p:sp>
        <p:sp>
          <p:nvSpPr>
            <p:cNvPr id="77" name="Text 50"/>
            <p:cNvSpPr/>
            <p:nvPr/>
          </p:nvSpPr>
          <p:spPr>
            <a:xfrm>
              <a:off x="11866" y="8064"/>
              <a:ext cx="2074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04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游戏行为反馈</a:t>
              </a:r>
              <a:endParaRPr lang="en-US" sz="1040" dirty="0"/>
            </a:p>
          </p:txBody>
        </p:sp>
        <p:sp>
          <p:nvSpPr>
            <p:cNvPr id="78" name="Shape 51"/>
            <p:cNvSpPr/>
            <p:nvPr/>
          </p:nvSpPr>
          <p:spPr>
            <a:xfrm>
              <a:off x="14227" y="8093"/>
              <a:ext cx="317" cy="317"/>
            </a:xfrm>
            <a:prstGeom prst="chevron">
              <a:avLst/>
            </a:prstGeom>
            <a:solidFill>
              <a:srgbClr val="AAB7C4"/>
            </a:solidFill>
            <a:ln w="12700">
              <a:solidFill>
                <a:srgbClr val="AAB7C4"/>
              </a:solidFill>
              <a:prstDash val="solid"/>
            </a:ln>
          </p:spPr>
        </p:sp>
        <p:sp>
          <p:nvSpPr>
            <p:cNvPr id="79" name="Text 52"/>
            <p:cNvSpPr/>
            <p:nvPr/>
          </p:nvSpPr>
          <p:spPr>
            <a:xfrm>
              <a:off x="14645" y="8021"/>
              <a:ext cx="2909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交互上下文</a:t>
              </a:r>
              <a:endParaRPr lang="en-US" sz="970" dirty="0"/>
            </a:p>
          </p:txBody>
        </p:sp>
        <p:sp>
          <p:nvSpPr>
            <p:cNvPr id="80" name="Shape 53"/>
            <p:cNvSpPr/>
            <p:nvPr/>
          </p:nvSpPr>
          <p:spPr>
            <a:xfrm>
              <a:off x="979" y="6912"/>
              <a:ext cx="9590" cy="2275"/>
            </a:xfrm>
            <a:prstGeom prst="roundRect">
              <a:avLst>
                <a:gd name="adj" fmla="val 6329"/>
              </a:avLst>
            </a:prstGeom>
            <a:solidFill>
              <a:srgbClr val="EEF6FB"/>
            </a:solidFill>
            <a:ln w="12700">
              <a:solidFill>
                <a:srgbClr val="CADDEB"/>
              </a:solidFill>
              <a:prstDash val="solid"/>
            </a:ln>
          </p:spPr>
        </p:sp>
        <p:sp>
          <p:nvSpPr>
            <p:cNvPr id="81" name="Text 54"/>
            <p:cNvSpPr/>
            <p:nvPr/>
          </p:nvSpPr>
          <p:spPr>
            <a:xfrm>
              <a:off x="1411" y="7344"/>
              <a:ext cx="2742" cy="37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C00000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本步骤核心成果</a:t>
              </a:r>
            </a:p>
          </p:txBody>
        </p:sp>
        <p:sp>
          <p:nvSpPr>
            <p:cNvPr id="82" name="Text 55"/>
            <p:cNvSpPr/>
            <p:nvPr/>
          </p:nvSpPr>
          <p:spPr>
            <a:xfrm>
              <a:off x="1411" y="7920"/>
              <a:ext cx="8568" cy="66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形成一张清晰的“输入—处理—输出—反馈”技术框架图，并把每个模块的任务边界写清楚。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步骤二：研发基于视频的多模态情绪识别模型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482600" indent="0" algn="l" defTabSz="914400">
              <a:lnSpc>
                <a:spcPts val="2460"/>
              </a:lnSpc>
              <a:buClr>
                <a:srgbClr val="111111"/>
              </a:buClr>
              <a:buFont typeface="Arial" panose="020B0604020202090204"/>
              <a:buNone/>
              <a:defRPr/>
            </a:pPr>
            <a:r>
              <a:rPr lang="en-US" sz="1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数据来源与预处理：仅使用视频模态，按协议划分数据，形成训练样本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 dirty="0" err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情绪识别路径（一</a:t>
            </a:r>
            <a:r>
              <a:rPr lang="en-US" sz="1600" b="1" i="0" u="none" strike="noStrike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）：</a:t>
            </a:r>
            <a:r>
              <a:rPr lang="en-US" sz="1600" b="1" i="0" u="none" strike="noStrike" dirty="0" err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先备好数据，才能训练与评估模型</a:t>
            </a:r>
            <a:endParaRPr lang="en-US" sz="1100" dirty="0"/>
          </a:p>
        </p:txBody>
      </p:sp>
      <p:grpSp>
        <p:nvGrpSpPr>
          <p:cNvPr id="69" name="组合 68"/>
          <p:cNvGrpSpPr/>
          <p:nvPr/>
        </p:nvGrpSpPr>
        <p:grpSpPr>
          <a:xfrm>
            <a:off x="180975" y="1685290"/>
            <a:ext cx="4131310" cy="2929150"/>
            <a:chOff x="285" y="4496"/>
            <a:chExt cx="6506" cy="3057"/>
          </a:xfrm>
        </p:grpSpPr>
        <p:sp>
          <p:nvSpPr>
            <p:cNvPr id="51" name="Shape 49"/>
            <p:cNvSpPr/>
            <p:nvPr/>
          </p:nvSpPr>
          <p:spPr>
            <a:xfrm>
              <a:off x="285" y="4496"/>
              <a:ext cx="6506" cy="3057"/>
            </a:xfrm>
            <a:prstGeom prst="roundRect">
              <a:avLst>
                <a:gd name="adj" fmla="val 4781"/>
              </a:avLst>
            </a:prstGeom>
            <a:solidFill>
              <a:srgbClr val="FFFFFF"/>
            </a:solidFill>
            <a:ln w="12700">
              <a:solidFill>
                <a:srgbClr val="D7E0E8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505" y="4581"/>
              <a:ext cx="3072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F274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数据集与评价指标</a:t>
              </a:r>
            </a:p>
          </p:txBody>
        </p:sp>
        <p:sp>
          <p:nvSpPr>
            <p:cNvPr id="53" name="Shape 51"/>
            <p:cNvSpPr/>
            <p:nvPr/>
          </p:nvSpPr>
          <p:spPr>
            <a:xfrm>
              <a:off x="3819" y="5259"/>
              <a:ext cx="1325" cy="461"/>
            </a:xfrm>
            <a:prstGeom prst="roundRect">
              <a:avLst>
                <a:gd name="adj" fmla="val 25000"/>
              </a:avLst>
            </a:prstGeom>
            <a:solidFill>
              <a:srgbClr val="2A8C87"/>
            </a:solidFill>
            <a:ln w="12700">
              <a:solidFill>
                <a:srgbClr val="2A8C87"/>
              </a:solidFill>
              <a:prstDash val="solid"/>
            </a:ln>
          </p:spPr>
        </p:sp>
        <p:sp>
          <p:nvSpPr>
            <p:cNvPr id="54" name="Text 52"/>
            <p:cNvSpPr/>
            <p:nvPr/>
          </p:nvSpPr>
          <p:spPr>
            <a:xfrm>
              <a:off x="3920" y="5317"/>
              <a:ext cx="1123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DFEW</a:t>
              </a:r>
              <a:endParaRPr lang="en-US" sz="95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5317" y="5259"/>
              <a:ext cx="1325" cy="461"/>
            </a:xfrm>
            <a:prstGeom prst="roundRect">
              <a:avLst>
                <a:gd name="adj" fmla="val 25000"/>
              </a:avLst>
            </a:prstGeom>
            <a:solidFill>
              <a:srgbClr val="7566C8"/>
            </a:solidFill>
            <a:ln w="12700">
              <a:solidFill>
                <a:srgbClr val="7566C8"/>
              </a:solidFill>
              <a:prstDash val="solid"/>
            </a:ln>
          </p:spPr>
        </p:sp>
        <p:sp>
          <p:nvSpPr>
            <p:cNvPr id="56" name="Text 54"/>
            <p:cNvSpPr/>
            <p:nvPr/>
          </p:nvSpPr>
          <p:spPr>
            <a:xfrm>
              <a:off x="5418" y="5317"/>
              <a:ext cx="1123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MAFW</a:t>
              </a:r>
              <a:endParaRPr lang="en-US" sz="95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505" y="5345"/>
              <a:ext cx="4248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6171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动态场景面部表情数据集</a:t>
              </a:r>
            </a:p>
            <a:p>
              <a:pPr marL="0" indent="0">
                <a:buNone/>
              </a:pPr>
              <a:r>
                <a:rPr lang="en-US" b="1" dirty="0">
                  <a:solidFill>
                    <a:srgbClr val="6171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 / 多模态复合情绪数据集</a:t>
              </a:r>
            </a:p>
          </p:txBody>
        </p:sp>
        <p:sp>
          <p:nvSpPr>
            <p:cNvPr id="58" name="Shape 56"/>
            <p:cNvSpPr/>
            <p:nvPr/>
          </p:nvSpPr>
          <p:spPr>
            <a:xfrm>
              <a:off x="2161" y="6091"/>
              <a:ext cx="1094" cy="461"/>
            </a:xfrm>
            <a:prstGeom prst="roundRect">
              <a:avLst>
                <a:gd name="adj" fmla="val 25000"/>
              </a:avLst>
            </a:prstGeom>
            <a:solidFill>
              <a:srgbClr val="F26B5B"/>
            </a:solidFill>
            <a:ln w="12700">
              <a:solidFill>
                <a:srgbClr val="F26B5B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2262" y="6148"/>
              <a:ext cx="893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UAR</a:t>
              </a:r>
              <a:endParaRPr lang="en-US" sz="95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3457" y="6091"/>
              <a:ext cx="1094" cy="461"/>
            </a:xfrm>
            <a:prstGeom prst="roundRect">
              <a:avLst>
                <a:gd name="adj" fmla="val 25000"/>
              </a:avLst>
            </a:prstGeom>
            <a:solidFill>
              <a:srgbClr val="F2B544"/>
            </a:solidFill>
            <a:ln w="12700">
              <a:solidFill>
                <a:srgbClr val="F2B544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3558" y="6148"/>
              <a:ext cx="893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0F274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WAR</a:t>
              </a:r>
              <a:endParaRPr lang="en-US" sz="95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4753" y="6091"/>
              <a:ext cx="1930" cy="461"/>
            </a:xfrm>
            <a:prstGeom prst="roundRect">
              <a:avLst>
                <a:gd name="adj" fmla="val 25000"/>
              </a:avLst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4854" y="6148"/>
              <a:ext cx="1728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混淆矩阵</a:t>
              </a:r>
              <a:endParaRPr lang="en-US" sz="950" dirty="0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505" y="6152"/>
              <a:ext cx="2075" cy="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6171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评价指标</a:t>
              </a:r>
            </a:p>
          </p:txBody>
        </p:sp>
      </p:grpSp>
      <p:pic>
        <p:nvPicPr>
          <p:cNvPr id="67" name="图片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95" y="2173605"/>
            <a:ext cx="4534535" cy="2385060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>
          <a:xfrm>
            <a:off x="5267960" y="1650365"/>
            <a:ext cx="3590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数据集实例（</a:t>
            </a:r>
            <a:r>
              <a:rPr lang="en-US" sz="2000" b="1" dirty="0">
                <a:solidFill>
                  <a:schemeClr val="tx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MAFW</a:t>
            </a:r>
            <a:r>
              <a:rPr lang="zh-CN" altLang="en-US" sz="200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64" name="Text 62"/>
          <p:cNvSpPr/>
          <p:nvPr/>
        </p:nvSpPr>
        <p:spPr>
          <a:xfrm>
            <a:off x="320675" y="3892550"/>
            <a:ext cx="3896995" cy="5873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UAR 看各类别平均召回；WAR 反映整体加权表现；混淆矩阵定位易混类别。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71120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90204"/>
              <a:buChar char="•"/>
              <a:defRPr/>
            </a:pPr>
            <a:r>
              <a:rPr lang="en-US" sz="1800" b="1" i="0" u="none" strike="noStrik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主模型与基线双轨并行：按官方仓库搭建环境，先跑通推理，再形成对比基础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30700" y="3740150"/>
            <a:ext cx="4813300" cy="1020445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主模型：语义引导视频情绪感知</a:t>
            </a:r>
            <a:endParaRPr lang="en-US" sz="11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ViT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-B/16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骨干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+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面部语义区域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Token 化 +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语义引导</a:t>
            </a:r>
            <a:r>
              <a:rPr lang="en-US" sz="14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MoE</a:t>
            </a:r>
            <a:endParaRPr lang="en-US" sz="14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按官方仓库搭建环境、加载预训练权重</a:t>
            </a:r>
            <a:endParaRPr lang="en-US" sz="14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4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实现仅基于视频的情绪识别推理</a:t>
            </a:r>
            <a:endParaRPr lang="en-US" sz="14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30700" y="1486535"/>
            <a:ext cx="4613910" cy="23069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情绪识别路径（二）：</a:t>
            </a:r>
            <a:r>
              <a:rPr lang="en-US" sz="16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视频情绪识别：不是“看一帧”，而是理解一段变化</a:t>
            </a:r>
            <a:endParaRPr lang="en-US" sz="16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步骤二：研发基于视频的多模态情绪识别模型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117475" y="1417320"/>
            <a:ext cx="4088765" cy="3146425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12"/>
          <p:cNvSpPr/>
          <p:nvPr/>
        </p:nvSpPr>
        <p:spPr>
          <a:xfrm>
            <a:off x="391795" y="1654810"/>
            <a:ext cx="21005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视频情绪识别关注什么？</a:t>
            </a:r>
            <a:endParaRPr lang="en-US" sz="1600" dirty="0"/>
          </a:p>
        </p:txBody>
      </p:sp>
      <p:sp>
        <p:nvSpPr>
          <p:cNvPr id="36" name="Shape 13"/>
          <p:cNvSpPr/>
          <p:nvPr/>
        </p:nvSpPr>
        <p:spPr>
          <a:xfrm>
            <a:off x="327660" y="2194560"/>
            <a:ext cx="668655" cy="841375"/>
          </a:xfrm>
          <a:prstGeom prst="ellipse">
            <a:avLst/>
          </a:prstGeom>
          <a:solidFill>
            <a:srgbClr val="F6E8DE"/>
          </a:solidFill>
          <a:ln w="12700">
            <a:solidFill>
              <a:srgbClr val="D3B9A9"/>
            </a:solidFill>
            <a:prstDash val="solid"/>
          </a:ln>
        </p:spPr>
      </p:sp>
      <p:sp>
        <p:nvSpPr>
          <p:cNvPr id="38" name="Shape 14"/>
          <p:cNvSpPr/>
          <p:nvPr/>
        </p:nvSpPr>
        <p:spPr>
          <a:xfrm>
            <a:off x="492125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40" name="Shape 15"/>
          <p:cNvSpPr/>
          <p:nvPr/>
        </p:nvSpPr>
        <p:spPr>
          <a:xfrm>
            <a:off x="803275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41" name="Shape 16"/>
          <p:cNvSpPr/>
          <p:nvPr/>
        </p:nvSpPr>
        <p:spPr>
          <a:xfrm>
            <a:off x="556260" y="2734310"/>
            <a:ext cx="257810" cy="109855"/>
          </a:xfrm>
          <a:prstGeom prst="arc">
            <a:avLst/>
          </a:prstGeom>
          <a:solidFill>
            <a:srgbClr val="F6E8DE">
              <a:alpha val="0"/>
            </a:srgbClr>
          </a:solidFill>
          <a:ln w="22860">
            <a:solidFill>
              <a:srgbClr val="F26B5B"/>
            </a:solidFill>
            <a:prstDash val="solid"/>
          </a:ln>
        </p:spPr>
      </p:sp>
      <p:sp>
        <p:nvSpPr>
          <p:cNvPr id="42" name="Shape 17"/>
          <p:cNvSpPr/>
          <p:nvPr/>
        </p:nvSpPr>
        <p:spPr>
          <a:xfrm>
            <a:off x="1077595" y="2551430"/>
            <a:ext cx="189230" cy="20129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43" name="Shape 18"/>
          <p:cNvSpPr/>
          <p:nvPr/>
        </p:nvSpPr>
        <p:spPr>
          <a:xfrm>
            <a:off x="1351915" y="2194560"/>
            <a:ext cx="668655" cy="841375"/>
          </a:xfrm>
          <a:prstGeom prst="ellipse">
            <a:avLst/>
          </a:prstGeom>
          <a:solidFill>
            <a:srgbClr val="F6E8DE"/>
          </a:solidFill>
          <a:ln w="12700">
            <a:solidFill>
              <a:srgbClr val="D3B9A9"/>
            </a:solidFill>
            <a:prstDash val="solid"/>
          </a:ln>
        </p:spPr>
      </p:sp>
      <p:sp>
        <p:nvSpPr>
          <p:cNvPr id="44" name="Shape 19"/>
          <p:cNvSpPr/>
          <p:nvPr/>
        </p:nvSpPr>
        <p:spPr>
          <a:xfrm>
            <a:off x="1516380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45" name="Shape 20"/>
          <p:cNvSpPr/>
          <p:nvPr/>
        </p:nvSpPr>
        <p:spPr>
          <a:xfrm>
            <a:off x="1827530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46" name="Shape 21"/>
          <p:cNvSpPr/>
          <p:nvPr/>
        </p:nvSpPr>
        <p:spPr>
          <a:xfrm>
            <a:off x="1580515" y="2734310"/>
            <a:ext cx="257810" cy="109855"/>
          </a:xfrm>
          <a:prstGeom prst="arc">
            <a:avLst/>
          </a:prstGeom>
          <a:solidFill>
            <a:srgbClr val="F6E8DE">
              <a:alpha val="0"/>
            </a:srgbClr>
          </a:solidFill>
          <a:ln w="22860">
            <a:solidFill>
              <a:srgbClr val="F26B5B"/>
            </a:solidFill>
            <a:prstDash val="solid"/>
          </a:ln>
        </p:spPr>
      </p:sp>
      <p:sp>
        <p:nvSpPr>
          <p:cNvPr id="47" name="Shape 22"/>
          <p:cNvSpPr/>
          <p:nvPr/>
        </p:nvSpPr>
        <p:spPr>
          <a:xfrm>
            <a:off x="2101850" y="2551430"/>
            <a:ext cx="189230" cy="20129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48" name="Shape 23"/>
          <p:cNvSpPr/>
          <p:nvPr/>
        </p:nvSpPr>
        <p:spPr>
          <a:xfrm>
            <a:off x="2376170" y="2194560"/>
            <a:ext cx="668655" cy="841375"/>
          </a:xfrm>
          <a:prstGeom prst="ellipse">
            <a:avLst/>
          </a:prstGeom>
          <a:solidFill>
            <a:srgbClr val="F6E8DE"/>
          </a:solidFill>
          <a:ln w="12700">
            <a:solidFill>
              <a:srgbClr val="D3B9A9"/>
            </a:solidFill>
            <a:prstDash val="solid"/>
          </a:ln>
        </p:spPr>
      </p:sp>
      <p:sp>
        <p:nvSpPr>
          <p:cNvPr id="49" name="Shape 24"/>
          <p:cNvSpPr/>
          <p:nvPr/>
        </p:nvSpPr>
        <p:spPr>
          <a:xfrm>
            <a:off x="2540635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50" name="Shape 25"/>
          <p:cNvSpPr/>
          <p:nvPr/>
        </p:nvSpPr>
        <p:spPr>
          <a:xfrm>
            <a:off x="2851150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51" name="Shape 26"/>
          <p:cNvSpPr/>
          <p:nvPr/>
        </p:nvSpPr>
        <p:spPr>
          <a:xfrm flipV="1">
            <a:off x="2604770" y="2642235"/>
            <a:ext cx="257810" cy="109855"/>
          </a:xfrm>
          <a:prstGeom prst="arc">
            <a:avLst/>
          </a:prstGeom>
          <a:solidFill>
            <a:srgbClr val="F6E8DE">
              <a:alpha val="0"/>
            </a:srgbClr>
          </a:solidFill>
          <a:ln w="22860">
            <a:solidFill>
              <a:srgbClr val="F26B5B"/>
            </a:solidFill>
            <a:prstDash val="solid"/>
          </a:ln>
        </p:spPr>
      </p:sp>
      <p:sp>
        <p:nvSpPr>
          <p:cNvPr id="52" name="Shape 27"/>
          <p:cNvSpPr/>
          <p:nvPr/>
        </p:nvSpPr>
        <p:spPr>
          <a:xfrm>
            <a:off x="3125470" y="2551430"/>
            <a:ext cx="189230" cy="20129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53" name="Shape 28"/>
          <p:cNvSpPr/>
          <p:nvPr/>
        </p:nvSpPr>
        <p:spPr>
          <a:xfrm>
            <a:off x="3399790" y="2194560"/>
            <a:ext cx="668655" cy="841375"/>
          </a:xfrm>
          <a:prstGeom prst="ellipse">
            <a:avLst/>
          </a:prstGeom>
          <a:solidFill>
            <a:srgbClr val="F6E8DE"/>
          </a:solidFill>
          <a:ln w="12700">
            <a:solidFill>
              <a:srgbClr val="D3B9A9"/>
            </a:solidFill>
            <a:prstDash val="solid"/>
          </a:ln>
        </p:spPr>
      </p:sp>
      <p:sp>
        <p:nvSpPr>
          <p:cNvPr id="54" name="Shape 29"/>
          <p:cNvSpPr/>
          <p:nvPr/>
        </p:nvSpPr>
        <p:spPr>
          <a:xfrm>
            <a:off x="3564890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55" name="Shape 30"/>
          <p:cNvSpPr/>
          <p:nvPr/>
        </p:nvSpPr>
        <p:spPr>
          <a:xfrm>
            <a:off x="3875405" y="2496185"/>
            <a:ext cx="76200" cy="762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56" name="Shape 31"/>
          <p:cNvSpPr/>
          <p:nvPr/>
        </p:nvSpPr>
        <p:spPr>
          <a:xfrm flipV="1">
            <a:off x="3628390" y="2642235"/>
            <a:ext cx="257810" cy="109855"/>
          </a:xfrm>
          <a:prstGeom prst="arc">
            <a:avLst/>
          </a:prstGeom>
          <a:solidFill>
            <a:srgbClr val="F6E8DE">
              <a:alpha val="0"/>
            </a:srgbClr>
          </a:solidFill>
          <a:ln w="22860">
            <a:solidFill>
              <a:srgbClr val="F26B5B"/>
            </a:solidFill>
            <a:prstDash val="solid"/>
          </a:ln>
        </p:spPr>
      </p:sp>
      <p:sp>
        <p:nvSpPr>
          <p:cNvPr id="57" name="Text 32"/>
          <p:cNvSpPr/>
          <p:nvPr/>
        </p:nvSpPr>
        <p:spPr>
          <a:xfrm>
            <a:off x="327660" y="3227705"/>
            <a:ext cx="377253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面部区域变化  →  表情强度变化  →  时间演化  →  区域间关系</a:t>
            </a:r>
            <a:endParaRPr lang="en-US" sz="820" dirty="0"/>
          </a:p>
        </p:txBody>
      </p:sp>
      <p:sp>
        <p:nvSpPr>
          <p:cNvPr id="58" name="Shape 33"/>
          <p:cNvSpPr/>
          <p:nvPr/>
        </p:nvSpPr>
        <p:spPr>
          <a:xfrm>
            <a:off x="391795" y="3694430"/>
            <a:ext cx="77470" cy="82550"/>
          </a:xfrm>
          <a:prstGeom prst="ellipse">
            <a:avLst/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59" name="Text 34"/>
          <p:cNvSpPr/>
          <p:nvPr/>
        </p:nvSpPr>
        <p:spPr>
          <a:xfrm>
            <a:off x="619760" y="3611880"/>
            <a:ext cx="3472180" cy="3105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不是单帧分类，而是视频级时序建模</a:t>
            </a:r>
            <a:endParaRPr lang="en-US" sz="1120" dirty="0"/>
          </a:p>
        </p:txBody>
      </p:sp>
      <p:sp>
        <p:nvSpPr>
          <p:cNvPr id="60" name="Shape 35"/>
          <p:cNvSpPr/>
          <p:nvPr/>
        </p:nvSpPr>
        <p:spPr>
          <a:xfrm>
            <a:off x="391795" y="3966210"/>
            <a:ext cx="77470" cy="82550"/>
          </a:xfrm>
          <a:prstGeom prst="ellipse">
            <a:avLst/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61" name="Text 36"/>
          <p:cNvSpPr/>
          <p:nvPr/>
        </p:nvSpPr>
        <p:spPr>
          <a:xfrm>
            <a:off x="619760" y="3884295"/>
            <a:ext cx="3472180" cy="3105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重点关注眉毛、眼睛、鼻子、嘴部和整体面部区域</a:t>
            </a:r>
            <a:endParaRPr lang="en-US" sz="1120" dirty="0"/>
          </a:p>
        </p:txBody>
      </p:sp>
      <p:sp>
        <p:nvSpPr>
          <p:cNvPr id="62" name="Shape 37"/>
          <p:cNvSpPr/>
          <p:nvPr/>
        </p:nvSpPr>
        <p:spPr>
          <a:xfrm>
            <a:off x="391795" y="4238625"/>
            <a:ext cx="77470" cy="82550"/>
          </a:xfrm>
          <a:prstGeom prst="ellipse">
            <a:avLst/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63" name="Text 38"/>
          <p:cNvSpPr/>
          <p:nvPr/>
        </p:nvSpPr>
        <p:spPr>
          <a:xfrm>
            <a:off x="619760" y="4156710"/>
            <a:ext cx="3472180" cy="3105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局部语义区域有助于捕捉细粒度表情变化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Freeform 5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1800" dirty="0">
                <a:solidFill>
                  <a:srgbClr val="FFFF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通过训练与评估总结实验结果与误差分析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4800600"/>
            <a:ext cx="876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>
            <a:noAutofit/>
          </a:bodyPr>
          <a:lstStyle/>
          <a:p>
            <a:pPr marL="0" indent="0" algn="ctr" defTabSz="914400">
              <a:lnSpc>
                <a:spcPct val="92000"/>
              </a:lnSpc>
              <a:defRPr/>
            </a:pPr>
            <a:endParaRPr lang="zh-CN" altLang="en-US" sz="1600" b="1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482600" indent="0" algn="l" defTabSz="914400">
              <a:lnSpc>
                <a:spcPts val="2460"/>
              </a:lnSpc>
              <a:buClr>
                <a:srgbClr val="111111"/>
              </a:buClr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先跑通基线模型再复现主模型，分析</a:t>
            </a:r>
            <a:r>
              <a:rPr lang="en-US" sz="18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“语义区域 + 时序 + MoE”</a:t>
            </a:r>
            <a:r>
              <a:rPr lang="zh-CN" altLang="en-US" sz="18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的影响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061200" y="48006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12700" rIns="91440" bIns="12700" rtlCol="0" anchor="ctr">
            <a:noAutofit/>
          </a:bodyPr>
          <a:lstStyle/>
          <a:p>
            <a:pPr algn="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95770" y="3689350"/>
            <a:ext cx="673100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步骤二：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研发基于视频的多模态情绪识别模型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0810" y="1397000"/>
            <a:ext cx="2451100" cy="329819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" name="Text 12"/>
          <p:cNvSpPr/>
          <p:nvPr/>
        </p:nvSpPr>
        <p:spPr>
          <a:xfrm>
            <a:off x="405003" y="149479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8C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A. 数据准备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4147" y="1933702"/>
            <a:ext cx="329184" cy="292608"/>
          </a:xfrm>
          <a:prstGeom prst="roundRect">
            <a:avLst>
              <a:gd name="adj" fmla="val 25000"/>
            </a:avLst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155" y="197027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15"/>
          <p:cNvSpPr/>
          <p:nvPr/>
        </p:nvSpPr>
        <p:spPr>
          <a:xfrm>
            <a:off x="843915" y="1961134"/>
            <a:ext cx="1901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申请并下载 DFEW / MAFW</a:t>
            </a:r>
            <a:endParaRPr lang="en-US" sz="980" dirty="0"/>
          </a:p>
        </p:txBody>
      </p:sp>
      <p:sp>
        <p:nvSpPr>
          <p:cNvPr id="9" name="Shape 16"/>
          <p:cNvSpPr/>
          <p:nvPr/>
        </p:nvSpPr>
        <p:spPr>
          <a:xfrm>
            <a:off x="414147" y="2518918"/>
            <a:ext cx="329184" cy="292608"/>
          </a:xfrm>
          <a:prstGeom prst="roundRect">
            <a:avLst>
              <a:gd name="adj" fmla="val 25000"/>
            </a:avLst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33" name="Text 17"/>
          <p:cNvSpPr/>
          <p:nvPr/>
        </p:nvSpPr>
        <p:spPr>
          <a:xfrm>
            <a:off x="478155" y="255549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Text 18"/>
          <p:cNvSpPr/>
          <p:nvPr/>
        </p:nvSpPr>
        <p:spPr>
          <a:xfrm>
            <a:off x="843915" y="2546350"/>
            <a:ext cx="1901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核对标签与官方数据划分</a:t>
            </a:r>
            <a:endParaRPr lang="en-US" sz="980" dirty="0"/>
          </a:p>
        </p:txBody>
      </p:sp>
      <p:sp>
        <p:nvSpPr>
          <p:cNvPr id="35" name="Shape 19"/>
          <p:cNvSpPr/>
          <p:nvPr/>
        </p:nvSpPr>
        <p:spPr>
          <a:xfrm>
            <a:off x="414147" y="3104134"/>
            <a:ext cx="329184" cy="292608"/>
          </a:xfrm>
          <a:prstGeom prst="roundRect">
            <a:avLst>
              <a:gd name="adj" fmla="val 25000"/>
            </a:avLst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36" name="Text 20"/>
          <p:cNvSpPr/>
          <p:nvPr/>
        </p:nvSpPr>
        <p:spPr>
          <a:xfrm>
            <a:off x="478155" y="314071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Text 21"/>
          <p:cNvSpPr/>
          <p:nvPr/>
        </p:nvSpPr>
        <p:spPr>
          <a:xfrm>
            <a:off x="843915" y="3131566"/>
            <a:ext cx="1901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视频抽帧，统一帧率/分辨率</a:t>
            </a:r>
            <a:endParaRPr lang="en-US" sz="980" dirty="0"/>
          </a:p>
        </p:txBody>
      </p:sp>
      <p:sp>
        <p:nvSpPr>
          <p:cNvPr id="38" name="Shape 22"/>
          <p:cNvSpPr/>
          <p:nvPr/>
        </p:nvSpPr>
        <p:spPr>
          <a:xfrm>
            <a:off x="414147" y="3689350"/>
            <a:ext cx="329184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39" name="Text 23"/>
          <p:cNvSpPr/>
          <p:nvPr/>
        </p:nvSpPr>
        <p:spPr>
          <a:xfrm>
            <a:off x="478155" y="372592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24"/>
          <p:cNvSpPr/>
          <p:nvPr/>
        </p:nvSpPr>
        <p:spPr>
          <a:xfrm>
            <a:off x="843915" y="3716782"/>
            <a:ext cx="1901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RetinaFace 检测与对齐</a:t>
            </a:r>
            <a:endParaRPr lang="en-US" sz="980" dirty="0"/>
          </a:p>
        </p:txBody>
      </p:sp>
      <p:sp>
        <p:nvSpPr>
          <p:cNvPr id="41" name="Shape 25"/>
          <p:cNvSpPr/>
          <p:nvPr/>
        </p:nvSpPr>
        <p:spPr>
          <a:xfrm>
            <a:off x="414147" y="4274566"/>
            <a:ext cx="329184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42" name="Text 26"/>
          <p:cNvSpPr/>
          <p:nvPr/>
        </p:nvSpPr>
        <p:spPr>
          <a:xfrm>
            <a:off x="478155" y="431114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50" dirty="0"/>
          </a:p>
        </p:txBody>
      </p:sp>
      <p:sp>
        <p:nvSpPr>
          <p:cNvPr id="43" name="Text 27"/>
          <p:cNvSpPr/>
          <p:nvPr/>
        </p:nvSpPr>
        <p:spPr>
          <a:xfrm>
            <a:off x="843915" y="4301998"/>
            <a:ext cx="1901952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裁剪、缩放、标准化与增广</a:t>
            </a:r>
            <a:endParaRPr lang="en-US" sz="980" dirty="0"/>
          </a:p>
        </p:txBody>
      </p:sp>
      <p:sp>
        <p:nvSpPr>
          <p:cNvPr id="44" name="Shape 28"/>
          <p:cNvSpPr/>
          <p:nvPr/>
        </p:nvSpPr>
        <p:spPr>
          <a:xfrm>
            <a:off x="2745740" y="1397000"/>
            <a:ext cx="3720465" cy="329819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5" name="Text 29"/>
          <p:cNvSpPr/>
          <p:nvPr/>
        </p:nvSpPr>
        <p:spPr>
          <a:xfrm>
            <a:off x="3020060" y="1494790"/>
            <a:ext cx="16490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B. 基线 vs 主模型</a:t>
            </a:r>
            <a:endParaRPr lang="en-US" sz="1550" dirty="0"/>
          </a:p>
        </p:txBody>
      </p:sp>
      <p:sp>
        <p:nvSpPr>
          <p:cNvPr id="46" name="Shape 30"/>
          <p:cNvSpPr/>
          <p:nvPr/>
        </p:nvSpPr>
        <p:spPr>
          <a:xfrm>
            <a:off x="2877185" y="1924685"/>
            <a:ext cx="1363980" cy="2331720"/>
          </a:xfrm>
          <a:prstGeom prst="roundRect">
            <a:avLst>
              <a:gd name="adj" fmla="val 5495"/>
            </a:avLst>
          </a:prstGeom>
          <a:solidFill>
            <a:srgbClr val="F4F7FA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47" name="Shape 31"/>
          <p:cNvSpPr/>
          <p:nvPr/>
        </p:nvSpPr>
        <p:spPr>
          <a:xfrm>
            <a:off x="3096260" y="2134870"/>
            <a:ext cx="989330" cy="292735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48" name="Text 32"/>
          <p:cNvSpPr/>
          <p:nvPr/>
        </p:nvSpPr>
        <p:spPr>
          <a:xfrm>
            <a:off x="3160395" y="2171700"/>
            <a:ext cx="883920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Baseline</a:t>
            </a:r>
            <a:endParaRPr lang="en-US" sz="950" dirty="0"/>
          </a:p>
        </p:txBody>
      </p:sp>
      <p:sp>
        <p:nvSpPr>
          <p:cNvPr id="49" name="Text 33"/>
          <p:cNvSpPr/>
          <p:nvPr/>
        </p:nvSpPr>
        <p:spPr>
          <a:xfrm>
            <a:off x="3169285" y="2583180"/>
            <a:ext cx="861695" cy="13169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ResNet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逐帧特征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时序池化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视频级分类</a:t>
            </a:r>
            <a:endParaRPr lang="en-US" sz="1020" dirty="0"/>
          </a:p>
        </p:txBody>
      </p:sp>
      <p:sp>
        <p:nvSpPr>
          <p:cNvPr id="50" name="Shape 34"/>
          <p:cNvSpPr/>
          <p:nvPr/>
        </p:nvSpPr>
        <p:spPr>
          <a:xfrm>
            <a:off x="4601845" y="1924685"/>
            <a:ext cx="1738630" cy="2331720"/>
          </a:xfrm>
          <a:prstGeom prst="roundRect">
            <a:avLst>
              <a:gd name="adj" fmla="val 4310"/>
            </a:avLst>
          </a:prstGeom>
          <a:solidFill>
            <a:srgbClr val="FFF7F2"/>
          </a:solidFill>
          <a:ln w="12700">
            <a:solidFill>
              <a:srgbClr val="F0D8CC"/>
            </a:solidFill>
            <a:prstDash val="solid"/>
          </a:ln>
        </p:spPr>
      </p:sp>
      <p:sp>
        <p:nvSpPr>
          <p:cNvPr id="51" name="Shape 35"/>
          <p:cNvSpPr/>
          <p:nvPr/>
        </p:nvSpPr>
        <p:spPr>
          <a:xfrm>
            <a:off x="4912995" y="2134870"/>
            <a:ext cx="1214120" cy="292735"/>
          </a:xfrm>
          <a:prstGeom prst="roundRect">
            <a:avLst>
              <a:gd name="adj" fmla="val 25000"/>
            </a:avLst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52" name="Text 36"/>
          <p:cNvSpPr/>
          <p:nvPr/>
        </p:nvSpPr>
        <p:spPr>
          <a:xfrm>
            <a:off x="4977130" y="2171700"/>
            <a:ext cx="1108710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 Model</a:t>
            </a:r>
            <a:endParaRPr lang="en-US" sz="950" dirty="0"/>
          </a:p>
        </p:txBody>
      </p:sp>
      <p:sp>
        <p:nvSpPr>
          <p:cNvPr id="53" name="Text 37"/>
          <p:cNvSpPr/>
          <p:nvPr/>
        </p:nvSpPr>
        <p:spPr>
          <a:xfrm>
            <a:off x="4821555" y="2527935"/>
            <a:ext cx="1393825" cy="12985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ViT-B/16 骨干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面部语义区域 Token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时序建模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语义—全局交互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语义引导 MoE</a:t>
            </a:r>
            <a:endParaRPr lang="en-US" sz="980" dirty="0"/>
          </a:p>
        </p:txBody>
      </p:sp>
      <p:sp>
        <p:nvSpPr>
          <p:cNvPr id="54" name="Shape 38"/>
          <p:cNvSpPr/>
          <p:nvPr/>
        </p:nvSpPr>
        <p:spPr>
          <a:xfrm>
            <a:off x="4318635" y="2839085"/>
            <a:ext cx="172720" cy="274320"/>
          </a:xfrm>
          <a:prstGeom prst="chevron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84" name="Text 39"/>
          <p:cNvSpPr/>
          <p:nvPr/>
        </p:nvSpPr>
        <p:spPr>
          <a:xfrm>
            <a:off x="2922905" y="4274820"/>
            <a:ext cx="3161665" cy="51181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对比意义：不是只追求更高分，而是解释“语义区域 + 时序 + MoE”带来了什么。</a:t>
            </a:r>
            <a:endParaRPr lang="en-US" sz="1000" dirty="0"/>
          </a:p>
        </p:txBody>
      </p:sp>
      <p:sp>
        <p:nvSpPr>
          <p:cNvPr id="85" name="Shape 40"/>
          <p:cNvSpPr/>
          <p:nvPr/>
        </p:nvSpPr>
        <p:spPr>
          <a:xfrm>
            <a:off x="6796405" y="1397000"/>
            <a:ext cx="2148205" cy="3298190"/>
          </a:xfrm>
          <a:prstGeom prst="roundRect">
            <a:avLst>
              <a:gd name="adj" fmla="val 356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6" name="Text 41"/>
          <p:cNvSpPr/>
          <p:nvPr/>
        </p:nvSpPr>
        <p:spPr>
          <a:xfrm>
            <a:off x="6869430" y="1494790"/>
            <a:ext cx="127381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6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C. 训练与评估</a:t>
            </a:r>
            <a:endParaRPr lang="en-US" sz="1550" dirty="0"/>
          </a:p>
        </p:txBody>
      </p:sp>
      <p:sp>
        <p:nvSpPr>
          <p:cNvPr id="87" name="Shape 42"/>
          <p:cNvSpPr/>
          <p:nvPr/>
        </p:nvSpPr>
        <p:spPr>
          <a:xfrm>
            <a:off x="6887845" y="2043430"/>
            <a:ext cx="76200" cy="8255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88" name="Text 43"/>
          <p:cNvSpPr/>
          <p:nvPr/>
        </p:nvSpPr>
        <p:spPr>
          <a:xfrm>
            <a:off x="7052310" y="1960880"/>
            <a:ext cx="1851025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先加载预训练模型并跑通推理</a:t>
            </a:r>
            <a:endParaRPr lang="en-US" sz="1040" dirty="0"/>
          </a:p>
        </p:txBody>
      </p:sp>
      <p:sp>
        <p:nvSpPr>
          <p:cNvPr id="89" name="Shape 44"/>
          <p:cNvSpPr/>
          <p:nvPr/>
        </p:nvSpPr>
        <p:spPr>
          <a:xfrm>
            <a:off x="6887845" y="2286000"/>
            <a:ext cx="76200" cy="8255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90" name="Text 45"/>
          <p:cNvSpPr/>
          <p:nvPr/>
        </p:nvSpPr>
        <p:spPr>
          <a:xfrm>
            <a:off x="7052310" y="2203450"/>
            <a:ext cx="1851025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再训练或微调</a:t>
            </a:r>
            <a:endParaRPr lang="en-US" sz="1040" dirty="0"/>
          </a:p>
        </p:txBody>
      </p:sp>
      <p:sp>
        <p:nvSpPr>
          <p:cNvPr id="91" name="Shape 46"/>
          <p:cNvSpPr/>
          <p:nvPr/>
        </p:nvSpPr>
        <p:spPr>
          <a:xfrm>
            <a:off x="6887845" y="2527935"/>
            <a:ext cx="76200" cy="8255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92" name="Text 47"/>
          <p:cNvSpPr/>
          <p:nvPr/>
        </p:nvSpPr>
        <p:spPr>
          <a:xfrm>
            <a:off x="7052310" y="2446020"/>
            <a:ext cx="1851025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统一记录 UAR / WAR</a:t>
            </a:r>
            <a:endParaRPr lang="en-US" sz="1040" dirty="0"/>
          </a:p>
        </p:txBody>
      </p:sp>
      <p:sp>
        <p:nvSpPr>
          <p:cNvPr id="93" name="Shape 48"/>
          <p:cNvSpPr/>
          <p:nvPr/>
        </p:nvSpPr>
        <p:spPr>
          <a:xfrm>
            <a:off x="6887845" y="2770505"/>
            <a:ext cx="76200" cy="8255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94" name="Text 49"/>
          <p:cNvSpPr/>
          <p:nvPr/>
        </p:nvSpPr>
        <p:spPr>
          <a:xfrm>
            <a:off x="7052310" y="2688590"/>
            <a:ext cx="1851025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绘制混淆矩阵</a:t>
            </a:r>
            <a:endParaRPr lang="en-US" sz="1040" dirty="0"/>
          </a:p>
        </p:txBody>
      </p:sp>
      <p:sp>
        <p:nvSpPr>
          <p:cNvPr id="95" name="Shape 50"/>
          <p:cNvSpPr/>
          <p:nvPr/>
        </p:nvSpPr>
        <p:spPr>
          <a:xfrm>
            <a:off x="6887845" y="3013075"/>
            <a:ext cx="76200" cy="8255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96" name="Text 51"/>
          <p:cNvSpPr/>
          <p:nvPr/>
        </p:nvSpPr>
        <p:spPr>
          <a:xfrm>
            <a:off x="7052310" y="2930525"/>
            <a:ext cx="1851025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比较基线与主模型</a:t>
            </a:r>
            <a:endParaRPr lang="en-US" sz="1040" dirty="0"/>
          </a:p>
        </p:txBody>
      </p:sp>
      <p:sp>
        <p:nvSpPr>
          <p:cNvPr id="97" name="Shape 52"/>
          <p:cNvSpPr/>
          <p:nvPr/>
        </p:nvSpPr>
        <p:spPr>
          <a:xfrm>
            <a:off x="6887845" y="3255645"/>
            <a:ext cx="76200" cy="8255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98" name="Text 53"/>
          <p:cNvSpPr/>
          <p:nvPr/>
        </p:nvSpPr>
        <p:spPr>
          <a:xfrm>
            <a:off x="7052310" y="3173095"/>
            <a:ext cx="1851025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分析错误样本与类别不均衡</a:t>
            </a:r>
            <a:endParaRPr lang="en-US" sz="1040" dirty="0"/>
          </a:p>
        </p:txBody>
      </p:sp>
      <p:sp>
        <p:nvSpPr>
          <p:cNvPr id="99" name="Shape 54"/>
          <p:cNvSpPr/>
          <p:nvPr/>
        </p:nvSpPr>
        <p:spPr>
          <a:xfrm>
            <a:off x="6851650" y="3764915"/>
            <a:ext cx="2007870" cy="768350"/>
          </a:xfrm>
          <a:prstGeom prst="roundRect">
            <a:avLst>
              <a:gd name="adj" fmla="val 9524"/>
            </a:avLst>
          </a:prstGeom>
          <a:solidFill>
            <a:srgbClr val="FFF8E8"/>
          </a:solidFill>
          <a:ln w="12700">
            <a:solidFill>
              <a:srgbClr val="F0D9A5"/>
            </a:solidFill>
            <a:prstDash val="solid"/>
          </a:ln>
        </p:spPr>
      </p:sp>
      <p:sp>
        <p:nvSpPr>
          <p:cNvPr id="100" name="Text 55"/>
          <p:cNvSpPr/>
          <p:nvPr/>
        </p:nvSpPr>
        <p:spPr>
          <a:xfrm>
            <a:off x="7052310" y="3910965"/>
            <a:ext cx="947420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7C5A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MAFW 参考结果</a:t>
            </a:r>
            <a:endParaRPr lang="en-US" sz="940" dirty="0"/>
          </a:p>
        </p:txBody>
      </p:sp>
      <p:sp>
        <p:nvSpPr>
          <p:cNvPr id="101" name="Text 56"/>
          <p:cNvSpPr/>
          <p:nvPr/>
        </p:nvSpPr>
        <p:spPr>
          <a:xfrm>
            <a:off x="7034530" y="4185285"/>
            <a:ext cx="1617980" cy="201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7500" lnSpcReduction="20000"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UAR 44.45%   |   WAR 58.67%</a:t>
            </a:r>
            <a:endParaRPr lang="en-US" sz="1060" dirty="0"/>
          </a:p>
        </p:txBody>
      </p:sp>
      <p:sp>
        <p:nvSpPr>
          <p:cNvPr id="102" name="Text 57"/>
          <p:cNvSpPr/>
          <p:nvPr/>
        </p:nvSpPr>
        <p:spPr>
          <a:xfrm>
            <a:off x="7034530" y="4356735"/>
            <a:ext cx="1648460" cy="1555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仅作理解参考，不作为硬性达标线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数字人路径（一）：从素材到可渲染的三维人像资产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步骤三：研发数字人构建与语音驱动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8275" y="1504315"/>
            <a:ext cx="1087755" cy="60579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1935" y="1725295"/>
            <a:ext cx="250190" cy="16383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>
              <a:buNone/>
            </a:pPr>
            <a:r>
              <a:rPr lang="en-US" sz="950" b="1" dirty="0">
                <a:solidFill>
                  <a:srgbClr val="2A8C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505" y="1708785"/>
            <a:ext cx="676275" cy="1968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素材准备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1315085" y="1700848"/>
            <a:ext cx="191135" cy="21272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94485" y="1504315"/>
            <a:ext cx="1087755" cy="60579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7510" y="1725295"/>
            <a:ext cx="250190" cy="16383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>
              <a:buNone/>
            </a:pPr>
            <a:r>
              <a:rPr lang="en-US" sz="950" b="1" dirty="0">
                <a:solidFill>
                  <a:srgbClr val="173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10080" y="1708785"/>
            <a:ext cx="676275" cy="1968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3D 重建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2740660" y="1700848"/>
            <a:ext cx="191135" cy="21272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9425" y="1504315"/>
            <a:ext cx="1087755" cy="60579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3085" y="1725295"/>
            <a:ext cx="250190" cy="16383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>
              <a:buNone/>
            </a:pPr>
            <a:r>
              <a:rPr lang="en-US" sz="950" b="1" dirty="0">
                <a:solidFill>
                  <a:srgbClr val="756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6290" y="1708785"/>
            <a:ext cx="676275" cy="1968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绑骨/蒙皮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4166235" y="1700848"/>
            <a:ext cx="191135" cy="21272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45635" y="1504315"/>
            <a:ext cx="1087755" cy="60579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19295" y="1725295"/>
            <a:ext cx="250190" cy="16383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>
              <a:buNone/>
            </a:pPr>
            <a:r>
              <a:rPr lang="en-US" sz="950" b="1" dirty="0">
                <a:solidFill>
                  <a:srgbClr val="F2B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61865" y="1708785"/>
            <a:ext cx="676275" cy="1968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语音生成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5591810" y="1700848"/>
            <a:ext cx="191135" cy="21272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1845" y="1504315"/>
            <a:ext cx="1087755" cy="60579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4870" y="1725295"/>
            <a:ext cx="250190" cy="16383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>
              <a:buNone/>
            </a:pPr>
            <a:r>
              <a:rPr lang="en-US" sz="950" b="1" dirty="0">
                <a:solidFill>
                  <a:srgbClr val="F26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87440" y="1708785"/>
            <a:ext cx="676275" cy="1968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唇形驱动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7018020" y="1700848"/>
            <a:ext cx="191135" cy="212725"/>
          </a:xfrm>
          <a:prstGeom prst="chevron">
            <a:avLst/>
          </a:prstGeom>
          <a:solidFill>
            <a:srgbClr val="AAB7C4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785" y="1504315"/>
            <a:ext cx="1087755" cy="60579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3A9B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70445" y="1725295"/>
            <a:ext cx="250190" cy="163830"/>
          </a:xfrm>
          <a:prstGeom prst="rect">
            <a:avLst/>
          </a:prstGeom>
          <a:noFill/>
        </p:spPr>
        <p:txBody>
          <a:bodyPr wrap="square" lIns="0" tIns="0" rIns="0" bIns="0" rtlCol="0" anchor="ctr" anchorCtr="0"/>
          <a:lstStyle/>
          <a:p>
            <a:pPr marL="0" indent="0">
              <a:buNone/>
            </a:pPr>
            <a:r>
              <a:rPr lang="en-US" sz="950" b="1" dirty="0">
                <a:solidFill>
                  <a:srgbClr val="3A9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13015" y="1708785"/>
            <a:ext cx="676275" cy="19685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音画同步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127635" y="2236470"/>
            <a:ext cx="2939415" cy="239268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980" y="2416810"/>
            <a:ext cx="1520825" cy="229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素材与三维资产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47980" y="2955925"/>
            <a:ext cx="66040" cy="76200"/>
          </a:xfrm>
          <a:prstGeom prst="ellipse">
            <a:avLst/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" y="2874010"/>
            <a:ext cx="2256155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使用用户授权视频 / 图像</a:t>
            </a:r>
            <a:endParaRPr lang="en-US" sz="1010" dirty="0"/>
          </a:p>
        </p:txBody>
      </p:sp>
      <p:sp>
        <p:nvSpPr>
          <p:cNvPr id="40" name="Shape 38"/>
          <p:cNvSpPr/>
          <p:nvPr/>
        </p:nvSpPr>
        <p:spPr>
          <a:xfrm>
            <a:off x="347980" y="3187700"/>
            <a:ext cx="66040" cy="76200"/>
          </a:xfrm>
          <a:prstGeom prst="ellipse">
            <a:avLst/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" y="3105785"/>
            <a:ext cx="2256155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抽帧并清理遮挡、模糊和背景干扰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347980" y="3419475"/>
            <a:ext cx="66040" cy="76200"/>
          </a:xfrm>
          <a:prstGeom prst="ellipse">
            <a:avLst/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" y="3337560"/>
            <a:ext cx="2256155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1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混元 3D / Tripo 3D 等图像到 3D、文字到 3D 工具</a:t>
            </a:r>
            <a:endParaRPr lang="en-US" sz="1010" dirty="0"/>
          </a:p>
        </p:txBody>
      </p:sp>
      <p:sp>
        <p:nvSpPr>
          <p:cNvPr id="44" name="Shape 42"/>
          <p:cNvSpPr/>
          <p:nvPr/>
        </p:nvSpPr>
        <p:spPr>
          <a:xfrm>
            <a:off x="347980" y="3651250"/>
            <a:ext cx="66040" cy="76200"/>
          </a:xfrm>
          <a:prstGeom prst="ellipse">
            <a:avLst/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" y="3569335"/>
            <a:ext cx="2256155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输出三维网格 + 纹理材质 + 可渲染角色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3228975" y="2236470"/>
            <a:ext cx="2704465" cy="239268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9320" y="2416810"/>
            <a:ext cx="1370330" cy="229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56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骨骼与动作驱动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449320" y="2955925"/>
            <a:ext cx="66040" cy="76200"/>
          </a:xfrm>
          <a:prstGeom prst="ellipse">
            <a:avLst/>
          </a:prstGeom>
          <a:solidFill>
            <a:srgbClr val="7566C8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82035" y="2874010"/>
            <a:ext cx="2035810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77500" lnSpcReduction="1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 MIA / UniRig 思路自动估计骨骼与蒙皮权重</a:t>
            </a:r>
            <a:endParaRPr lang="en-US" sz="1010" dirty="0"/>
          </a:p>
        </p:txBody>
      </p:sp>
      <p:sp>
        <p:nvSpPr>
          <p:cNvPr id="50" name="Shape 48"/>
          <p:cNvSpPr/>
          <p:nvPr/>
        </p:nvSpPr>
        <p:spPr>
          <a:xfrm>
            <a:off x="3449320" y="3206115"/>
            <a:ext cx="66040" cy="76200"/>
          </a:xfrm>
          <a:prstGeom prst="ellipse">
            <a:avLst/>
          </a:prstGeom>
          <a:solidFill>
            <a:srgbClr val="7566C8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82035" y="3124200"/>
            <a:ext cx="2035810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修正关节位置与肢体变形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3449320" y="3456305"/>
            <a:ext cx="66040" cy="76200"/>
          </a:xfrm>
          <a:prstGeom prst="ellipse">
            <a:avLst/>
          </a:prstGeom>
          <a:solidFill>
            <a:srgbClr val="7566C8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82035" y="3373755"/>
            <a:ext cx="2035810" cy="2406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建立点头、注视、前倾、呼吸等动作库</a:t>
            </a:r>
            <a:endParaRPr lang="en-US" sz="1010" dirty="0"/>
          </a:p>
        </p:txBody>
      </p:sp>
      <p:pic>
        <p:nvPicPr>
          <p:cNvPr id="54" name="Image 0" descr="/mnt/data/fig3_rigging.png"/>
          <p:cNvPicPr>
            <a:picLocks noChangeAspect="1"/>
          </p:cNvPicPr>
          <p:nvPr/>
        </p:nvPicPr>
        <p:blipFill>
          <a:blip r:embed="rId3"/>
          <a:srcRect t="11916" b="15905"/>
          <a:stretch>
            <a:fillRect/>
          </a:stretch>
        </p:blipFill>
        <p:spPr>
          <a:xfrm>
            <a:off x="3464560" y="3686810"/>
            <a:ext cx="2167890" cy="942340"/>
          </a:xfrm>
          <a:prstGeom prst="rect">
            <a:avLst/>
          </a:prstGeom>
        </p:spPr>
      </p:pic>
      <p:sp>
        <p:nvSpPr>
          <p:cNvPr id="56" name="Shape 53"/>
          <p:cNvSpPr/>
          <p:nvPr/>
        </p:nvSpPr>
        <p:spPr>
          <a:xfrm>
            <a:off x="6109970" y="2236470"/>
            <a:ext cx="2866390" cy="239268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330315" y="2416810"/>
            <a:ext cx="1482725" cy="229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声音与音画同步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330315" y="2955925"/>
            <a:ext cx="66040" cy="7620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63030" y="2874010"/>
            <a:ext cx="2116455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75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GPT-SoVITS / CosyVoice / 在线 TTS API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330315" y="3185795"/>
            <a:ext cx="66040" cy="7620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463030" y="3103880"/>
            <a:ext cx="2116455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控制音色、语速、语调、停顿与情绪化表达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330315" y="3415665"/>
            <a:ext cx="66040" cy="7620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63030" y="3333115"/>
            <a:ext cx="2116455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依据语音生成口型序列（参考 Wav2Lip）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330315" y="3645535"/>
            <a:ext cx="66040" cy="7620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63030" y="3562985"/>
            <a:ext cx="2116455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同时驱动表情与头部动作，检查四者是否同步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315710" y="4046855"/>
            <a:ext cx="2292985" cy="392430"/>
          </a:xfrm>
          <a:prstGeom prst="roundRect">
            <a:avLst>
              <a:gd name="adj" fmla="val 16667"/>
            </a:avLst>
          </a:prstGeom>
          <a:solidFill>
            <a:srgbClr val="FFF6F2"/>
          </a:solidFill>
          <a:ln w="12700">
            <a:solidFill>
              <a:srgbClr val="F0D4C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463030" y="4152900"/>
            <a:ext cx="2058035" cy="180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49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验收标准：看起来“像在自然地说话”，而不是只有嘴在动。</a:t>
            </a:r>
          </a:p>
        </p:txBody>
      </p:sp>
      <p:sp>
        <p:nvSpPr>
          <p:cNvPr id="11" name="AutoShape 7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482600" indent="0" algn="l" defTabSz="914400">
              <a:lnSpc>
                <a:spcPts val="2460"/>
              </a:lnSpc>
              <a:buClr>
                <a:srgbClr val="111111"/>
              </a:buClr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开发三维数字人的完整的生成、绑定、驱动流程，先把每一步单独跑通，再做“语音—口型—表情—动作”的同步联调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1）数据准备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使用用户授权视频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图像素材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抽帧并统一分辨率与格式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0810" y="2641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2）三维人像重建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采用混元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3D、Tripo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3D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由图像或文字重建可渲染的三维人像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48917" y="977074"/>
            <a:ext cx="4368338" cy="332905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数字人路径（一）：从素材到可渲染的三维人像资产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步骤三：研发数字人构建与语音驱动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3）人物骨骼绑定与动作驱动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结构感知绑骨（参考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MIA）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估计骨架与蒙皮权重，稳定具身表达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0810" y="2641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4）人物语音生成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语音合成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API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或本地开源模型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GPT-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SoVITS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CosyVoice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文字→语音复刻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保留音色、语调与语速（可轻量微调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8363" r="18823"/>
          <a:stretch>
            <a:fillRect/>
          </a:stretch>
        </p:blipFill>
        <p:spPr>
          <a:xfrm>
            <a:off x="4365048" y="851922"/>
            <a:ext cx="4113720" cy="3274556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数字人路径（二）：行为驱动与声音仿真分步完成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步骤三：研发数字人构建与语音驱动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5）唇形驱动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由生成语音计算唇形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口型序列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参考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Wav2Lip，输出表情与头部动作驱动参数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0810" y="2641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6）音画同步对接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与外观人像资产对接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驱动唇形、表情与头部动作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实现音画同步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数字人路径（三）：语音→口型→表情，最终音画同步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步骤三：研发数字人构建与语音驱动</a:t>
            </a:r>
            <a:endParaRPr lang="en-US" sz="1100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1557" y="927983"/>
            <a:ext cx="2354391" cy="328753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428" y="927984"/>
            <a:ext cx="2092066" cy="32875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1）相关知识梳理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整理心理疏导话术、情绪调节方法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按儿童、青少年、成人分众归类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0810" y="2641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2）知识入库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资料清洗、分块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BGE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嵌入模型文本向量化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存入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FAISS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向量库建立索引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05992" y="879763"/>
            <a:ext cx="4457007" cy="323780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知识库路径（一）：语料→向量→索引，完成入库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步骤四：构建情绪疏导知识库与智能问答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71120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90204"/>
              <a:buChar char="•"/>
              <a:defRPr/>
            </a:pPr>
            <a:r>
              <a:rPr lang="en-US" sz="1800" b="1" i="0" u="none" strike="noStrike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检索→问答→评测→迭代，闭环优化知识库质量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37000" y="1905000"/>
            <a:ext cx="4826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知识库路径（二）：检索→问答→评测→迭代，闭环优化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步骤四：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构建情绪疏导知识库与智能问答</a:t>
            </a:r>
            <a:endParaRPr lang="en-US" sz="1100" dirty="0"/>
          </a:p>
        </p:txBody>
      </p:sp>
      <p:sp>
        <p:nvSpPr>
          <p:cNvPr id="3" name="AutoShape 5"/>
          <p:cNvSpPr/>
          <p:nvPr/>
        </p:nvSpPr>
        <p:spPr>
          <a:xfrm>
            <a:off x="130810" y="1616710"/>
            <a:ext cx="3600450" cy="2988945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3）</a:t>
            </a:r>
            <a:r>
              <a:rPr lang="en-US" sz="18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检索问答接口：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实现</a:t>
            </a: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Top-k 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</a:t>
            </a: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endParaRPr lang="en-US" sz="18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接入开源大模型</a:t>
            </a: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在线</a:t>
            </a: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API 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智能问答</a:t>
            </a:r>
            <a:endParaRPr lang="en-US" sz="18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4）</a:t>
            </a:r>
            <a:r>
              <a:rPr lang="en-US" sz="18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检索评测：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构造问题集，评估相关性</a:t>
            </a:r>
            <a:endParaRPr lang="en-US" sz="18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与回答可溯源性</a:t>
            </a:r>
            <a:endParaRPr lang="en-US" sz="18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5）</a:t>
            </a:r>
            <a:r>
              <a:rPr lang="en-US" sz="1800" b="1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迭代优化：</a:t>
            </a:r>
            <a:r>
              <a:rPr lang="en-US" sz="1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调整分块粒度、检索参数与知识补充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en-US" sz="2000" b="1" dirty="0">
                <a:solidFill>
                  <a:srgbClr val="FFFF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RAG、话术生成与行为映射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步骤五：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构建情绪疏导智能体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7800" y="1759585"/>
            <a:ext cx="2811145" cy="286258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1320" y="1933575"/>
            <a:ext cx="1793240" cy="180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8C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A. 知识库与 RAG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01320" y="2223770"/>
            <a:ext cx="253365" cy="206375"/>
          </a:xfrm>
          <a:prstGeom prst="roundRect">
            <a:avLst>
              <a:gd name="adj" fmla="val 25000"/>
            </a:avLst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390" y="2249805"/>
            <a:ext cx="149225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</a:p>
        </p:txBody>
      </p:sp>
      <p:sp>
        <p:nvSpPr>
          <p:cNvPr id="17" name="Text 15"/>
          <p:cNvSpPr/>
          <p:nvPr/>
        </p:nvSpPr>
        <p:spPr>
          <a:xfrm>
            <a:off x="743585" y="2236470"/>
            <a:ext cx="782320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整理语料</a:t>
            </a:r>
          </a:p>
        </p:txBody>
      </p:sp>
      <p:sp>
        <p:nvSpPr>
          <p:cNvPr id="18" name="Text 16"/>
          <p:cNvSpPr/>
          <p:nvPr/>
        </p:nvSpPr>
        <p:spPr>
          <a:xfrm>
            <a:off x="1541145" y="2236470"/>
            <a:ext cx="126619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按儿童 / 青少年 / 成人分类</a:t>
            </a:r>
          </a:p>
        </p:txBody>
      </p:sp>
      <p:sp>
        <p:nvSpPr>
          <p:cNvPr id="19" name="Shape 17"/>
          <p:cNvSpPr/>
          <p:nvPr/>
        </p:nvSpPr>
        <p:spPr>
          <a:xfrm>
            <a:off x="401320" y="2578100"/>
            <a:ext cx="253365" cy="206375"/>
          </a:xfrm>
          <a:prstGeom prst="roundRect">
            <a:avLst>
              <a:gd name="adj" fmla="val 25000"/>
            </a:avLst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390" y="2604135"/>
            <a:ext cx="149225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</a:p>
        </p:txBody>
      </p:sp>
      <p:sp>
        <p:nvSpPr>
          <p:cNvPr id="21" name="Text 19"/>
          <p:cNvSpPr/>
          <p:nvPr/>
        </p:nvSpPr>
        <p:spPr>
          <a:xfrm>
            <a:off x="743585" y="2590800"/>
            <a:ext cx="782320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清洗分块</a:t>
            </a:r>
          </a:p>
        </p:txBody>
      </p:sp>
      <p:sp>
        <p:nvSpPr>
          <p:cNvPr id="22" name="Text 20"/>
          <p:cNvSpPr/>
          <p:nvPr/>
        </p:nvSpPr>
        <p:spPr>
          <a:xfrm>
            <a:off x="1541145" y="2590800"/>
            <a:ext cx="126619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按主题切分文本</a:t>
            </a:r>
          </a:p>
        </p:txBody>
      </p:sp>
      <p:sp>
        <p:nvSpPr>
          <p:cNvPr id="23" name="Shape 21"/>
          <p:cNvSpPr/>
          <p:nvPr/>
        </p:nvSpPr>
        <p:spPr>
          <a:xfrm>
            <a:off x="401320" y="2932430"/>
            <a:ext cx="253365" cy="206375"/>
          </a:xfrm>
          <a:prstGeom prst="roundRect">
            <a:avLst>
              <a:gd name="adj" fmla="val 25000"/>
            </a:avLst>
          </a:prstGeom>
          <a:solidFill>
            <a:srgbClr val="2A8C87"/>
          </a:solidFill>
          <a:ln w="12700">
            <a:solidFill>
              <a:srgbClr val="2A8C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390" y="2958465"/>
            <a:ext cx="149225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</a:p>
        </p:txBody>
      </p:sp>
      <p:sp>
        <p:nvSpPr>
          <p:cNvPr id="25" name="Text 23"/>
          <p:cNvSpPr/>
          <p:nvPr/>
        </p:nvSpPr>
        <p:spPr>
          <a:xfrm>
            <a:off x="743585" y="2945765"/>
            <a:ext cx="782320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BGE 向量化</a:t>
            </a:r>
          </a:p>
        </p:txBody>
      </p:sp>
      <p:sp>
        <p:nvSpPr>
          <p:cNvPr id="26" name="Text 24"/>
          <p:cNvSpPr/>
          <p:nvPr/>
        </p:nvSpPr>
        <p:spPr>
          <a:xfrm>
            <a:off x="1541145" y="2945765"/>
            <a:ext cx="126619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生成文本向量</a:t>
            </a:r>
          </a:p>
        </p:txBody>
      </p:sp>
      <p:sp>
        <p:nvSpPr>
          <p:cNvPr id="27" name="Shape 25"/>
          <p:cNvSpPr/>
          <p:nvPr/>
        </p:nvSpPr>
        <p:spPr>
          <a:xfrm>
            <a:off x="401320" y="3287395"/>
            <a:ext cx="253365" cy="206375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390" y="3312795"/>
            <a:ext cx="149225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</a:p>
        </p:txBody>
      </p:sp>
      <p:sp>
        <p:nvSpPr>
          <p:cNvPr id="29" name="Text 27"/>
          <p:cNvSpPr/>
          <p:nvPr/>
        </p:nvSpPr>
        <p:spPr>
          <a:xfrm>
            <a:off x="743585" y="3300095"/>
            <a:ext cx="782320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FAISS 索引</a:t>
            </a:r>
          </a:p>
        </p:txBody>
      </p:sp>
      <p:sp>
        <p:nvSpPr>
          <p:cNvPr id="30" name="Text 28"/>
          <p:cNvSpPr/>
          <p:nvPr/>
        </p:nvSpPr>
        <p:spPr>
          <a:xfrm>
            <a:off x="1541145" y="3300095"/>
            <a:ext cx="126619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建立向量库</a:t>
            </a:r>
          </a:p>
        </p:txBody>
      </p:sp>
      <p:sp>
        <p:nvSpPr>
          <p:cNvPr id="31" name="Shape 29"/>
          <p:cNvSpPr/>
          <p:nvPr/>
        </p:nvSpPr>
        <p:spPr>
          <a:xfrm>
            <a:off x="401320" y="3641725"/>
            <a:ext cx="253365" cy="206375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390" y="3667760"/>
            <a:ext cx="149225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</a:p>
        </p:txBody>
      </p:sp>
      <p:sp>
        <p:nvSpPr>
          <p:cNvPr id="33" name="Text 31"/>
          <p:cNvSpPr/>
          <p:nvPr/>
        </p:nvSpPr>
        <p:spPr>
          <a:xfrm>
            <a:off x="743585" y="3654425"/>
            <a:ext cx="782320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Top-k 检索</a:t>
            </a:r>
          </a:p>
        </p:txBody>
      </p:sp>
      <p:sp>
        <p:nvSpPr>
          <p:cNvPr id="34" name="Text 32"/>
          <p:cNvSpPr/>
          <p:nvPr/>
        </p:nvSpPr>
        <p:spPr>
          <a:xfrm>
            <a:off x="1541145" y="3654425"/>
            <a:ext cx="126619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返回相关知识 + 来源</a:t>
            </a:r>
          </a:p>
        </p:txBody>
      </p:sp>
      <p:sp>
        <p:nvSpPr>
          <p:cNvPr id="35" name="Shape 33"/>
          <p:cNvSpPr/>
          <p:nvPr/>
        </p:nvSpPr>
        <p:spPr>
          <a:xfrm>
            <a:off x="401320" y="3996055"/>
            <a:ext cx="253365" cy="206375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3390" y="4022090"/>
            <a:ext cx="149225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</a:p>
        </p:txBody>
      </p:sp>
      <p:sp>
        <p:nvSpPr>
          <p:cNvPr id="37" name="Text 35"/>
          <p:cNvSpPr/>
          <p:nvPr/>
        </p:nvSpPr>
        <p:spPr>
          <a:xfrm>
            <a:off x="743585" y="4009390"/>
            <a:ext cx="782320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生成</a:t>
            </a:r>
          </a:p>
        </p:txBody>
      </p:sp>
      <p:sp>
        <p:nvSpPr>
          <p:cNvPr id="38" name="Text 36"/>
          <p:cNvSpPr/>
          <p:nvPr/>
        </p:nvSpPr>
        <p:spPr>
          <a:xfrm>
            <a:off x="1541145" y="4009390"/>
            <a:ext cx="126619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组装 Prompt → 回答</a:t>
            </a:r>
          </a:p>
        </p:txBody>
      </p:sp>
      <p:sp>
        <p:nvSpPr>
          <p:cNvPr id="39" name="Shape 37"/>
          <p:cNvSpPr/>
          <p:nvPr/>
        </p:nvSpPr>
        <p:spPr>
          <a:xfrm>
            <a:off x="3173095" y="1759585"/>
            <a:ext cx="2621915" cy="286258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96615" y="1933575"/>
            <a:ext cx="1638935" cy="180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6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B. 智能体话术生成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3396615" y="2242820"/>
            <a:ext cx="1088390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171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中整合</a:t>
            </a:r>
          </a:p>
        </p:txBody>
      </p:sp>
      <p:sp>
        <p:nvSpPr>
          <p:cNvPr id="42" name="Shape 40"/>
          <p:cNvSpPr/>
          <p:nvPr/>
        </p:nvSpPr>
        <p:spPr>
          <a:xfrm>
            <a:off x="3396615" y="2500630"/>
            <a:ext cx="878840" cy="206375"/>
          </a:xfrm>
          <a:prstGeom prst="roundRect">
            <a:avLst>
              <a:gd name="adj" fmla="val 25000"/>
            </a:avLst>
          </a:prstGeom>
          <a:solidFill>
            <a:srgbClr val="E7F4F2"/>
          </a:solidFill>
          <a:ln w="12700">
            <a:solidFill>
              <a:srgbClr val="E7F4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8685" y="2526665"/>
            <a:ext cx="77470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8C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用户原话</a:t>
            </a:r>
          </a:p>
        </p:txBody>
      </p:sp>
      <p:sp>
        <p:nvSpPr>
          <p:cNvPr id="44" name="Shape 42"/>
          <p:cNvSpPr/>
          <p:nvPr/>
        </p:nvSpPr>
        <p:spPr>
          <a:xfrm>
            <a:off x="4402455" y="2500630"/>
            <a:ext cx="878840" cy="206375"/>
          </a:xfrm>
          <a:prstGeom prst="roundRect">
            <a:avLst>
              <a:gd name="adj" fmla="val 25000"/>
            </a:avLst>
          </a:prstGeom>
          <a:solidFill>
            <a:srgbClr val="FFF1ED"/>
          </a:solidFill>
          <a:ln w="12700">
            <a:solidFill>
              <a:srgbClr val="FFF1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54525" y="2526665"/>
            <a:ext cx="77470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6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情绪识别结果</a:t>
            </a:r>
          </a:p>
        </p:txBody>
      </p:sp>
      <p:sp>
        <p:nvSpPr>
          <p:cNvPr id="46" name="Shape 44"/>
          <p:cNvSpPr/>
          <p:nvPr/>
        </p:nvSpPr>
        <p:spPr>
          <a:xfrm>
            <a:off x="3396615" y="2855595"/>
            <a:ext cx="878840" cy="206375"/>
          </a:xfrm>
          <a:prstGeom prst="roundRect">
            <a:avLst>
              <a:gd name="adj" fmla="val 25000"/>
            </a:avLst>
          </a:prstGeom>
          <a:solidFill>
            <a:srgbClr val="E7F4F2"/>
          </a:solidFill>
          <a:ln w="12700">
            <a:solidFill>
              <a:srgbClr val="E7F4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8685" y="2880995"/>
            <a:ext cx="77470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8C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知识库检索结果</a:t>
            </a:r>
          </a:p>
        </p:txBody>
      </p:sp>
      <p:sp>
        <p:nvSpPr>
          <p:cNvPr id="48" name="Shape 46"/>
          <p:cNvSpPr/>
          <p:nvPr/>
        </p:nvSpPr>
        <p:spPr>
          <a:xfrm>
            <a:off x="4402455" y="2855595"/>
            <a:ext cx="878840" cy="206375"/>
          </a:xfrm>
          <a:prstGeom prst="roundRect">
            <a:avLst>
              <a:gd name="adj" fmla="val 25000"/>
            </a:avLst>
          </a:prstGeom>
          <a:solidFill>
            <a:srgbClr val="FFF1ED"/>
          </a:solidFill>
          <a:ln w="12700">
            <a:solidFill>
              <a:srgbClr val="FFF1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4525" y="2880995"/>
            <a:ext cx="77470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6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用户状态与历史</a:t>
            </a:r>
          </a:p>
        </p:txBody>
      </p:sp>
      <p:sp>
        <p:nvSpPr>
          <p:cNvPr id="50" name="Shape 48"/>
          <p:cNvSpPr/>
          <p:nvPr/>
        </p:nvSpPr>
        <p:spPr>
          <a:xfrm>
            <a:off x="3396615" y="3209925"/>
            <a:ext cx="878840" cy="206375"/>
          </a:xfrm>
          <a:prstGeom prst="roundRect">
            <a:avLst>
              <a:gd name="adj" fmla="val 25000"/>
            </a:avLst>
          </a:prstGeom>
          <a:solidFill>
            <a:srgbClr val="E7F4F2"/>
          </a:solidFill>
          <a:ln w="12700">
            <a:solidFill>
              <a:srgbClr val="E7F4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48685" y="3235325"/>
            <a:ext cx="77470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8C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回复策略</a:t>
            </a:r>
          </a:p>
        </p:txBody>
      </p:sp>
      <p:sp>
        <p:nvSpPr>
          <p:cNvPr id="52" name="Shape 50"/>
          <p:cNvSpPr/>
          <p:nvPr/>
        </p:nvSpPr>
        <p:spPr>
          <a:xfrm>
            <a:off x="4402455" y="3209925"/>
            <a:ext cx="878840" cy="206375"/>
          </a:xfrm>
          <a:prstGeom prst="roundRect">
            <a:avLst>
              <a:gd name="adj" fmla="val 25000"/>
            </a:avLst>
          </a:prstGeom>
          <a:solidFill>
            <a:srgbClr val="FFF1ED"/>
          </a:solidFill>
          <a:ln w="12700">
            <a:solidFill>
              <a:srgbClr val="FFF1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54525" y="3235325"/>
            <a:ext cx="774700" cy="141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6B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安全约束</a:t>
            </a:r>
          </a:p>
        </p:txBody>
      </p:sp>
      <p:sp>
        <p:nvSpPr>
          <p:cNvPr id="54" name="Shape 52"/>
          <p:cNvSpPr/>
          <p:nvPr/>
        </p:nvSpPr>
        <p:spPr>
          <a:xfrm>
            <a:off x="4275455" y="3629025"/>
            <a:ext cx="193675" cy="270510"/>
          </a:xfrm>
          <a:prstGeom prst="downArrow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15995" y="3957320"/>
            <a:ext cx="1974215" cy="476885"/>
          </a:xfrm>
          <a:prstGeom prst="roundRect">
            <a:avLst>
              <a:gd name="adj" fmla="val 10811"/>
            </a:avLst>
          </a:prstGeom>
          <a:solidFill>
            <a:srgbClr val="FFF7F3"/>
          </a:solidFill>
          <a:ln w="12700">
            <a:solidFill>
              <a:srgbClr val="EBCD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79825" y="4060825"/>
            <a:ext cx="1638935" cy="231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先生成共情文案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再交给数字人完成语音和动作表达</a:t>
            </a:r>
          </a:p>
        </p:txBody>
      </p:sp>
      <p:sp>
        <p:nvSpPr>
          <p:cNvPr id="57" name="Shape 55"/>
          <p:cNvSpPr/>
          <p:nvPr/>
        </p:nvSpPr>
        <p:spPr>
          <a:xfrm>
            <a:off x="5974080" y="1759585"/>
            <a:ext cx="3039110" cy="28625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7600" y="1933575"/>
            <a:ext cx="1973580" cy="180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56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C. 记忆、行为与评测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6197600" y="2391410"/>
            <a:ext cx="685165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56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多轮记忆</a:t>
            </a:r>
          </a:p>
        </p:txBody>
      </p:sp>
      <p:sp>
        <p:nvSpPr>
          <p:cNvPr id="60" name="Shape 58"/>
          <p:cNvSpPr/>
          <p:nvPr/>
        </p:nvSpPr>
        <p:spPr>
          <a:xfrm>
            <a:off x="6212205" y="2793365"/>
            <a:ext cx="67310" cy="57785"/>
          </a:xfrm>
          <a:prstGeom prst="ellipse">
            <a:avLst/>
          </a:prstGeom>
          <a:solidFill>
            <a:srgbClr val="7566C8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46190" y="2734945"/>
            <a:ext cx="1028065" cy="1720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保存对话历史</a:t>
            </a:r>
          </a:p>
        </p:txBody>
      </p:sp>
      <p:sp>
        <p:nvSpPr>
          <p:cNvPr id="62" name="Shape 60"/>
          <p:cNvSpPr/>
          <p:nvPr/>
        </p:nvSpPr>
        <p:spPr>
          <a:xfrm>
            <a:off x="6212205" y="2930525"/>
            <a:ext cx="67310" cy="57785"/>
          </a:xfrm>
          <a:prstGeom prst="ellipse">
            <a:avLst/>
          </a:prstGeom>
          <a:solidFill>
            <a:srgbClr val="7566C8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46190" y="2872740"/>
            <a:ext cx="1028065" cy="1720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维护用户画像</a:t>
            </a:r>
          </a:p>
        </p:txBody>
      </p:sp>
      <p:sp>
        <p:nvSpPr>
          <p:cNvPr id="64" name="Shape 62"/>
          <p:cNvSpPr/>
          <p:nvPr/>
        </p:nvSpPr>
        <p:spPr>
          <a:xfrm>
            <a:off x="6212205" y="3068320"/>
            <a:ext cx="67310" cy="57785"/>
          </a:xfrm>
          <a:prstGeom prst="ellipse">
            <a:avLst/>
          </a:prstGeom>
          <a:solidFill>
            <a:srgbClr val="7566C8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46190" y="3010535"/>
            <a:ext cx="1028065" cy="1720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记录情绪变化</a:t>
            </a:r>
          </a:p>
        </p:txBody>
      </p:sp>
      <p:sp>
        <p:nvSpPr>
          <p:cNvPr id="66" name="Shape 64"/>
          <p:cNvSpPr/>
          <p:nvPr/>
        </p:nvSpPr>
        <p:spPr>
          <a:xfrm>
            <a:off x="6212205" y="3206115"/>
            <a:ext cx="67310" cy="57785"/>
          </a:xfrm>
          <a:prstGeom prst="ellipse">
            <a:avLst/>
          </a:prstGeom>
          <a:solidFill>
            <a:srgbClr val="7566C8"/>
          </a:solidFill>
          <a:ln w="12700">
            <a:solidFill>
              <a:srgbClr val="7566C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46190" y="3148330"/>
            <a:ext cx="1266190" cy="1720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记录建议是否被接受</a:t>
            </a:r>
          </a:p>
        </p:txBody>
      </p:sp>
      <p:sp>
        <p:nvSpPr>
          <p:cNvPr id="68" name="Text 66"/>
          <p:cNvSpPr/>
          <p:nvPr/>
        </p:nvSpPr>
        <p:spPr>
          <a:xfrm>
            <a:off x="7524115" y="2391410"/>
            <a:ext cx="685165" cy="141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9B7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行为映射</a:t>
            </a:r>
          </a:p>
        </p:txBody>
      </p:sp>
      <p:sp>
        <p:nvSpPr>
          <p:cNvPr id="69" name="Shape 67"/>
          <p:cNvSpPr/>
          <p:nvPr/>
        </p:nvSpPr>
        <p:spPr>
          <a:xfrm>
            <a:off x="7524115" y="2900045"/>
            <a:ext cx="67310" cy="57785"/>
          </a:xfrm>
          <a:prstGeom prst="ellipse">
            <a:avLst/>
          </a:prstGeom>
          <a:solidFill>
            <a:srgbClr val="3A9B75"/>
          </a:solidFill>
          <a:ln w="12700">
            <a:solidFill>
              <a:srgbClr val="3A9B7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58735" y="2765425"/>
            <a:ext cx="1538605" cy="1720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基础：规则 / 条件 / 模板</a:t>
            </a:r>
          </a:p>
        </p:txBody>
      </p:sp>
      <p:sp>
        <p:nvSpPr>
          <p:cNvPr id="71" name="Shape 69"/>
          <p:cNvSpPr/>
          <p:nvPr/>
        </p:nvSpPr>
        <p:spPr>
          <a:xfrm>
            <a:off x="7524115" y="3044190"/>
            <a:ext cx="67310" cy="57785"/>
          </a:xfrm>
          <a:prstGeom prst="ellipse">
            <a:avLst/>
          </a:prstGeom>
          <a:solidFill>
            <a:srgbClr val="3A9B75"/>
          </a:solidFill>
          <a:ln w="12700">
            <a:solidFill>
              <a:srgbClr val="3A9B7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58735" y="2985770"/>
            <a:ext cx="1537970" cy="1454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进阶：LLM 理解行为序列</a:t>
            </a:r>
          </a:p>
        </p:txBody>
      </p:sp>
      <p:sp>
        <p:nvSpPr>
          <p:cNvPr id="73" name="Shape 71"/>
          <p:cNvSpPr/>
          <p:nvPr/>
        </p:nvSpPr>
        <p:spPr>
          <a:xfrm>
            <a:off x="7524115" y="3188335"/>
            <a:ext cx="67310" cy="57785"/>
          </a:xfrm>
          <a:prstGeom prst="ellipse">
            <a:avLst/>
          </a:prstGeom>
          <a:solidFill>
            <a:srgbClr val="3A9B75"/>
          </a:solidFill>
          <a:ln w="12700">
            <a:solidFill>
              <a:srgbClr val="3A9B7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58735" y="3129915"/>
            <a:ext cx="1087755" cy="17208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输出个性化反馈</a:t>
            </a:r>
          </a:p>
        </p:txBody>
      </p:sp>
      <p:sp>
        <p:nvSpPr>
          <p:cNvPr id="75" name="Shape 73"/>
          <p:cNvSpPr/>
          <p:nvPr/>
        </p:nvSpPr>
        <p:spPr>
          <a:xfrm>
            <a:off x="6204585" y="3525520"/>
            <a:ext cx="2308860" cy="0"/>
          </a:xfrm>
          <a:prstGeom prst="line">
            <a:avLst/>
          </a:prstGeom>
          <a:noFill/>
          <a:ln w="12700">
            <a:solidFill>
              <a:srgbClr val="E0E7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2205" y="3686810"/>
            <a:ext cx="1266190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A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检索与系统评测</a:t>
            </a:r>
          </a:p>
        </p:txBody>
      </p:sp>
      <p:sp>
        <p:nvSpPr>
          <p:cNvPr id="77" name="Shape 75"/>
          <p:cNvSpPr/>
          <p:nvPr/>
        </p:nvSpPr>
        <p:spPr>
          <a:xfrm>
            <a:off x="6212205" y="3944620"/>
            <a:ext cx="67310" cy="57785"/>
          </a:xfrm>
          <a:prstGeom prst="ellipse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46190" y="3886835"/>
            <a:ext cx="2026285" cy="1739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构造测试问题集</a:t>
            </a:r>
          </a:p>
        </p:txBody>
      </p:sp>
      <p:sp>
        <p:nvSpPr>
          <p:cNvPr id="79" name="Shape 77"/>
          <p:cNvSpPr/>
          <p:nvPr/>
        </p:nvSpPr>
        <p:spPr>
          <a:xfrm>
            <a:off x="6212205" y="4083685"/>
            <a:ext cx="67310" cy="57785"/>
          </a:xfrm>
          <a:prstGeom prst="ellipse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46190" y="4025900"/>
            <a:ext cx="2026285" cy="1739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 Top-k 相关性与可溯源性</a:t>
            </a:r>
          </a:p>
        </p:txBody>
      </p:sp>
      <p:sp>
        <p:nvSpPr>
          <p:cNvPr id="81" name="Shape 79"/>
          <p:cNvSpPr/>
          <p:nvPr/>
        </p:nvSpPr>
        <p:spPr>
          <a:xfrm>
            <a:off x="6212205" y="4222750"/>
            <a:ext cx="67310" cy="57785"/>
          </a:xfrm>
          <a:prstGeom prst="ellipse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46190" y="4164965"/>
            <a:ext cx="2026285" cy="1739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调整分块粒度 / Top-k / Prompt</a:t>
            </a:r>
          </a:p>
        </p:txBody>
      </p:sp>
      <p:sp>
        <p:nvSpPr>
          <p:cNvPr id="83" name="Shape 81"/>
          <p:cNvSpPr/>
          <p:nvPr/>
        </p:nvSpPr>
        <p:spPr>
          <a:xfrm>
            <a:off x="6212205" y="4361815"/>
            <a:ext cx="67310" cy="57785"/>
          </a:xfrm>
          <a:prstGeom prst="ellipse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46190" y="4304030"/>
            <a:ext cx="2026285" cy="17399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测试模块缺失时的降级能力</a:t>
            </a:r>
          </a:p>
        </p:txBody>
      </p:sp>
      <p:sp>
        <p:nvSpPr>
          <p:cNvPr id="11" name="AutoShape 7"/>
          <p:cNvSpPr/>
          <p:nvPr/>
        </p:nvSpPr>
        <p:spPr>
          <a:xfrm>
            <a:off x="130810" y="736600"/>
            <a:ext cx="8813800" cy="789305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不让大模型自由发挥，而是让它基于用户状态、知识来源与交互上下文生成受约束的响应</a:t>
            </a:r>
            <a:r>
              <a:rPr lang="zh-CN" altLang="en-US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，实现</a:t>
            </a:r>
            <a:r>
              <a:rPr lang="en-US" sz="1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从知识入库、检索，到 Prompt 组装、多轮记忆，再到行为映射。</a:t>
            </a:r>
            <a:endParaRPr lang="en-US" altLang="en-US" sz="1800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1）用户状态感知空间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记录用户需求、属性、现状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维护情绪历史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0810" y="2641600"/>
            <a:ext cx="3600450" cy="175260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1" i="0" u="none" strike="noStrike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2）话术生成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开源对话模型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大模型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API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为基座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组装情绪识别结果、用户话语、知识库检索结果与用户状态为提示词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生成共情话术（本模块只生成文案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00203" y="842241"/>
            <a:ext cx="4238971" cy="345901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智能体路径（一）：感知状态→生成共情话术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步骤五：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构建情绪疏导智能体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71120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90204"/>
              <a:buChar char="•"/>
              <a:defRPr/>
            </a:pPr>
            <a:r>
              <a:rPr lang="en-US" sz="1800" b="1" i="0" u="none" strike="noStrik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记忆支撑多轮对话，闭环集成端到端可演示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37000" y="1905000"/>
            <a:ext cx="4826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0" y="4773930"/>
            <a:ext cx="8849424" cy="369570"/>
          </a:xfrm>
          <a:custGeom>
            <a:avLst/>
            <a:gdLst/>
            <a:ahLst/>
            <a:cxnLst/>
            <a:rect l="l" t="t" r="r" b="b"/>
            <a:pathLst>
              <a:path w="8849424" h="369570">
                <a:moveTo>
                  <a:pt x="0" y="0"/>
                </a:moveTo>
                <a:lnTo>
                  <a:pt x="8849424" y="0"/>
                </a:lnTo>
                <a:lnTo>
                  <a:pt x="8621597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0" y="4800600"/>
            <a:ext cx="8763000" cy="330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25400" rIns="91440" bIns="25400" rtlCol="0" anchor="ctr" anchorCtr="0"/>
          <a:lstStyle/>
          <a:p>
            <a:pPr marL="0" indent="0" algn="ctr" defTabSz="914400">
              <a:lnSpc>
                <a:spcPct val="92000"/>
              </a:lnSpc>
              <a:defRPr/>
            </a:pPr>
            <a:r>
              <a:rPr lang="en-US" sz="16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智能体路径（二）：闭环集成，端到端可演示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>
              <a:alpha val="100000"/>
            </a:srgbClr>
          </a:solidFill>
          <a:ln w="12700" cap="flat" cmpd="sng">
            <a:solidFill>
              <a:srgbClr val="00206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步骤五：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构建情绪疏导智能体</a:t>
            </a:r>
            <a:endParaRPr lang="en-US" sz="1100" dirty="0"/>
          </a:p>
        </p:txBody>
      </p:sp>
      <p:sp>
        <p:nvSpPr>
          <p:cNvPr id="16" name="AutoShape 6"/>
          <p:cNvSpPr/>
          <p:nvPr/>
        </p:nvSpPr>
        <p:spPr>
          <a:xfrm>
            <a:off x="381000" y="1954920"/>
            <a:ext cx="3150985" cy="2407380"/>
          </a:xfrm>
          <a:prstGeom prst="roundRect">
            <a:avLst>
              <a:gd name="adj" fmla="val 5797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114300" tIns="7620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3）记忆与上下文：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维护对话历史与</a:t>
            </a:r>
            <a:endParaRPr lang="en-US" altLang="zh-CN" sz="1200" dirty="0"/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用户画像，支持多轮共情对话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4）闭环集成：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输入→情绪识别→知识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检索→话术生成→输出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altLang="zh-CN" sz="1600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5）行为反馈：</a:t>
            </a:r>
            <a:r>
              <a:rPr lang="en-US" altLang="zh-CN" sz="16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预留游戏行为反馈接口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71120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90204"/>
              <a:buChar char="•"/>
              <a:defRPr/>
            </a:pPr>
            <a:r>
              <a:rPr lang="en-US" sz="1800" b="1" i="0" u="none" strike="noStrik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行为→话术：基于用户游戏行为生成话术，增强沉浸感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0810" y="1490980"/>
            <a:ext cx="3600450" cy="3098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·（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1）行为事件接入：采集游戏行为事件流</a:t>
            </a:r>
            <a:endParaRPr lang="en-US" sz="1200" dirty="0"/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（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操作节奏、胜负状态等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·（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2）话术映射：规则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/ 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模板话术实现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行为事件到回复的映射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·（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3）语义理解（可选进阶</a:t>
            </a: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）：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大模型理解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　</a:t>
            </a:r>
            <a:r>
              <a:rPr lang="en-US" sz="1600" b="0" i="0" u="none" strike="noStrike" dirty="0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行为序列，生成个性化话术</a:t>
            </a:r>
            <a:endParaRPr lang="en-US" sz="1600" b="0" i="0" u="none" strike="noStrike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步骤六：研发游戏行为嵌入</a:t>
            </a:r>
          </a:p>
        </p:txBody>
      </p:sp>
      <p:pic>
        <p:nvPicPr>
          <p:cNvPr id="16" name="Picture 57" descr="p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336" y="1616869"/>
            <a:ext cx="4252056" cy="31464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7162"/>
            <a:ext cx="180975" cy="321469"/>
          </a:xfrm>
          <a:prstGeom prst="roundRect">
            <a:avLst>
              <a:gd name="adj" fmla="val 0"/>
            </a:avLst>
          </a:prstGeom>
          <a:solidFill>
            <a:srgbClr val="C00000">
              <a:alpha val="100000"/>
            </a:srgbClr>
          </a:solidFill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12420" y="596519"/>
            <a:ext cx="837884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D9D9">
                <a:alpha val="100000"/>
              </a:srgbClr>
            </a:solidFill>
            <a:prstDash val="solid"/>
            <a:miter lim="1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30810" y="736600"/>
            <a:ext cx="8813800" cy="622300"/>
          </a:xfrm>
          <a:prstGeom prst="roundRect">
            <a:avLst>
              <a:gd name="adj" fmla="val 16326"/>
            </a:avLst>
          </a:prstGeom>
          <a:noFill/>
          <a:ln w="12700" cap="flat" cmpd="sng">
            <a:solidFill>
              <a:srgbClr val="C00000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711200" indent="-228600"/>
            <a:lvl2pPr marL="1168400" indent="-228600"/>
            <a:lvl3pPr marL="1625600" indent="-228600"/>
            <a:lvl4pPr marL="2082800" indent="-228600"/>
            <a:lvl5pPr marL="2540000" indent="-228600"/>
            <a:lvl6pPr marL="2997200" indent="-228600"/>
            <a:lvl7pPr marL="3454400" indent="-228600"/>
            <a:lvl8pPr marL="3911600" indent="-228600"/>
            <a:lvl9pPr marL="4368800" indent="-228600"/>
          </a:lstStyle>
          <a:p>
            <a:pPr marL="711200" indent="-228600" algn="l" defTabSz="914400">
              <a:lnSpc>
                <a:spcPts val="2460"/>
              </a:lnSpc>
              <a:buClr>
                <a:srgbClr val="111111"/>
              </a:buClr>
              <a:buFont typeface="Arial" panose="020B0604020202090204"/>
              <a:buChar char="•"/>
              <a:defRPr/>
            </a:pPr>
            <a:r>
              <a:rPr lang="en-US" sz="1800" b="1" i="0" u="none" strike="noStrik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识别→数字人→知识库→智能体→游戏嵌入，五条路径并行推进</a:t>
            </a:r>
            <a:endParaRPr lang="en-US" sz="1100"/>
          </a:p>
        </p:txBody>
      </p:sp>
      <p:sp>
        <p:nvSpPr>
          <p:cNvPr id="24" name="AutoShape 3"/>
          <p:cNvSpPr/>
          <p:nvPr/>
        </p:nvSpPr>
        <p:spPr>
          <a:xfrm>
            <a:off x="257175" y="98806"/>
            <a:ext cx="8382000" cy="4800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zh-CN" altLang="en-US" sz="2800" b="1" i="0" u="none" strike="noStrike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任务流程与要求 </a:t>
            </a:r>
            <a:r>
              <a:rPr lang="zh-CN" altLang="en-US" sz="1800" b="1" i="0" u="none" strike="noStrike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</a:t>
            </a:r>
          </a:p>
        </p:txBody>
      </p:sp>
      <p:grpSp>
        <p:nvGrpSpPr>
          <p:cNvPr id="102" name="组合 101"/>
          <p:cNvGrpSpPr/>
          <p:nvPr/>
        </p:nvGrpSpPr>
        <p:grpSpPr>
          <a:xfrm>
            <a:off x="257175" y="1474470"/>
            <a:ext cx="4090670" cy="3486150"/>
            <a:chOff x="285" y="2322"/>
            <a:chExt cx="6052" cy="6226"/>
          </a:xfrm>
        </p:grpSpPr>
        <p:sp>
          <p:nvSpPr>
            <p:cNvPr id="40" name="Shape 3"/>
            <p:cNvSpPr/>
            <p:nvPr/>
          </p:nvSpPr>
          <p:spPr>
            <a:xfrm>
              <a:off x="285" y="2322"/>
              <a:ext cx="6053" cy="6226"/>
            </a:xfrm>
            <a:prstGeom prst="roundRect">
              <a:avLst>
                <a:gd name="adj" fmla="val 2439"/>
              </a:avLst>
            </a:prstGeom>
            <a:solidFill>
              <a:srgbClr val="FFFFFF"/>
            </a:solidFill>
            <a:ln w="12700">
              <a:solidFill>
                <a:srgbClr val="D7E0E8"/>
              </a:solidFill>
              <a:prstDash val="solid"/>
            </a:ln>
          </p:spPr>
        </p:sp>
        <p:sp>
          <p:nvSpPr>
            <p:cNvPr id="41" name="Text 4"/>
            <p:cNvSpPr/>
            <p:nvPr/>
          </p:nvSpPr>
          <p:spPr>
            <a:xfrm>
              <a:off x="731" y="2682"/>
              <a:ext cx="2102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F274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最终提交成果</a:t>
              </a:r>
            </a:p>
          </p:txBody>
        </p:sp>
        <p:sp>
          <p:nvSpPr>
            <p:cNvPr id="42" name="Shape 5"/>
            <p:cNvSpPr/>
            <p:nvPr/>
          </p:nvSpPr>
          <p:spPr>
            <a:xfrm>
              <a:off x="746" y="3344"/>
              <a:ext cx="504" cy="461"/>
            </a:xfrm>
            <a:prstGeom prst="roundRect">
              <a:avLst>
                <a:gd name="adj" fmla="val 25000"/>
              </a:avLst>
            </a:prstGeom>
            <a:solidFill>
              <a:srgbClr val="2A8C87"/>
            </a:solidFill>
            <a:ln w="12700">
              <a:solidFill>
                <a:srgbClr val="2A8C87"/>
              </a:solidFill>
              <a:prstDash val="solid"/>
            </a:ln>
          </p:spPr>
        </p:sp>
        <p:sp>
          <p:nvSpPr>
            <p:cNvPr id="43" name="Text 6"/>
            <p:cNvSpPr/>
            <p:nvPr/>
          </p:nvSpPr>
          <p:spPr>
            <a:xfrm>
              <a:off x="846" y="3402"/>
              <a:ext cx="3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1</a:t>
              </a:r>
            </a:p>
          </p:txBody>
        </p:sp>
        <p:sp>
          <p:nvSpPr>
            <p:cNvPr id="44" name="Text 7"/>
            <p:cNvSpPr/>
            <p:nvPr/>
          </p:nvSpPr>
          <p:spPr>
            <a:xfrm>
              <a:off x="1437" y="3373"/>
              <a:ext cx="49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系统技术框架图</a:t>
              </a:r>
            </a:p>
          </p:txBody>
        </p:sp>
        <p:sp>
          <p:nvSpPr>
            <p:cNvPr id="45" name="Shape 8"/>
            <p:cNvSpPr/>
            <p:nvPr/>
          </p:nvSpPr>
          <p:spPr>
            <a:xfrm>
              <a:off x="746" y="4064"/>
              <a:ext cx="504" cy="461"/>
            </a:xfrm>
            <a:prstGeom prst="roundRect">
              <a:avLst>
                <a:gd name="adj" fmla="val 25000"/>
              </a:avLst>
            </a:prstGeom>
            <a:solidFill>
              <a:srgbClr val="2A8C87"/>
            </a:solidFill>
            <a:ln w="12700">
              <a:solidFill>
                <a:srgbClr val="2A8C87"/>
              </a:solidFill>
              <a:prstDash val="solid"/>
            </a:ln>
          </p:spPr>
        </p:sp>
        <p:sp>
          <p:nvSpPr>
            <p:cNvPr id="46" name="Text 9"/>
            <p:cNvSpPr/>
            <p:nvPr/>
          </p:nvSpPr>
          <p:spPr>
            <a:xfrm>
              <a:off x="846" y="4122"/>
              <a:ext cx="3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2</a:t>
              </a:r>
            </a:p>
          </p:txBody>
        </p:sp>
        <p:sp>
          <p:nvSpPr>
            <p:cNvPr id="47" name="Text 10"/>
            <p:cNvSpPr/>
            <p:nvPr/>
          </p:nvSpPr>
          <p:spPr>
            <a:xfrm>
              <a:off x="1437" y="4093"/>
              <a:ext cx="49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视频情绪识别模型 + UAR/WAR + 混淆矩阵</a:t>
              </a:r>
            </a:p>
          </p:txBody>
        </p:sp>
        <p:sp>
          <p:nvSpPr>
            <p:cNvPr id="48" name="Shape 11"/>
            <p:cNvSpPr/>
            <p:nvPr/>
          </p:nvSpPr>
          <p:spPr>
            <a:xfrm>
              <a:off x="746" y="4784"/>
              <a:ext cx="504" cy="461"/>
            </a:xfrm>
            <a:prstGeom prst="roundRect">
              <a:avLst>
                <a:gd name="adj" fmla="val 25000"/>
              </a:avLst>
            </a:prstGeom>
            <a:solidFill>
              <a:srgbClr val="F26B5B"/>
            </a:solidFill>
            <a:ln w="12700">
              <a:solidFill>
                <a:srgbClr val="F26B5B"/>
              </a:solidFill>
              <a:prstDash val="solid"/>
            </a:ln>
          </p:spPr>
        </p:sp>
        <p:sp>
          <p:nvSpPr>
            <p:cNvPr id="49" name="Text 12"/>
            <p:cNvSpPr/>
            <p:nvPr/>
          </p:nvSpPr>
          <p:spPr>
            <a:xfrm>
              <a:off x="846" y="4842"/>
              <a:ext cx="3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3</a:t>
              </a:r>
            </a:p>
          </p:txBody>
        </p:sp>
        <p:sp>
          <p:nvSpPr>
            <p:cNvPr id="50" name="Text 13"/>
            <p:cNvSpPr/>
            <p:nvPr/>
          </p:nvSpPr>
          <p:spPr>
            <a:xfrm>
              <a:off x="1437" y="4813"/>
              <a:ext cx="49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3D 数字人资产 + 骨骼绑定 + 动作驱动</a:t>
              </a:r>
            </a:p>
          </p:txBody>
        </p:sp>
        <p:sp>
          <p:nvSpPr>
            <p:cNvPr id="51" name="Shape 14"/>
            <p:cNvSpPr/>
            <p:nvPr/>
          </p:nvSpPr>
          <p:spPr>
            <a:xfrm>
              <a:off x="746" y="5504"/>
              <a:ext cx="504" cy="461"/>
            </a:xfrm>
            <a:prstGeom prst="roundRect">
              <a:avLst>
                <a:gd name="adj" fmla="val 25000"/>
              </a:avLst>
            </a:prstGeom>
            <a:solidFill>
              <a:srgbClr val="F26B5B"/>
            </a:solidFill>
            <a:ln w="12700">
              <a:solidFill>
                <a:srgbClr val="F26B5B"/>
              </a:solidFill>
              <a:prstDash val="solid"/>
            </a:ln>
          </p:spPr>
        </p:sp>
        <p:sp>
          <p:nvSpPr>
            <p:cNvPr id="52" name="Text 15"/>
            <p:cNvSpPr/>
            <p:nvPr/>
          </p:nvSpPr>
          <p:spPr>
            <a:xfrm>
              <a:off x="846" y="5562"/>
              <a:ext cx="3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4</a:t>
              </a:r>
            </a:p>
          </p:txBody>
        </p:sp>
        <p:sp>
          <p:nvSpPr>
            <p:cNvPr id="53" name="Text 16"/>
            <p:cNvSpPr/>
            <p:nvPr/>
          </p:nvSpPr>
          <p:spPr>
            <a:xfrm>
              <a:off x="1437" y="5533"/>
              <a:ext cx="49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语音生成与唇形同步演示</a:t>
              </a:r>
            </a:p>
          </p:txBody>
        </p:sp>
        <p:sp>
          <p:nvSpPr>
            <p:cNvPr id="54" name="Shape 17"/>
            <p:cNvSpPr/>
            <p:nvPr/>
          </p:nvSpPr>
          <p:spPr>
            <a:xfrm>
              <a:off x="746" y="6224"/>
              <a:ext cx="504" cy="461"/>
            </a:xfrm>
            <a:prstGeom prst="roundRect">
              <a:avLst>
                <a:gd name="adj" fmla="val 25000"/>
              </a:avLst>
            </a:prstGeom>
            <a:solidFill>
              <a:srgbClr val="F26B5B"/>
            </a:solidFill>
            <a:ln w="12700">
              <a:solidFill>
                <a:srgbClr val="F26B5B"/>
              </a:solidFill>
              <a:prstDash val="solid"/>
            </a:ln>
          </p:spPr>
        </p:sp>
        <p:sp>
          <p:nvSpPr>
            <p:cNvPr id="55" name="Text 18"/>
            <p:cNvSpPr/>
            <p:nvPr/>
          </p:nvSpPr>
          <p:spPr>
            <a:xfrm>
              <a:off x="846" y="6282"/>
              <a:ext cx="3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5</a:t>
              </a:r>
            </a:p>
          </p:txBody>
        </p:sp>
        <p:sp>
          <p:nvSpPr>
            <p:cNvPr id="56" name="Text 19"/>
            <p:cNvSpPr/>
            <p:nvPr/>
          </p:nvSpPr>
          <p:spPr>
            <a:xfrm>
              <a:off x="1437" y="6253"/>
              <a:ext cx="49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情绪疏导知识库 + Top-k 检索接口</a:t>
              </a:r>
            </a:p>
          </p:txBody>
        </p:sp>
        <p:sp>
          <p:nvSpPr>
            <p:cNvPr id="57" name="Shape 20"/>
            <p:cNvSpPr/>
            <p:nvPr/>
          </p:nvSpPr>
          <p:spPr>
            <a:xfrm>
              <a:off x="746" y="6944"/>
              <a:ext cx="504" cy="461"/>
            </a:xfrm>
            <a:prstGeom prst="roundRect">
              <a:avLst>
                <a:gd name="adj" fmla="val 25000"/>
              </a:avLst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58" name="Text 21"/>
            <p:cNvSpPr/>
            <p:nvPr/>
          </p:nvSpPr>
          <p:spPr>
            <a:xfrm>
              <a:off x="846" y="7002"/>
              <a:ext cx="3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6</a:t>
              </a:r>
            </a:p>
          </p:txBody>
        </p:sp>
        <p:sp>
          <p:nvSpPr>
            <p:cNvPr id="59" name="Text 22"/>
            <p:cNvSpPr/>
            <p:nvPr/>
          </p:nvSpPr>
          <p:spPr>
            <a:xfrm>
              <a:off x="1437" y="6973"/>
              <a:ext cx="49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多轮共情对话智能体</a:t>
              </a:r>
            </a:p>
          </p:txBody>
        </p:sp>
        <p:sp>
          <p:nvSpPr>
            <p:cNvPr id="60" name="Shape 23"/>
            <p:cNvSpPr/>
            <p:nvPr/>
          </p:nvSpPr>
          <p:spPr>
            <a:xfrm>
              <a:off x="746" y="7664"/>
              <a:ext cx="504" cy="461"/>
            </a:xfrm>
            <a:prstGeom prst="roundRect">
              <a:avLst>
                <a:gd name="adj" fmla="val 25000"/>
              </a:avLst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61" name="Text 24"/>
            <p:cNvSpPr/>
            <p:nvPr/>
          </p:nvSpPr>
          <p:spPr>
            <a:xfrm>
              <a:off x="846" y="7722"/>
              <a:ext cx="302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7</a:t>
              </a:r>
            </a:p>
          </p:txBody>
        </p:sp>
        <p:sp>
          <p:nvSpPr>
            <p:cNvPr id="62" name="Text 25"/>
            <p:cNvSpPr/>
            <p:nvPr/>
          </p:nvSpPr>
          <p:spPr>
            <a:xfrm>
              <a:off x="1437" y="7693"/>
              <a:ext cx="490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游戏行为反馈功能或设计方案</a:t>
              </a: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4608195" y="1474470"/>
            <a:ext cx="4090670" cy="2400935"/>
            <a:chOff x="7257" y="2322"/>
            <a:chExt cx="6442" cy="3024"/>
          </a:xfrm>
        </p:grpSpPr>
        <p:sp>
          <p:nvSpPr>
            <p:cNvPr id="85" name="Shape 48"/>
            <p:cNvSpPr/>
            <p:nvPr/>
          </p:nvSpPr>
          <p:spPr>
            <a:xfrm>
              <a:off x="7257" y="2322"/>
              <a:ext cx="6442" cy="3024"/>
            </a:xfrm>
            <a:prstGeom prst="roundRect">
              <a:avLst>
                <a:gd name="adj" fmla="val 5714"/>
              </a:avLst>
            </a:prstGeom>
            <a:solidFill>
              <a:srgbClr val="EEF6FB"/>
            </a:solidFill>
            <a:ln w="12700">
              <a:solidFill>
                <a:srgbClr val="CADDEB"/>
              </a:solidFill>
              <a:prstDash val="solid"/>
            </a:ln>
          </p:spPr>
        </p:sp>
        <p:sp>
          <p:nvSpPr>
            <p:cNvPr id="86" name="Text 49"/>
            <p:cNvSpPr/>
            <p:nvPr/>
          </p:nvSpPr>
          <p:spPr>
            <a:xfrm>
              <a:off x="7703" y="2725"/>
              <a:ext cx="266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80" b="1" dirty="0">
                  <a:solidFill>
                    <a:srgbClr val="173A5E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学生应掌握的能力</a:t>
              </a:r>
              <a:endParaRPr lang="en-US" sz="1580" dirty="0"/>
            </a:p>
          </p:txBody>
        </p:sp>
        <p:sp>
          <p:nvSpPr>
            <p:cNvPr id="87" name="Shape 50"/>
            <p:cNvSpPr/>
            <p:nvPr/>
          </p:nvSpPr>
          <p:spPr>
            <a:xfrm>
              <a:off x="7717" y="3459"/>
              <a:ext cx="130" cy="130"/>
            </a:xfrm>
            <a:prstGeom prst="ellipse">
              <a:avLst/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88" name="Text 51"/>
            <p:cNvSpPr/>
            <p:nvPr/>
          </p:nvSpPr>
          <p:spPr>
            <a:xfrm>
              <a:off x="7977" y="3330"/>
              <a:ext cx="5628" cy="3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根据案例需求拆解系统</a:t>
              </a:r>
            </a:p>
          </p:txBody>
        </p:sp>
        <p:sp>
          <p:nvSpPr>
            <p:cNvPr id="89" name="Shape 52"/>
            <p:cNvSpPr/>
            <p:nvPr/>
          </p:nvSpPr>
          <p:spPr>
            <a:xfrm>
              <a:off x="7717" y="3759"/>
              <a:ext cx="130" cy="130"/>
            </a:xfrm>
            <a:prstGeom prst="ellipse">
              <a:avLst/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90" name="Text 53"/>
            <p:cNvSpPr/>
            <p:nvPr/>
          </p:nvSpPr>
          <p:spPr>
            <a:xfrm>
              <a:off x="7977" y="3629"/>
              <a:ext cx="5628" cy="3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复现并评估深度学习模型</a:t>
              </a:r>
            </a:p>
          </p:txBody>
        </p:sp>
        <p:sp>
          <p:nvSpPr>
            <p:cNvPr id="91" name="Shape 54"/>
            <p:cNvSpPr/>
            <p:nvPr/>
          </p:nvSpPr>
          <p:spPr>
            <a:xfrm>
              <a:off x="7717" y="4058"/>
              <a:ext cx="130" cy="130"/>
            </a:xfrm>
            <a:prstGeom prst="ellipse">
              <a:avLst/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92" name="Text 55"/>
            <p:cNvSpPr/>
            <p:nvPr/>
          </p:nvSpPr>
          <p:spPr>
            <a:xfrm>
              <a:off x="7977" y="3929"/>
              <a:ext cx="5628" cy="3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构建可驱动数字人资产</a:t>
              </a:r>
            </a:p>
          </p:txBody>
        </p:sp>
        <p:sp>
          <p:nvSpPr>
            <p:cNvPr id="93" name="Shape 56"/>
            <p:cNvSpPr/>
            <p:nvPr/>
          </p:nvSpPr>
          <p:spPr>
            <a:xfrm>
              <a:off x="7717" y="4358"/>
              <a:ext cx="130" cy="130"/>
            </a:xfrm>
            <a:prstGeom prst="ellipse">
              <a:avLst/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94" name="Text 57"/>
            <p:cNvSpPr/>
            <p:nvPr/>
          </p:nvSpPr>
          <p:spPr>
            <a:xfrm>
              <a:off x="7977" y="4228"/>
              <a:ext cx="5628" cy="3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使用向量化与 RAG 技术</a:t>
              </a:r>
            </a:p>
          </p:txBody>
        </p:sp>
        <p:sp>
          <p:nvSpPr>
            <p:cNvPr id="95" name="Shape 58"/>
            <p:cNvSpPr/>
            <p:nvPr/>
          </p:nvSpPr>
          <p:spPr>
            <a:xfrm>
              <a:off x="7717" y="4657"/>
              <a:ext cx="130" cy="130"/>
            </a:xfrm>
            <a:prstGeom prst="ellipse">
              <a:avLst/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96" name="Text 59"/>
            <p:cNvSpPr/>
            <p:nvPr/>
          </p:nvSpPr>
          <p:spPr>
            <a:xfrm>
              <a:off x="7977" y="4528"/>
              <a:ext cx="5628" cy="3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设计多轮智能体流程</a:t>
              </a:r>
            </a:p>
          </p:txBody>
        </p:sp>
        <p:sp>
          <p:nvSpPr>
            <p:cNvPr id="97" name="Shape 60"/>
            <p:cNvSpPr/>
            <p:nvPr/>
          </p:nvSpPr>
          <p:spPr>
            <a:xfrm>
              <a:off x="7717" y="4957"/>
              <a:ext cx="130" cy="130"/>
            </a:xfrm>
            <a:prstGeom prst="ellipse">
              <a:avLst/>
            </a:prstGeom>
            <a:solidFill>
              <a:srgbClr val="173A5E"/>
            </a:solidFill>
            <a:ln w="12700">
              <a:solidFill>
                <a:srgbClr val="173A5E"/>
              </a:solidFill>
              <a:prstDash val="solid"/>
            </a:ln>
          </p:spPr>
        </p:sp>
        <p:sp>
          <p:nvSpPr>
            <p:cNvPr id="98" name="Text 61"/>
            <p:cNvSpPr/>
            <p:nvPr/>
          </p:nvSpPr>
          <p:spPr>
            <a:xfrm>
              <a:off x="7977" y="4827"/>
              <a:ext cx="5628" cy="39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1E2B38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完成模块集成、实验对比与报告撰写</a:t>
              </a:r>
            </a:p>
          </p:txBody>
        </p:sp>
      </p:grpSp>
      <p:sp>
        <p:nvSpPr>
          <p:cNvPr id="101" name="文本框 100"/>
          <p:cNvSpPr txBox="1"/>
          <p:nvPr/>
        </p:nvSpPr>
        <p:spPr>
          <a:xfrm>
            <a:off x="4608195" y="4062730"/>
            <a:ext cx="4091305" cy="10433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核心不是单一模型，而是：多模态感知 × 知识检索</a:t>
            </a:r>
            <a:r>
              <a:rPr lang="zh-CN" altLang="en-US" b="1" dirty="0">
                <a:solidFill>
                  <a:srgbClr val="C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增强</a:t>
            </a:r>
            <a:r>
              <a:rPr lang="en-US" b="1" dirty="0">
                <a:solidFill>
                  <a:srgbClr val="C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 × 用户状态建模 × 共情策略 × 数字人具身反馈 × 游戏行为</a:t>
            </a:r>
            <a:r>
              <a:rPr lang="zh-CN" altLang="en-US" b="1" dirty="0">
                <a:solidFill>
                  <a:srgbClr val="C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的智能体系统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62276&quot;,&quot;origin&quot;:0,&quot;type&quot;:&quot;icons&quot;,&quot;user&quot;:&quot;3554957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1896</Words>
  <Application>Microsoft Office PowerPoint</Application>
  <PresentationFormat>全屏显示(16:9)</PresentationFormat>
  <Paragraphs>334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Noto Sans CJK SC</vt:lpstr>
      <vt:lpstr>Noto Sans SC</vt:lpstr>
      <vt:lpstr>等线 Light</vt:lpstr>
      <vt:lpstr>微软雅黑</vt:lpstr>
      <vt:lpstr>Aptos</vt:lpstr>
      <vt:lpstr>Arial</vt:lpstr>
      <vt:lpstr>Arial Narrow</vt:lpstr>
      <vt:lpstr>Calibri</vt:lpstr>
      <vt:lpstr>Times New Roman</vt:lpstr>
      <vt:lpstr>Wingdings</vt:lpstr>
      <vt:lpstr>Office 主题​​</vt:lpstr>
      <vt:lpstr>自定义主题</vt:lpstr>
      <vt:lpstr>Office 主题​​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world hello</cp:lastModifiedBy>
  <cp:revision>65</cp:revision>
  <dcterms:created xsi:type="dcterms:W3CDTF">2026-09-14T06:42:15Z</dcterms:created>
  <dcterms:modified xsi:type="dcterms:W3CDTF">2026-09-14T06:53:28Z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A848E0A1695562595587A76A060CDB51_43</vt:lpwstr>
  </property>
  <property fmtid="{D5CDD505-2E9C-101B-9397-08002B2CF9AE}" pid="3" name="KSOProductBuildVer">
    <vt:lpwstr>2052-12.1.28492.28492</vt:lpwstr>
  </property>
</Properties>
</file>