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74" r:id="rId5"/>
    <p:sldMasterId id="2147483686" r:id="rId6"/>
    <p:sldMasterId id="2147483701" r:id="rId7"/>
  </p:sldMasterIdLst>
  <p:notesMasterIdLst>
    <p:notesMasterId r:id="rId9"/>
  </p:notesMasterIdLst>
  <p:sldIdLst>
    <p:sldId id="256" r:id="rId8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2" r:id="rId24"/>
  </p:sldIdLst>
  <p:sldSz cx="9144000" cy="5143500" type="screen16x9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5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420" y="56"/>
      </p:cViewPr>
      <p:guideLst>
        <p:guide orient="horz" pos="1620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先介绍课题的完整输入输出，再把本周任务定位到数字人外观模块。系统还包含情绪识别、知识库、话术和语音模块，今天具体操作三维生成与骨骼绑定。用右侧结构图说明数字人模块与其他模块的关系。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把系统资源和本周数据区分开讲。数据说明列出了 SoulLink 基础代码、DFEW 与 MAFW、疏导语料和可选音频，本周额外准备人物参考图、生成模型和动作文件。数据说明中的情绪识别模型链接为空，这里采用关键技术课件列出的 S4D。数据说明将音频列为自行准备的可选材料，而任务书写课程提供，课堂采用数据说明的准备方式。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混元 3D 页面交代项目名称、输入、处理与输出，讲法与后面的 MIA 页对应。参考图先生成几何网格，再生成贴图，最后下载 GLB。这里使用的是 Hunyuan3D 2.0 的项目架构示意，网页平台具体导出选项以界面为准。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MIA 的任务是给现有三维人物生成绑定数据。骨架确定关节位置，蒙皮权重决定网格如何随骨骼运动，规范姿态用于连接动作。身体动作绑骨与后续语音口型驱动是分步完成的。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按顺序说明一条最简路径。生成平台负责外观网格，服务器上的 MIA 负责绑定，动作 FBX 提供运动序列，结果下载为人物资产。学生本周围绕这条路线完成操作。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演示一张人物图如何上传生成平台，再检查三维结果。先强调全身构图和四肢分离，避免将头像模型直接用于全身动作验证。生成后在 Blender 中旋转观察身体、贴图和手脚，再导出或保留 GLB 上传 MIA。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用横向目录树定位文件。app.py 包含网页、初始化和整个推理流程，model.py 定义 PCAE，app_blender.py 执行最终绑定与导出。util 提供骨架定义和 Blender 工具，data 和 output 保存运行所需资源。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逐条执行命令，并明确每条命令所在的终端。new3090 是本机已配置的 SSH 别名，学生需要自己的有效 SSH 配置。核对发现 /mnt/mia 权重目录为空且缺少 Mixamo 模板，完整资源位于 /mnt/Make-It-Animatable-main，因此本课使用后者。PATH 设置确保 app.py 内部调用的 python app_blender.py 也使用同一个 MIA 环境。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先在容器内运行 app.py，再在本机另开终端建立 SSH 隧道。当前容器只映射了 8000 端口，没有映射 7860，所以直接访问服务器 IP 的 7860 无法按原稿运行。核对容器 IP 为 172.17.0.4，隧道直接转发到该地址，服务和隧道终端都保持开启。网页上传 GLB，并逐项解释动作参数。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Run 按钮调用 _pipeline，它按顺序执行六个阶段。DB 是保存中间数据的对象，前一步写入的采样点、关节或权重被后一步读取。让学生对照网页里的粗定位、采样、骨架、权重和最终预览定位各阶段。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权重加载发生在程序启动时。五个权重包括粗定位、蒙皮、法线蒙皮、关节和姿态分支，所以不能把它简化为整个程序只有三个网络。eval 是推理模式，前向函数使用 no_grad，本周不更新参数。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trimesh 读取 GLB，vertices 是全部网格顶点，faces 保存三角面连接关系。sample_mesh 生成固定大小的形状输入，网格分支还带法线，再用 torch.chunk 拆开。解释 unsqueeze 增加批次维度，DB 将数据传入预处理与网络。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这里展示核心语句，省略分批计算和可选扩展分支。bw 对应每个顶点的骨骼权重，joints 为每根骨骼的头尾坐标，pose 在当前配置下为 6D 旋转表达，vis 将其转为骨骼变换。默认 Mixamo 定义包含 52 根骨骼，其中含手指，No Fingers 会合并并移除手指相关骨骼。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网络预测结束后，app.py 将数据传给 Blender 脚本。该脚本载入骨架模板，写入关节、设置网格父级和权重，按需要恢复规范姿态并载入动作。filepath 指定输出位置，bake_anim 决定是否烘焙动画，embed_textures 将贴图嵌入 FBX，add_leaf_bones 关闭额外末端骨骼。最终 FBX 在这里生成。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学生自行选择动作。MIA 的网页说明推荐从 Mixamo 选择 X Bot 作为基础角色下载 FBX，首次 Run 完成推理，之后 Animate 可复用绑定数据更换动作。其他网站的动作需要先转换到兼容骨架与格式，不能仅替换文件扩展名。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本周结束时，应得到生成模型、绑定结果和可播放动作，并能够说明相关代码的作用。将输入、输出与动作文件整理在一起，保留运行参数方便后续接入。下次课把人物资产接入 SoulLink，演示招手动作和语音交互，再继续推进口型同步。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/>
            </a:lvl1pPr>
          </a:lstStyle>
          <a:p>
            <a:pPr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subTitle" sz="quarter" idx="1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/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单击此处添加副标题</a:t>
            </a:r>
            <a:endParaRPr lang="en-US" sz="18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ECTION_HEADER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/>
            </a:lvl1pPr>
          </a:lstStyle>
          <a:p>
            <a:pPr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_WITH_TEXT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_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_WITH_CAPTION_TEXT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PICTURE_WITH_CAPTION_TEXT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/>
            </a:lvl1pPr>
          </a:lstStyle>
          <a:p>
            <a:pPr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/>
        </p:txBody>
      </p:sp>
      <p:sp>
        <p:nvSpPr>
          <p:cNvPr id="4" name="Text Box 3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/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EXT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ITLE_AND_VERTICAL_TEXT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/>
            </a:lvl1pPr>
          </a:lstStyle>
          <a:p>
            <a:pPr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/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ECTION_HEADER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_WITH_TEXT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_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_WITH_CAPTION_TEXT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PICTURE_WITH_CAPTION_TEXT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/>
        </p:txBody>
      </p:sp>
      <p:sp>
        <p:nvSpPr>
          <p:cNvPr id="4" name="Text Box 3"/>
          <p:cNvSpPr txBox="1"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EXT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ITLE_AND_VERTICAL_TEXT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9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ctr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0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ctr">
              <a:lnSpc>
                <a:spcPct val="92000"/>
              </a:lnSpc>
              <a:buNone/>
              <a:defRPr sz="18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61950" algn="ctr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subtitle</a:t>
            </a:r>
            <a:endParaRPr lang="en-US" sz="18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7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7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7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7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7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SECTION_HEADER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79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45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5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45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80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8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8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8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8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85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86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WO_OBJECTS_WITH_TEXT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90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91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92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93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1800" b="1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8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800" b="1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94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9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9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9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TITLE_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98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9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OBJECT_WITH_CAPTION_TEXT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05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06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81000" algn="l">
              <a:lnSpc>
                <a:spcPct val="92000"/>
              </a:lnSpc>
              <a:spcBef>
                <a:spcPts val="8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7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0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0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PICTURE_WITH_CAPTION_TEXT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1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68575" tIns="34275" rIns="68575" bIns="34275" rtlCol="0" anchor="b">
            <a:normAutofit/>
          </a:bodyPr>
          <a:lstStyle>
            <a:lvl1pPr algn="l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2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2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11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/>
        </p:txBody>
      </p:sp>
      <p:sp>
        <p:nvSpPr>
          <p:cNvPr id="4" name="Text Box 3"/>
          <p:cNvSpPr txBox="1">
            <a:spLocks noGrp="1"/>
          </p:cNvSpPr>
          <p:nvPr>
            <p:ph type="body" sz="quarter" idx="113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12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228600" algn="l">
              <a:lnSpc>
                <a:spcPct val="92000"/>
              </a:lnSpc>
              <a:spcBef>
                <a:spcPts val="800"/>
              </a:spcBef>
            </a:pPr>
            <a:r>
              <a:rPr lang="en-US" sz="12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1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1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EXT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1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18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1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VERTICAL_TITLE_AND_VERTICAL_TEXT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22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92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3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92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457200" marR="0" indent="-317500" algn="l">
              <a:lnSpc>
                <a:spcPct val="92000"/>
              </a:lnSpc>
              <a:spcBef>
                <a:spcPts val="800"/>
              </a:spcBef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标题幻灯片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32" hasCustomPrompt="1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ctr" defTabSz="914400">
              <a:lnSpc>
                <a:spcPct val="92000"/>
              </a:lnSpc>
              <a:buNone/>
              <a:defRPr sz="60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ctr" defTabSz="914400">
              <a:lnSpc>
                <a:spcPct val="92000"/>
              </a:lnSpc>
            </a:pPr>
            <a:r>
              <a:rPr lang="en-US" sz="60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33" hasCustomPrompt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ctr" defTabSz="914400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ctr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单击以编辑母版副标题样式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3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3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标题和内容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3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3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41" hasCustomPrompt="1"/>
          </p:nvPr>
        </p:nvSpPr>
        <p:spPr>
          <a:xfrm>
            <a:off x="7058025" y="4869657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800" b="0" i="0" u="none" strike="noStrike">
                <a:solidFill>
                  <a:srgbClr val="FFFFFF"/>
                </a:solidFill>
                <a:latin typeface="微软雅黑" panose="020B0503020204020204" charset="-122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800" b="0" i="0" u="none" strike="noStrike" spc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Click to add text</a:t>
            </a:r>
            <a:endParaRPr lang="en-US" sz="1800" b="0" i="0" u="none" strike="noStrike" spc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节标题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42" hasCustomPrompt="1"/>
          </p:nvPr>
        </p:nvSpPr>
        <p:spPr>
          <a:xfrm>
            <a:off x="623888" y="1282306"/>
            <a:ext cx="7886700" cy="2139553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60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60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60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43" hasCustomPrompt="1"/>
          </p:nvPr>
        </p:nvSpPr>
        <p:spPr>
          <a:xfrm>
            <a:off x="623888" y="3442099"/>
            <a:ext cx="7886700" cy="1125140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24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4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4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4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两栏内容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4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48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49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5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52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比较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53" hasCustomPrompt="1"/>
          </p:nvPr>
        </p:nvSpPr>
        <p:spPr>
          <a:xfrm>
            <a:off x="629841" y="273846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54" hasCustomPrompt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2400" b="1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1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55" hasCustomPrompt="1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56" hasCustomPrompt="1"/>
          </p:nvPr>
        </p:nvSpPr>
        <p:spPr>
          <a:xfrm>
            <a:off x="4629153" y="1260872"/>
            <a:ext cx="3887391" cy="617934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2400" b="1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2400" b="1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400" b="1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57" hasCustomPrompt="1"/>
          </p:nvPr>
        </p:nvSpPr>
        <p:spPr>
          <a:xfrm>
            <a:off x="4629153" y="1878806"/>
            <a:ext cx="3887391" cy="276344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5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Text Box 7"/>
          <p:cNvSpPr txBox="1">
            <a:spLocks noGrp="1"/>
          </p:cNvSpPr>
          <p:nvPr>
            <p:ph type="body" sz="quarter" idx="15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Text Box 8"/>
          <p:cNvSpPr txBox="1">
            <a:spLocks noGrp="1"/>
          </p:cNvSpPr>
          <p:nvPr>
            <p:ph type="body" sz="quarter" idx="16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仅标题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6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6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空白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6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内容与标题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6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32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32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69" hasCustomPrompt="1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32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32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32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70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16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16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7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7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7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图片与标题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74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wrap="square" lIns="91440" tIns="45720" rIns="91440" bIns="45720" rtlCol="0" anchor="b">
            <a:noAutofit/>
          </a:bodyPr>
          <a:lstStyle>
            <a:lvl1pPr algn="l" defTabSz="914400">
              <a:lnSpc>
                <a:spcPct val="92000"/>
              </a:lnSpc>
              <a:buNone/>
              <a:defRPr sz="32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32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32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Auto Shape 2"/>
          <p:cNvSpPr>
            <a:spLocks noGrp="1"/>
          </p:cNvSpPr>
          <p:nvPr>
            <p:ph type="pic" sz="quarter" idx="175"/>
          </p:nvPr>
        </p:nvSpPr>
        <p:spPr>
          <a:xfrm>
            <a:off x="3887391" y="740571"/>
            <a:ext cx="4629150" cy="3655219"/>
          </a:xfrm>
          <a:prstGeom prst="rect">
            <a:avLst/>
          </a:prstGeom>
          <a:ln w="12700">
            <a:noFill/>
          </a:ln>
        </p:spPr>
        <p:txBody>
          <a:bodyPr/>
          <a:lstStyle/>
          <a:p/>
        </p:txBody>
      </p:sp>
      <p:sp>
        <p:nvSpPr>
          <p:cNvPr id="4" name="Text Box 3"/>
          <p:cNvSpPr txBox="1">
            <a:spLocks noGrp="1"/>
          </p:cNvSpPr>
          <p:nvPr>
            <p:ph type="body" sz="quarter" idx="176" hasCustomPrompt="1"/>
          </p:nvPr>
        </p:nvSpPr>
        <p:spPr>
          <a:xfrm>
            <a:off x="629841" y="1543051"/>
            <a:ext cx="2949178" cy="2858691"/>
          </a:xfrm>
          <a:prstGeom prst="rect">
            <a:avLst/>
          </a:prstGeom>
        </p:spPr>
        <p:txBody>
          <a:bodyPr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buNone/>
              <a:defRPr sz="16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0" marR="0" algn="l" defTabSz="914400">
              <a:lnSpc>
                <a:spcPct val="92000"/>
              </a:lnSpc>
              <a:spcBef>
                <a:spcPts val="1000"/>
              </a:spcBef>
            </a:pPr>
            <a:r>
              <a:rPr lang="en-US" sz="16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16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7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7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Text Box 6"/>
          <p:cNvSpPr txBox="1">
            <a:spLocks noGrp="1"/>
          </p:cNvSpPr>
          <p:nvPr>
            <p:ph type="body" sz="quarter" idx="17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标题和竖排文字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80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8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8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8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竖排标题与文本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85" hasCustomPrompt="1"/>
          </p:nvPr>
        </p:nvSpPr>
        <p:spPr>
          <a:xfrm>
            <a:off x="6543676" y="273845"/>
            <a:ext cx="1971675" cy="4358879"/>
          </a:xfrm>
          <a:prstGeom prst="rect">
            <a:avLst/>
          </a:prstGeom>
        </p:spPr>
        <p:txBody>
          <a:bodyPr vert="eaVert" wrap="square" lIns="91440" tIns="45720" rIns="91440" bIns="45720" rtlCol="0" anchor="ctr">
            <a:noAutofit/>
          </a:bodyPr>
          <a:lstStyle>
            <a:lvl1pPr algn="l" defTabSz="914400">
              <a:lnSpc>
                <a:spcPct val="92000"/>
              </a:lnSpc>
              <a:buNone/>
              <a:defRPr sz="4400" b="0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 defTabSz="914400">
              <a:lnSpc>
                <a:spcPct val="92000"/>
              </a:lnSpc>
            </a:pPr>
            <a:r>
              <a:rPr lang="en-US" sz="4400" b="0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0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86" hasCustomPrompt="1"/>
          </p:nvPr>
        </p:nvSpPr>
        <p:spPr>
          <a:xfrm>
            <a:off x="628653" y="273845"/>
            <a:ext cx="5800725" cy="4358879"/>
          </a:xfrm>
          <a:prstGeom prst="rect">
            <a:avLst/>
          </a:prstGeom>
        </p:spPr>
        <p:txBody>
          <a:bodyPr vert="eaVert" wrap="square" lIns="91440" tIns="45720" rIns="91440" bIns="45720" rtlCol="0" anchor="t">
            <a:noAutofit/>
          </a:bodyPr>
          <a:lstStyle>
            <a:lvl1pPr algn="l" defTabSz="914400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 defTabSz="914400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 defTabSz="914400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87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88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89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1_本讲内容&amp;金句">
  <p:cSld name="1_本讲内容&amp;金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rcRect l="247" b="906"/>
          <a:stretch>
            <a:fillRect/>
          </a:stretch>
        </p:blipFill>
        <p:spPr>
          <a:xfrm>
            <a:off x="0" y="4624387"/>
            <a:ext cx="9144000" cy="519113"/>
          </a:xfrm>
          <a:prstGeom prst="rect">
            <a:avLst/>
          </a:prstGeom>
          <a:ln w="12700">
            <a:noFill/>
          </a:ln>
        </p:spPr>
      </p:pic>
      <p:pic>
        <p:nvPicPr>
          <p:cNvPr id="3" name="Picture 2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2465388" cy="1081088"/>
          </a:xfrm>
          <a:prstGeom prst="rect">
            <a:avLst/>
          </a:prstGeom>
          <a:ln w="12700"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1_小结">
  <p:cSld name="1_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DEFAULT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" Type="http://schemas.openxmlformats.org/officeDocument/2006/relationships/slideLayout" Target="../slideLayouts/slideLayout36.xml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title" sz="quarter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/>
            </a:lvl1pPr>
          </a:lstStyle>
          <a:p>
            <a:pPr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单击此处添加标题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/>
            </a:lvl1pPr>
          </a:lstStyle>
          <a:p>
            <a:pPr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/>
            </a:lvl1pPr>
          </a:lstStyle>
          <a:p>
            <a:pPr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日期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1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/>
            </a:lvl1pPr>
          </a:lstStyle>
          <a:p>
            <a:pPr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页脚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algn="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/>
            </a:lvl1pPr>
          </a:lstStyle>
          <a:p>
            <a:pPr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单击此处添加文本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/>
    <p:bodyStyle/>
    <p:otherStyle/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6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rmAutofit/>
          </a:bodyPr>
          <a:lstStyle>
            <a:lvl1pPr algn="l">
              <a:lnSpc>
                <a:spcPct val="100000"/>
              </a:lnSpc>
              <a:buNone/>
              <a:defRPr sz="33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33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title</a:t>
            </a:r>
            <a:endParaRPr lang="en-US" sz="33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65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t">
            <a:normAutofit/>
          </a:bodyPr>
          <a:lstStyle>
            <a:lvl1pPr algn="l">
              <a:lnSpc>
                <a:spcPct val="100000"/>
              </a:lnSpc>
              <a:buNone/>
              <a:defRPr sz="2100" b="0" i="0" u="none" strike="noStrike">
                <a:solidFill>
                  <a:srgbClr val="000000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21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21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6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l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l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Date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6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ct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ct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Footer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6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wrap="square" lIns="68575" tIns="34275" rIns="68575" bIns="34275" rtlCol="0" anchor="ctr">
            <a:noAutofit/>
          </a:bodyPr>
          <a:lstStyle>
            <a:lvl1pPr algn="r">
              <a:lnSpc>
                <a:spcPct val="100000"/>
              </a:lnSpc>
              <a:buNone/>
              <a:defRPr sz="900" b="0" i="0" u="none" strike="noStrike">
                <a:solidFill>
                  <a:srgbClr val="888888"/>
                </a:solidFill>
                <a:latin typeface="Arial" panose="020B0604020202020204"/>
              </a:defRPr>
            </a:lvl1pPr>
          </a:lstStyle>
          <a:p>
            <a:pPr marL="0" marR="0" algn="r">
              <a:lnSpc>
                <a:spcPct val="100000"/>
              </a:lnSpc>
            </a:pPr>
            <a:r>
              <a:rPr lang="en-US" sz="900" b="0" i="0" u="none" strike="noStrike" spc="0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900" b="0" i="0" u="none" strike="noStrike" spc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/>
    <p:bodyStyle/>
    <p:otherStyle/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>
            <a:spLocks noGrp="1"/>
          </p:cNvSpPr>
          <p:nvPr>
            <p:ph type="body" sz="quarter" idx="127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92000"/>
              </a:lnSpc>
              <a:buNone/>
              <a:defRPr sz="4400" b="1" i="0" u="none" strike="noStrike">
                <a:solidFill>
                  <a:srgbClr val="000000"/>
                </a:solidFill>
                <a:latin typeface="等线 Light" panose="02010600030101010101" charset="-122"/>
              </a:defRPr>
            </a:lvl1pPr>
          </a:lstStyle>
          <a:p>
            <a:pPr marL="0" marR="0" algn="l">
              <a:lnSpc>
                <a:spcPct val="92000"/>
              </a:lnSpc>
            </a:pPr>
            <a:r>
              <a:rPr lang="en-US" sz="4400" b="1" i="0" u="none" strike="noStrike" spc="0">
                <a:solidFill>
                  <a:srgbClr val="000000"/>
                </a:solidFill>
                <a:latin typeface="等线 Light" panose="02010600030101010101" charset="-122"/>
                <a:ea typeface="等线 Light" panose="02010600030101010101" charset="-122"/>
                <a:cs typeface="等线 Light" panose="02010600030101010101" charset="-122"/>
                <a:sym typeface="等线 Light" panose="02010600030101010101" charset="-122"/>
              </a:rPr>
              <a:t>单击此处编辑母版标题样式</a:t>
            </a:r>
            <a:endParaRPr lang="en-US" sz="4400" b="1" i="0" u="none" strike="noStrike" spc="0">
              <a:solidFill>
                <a:srgbClr val="000000"/>
              </a:solidFill>
              <a:latin typeface="等线 Light" panose="02010600030101010101" charset="-122"/>
              <a:ea typeface="等线 Light" panose="02010600030101010101" charset="-122"/>
              <a:cs typeface="等线 Light" panose="02010600030101010101" charset="-122"/>
              <a:sym typeface="等线 Light" panose="02010600030101010101" charset="-122"/>
            </a:endParaRPr>
          </a:p>
        </p:txBody>
      </p:sp>
      <p:sp>
        <p:nvSpPr>
          <p:cNvPr id="3" name="Text Box 2"/>
          <p:cNvSpPr txBox="1">
            <a:spLocks noGrp="1"/>
          </p:cNvSpPr>
          <p:nvPr>
            <p:ph type="body" sz="quarter" idx="128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92000"/>
              </a:lnSpc>
              <a:defRPr sz="2800" b="0" i="0" u="none" strike="noStrike">
                <a:solidFill>
                  <a:srgbClr val="000000"/>
                </a:solidFill>
                <a:latin typeface="微软雅黑" panose="020B0503020204020204" charset="-122"/>
              </a:defRPr>
            </a:lvl1pPr>
          </a:lstStyle>
          <a:p>
            <a:pPr marL="228600" marR="0" indent="-228600" algn="l">
              <a:lnSpc>
                <a:spcPct val="92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8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  <a:endParaRPr lang="en-US" sz="28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685800" marR="0" lvl="1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4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  <a:endParaRPr lang="en-US" sz="24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143000" marR="0" lvl="2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20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  <a:endParaRPr lang="en-US" sz="20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1600200" marR="0" lvl="3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marL="2057400" marR="0" lvl="4" indent="-228600" algn="l">
              <a:lnSpc>
                <a:spcPct val="92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n-US" sz="100" b="0" i="0" u="none" strike="noStrike" spc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第五级</a:t>
            </a:r>
            <a:endParaRPr lang="en-US" sz="100" b="0" i="0" u="none" strike="noStrike" spc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Text Box 3"/>
          <p:cNvSpPr txBox="1">
            <a:spLocks noGrp="1"/>
          </p:cNvSpPr>
          <p:nvPr>
            <p:ph type="body" sz="quarter" idx="12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l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l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2026/9/7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5" name="Text Box 4"/>
          <p:cNvSpPr txBox="1">
            <a:spLocks noGrp="1"/>
          </p:cNvSpPr>
          <p:nvPr>
            <p:ph type="body" sz="quarter" idx="13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algn="ct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Footer</a:t>
            </a:r>
            <a:endParaRPr lang="en-US" sz="1200" b="0" i="0" u="none" strike="noStrike" spc="0">
              <a:solidFill>
                <a:srgbClr val="898989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Text Box 5"/>
          <p:cNvSpPr txBox="1">
            <a:spLocks noGrp="1"/>
          </p:cNvSpPr>
          <p:nvPr>
            <p:ph type="body" sz="quarter" idx="13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91440" tIns="45720" rIns="91440" bIns="45720" rtlCol="0" anchor="ctr">
            <a:noAutofit/>
          </a:bodyPr>
          <a:lstStyle>
            <a:lvl1pPr algn="r" defTabSz="914400">
              <a:lnSpc>
                <a:spcPct val="100000"/>
              </a:lnSpc>
              <a:buNone/>
              <a:defRPr sz="1200" b="0" i="0" u="none" strike="noStrike">
                <a:solidFill>
                  <a:srgbClr val="898989"/>
                </a:solidFill>
                <a:latin typeface="Arial" panose="020B0604020202020204"/>
              </a:defRPr>
            </a:lvl1pPr>
          </a:lstStyle>
          <a:p>
            <a:pPr marL="0" marR="0" algn="r" defTabSz="914400">
              <a:lnSpc>
                <a:spcPct val="100000"/>
              </a:lnSpc>
            </a:pPr>
            <a:r>
              <a:rPr lang="en-US" sz="1200" b="0" i="0" u="none" strike="noStrike" spc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Click to add text</a:t>
            </a:r>
            <a:endParaRPr lang="en-US" sz="1200" b="0" i="0" u="none" strike="noStrike" spc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/>
    <p:bodyStyle/>
    <p:otherStyle/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sv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3.sv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14006" y="1581150"/>
            <a:ext cx="5929903" cy="3706447"/>
            <a:chOff x="2672778" y="1581150"/>
            <a:chExt cx="6571132" cy="3706447"/>
          </a:xfrm>
          <a:noFill/>
        </p:grpSpPr>
        <p:sp>
          <p:nvSpPr>
            <p:cNvPr id="10" name="Shape"/>
            <p:cNvSpPr>
              <a:spLocks noGrp="1"/>
            </p:cNvSpPr>
            <p:nvPr/>
          </p:nvSpPr>
          <p:spPr>
            <a:xfrm>
              <a:off x="8773152" y="5060839"/>
              <a:ext cx="470758" cy="226758"/>
            </a:xfrm>
            <a:prstGeom prst="trapezoid">
              <a:avLst>
                <a:gd name="adj" fmla="val 48628"/>
              </a:avLst>
            </a:prstGeom>
            <a:solidFill>
              <a:srgbClr val="002060"/>
            </a:solidFill>
            <a:ln w="12700" cap="flat" cmpd="sng">
              <a:solidFill>
                <a:srgbClr val="002060"/>
              </a:solidFill>
              <a:miter lim="1000000"/>
            </a:ln>
          </p:spPr>
          <p:txBody>
            <a:bodyPr vert="horz" wrap="square" lIns="63500" tIns="63500" rIns="63500" bIns="6350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" name="Shape"/>
            <p:cNvSpPr>
              <a:spLocks noGrp="1"/>
            </p:cNvSpPr>
            <p:nvPr/>
          </p:nvSpPr>
          <p:spPr>
            <a:xfrm>
              <a:off x="4328441" y="4414850"/>
              <a:ext cx="1110450" cy="262993"/>
            </a:xfrm>
            <a:prstGeom prst="roundRect">
              <a:avLst>
                <a:gd name="adj" fmla="val 45333"/>
              </a:avLst>
            </a:prstGeom>
            <a:solidFill>
              <a:srgbClr val="FCDDC8"/>
            </a:solidFill>
            <a:ln w="12700">
              <a:solidFill>
                <a:srgbClr val="4472C4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" name="Shape"/>
            <p:cNvSpPr>
              <a:spLocks noGrp="1"/>
            </p:cNvSpPr>
            <p:nvPr/>
          </p:nvSpPr>
          <p:spPr>
            <a:xfrm>
              <a:off x="7738796" y="1581150"/>
              <a:ext cx="1236786" cy="684950"/>
            </a:xfrm>
            <a:prstGeom prst="flowChartTerminator">
              <a:avLst/>
            </a:prstGeom>
            <a:solidFill>
              <a:srgbClr val="FBF7FE"/>
            </a:solidFill>
            <a:ln w="25400">
              <a:solidFill>
                <a:srgbClr val="3D15B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13" name="Picture"/>
            <p:cNvPicPr/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7799961" y="2554808"/>
              <a:ext cx="1112634" cy="2123035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14" name="Shape"/>
            <p:cNvSpPr>
              <a:spLocks noGrp="1"/>
            </p:cNvSpPr>
            <p:nvPr/>
          </p:nvSpPr>
          <p:spPr>
            <a:xfrm>
              <a:off x="6112078" y="1648554"/>
              <a:ext cx="1389701" cy="3029289"/>
            </a:xfrm>
            <a:prstGeom prst="roundRect">
              <a:avLst>
                <a:gd name="adj" fmla="val 5973"/>
              </a:avLst>
            </a:prstGeom>
            <a:solidFill>
              <a:srgbClr val="F8F4FE"/>
            </a:solidFill>
            <a:ln w="25400">
              <a:solidFill>
                <a:srgbClr val="3D15B1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15" name="Picture"/>
            <p:cNvPicPr/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4304411" y="2990013"/>
              <a:ext cx="1151591" cy="1305614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6" name="Picture"/>
            <p:cNvPicPr/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4265454" y="1609982"/>
              <a:ext cx="1204019" cy="132119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17" name="TextBox"/>
            <p:cNvSpPr txBox="1">
              <a:spLocks noGrp="1"/>
            </p:cNvSpPr>
            <p:nvPr/>
          </p:nvSpPr>
          <p:spPr>
            <a:xfrm>
              <a:off x="7739160" y="1592839"/>
              <a:ext cx="1256082" cy="344813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650" b="1" i="0" u="none" strike="noStrike" spc="0">
                  <a:solidFill>
                    <a:srgbClr val="3D199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状态响应</a:t>
              </a:r>
              <a:endParaRPr lang="zh-CN" altLang="en-US" sz="1650" b="1" i="0" u="none" strike="noStrike" spc="0">
                <a:solidFill>
                  <a:srgbClr val="3D19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18" name="Connector"/>
            <p:cNvCxnSpPr/>
            <p:nvPr/>
          </p:nvCxnSpPr>
          <p:spPr>
            <a:xfrm flipV="1">
              <a:off x="3705496" y="2270776"/>
              <a:ext cx="559958" cy="660404"/>
            </a:xfrm>
            <a:prstGeom prst="bentConnector3">
              <a:avLst>
                <a:gd name="adj1" fmla="val 49349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19" name="Connector"/>
            <p:cNvCxnSpPr/>
            <p:nvPr/>
          </p:nvCxnSpPr>
          <p:spPr>
            <a:xfrm>
              <a:off x="3662899" y="2931180"/>
              <a:ext cx="628041" cy="1058985"/>
            </a:xfrm>
            <a:prstGeom prst="bentConnector3">
              <a:avLst>
                <a:gd name="adj1" fmla="val 50742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0" name="Connector"/>
            <p:cNvCxnSpPr/>
            <p:nvPr/>
          </p:nvCxnSpPr>
          <p:spPr>
            <a:xfrm>
              <a:off x="5469473" y="2270776"/>
              <a:ext cx="642605" cy="892617"/>
            </a:xfrm>
            <a:prstGeom prst="bentConnector3">
              <a:avLst>
                <a:gd name="adj1" fmla="val 58364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1" name="Connector"/>
            <p:cNvCxnSpPr/>
            <p:nvPr/>
          </p:nvCxnSpPr>
          <p:spPr>
            <a:xfrm flipV="1">
              <a:off x="5456002" y="3163393"/>
              <a:ext cx="656076" cy="479621"/>
            </a:xfrm>
            <a:prstGeom prst="bentConnector3">
              <a:avLst>
                <a:gd name="adj1" fmla="val 61639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22" name="Connector"/>
            <p:cNvCxnSpPr/>
            <p:nvPr/>
          </p:nvCxnSpPr>
          <p:spPr>
            <a:xfrm rot="5400000">
              <a:off x="5413692" y="-560290"/>
              <a:ext cx="802226" cy="5085496"/>
            </a:xfrm>
            <a:prstGeom prst="bentConnector3">
              <a:avLst>
                <a:gd name="adj1" fmla="val -18237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sp>
          <p:nvSpPr>
            <p:cNvPr id="23" name="TextBox"/>
            <p:cNvSpPr txBox="1">
              <a:spLocks noGrp="1"/>
            </p:cNvSpPr>
            <p:nvPr/>
          </p:nvSpPr>
          <p:spPr>
            <a:xfrm>
              <a:off x="4328076" y="3031312"/>
              <a:ext cx="1141761" cy="3066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400" b="1" i="0" u="none" strike="noStrike" spc="0">
                  <a:solidFill>
                    <a:srgbClr val="26820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艺术小游戏</a:t>
              </a:r>
              <a:endParaRPr lang="zh-CN" altLang="en-US" sz="1400" b="1" i="0" u="none" strike="noStrike" spc="0">
                <a:solidFill>
                  <a:srgbClr val="26820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TextBox"/>
            <p:cNvSpPr txBox="1">
              <a:spLocks noGrp="1"/>
            </p:cNvSpPr>
            <p:nvPr/>
          </p:nvSpPr>
          <p:spPr>
            <a:xfrm>
              <a:off x="4217758" y="1622060"/>
              <a:ext cx="1299409" cy="27546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200" b="1" i="0" u="none" strike="noStrike" spc="0" dirty="0">
                  <a:solidFill>
                    <a:srgbClr val="0652C8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视频情绪识别</a:t>
              </a:r>
              <a:endParaRPr lang="zh-CN" altLang="en-US" sz="1200" b="1" i="0" u="none" strike="noStrike" spc="0" dirty="0">
                <a:solidFill>
                  <a:srgbClr val="0652C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TextBox"/>
            <p:cNvSpPr txBox="1">
              <a:spLocks noGrp="1"/>
            </p:cNvSpPr>
            <p:nvPr/>
          </p:nvSpPr>
          <p:spPr>
            <a:xfrm>
              <a:off x="3011920" y="3478985"/>
              <a:ext cx="835568" cy="3370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600" b="1" i="0" u="none" strike="noStrike" spc="0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用户</a:t>
              </a:r>
              <a:endParaRPr lang="zh-CN" altLang="en-US" sz="1600" b="1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26" name="Picture"/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2672778" y="2397299"/>
              <a:ext cx="867243" cy="109560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27" name="Shape"/>
            <p:cNvSpPr>
              <a:spLocks noGrp="1"/>
            </p:cNvSpPr>
            <p:nvPr/>
          </p:nvSpPr>
          <p:spPr>
            <a:xfrm>
              <a:off x="6223487" y="2391168"/>
              <a:ext cx="1184722" cy="636638"/>
            </a:xfrm>
            <a:prstGeom prst="rect">
              <a:avLst/>
            </a:prstGeom>
            <a:solidFill>
              <a:srgbClr val="FDFCFE"/>
            </a:solidFill>
            <a:ln w="12700">
              <a:solidFill>
                <a:srgbClr val="9286D7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Shape"/>
            <p:cNvSpPr>
              <a:spLocks noGrp="1"/>
            </p:cNvSpPr>
            <p:nvPr/>
          </p:nvSpPr>
          <p:spPr>
            <a:xfrm>
              <a:off x="6223487" y="3253395"/>
              <a:ext cx="1175984" cy="508453"/>
            </a:xfrm>
            <a:prstGeom prst="rect">
              <a:avLst/>
            </a:prstGeom>
            <a:solidFill>
              <a:srgbClr val="FEFDFE"/>
            </a:solidFill>
            <a:ln w="12700">
              <a:solidFill>
                <a:srgbClr val="8D83D0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Shape"/>
            <p:cNvSpPr>
              <a:spLocks noGrp="1"/>
            </p:cNvSpPr>
            <p:nvPr/>
          </p:nvSpPr>
          <p:spPr>
            <a:xfrm>
              <a:off x="6384775" y="1897521"/>
              <a:ext cx="851952" cy="15195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65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65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0" name="Shape"/>
            <p:cNvSpPr>
              <a:spLocks noGrp="1"/>
            </p:cNvSpPr>
            <p:nvPr/>
          </p:nvSpPr>
          <p:spPr>
            <a:xfrm>
              <a:off x="6112078" y="1737777"/>
              <a:ext cx="1389336" cy="54351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400" b="1" i="0" u="none" strike="noStrike" spc="0" dirty="0">
                  <a:solidFill>
                    <a:srgbClr val="3D199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状态感知智能体</a:t>
              </a:r>
              <a:endParaRPr lang="zh-CN" sz="1400" b="1" i="0" u="none" strike="noStrike" spc="0" dirty="0">
                <a:solidFill>
                  <a:srgbClr val="3D199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1" name="Shape"/>
            <p:cNvSpPr>
              <a:spLocks noGrp="1"/>
            </p:cNvSpPr>
            <p:nvPr/>
          </p:nvSpPr>
          <p:spPr>
            <a:xfrm>
              <a:off x="6566816" y="3394048"/>
              <a:ext cx="783140" cy="23649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400" b="1" i="0" u="none" strike="noStrike" spc="0">
                  <a:solidFill>
                    <a:srgbClr val="39393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响应规划</a:t>
              </a:r>
              <a:endParaRPr lang="zh-CN" sz="1400" b="1" i="0" u="none" strike="noStrike" spc="0">
                <a:solidFill>
                  <a:srgbClr val="39393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Shape"/>
            <p:cNvSpPr>
              <a:spLocks noGrp="1"/>
            </p:cNvSpPr>
            <p:nvPr/>
          </p:nvSpPr>
          <p:spPr>
            <a:xfrm>
              <a:off x="6661477" y="2664291"/>
              <a:ext cx="556317" cy="12428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125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25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Shape"/>
            <p:cNvSpPr>
              <a:spLocks noGrp="1"/>
            </p:cNvSpPr>
            <p:nvPr/>
          </p:nvSpPr>
          <p:spPr>
            <a:xfrm>
              <a:off x="6690240" y="2554808"/>
              <a:ext cx="585444" cy="31325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altLang="en-US" sz="1400" b="1" i="0" u="none" strike="noStrike" spc="0">
                  <a:solidFill>
                    <a:srgbClr val="353535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情绪感知</a:t>
              </a:r>
              <a:endParaRPr lang="zh-CN" altLang="en-US" sz="1400" b="1" i="0" u="none" strike="noStrike" spc="0">
                <a:solidFill>
                  <a:srgbClr val="35353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4" name="TextBox"/>
            <p:cNvSpPr txBox="1">
              <a:spLocks noGrp="1"/>
            </p:cNvSpPr>
            <p:nvPr/>
          </p:nvSpPr>
          <p:spPr>
            <a:xfrm>
              <a:off x="7817073" y="2704812"/>
              <a:ext cx="1112270" cy="30663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altLang="zh-CN" sz="1400" b="1" i="0" u="none" strike="noStrike" spc="0">
                  <a:solidFill>
                    <a:srgbClr val="3F179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3D Avatar</a:t>
              </a:r>
              <a:endParaRPr lang="en-US" altLang="zh-CN" sz="1400" b="1" i="0" u="none" strike="noStrike" spc="0">
                <a:solidFill>
                  <a:srgbClr val="3F179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35" name="Connector"/>
            <p:cNvCxnSpPr/>
            <p:nvPr/>
          </p:nvCxnSpPr>
          <p:spPr>
            <a:xfrm flipV="1">
              <a:off x="8356278" y="2266100"/>
              <a:ext cx="1092" cy="28870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tailEnd type="triangle" w="med" len="med"/>
            </a:ln>
          </p:spPr>
        </p:cxnSp>
        <p:cxnSp>
          <p:nvCxnSpPr>
            <p:cNvPr id="36" name="Connector"/>
            <p:cNvCxnSpPr/>
            <p:nvPr/>
          </p:nvCxnSpPr>
          <p:spPr>
            <a:xfrm flipV="1">
              <a:off x="7501414" y="3540934"/>
              <a:ext cx="305101" cy="1948"/>
            </a:xfrm>
            <a:prstGeom prst="straightConnector1">
              <a:avLst/>
            </a:prstGeom>
            <a:noFill/>
            <a:ln w="38100">
              <a:solidFill>
                <a:srgbClr val="000000"/>
              </a:solidFill>
              <a:tailEnd type="triangle" w="med" len="med"/>
            </a:ln>
          </p:spPr>
        </p:cxnSp>
        <p:sp>
          <p:nvSpPr>
            <p:cNvPr id="37" name="TextBox"/>
            <p:cNvSpPr txBox="1">
              <a:spLocks noGrp="1"/>
            </p:cNvSpPr>
            <p:nvPr/>
          </p:nvSpPr>
          <p:spPr>
            <a:xfrm>
              <a:off x="4608784" y="4434721"/>
              <a:ext cx="981565" cy="27546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lvl1pPr algn="l"/>
            </a:lstStyle>
            <a:p>
              <a:pPr marR="0" algn="l">
                <a:lnSpc>
                  <a:spcPct val="100000"/>
                </a:lnSpc>
              </a:pPr>
              <a:r>
                <a:rPr lang="zh-CN" altLang="en-US" sz="1200" b="1" i="0" u="none" strike="noStrike" spc="0" dirty="0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音频</a:t>
              </a:r>
              <a:r>
                <a:rPr lang="en-US" altLang="zh-CN" sz="1200" b="1" i="0" u="none" strike="noStrike" spc="0" dirty="0">
                  <a:solidFill>
                    <a:srgbClr val="2F5597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/</a:t>
              </a:r>
              <a:r>
                <a:rPr lang="zh-CN" altLang="en-US" sz="1200" b="1" i="0" u="none" strike="noStrike" spc="0" dirty="0">
                  <a:solidFill>
                    <a:srgbClr val="2F5597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文本</a:t>
              </a:r>
              <a:endParaRPr lang="zh-CN" altLang="en-US" sz="1200" b="1" i="0" u="none" strike="noStrike" spc="0" dirty="0">
                <a:solidFill>
                  <a:srgbClr val="2F559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38" name="Picture"/>
            <p:cNvPicPr/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03441" y="4452643"/>
              <a:ext cx="178400" cy="190913"/>
            </a:xfrm>
            <a:prstGeom prst="rect">
              <a:avLst/>
            </a:prstGeom>
          </p:spPr>
        </p:pic>
        <p:sp>
          <p:nvSpPr>
            <p:cNvPr id="39" name="Shape"/>
            <p:cNvSpPr>
              <a:spLocks noGrp="1"/>
            </p:cNvSpPr>
            <p:nvPr/>
          </p:nvSpPr>
          <p:spPr>
            <a:xfrm>
              <a:off x="6223487" y="3990165"/>
              <a:ext cx="1184722" cy="508453"/>
            </a:xfrm>
            <a:prstGeom prst="rect">
              <a:avLst/>
            </a:prstGeom>
            <a:solidFill>
              <a:srgbClr val="FEFDFE"/>
            </a:solidFill>
            <a:ln w="12700">
              <a:solidFill>
                <a:srgbClr val="8D83D0"/>
              </a:solidFill>
            </a:ln>
          </p:spPr>
          <p:txBody>
            <a:bodyPr wrap="square" lIns="91440" tIns="45720" rIns="91440" bIns="4572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4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4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40" name="Picture"/>
            <p:cNvPicPr/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6272638" y="4031075"/>
              <a:ext cx="305829" cy="379879"/>
            </a:xfrm>
            <a:prstGeom prst="rect">
              <a:avLst/>
            </a:prstGeom>
            <a:ln w="12700">
              <a:noFill/>
            </a:ln>
          </p:spPr>
        </p:pic>
        <p:sp>
          <p:nvSpPr>
            <p:cNvPr id="41" name="Shape"/>
            <p:cNvSpPr>
              <a:spLocks noGrp="1"/>
            </p:cNvSpPr>
            <p:nvPr/>
          </p:nvSpPr>
          <p:spPr>
            <a:xfrm>
              <a:off x="6627618" y="4260561"/>
              <a:ext cx="606196" cy="10519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en-US" sz="1200" b="0" i="0" u="none" strike="noStrike" spc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200" b="0" i="0" u="none" strike="noStrike" spc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2" name="Shape"/>
            <p:cNvSpPr>
              <a:spLocks noGrp="1"/>
            </p:cNvSpPr>
            <p:nvPr/>
          </p:nvSpPr>
          <p:spPr>
            <a:xfrm>
              <a:off x="6690240" y="4094973"/>
              <a:ext cx="527555" cy="35689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0" tIns="0" rIns="0" bIns="0" rtlCol="0" anchor="ctr">
              <a:noAutofit/>
            </a:bodyPr>
            <a:lstStyle>
              <a:lvl1pPr algn="ctr"/>
            </a:lstStyle>
            <a:p>
              <a:pPr marR="0" algn="ctr">
                <a:lnSpc>
                  <a:spcPct val="100000"/>
                </a:lnSpc>
              </a:pPr>
              <a:r>
                <a:rPr lang="zh-CN" sz="1200" b="1" i="0" u="none" strike="noStrike" spc="0">
                  <a:solidFill>
                    <a:srgbClr val="393939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知识库信息</a:t>
              </a:r>
              <a:endParaRPr lang="zh-CN" sz="1200" b="1" i="0" u="none" strike="noStrike" spc="0">
                <a:solidFill>
                  <a:srgbClr val="393939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pic>
          <p:nvPicPr>
            <p:cNvPr id="43" name="Picture"/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285381" y="3339112"/>
              <a:ext cx="309106" cy="330787"/>
            </a:xfrm>
            <a:prstGeom prst="rect">
              <a:avLst/>
            </a:prstGeom>
          </p:spPr>
        </p:pic>
        <p:pic>
          <p:nvPicPr>
            <p:cNvPr id="44" name="Picture"/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267177" y="2568055"/>
              <a:ext cx="296363" cy="317150"/>
            </a:xfrm>
            <a:prstGeom prst="rect">
              <a:avLst/>
            </a:prstGeom>
          </p:spPr>
        </p:pic>
        <p:cxnSp>
          <p:nvCxnSpPr>
            <p:cNvPr id="45" name="Connector"/>
            <p:cNvCxnSpPr/>
            <p:nvPr/>
          </p:nvCxnSpPr>
          <p:spPr>
            <a:xfrm>
              <a:off x="3705496" y="2931180"/>
              <a:ext cx="622944" cy="1615361"/>
            </a:xfrm>
            <a:prstGeom prst="bentConnector3">
              <a:avLst>
                <a:gd name="adj1" fmla="val 43892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  <p:cxnSp>
          <p:nvCxnSpPr>
            <p:cNvPr id="46" name="Connector"/>
            <p:cNvCxnSpPr/>
            <p:nvPr/>
          </p:nvCxnSpPr>
          <p:spPr>
            <a:xfrm flipV="1">
              <a:off x="5590348" y="3163393"/>
              <a:ext cx="521365" cy="1409252"/>
            </a:xfrm>
            <a:prstGeom prst="bentConnector3">
              <a:avLst>
                <a:gd name="adj1" fmla="val 50061"/>
              </a:avLst>
            </a:prstGeom>
            <a:noFill/>
            <a:ln w="38100">
              <a:solidFill>
                <a:srgbClr val="000000"/>
              </a:solidFill>
              <a:tailEnd type="arrow" w="med" len="med"/>
            </a:ln>
          </p:spPr>
        </p:cxnSp>
      </p:grpSp>
      <p:grpSp>
        <p:nvGrpSpPr>
          <p:cNvPr id="47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48" name="TextBox 10"/>
            <p:cNvSpPr txBox="1"/>
            <p:nvPr/>
          </p:nvSpPr>
          <p:spPr>
            <a:xfrm>
              <a:off x="329184" y="156210"/>
              <a:ext cx="531799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案例实践一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情绪疏导数字人的最简实现路线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Rectangle 11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50" name="TextBox 12"/>
            <p:cNvSpPr txBox="1"/>
            <p:nvPr/>
          </p:nvSpPr>
          <p:spPr>
            <a:xfrm>
              <a:off x="278130" y="90487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课题系统：用户视频与对话输入，输出情绪状态与数字人交互反馈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52" name="TextBox 14"/>
            <p:cNvSpPr txBox="1"/>
            <p:nvPr/>
          </p:nvSpPr>
          <p:spPr>
            <a:xfrm>
              <a:off x="221742" y="4883468"/>
              <a:ext cx="52840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本周先完成数字人外观生成与骨骼绑定，为后续交互提供人物资产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15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4" name="lesson-body"/>
          <p:cNvGrpSpPr/>
          <p:nvPr/>
        </p:nvGrpSpPr>
        <p:grpSpPr>
          <a:xfrm>
            <a:off x="221552" y="1498044"/>
            <a:ext cx="2446680" cy="3157442"/>
            <a:chOff x="221552" y="1498044"/>
            <a:chExt cx="2446680" cy="3157442"/>
          </a:xfrm>
        </p:grpSpPr>
        <p:sp>
          <p:nvSpPr>
            <p:cNvPr id="55" name="TextBox 17"/>
            <p:cNvSpPr txBox="1"/>
            <p:nvPr/>
          </p:nvSpPr>
          <p:spPr>
            <a:xfrm>
              <a:off x="221552" y="1498044"/>
              <a:ext cx="76258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系统输入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18"/>
            <p:cNvSpPr txBox="1"/>
            <p:nvPr/>
          </p:nvSpPr>
          <p:spPr>
            <a:xfrm>
              <a:off x="221552" y="1736169"/>
              <a:ext cx="1698193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用户视频、对话文本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TextBox 19"/>
            <p:cNvSpPr txBox="1"/>
            <p:nvPr/>
          </p:nvSpPr>
          <p:spPr>
            <a:xfrm>
              <a:off x="221552" y="2040969"/>
              <a:ext cx="1698193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数字人外观（本周）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20"/>
            <p:cNvSpPr txBox="1"/>
            <p:nvPr/>
          </p:nvSpPr>
          <p:spPr>
            <a:xfrm>
              <a:off x="221552" y="2279094"/>
              <a:ext cx="1955927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人物参考图生成三维模型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 估计骨架与蒙皮权重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9" name="TextBox 21"/>
            <p:cNvSpPr txBox="1"/>
            <p:nvPr/>
          </p:nvSpPr>
          <p:spPr>
            <a:xfrm>
              <a:off x="221552" y="2822019"/>
              <a:ext cx="76258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情绪识别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22"/>
            <p:cNvSpPr txBox="1"/>
            <p:nvPr/>
          </p:nvSpPr>
          <p:spPr>
            <a:xfrm>
              <a:off x="221552" y="3060144"/>
              <a:ext cx="2044192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视频帧识别情绪标签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S4D：ViT 与语义引导 MoE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1" name="TextBox 23"/>
            <p:cNvSpPr txBox="1"/>
            <p:nvPr/>
          </p:nvSpPr>
          <p:spPr>
            <a:xfrm>
              <a:off x="221552" y="3603069"/>
              <a:ext cx="949706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知识与话术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24"/>
            <p:cNvSpPr txBox="1"/>
            <p:nvPr/>
          </p:nvSpPr>
          <p:spPr>
            <a:xfrm>
              <a:off x="221552" y="3841194"/>
              <a:ext cx="2446680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疏导语料检索，生成共情文本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25"/>
            <p:cNvSpPr txBox="1"/>
            <p:nvPr/>
          </p:nvSpPr>
          <p:spPr>
            <a:xfrm>
              <a:off x="221552" y="4145994"/>
              <a:ext cx="1698193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语音与行为（后续）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26"/>
            <p:cNvSpPr txBox="1"/>
            <p:nvPr/>
          </p:nvSpPr>
          <p:spPr>
            <a:xfrm>
              <a:off x="221552" y="4384119"/>
              <a:ext cx="2259559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语音合成、动作与口型驱动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8" name="TextBox 8"/>
            <p:cNvSpPr txBox="1"/>
            <p:nvPr/>
          </p:nvSpPr>
          <p:spPr>
            <a:xfrm>
              <a:off x="329184" y="156210"/>
              <a:ext cx="37967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数据准备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课题资源与本周输入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78130" y="904875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基础资源来自课程与公开项目，本周重点准备人物图、三维模型和动作文件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lesson-footer"/>
          <p:cNvGrpSpPr/>
          <p:nvPr/>
        </p:nvGrpSpPr>
        <p:grpSpPr>
          <a:xfrm>
            <a:off x="221742" y="4773930"/>
            <a:ext cx="8922258" cy="373571"/>
            <a:chOff x="221742" y="4773930"/>
            <a:chExt cx="8922258" cy="373571"/>
          </a:xfrm>
        </p:grpSpPr>
        <p:sp>
          <p:nvSpPr>
            <p:cNvPr id="12" name="Rectangle 12"/>
            <p:cNvSpPr/>
            <p:nvPr/>
          </p:nvSpPr>
          <p:spPr>
            <a:xfrm>
              <a:off x="8572500" y="4773930"/>
              <a:ext cx="571500" cy="369570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1742" y="4883468"/>
              <a:ext cx="4102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人物图用于生成外观，动作 FBX 用于验证绑定结果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18" name="lesson-body"/>
          <p:cNvGrpSpPr/>
          <p:nvPr/>
        </p:nvGrpSpPr>
        <p:grpSpPr>
          <a:xfrm>
            <a:off x="249936" y="1398746"/>
            <a:ext cx="5465895" cy="529305"/>
            <a:chOff x="249936" y="1398746"/>
            <a:chExt cx="5465895" cy="529305"/>
          </a:xfrm>
        </p:grpSpPr>
        <p:sp>
          <p:nvSpPr>
            <p:cNvPr id="16" name="TextBox 16"/>
            <p:cNvSpPr txBox="1"/>
            <p:nvPr/>
          </p:nvSpPr>
          <p:spPr>
            <a:xfrm>
              <a:off x="249936" y="1398746"/>
              <a:ext cx="546589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系统代码  https://github.com/ly001bhml/soullink-demo/</a:t>
              </a:r>
              <a:endParaRPr lang="zh-CN" sz="142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0317" y="1664018"/>
              <a:ext cx="40408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情绪识别参考  S4D：github.com/MSA-LMC/S4D</a:t>
              </a:r>
              <a:endParaRPr lang="zh-CN" sz="135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aphicFrame>
        <p:nvGraphicFramePr>
          <p:cNvPr id="19" name="course-data"/>
          <p:cNvGraphicFramePr>
            <a:graphicFrameLocks noGrp="1"/>
          </p:cNvGraphicFramePr>
          <p:nvPr/>
        </p:nvGraphicFramePr>
        <p:xfrm>
          <a:off x="228600" y="1971675"/>
          <a:ext cx="86868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7875"/>
                <a:gridCol w="3114675"/>
                <a:gridCol w="3524250"/>
              </a:tblGrid>
              <a:tr h="342900">
                <a:tc>
                  <a:txBody>
                    <a:bodyPr/>
                    <a:lstStyle/>
                    <a:p>
                      <a:r>
                        <a:rPr lang="zh-CN" sz="131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材料</a:t>
                      </a:r>
                      <a:endParaRPr lang="zh-CN" sz="131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来源与形式</a:t>
                      </a:r>
                      <a:endParaRPr lang="zh-CN" sz="131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用途与准备</a:t>
                      </a:r>
                      <a:endParaRPr lang="zh-CN" sz="131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人物参考图（本周）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自行准备授权图片，JPG / PNG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全身完整、背景简洁，用于生成三维人物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三维网格与动作（本周）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生成平台导出 GLB
自选动作 FBX，参考 Mixamo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网格上传 MIA，动作验证绑定与驱动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MIA 模型资源（本周）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服务器预训练权重 .pth
bones.fbx 骨架模板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个权重及模板，用于自动绑定推理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DFEW / MAFW（后续）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官网申请，视频片段与情绪标签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抽帧、人脸对齐，按五折协议训练评估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疏导语料 / 音频（后续）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课程语料基础包及学生补充
清晰人声 WAV / MP3（可选）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sz="1310" b="0">
                          <a:solidFill>
                            <a:srgbClr val="11111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语料清洗分块供检索
音频用于声音复刻，也可用 TTS</a:t>
                      </a:r>
                      <a:endParaRPr lang="zh-CN" sz="1310" b="0">
                        <a:solidFill>
                          <a:srgbClr val="11111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38100" marR="38100" marT="38100" marB="38100" anchor="ctr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7" name="Auto Shape 6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" name="Auto Shape 8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0" name="TextBox 10"/>
            <p:cNvSpPr txBox="1"/>
            <p:nvPr/>
          </p:nvSpPr>
          <p:spPr>
            <a:xfrm>
              <a:off x="329184" y="156210"/>
              <a:ext cx="415643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关键技术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混元 3D：三维模型生成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130" y="904875"/>
              <a:ext cx="54001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Hunyuan3D 2.0 根据参考图生成几何网格，再生成对应纹理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221742" y="48834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生成结果是带纹理的三维网格，骨骼与动作由后续绑定流程提供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lesson-body"/>
          <p:cNvGrpSpPr/>
          <p:nvPr/>
        </p:nvGrpSpPr>
        <p:grpSpPr>
          <a:xfrm>
            <a:off x="259652" y="1450419"/>
            <a:ext cx="4020007" cy="3315748"/>
            <a:chOff x="259652" y="1450419"/>
            <a:chExt cx="4020007" cy="3315748"/>
          </a:xfrm>
        </p:grpSpPr>
        <p:sp>
          <p:nvSpPr>
            <p:cNvPr id="17" name="TextBox 17"/>
            <p:cNvSpPr txBox="1"/>
            <p:nvPr/>
          </p:nvSpPr>
          <p:spPr>
            <a:xfrm>
              <a:off x="259652" y="1450419"/>
              <a:ext cx="76258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项目名称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652" y="1688544"/>
              <a:ext cx="2114804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Hunyuan3D 2.0，腾讯混元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开源三维资产生成系统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9652" y="2221944"/>
              <a:ext cx="949706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输入与处理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9652" y="2460069"/>
              <a:ext cx="2838577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参考图生成网格，再生成对应纹理。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两个阶段为 DiT 与 Paint。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652" y="2993469"/>
              <a:ext cx="949706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输出与格式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9652" y="3231594"/>
              <a:ext cx="1955927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本实验优先导出 GLB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包含网格、材质和贴图。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9652" y="3764994"/>
              <a:ext cx="1511071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与本周实验的关系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9652" y="4003119"/>
              <a:ext cx="2822336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生成全身外观，检查后交给 MIA。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0414" y="4305062"/>
              <a:ext cx="2900441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35537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生成平台：3d.hunyuan.tencent.com</a:t>
              </a:r>
              <a:endParaRPr lang="zh-CN" sz="1240" dirty="0">
                <a:solidFill>
                  <a:srgbClr val="35537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0414" y="4524137"/>
              <a:ext cx="4019245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35537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代码：github.com/Tencent-Hunyuan/Hunyuan3D-2</a:t>
              </a:r>
              <a:endParaRPr lang="zh-CN" sz="1240" dirty="0">
                <a:solidFill>
                  <a:srgbClr val="35537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project-reference"/>
          <p:cNvGrpSpPr/>
          <p:nvPr/>
        </p:nvGrpSpPr>
        <p:grpSpPr>
          <a:xfrm>
            <a:off x="4841221" y="1428750"/>
            <a:ext cx="3557307" cy="2867025"/>
            <a:chOff x="4841221" y="1428750"/>
            <a:chExt cx="3557307" cy="2867025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41221" y="1428750"/>
              <a:ext cx="3557307" cy="2867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 Shape 1"/>
          <p:cNvSpPr>
            <a:spLocks noGrp="1"/>
          </p:cNvSpPr>
          <p:nvPr/>
        </p:nvSpPr>
        <p:spPr>
          <a:xfrm>
            <a:off x="0" y="157099"/>
            <a:ext cx="180975" cy="321437"/>
          </a:xfrm>
          <a:prstGeom prst="roundRect">
            <a:avLst>
              <a:gd name="adj" fmla="val 0"/>
            </a:avLst>
          </a:pr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sp>
        <p:nvSpPr>
          <p:cNvPr id="8" name="Auto Shape 7"/>
          <p:cNvSpPr>
            <a:spLocks noGrp="1"/>
          </p:cNvSpPr>
          <p:nvPr/>
        </p:nvSpPr>
        <p:spPr>
          <a:xfrm>
            <a:off x="0" y="4773930"/>
            <a:ext cx="8849360" cy="369570"/>
          </a:xfrm>
          <a:custGeom>
            <a:avLst/>
            <a:gdLst/>
            <a:ahLst/>
            <a:cxnLst/>
            <a:rect l="0" t="0" r="0" b="0"/>
            <a:pathLst>
              <a:path w="8849360" h="369570">
                <a:moveTo>
                  <a:pt x="0" y="0"/>
                </a:moveTo>
                <a:lnTo>
                  <a:pt x="8849360" y="0"/>
                </a:lnTo>
                <a:lnTo>
                  <a:pt x="8621649" y="369570"/>
                </a:lnTo>
                <a:lnTo>
                  <a:pt x="0" y="369570"/>
                </a:lnTo>
                <a:close/>
              </a:path>
            </a:pathLst>
          </a:custGeom>
          <a:solidFill>
            <a:srgbClr val="C00000"/>
          </a:solidFill>
          <a:ln w="12700" cap="flat" cmpd="sng">
            <a:solidFill>
              <a:srgbClr val="C0000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" name="Auto Shape 9"/>
          <p:cNvSpPr>
            <a:spLocks noGrp="1"/>
          </p:cNvSpPr>
          <p:nvPr/>
        </p:nvSpPr>
        <p:spPr>
          <a:xfrm>
            <a:off x="8322945" y="4773930"/>
            <a:ext cx="821055" cy="369570"/>
          </a:xfrm>
          <a:prstGeom prst="trapezoid">
            <a:avLst>
              <a:gd name="adj" fmla="val 48628"/>
            </a:avLst>
          </a:prstGeom>
          <a:solidFill>
            <a:srgbClr val="002060"/>
          </a:solidFill>
          <a:ln w="12700" cap="flat" cmpd="sng">
            <a:solidFill>
              <a:srgbClr val="002060"/>
            </a:solidFill>
            <a:miter lim="1000000"/>
          </a:ln>
        </p:spPr>
        <p:txBody>
          <a:bodyPr vert="horz" wrap="square" lIns="63500" tIns="63500" rIns="63500" bIns="63500" rtlCol="0" anchor="ctr">
            <a:noAutofit/>
          </a:bodyPr>
          <a:lstStyle>
            <a:lvl1pPr algn="ctr"/>
          </a:lstStyle>
          <a:p>
            <a:pPr marR="0" algn="ctr">
              <a:lnSpc>
                <a:spcPct val="100000"/>
              </a:lnSpc>
            </a:pPr>
            <a:r>
              <a:rPr lang="en-US" sz="1400" b="0" i="0" u="none" strike="noStrike" spc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400" b="0" i="0" u="none" strike="noStrike" spc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3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9" name="TextBox 9"/>
            <p:cNvSpPr txBox="1"/>
            <p:nvPr/>
          </p:nvSpPr>
          <p:spPr>
            <a:xfrm>
              <a:off x="329184" y="156210"/>
              <a:ext cx="37447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关键技术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MIA：自动骨骼绑定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130" y="904875"/>
              <a:ext cx="63663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Make-It-Animatable 预测骨架、蒙皮权重和规范姿态，支持动作驱动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4" name="TextBox 14"/>
            <p:cNvSpPr txBox="1"/>
            <p:nvPr/>
          </p:nvSpPr>
          <p:spPr>
            <a:xfrm>
              <a:off x="221742" y="4883468"/>
              <a:ext cx="51320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本周重点：网格如何获得骨架、蒙皮权重，并导出可驱动的 FBX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27" name="lesson-body"/>
          <p:cNvGrpSpPr/>
          <p:nvPr/>
        </p:nvGrpSpPr>
        <p:grpSpPr>
          <a:xfrm>
            <a:off x="259652" y="1450419"/>
            <a:ext cx="3911824" cy="3315748"/>
            <a:chOff x="259652" y="1450419"/>
            <a:chExt cx="3911824" cy="3315748"/>
          </a:xfrm>
        </p:grpSpPr>
        <p:sp>
          <p:nvSpPr>
            <p:cNvPr id="17" name="TextBox 17"/>
            <p:cNvSpPr txBox="1"/>
            <p:nvPr/>
          </p:nvSpPr>
          <p:spPr>
            <a:xfrm>
              <a:off x="259652" y="1450419"/>
              <a:ext cx="949706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项目与出处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9652" y="1688544"/>
              <a:ext cx="1699959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US" sz="1390" dirty="0">
                  <a:solidFill>
                    <a:srgbClr val="11111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Make-It-Animatable</a:t>
              </a:r>
              <a:br>
                <a:rPr lang="en-US" sz="1390" dirty="0">
                  <a:solidFill>
                    <a:srgbClr val="11111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</a:br>
              <a:r>
                <a:rPr lang="en-US" sz="1390" dirty="0">
                  <a:solidFill>
                    <a:srgbClr val="11111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CVPR 2025 Highlight</a:t>
              </a:r>
              <a:endParaRPr lang="en-US" sz="1390" dirty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9652" y="2221944"/>
              <a:ext cx="388341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9652" y="2460069"/>
              <a:ext cx="301934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完整三维人物网格，课堂使用 GLB。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9652" y="2755344"/>
              <a:ext cx="76258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核心预测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9652" y="2993469"/>
              <a:ext cx="1955927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关节头尾、顶点蒙皮权重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以及规范姿态旋转参数。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9652" y="3526869"/>
              <a:ext cx="388341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</a:t>
              </a:r>
              <a:endParaRPr lang="zh-CN" sz="139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9652" y="3764994"/>
              <a:ext cx="2282508" cy="50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Blender 组装骨架并导出 FBX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转换为 GLB 供网页预览。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60414" y="4305062"/>
              <a:ext cx="3911062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35537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代码：github.com/jasongzy/Make-It-Animatable</a:t>
              </a:r>
              <a:endParaRPr lang="zh-CN" sz="1240" dirty="0">
                <a:solidFill>
                  <a:srgbClr val="35537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0414" y="4524137"/>
              <a:ext cx="3184220" cy="2420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40" dirty="0">
                  <a:solidFill>
                    <a:srgbClr val="35537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本课关注身体动作，口型与语音在后续接入</a:t>
              </a:r>
              <a:endParaRPr lang="zh-CN" sz="1240" dirty="0">
                <a:solidFill>
                  <a:srgbClr val="35537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9" name="project-reference"/>
          <p:cNvGrpSpPr/>
          <p:nvPr/>
        </p:nvGrpSpPr>
        <p:grpSpPr>
          <a:xfrm>
            <a:off x="4728778" y="1428750"/>
            <a:ext cx="3782195" cy="2867025"/>
            <a:chOff x="4728778" y="1428750"/>
            <a:chExt cx="3782195" cy="2867025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728778" y="1428750"/>
              <a:ext cx="3782195" cy="28670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8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379679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本周路线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三维生成与绑定流程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130" y="90487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本周完成一条可运行流程：人物参考图、三维网格、骨骼绑定、动作预览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221742" y="4883468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课堂目标：获得外观完整、骨架可用、能够播放动作的人物资产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05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lesson-body"/>
          <p:cNvGrpSpPr/>
          <p:nvPr/>
        </p:nvGrpSpPr>
        <p:grpSpPr>
          <a:xfrm>
            <a:off x="250698" y="1536382"/>
            <a:ext cx="8493252" cy="3059336"/>
            <a:chOff x="250698" y="1536382"/>
            <a:chExt cx="8493252" cy="3059336"/>
          </a:xfrm>
        </p:grpSpPr>
        <p:sp>
          <p:nvSpPr>
            <p:cNvPr id="22" name="TextBox 22"/>
            <p:cNvSpPr txBox="1"/>
            <p:nvPr/>
          </p:nvSpPr>
          <p:spPr>
            <a:xfrm>
              <a:off x="250698" y="153638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zh-CN" sz="315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7556" y="2053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人物参考图</a:t>
              </a:r>
              <a:endParaRPr lang="zh-CN" sz="180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9080" y="2438400"/>
              <a:ext cx="862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全身照片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en-US" sz="1500" dirty="0">
                  <a:solidFill>
                    <a:srgbClr val="11111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JPG / PNG</a:t>
              </a:r>
              <a:endParaRPr lang="en-US" sz="1500" dirty="0">
                <a:solidFill>
                  <a:srgbClr val="11111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2238375" y="21145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50973" y="153638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zh-CN" sz="315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457831" y="2053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三维模型生成</a:t>
              </a:r>
              <a:endParaRPr lang="zh-CN" sz="180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59355" y="2438400"/>
              <a:ext cx="13582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混元 3D / Tripo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导出 GLB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4438650" y="21145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51248" y="153638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zh-CN" sz="315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58106" y="2053590"/>
              <a:ext cx="14983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 自动绑定</a:t>
              </a:r>
              <a:endParaRPr lang="zh-CN" sz="180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59630" y="2438400"/>
              <a:ext cx="1348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采样与网络推理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估计骨架和权重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6638925" y="211455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51523" y="1536382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zh-CN" sz="315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8381" y="2053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动作与导出</a:t>
              </a:r>
              <a:endParaRPr lang="zh-CN" sz="180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9905" y="2438400"/>
              <a:ext cx="1158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载入自选 FBX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下载绑定结果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266700" y="3124200"/>
              <a:ext cx="8477250" cy="9525"/>
            </a:xfrm>
            <a:custGeom>
              <a:avLst/>
              <a:gdLst/>
              <a:ahLst/>
              <a:cxnLst/>
              <a:rect l="l" t="t" r="r" b="b"/>
              <a:pathLst>
                <a:path w="8477250" h="9525">
                  <a:moveTo>
                    <a:pt x="0" y="0"/>
                  </a:moveTo>
                  <a:lnTo>
                    <a:pt x="847725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8699" y="33161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运行位置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8699" y="3592354"/>
              <a:ext cx="69411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本机准备图片与打开浏览器。服务器容器执行 MIA 推理和 Blender 绑定。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8699" y="4011454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本周范围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699" y="4287679"/>
              <a:ext cx="68223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理解输入、绑定数据与导出代码，完成三维生成、骨骼绑定和动作预览。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8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4914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实验步骤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人物参考图与三维模型准备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130" y="904875"/>
              <a:ext cx="5287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生成前检查人物构图，生成后检查网格，再将模型交给 MIA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221742" y="4883468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全身完整、四肢可区分的输入，更适合验证人体骨骼绑定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06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0" name="lesson-body"/>
          <p:cNvGrpSpPr/>
          <p:nvPr/>
        </p:nvGrpSpPr>
        <p:grpSpPr>
          <a:xfrm>
            <a:off x="258699" y="1458754"/>
            <a:ext cx="6012180" cy="3193447"/>
            <a:chOff x="258699" y="1458754"/>
            <a:chExt cx="6012180" cy="3193447"/>
          </a:xfrm>
        </p:grpSpPr>
        <p:sp>
          <p:nvSpPr>
            <p:cNvPr id="22" name="TextBox 22"/>
            <p:cNvSpPr txBox="1"/>
            <p:nvPr/>
          </p:nvSpPr>
          <p:spPr>
            <a:xfrm>
              <a:off x="258699" y="1458754"/>
              <a:ext cx="13363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  参考图选择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8699" y="1734979"/>
              <a:ext cx="3427222" cy="584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全身人物，脸、手、脚尽量完整。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四肢适度分开，减少遮挡与复杂背景。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8699" y="2458879"/>
              <a:ext cx="154903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  三维生成操作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699" y="2735104"/>
              <a:ext cx="3507486" cy="584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混元 3D：上传图片，生成并查看模型。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可按相同流程尝试 Tripo 3D。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8699" y="3459004"/>
              <a:ext cx="13363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  保存与检查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699" y="3735229"/>
              <a:ext cx="3427222" cy="5842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下载 GLB，使用 Blender 旋转检查。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确认身体完整、贴图正确、四肢分离。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9842" y="43881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优先选用全身人物模型进行首次绑定验证。头像模型不足以验证全身动作。</a:t>
              </a:r>
              <a:endParaRPr lang="zh-CN" sz="135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8" name="input-and-output"/>
          <p:cNvGrpSpPr/>
          <p:nvPr/>
        </p:nvGrpSpPr>
        <p:grpSpPr>
          <a:xfrm>
            <a:off x="5896356" y="1491615"/>
            <a:ext cx="2378964" cy="2983230"/>
            <a:chOff x="5896356" y="1491615"/>
            <a:chExt cx="2378964" cy="2983230"/>
          </a:xfrm>
        </p:grpSpPr>
        <p:sp>
          <p:nvSpPr>
            <p:cNvPr id="31" name="TextBox 31"/>
            <p:cNvSpPr txBox="1"/>
            <p:nvPr/>
          </p:nvSpPr>
          <p:spPr>
            <a:xfrm>
              <a:off x="5896356" y="14916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文件对应关系</a:t>
              </a:r>
              <a:endParaRPr lang="zh-CN" sz="180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897880" y="1933575"/>
              <a:ext cx="11813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avatar.png</a:t>
              </a:r>
              <a:endParaRPr lang="en-US" sz="1500" b="1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97880" y="22002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人物参考图，保存在本机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7880" y="2657475"/>
              <a:ext cx="11283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avatar.glb</a:t>
              </a:r>
              <a:endParaRPr lang="en-US" sz="1500" b="1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97880" y="2924175"/>
              <a:ext cx="23774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生成的网格与贴图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上传 MIA 的 Input 3D Model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97880" y="3648075"/>
              <a:ext cx="13616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greeting.fbx</a:t>
              </a:r>
              <a:endParaRPr lang="en-US" sz="1500" b="1" dirty="0">
                <a:solidFill>
                  <a:srgbClr val="00206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97880" y="3914775"/>
              <a:ext cx="1729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自行选择的动作文件</a:t>
              </a:r>
              <a:b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上传 Animation File</a:t>
              </a:r>
              <a:endParaRPr lang="zh-CN" sz="15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8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0533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项目结构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MIA 的目录与文件作用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130" y="904875"/>
              <a:ext cx="60731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先定位入口、推理代码、资源目录和导出脚本，再沿数据流阅读代码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221742" y="4883468"/>
              <a:ext cx="57929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app.py 组织流程，model.py 完成预测，app_blender.py 绑定并导出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07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lesson-body"/>
          <p:cNvGrpSpPr/>
          <p:nvPr/>
        </p:nvGrpSpPr>
        <p:grpSpPr>
          <a:xfrm>
            <a:off x="257175" y="1441132"/>
            <a:ext cx="8031607" cy="3255741"/>
            <a:chOff x="257175" y="1441132"/>
            <a:chExt cx="8031607" cy="3255741"/>
          </a:xfrm>
        </p:grpSpPr>
        <p:sp>
          <p:nvSpPr>
            <p:cNvPr id="22" name="TextBox 22"/>
            <p:cNvSpPr txBox="1"/>
            <p:nvPr/>
          </p:nvSpPr>
          <p:spPr>
            <a:xfrm>
              <a:off x="258318" y="1441132"/>
              <a:ext cx="35857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/mnt/Make-It-Animatable-main/</a:t>
              </a:r>
              <a:endParaRPr lang="en-US" sz="165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742950" y="1847850"/>
              <a:ext cx="7077075" cy="9525"/>
            </a:xfrm>
            <a:custGeom>
              <a:avLst/>
              <a:gdLst/>
              <a:ahLst/>
              <a:cxnLst/>
              <a:rect l="l" t="t" r="r" b="b"/>
              <a:pathLst>
                <a:path w="7077075" h="9525">
                  <a:moveTo>
                    <a:pt x="0" y="0"/>
                  </a:moveTo>
                  <a:lnTo>
                    <a:pt x="7077075" y="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42950" y="1724025"/>
              <a:ext cx="9525" cy="123825"/>
            </a:xfrm>
            <a:custGeom>
              <a:avLst/>
              <a:gdLst/>
              <a:ahLst/>
              <a:cxnLst/>
              <a:rect l="l" t="t" r="r" b="b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600200" y="18478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7175" y="206454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入口与模型</a:t>
              </a:r>
              <a:endParaRPr lang="zh-CN" sz="188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9080" y="247650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app.py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9652" y="2783919"/>
              <a:ext cx="2259559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网页入口、流程、权重加载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9080" y="322897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model.py / models_ae.py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9652" y="3536394"/>
              <a:ext cx="1818234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PCAE 与基础编码网络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4552950" y="18478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09925" y="2064544"/>
              <a:ext cx="128447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绑定与工具</a:t>
              </a:r>
              <a:endParaRPr lang="zh-CN" sz="188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211830" y="2476500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app_blender.py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12402" y="2783919"/>
              <a:ext cx="2130238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Blender 绑定与 FBX 导出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11830" y="32289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util/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212402" y="3536394"/>
              <a:ext cx="2573782" cy="747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dataset_mixamo.py：骨架定义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blender_utils.py：绑定与动作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utils.py：采样、归一化、变换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Line 37"/>
            <p:cNvSpPr/>
            <p:nvPr/>
          </p:nvSpPr>
          <p:spPr>
            <a:xfrm>
              <a:off x="7505700" y="18478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0206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2675" y="2064544"/>
              <a:ext cx="10313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数据资源</a:t>
              </a:r>
              <a:endParaRPr lang="zh-CN" sz="188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64580" y="2476500"/>
              <a:ext cx="17922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output/best/new/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65152" y="2783919"/>
              <a:ext cx="1819822" cy="2713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 个 .pth 预训练权重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64580" y="32289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data/</a:t>
              </a:r>
              <a:endParaRPr lang="en-US" sz="150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65152" y="3536394"/>
              <a:ext cx="2123630" cy="7476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Mixamo/bones.fbx：模板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examples/：示例 GLB</a:t>
              </a:r>
              <a:b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39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*.fbx：动作文件</a:t>
              </a:r>
              <a:endParaRPr lang="zh-CN" sz="139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9461" y="4418171"/>
              <a:ext cx="63896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流程定位：app.py 调模型预测，随后将关节和权重交给 app_blender.py。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7539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环境连接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本机、服务器与 Docker 容器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7912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new3090 是本机 SSH 配置别名，进入 llm 后使用完整 MIA 项目目录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60717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本实验目录：/mnt/Make-It-Animatable-main，使用 MIA 专用 Python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08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lesson-body"/>
          <p:cNvGrpSpPr/>
          <p:nvPr/>
        </p:nvGrpSpPr>
        <p:grpSpPr>
          <a:xfrm>
            <a:off x="228600" y="1438275"/>
            <a:ext cx="8141843" cy="3249073"/>
            <a:chOff x="228600" y="1438275"/>
            <a:chExt cx="8141843" cy="3249073"/>
          </a:xfrm>
        </p:grpSpPr>
        <p:grpSp>
          <p:nvGrpSpPr>
            <p:cNvPr id="35" name="code-section"/>
            <p:cNvGrpSpPr/>
            <p:nvPr/>
          </p:nvGrpSpPr>
          <p:grpSpPr>
            <a:xfrm>
              <a:off x="228600" y="1438275"/>
              <a:ext cx="5572125" cy="3190875"/>
              <a:chOff x="228600" y="1438275"/>
              <a:chExt cx="5572125" cy="3190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" y="1438275"/>
                <a:ext cx="5572125" cy="3190875"/>
              </a:xfrm>
              <a:prstGeom prst="roundRect">
                <a:avLst>
                  <a:gd name="adj" fmla="val 1791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6347" y="1527620"/>
                <a:ext cx="161398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本机 PowerShell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347" y="1719072"/>
                <a:ext cx="106374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ssh new3090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347" y="2101977"/>
                <a:ext cx="107243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服务器终端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347" y="2293430"/>
                <a:ext cx="278298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docker exec -it llm /bin/bash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6347" y="2676334"/>
                <a:ext cx="89877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容器终端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347" y="2867787"/>
                <a:ext cx="299411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cd /mnt/Make-It-Animatable-main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6347" y="3059240"/>
                <a:ext cx="398455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export PATH=/mnt/conda_envs/mia/bin:$PATH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47" y="3250692"/>
                <a:ext cx="115926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which python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347" y="3442144"/>
                <a:ext cx="2974006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ls app.py output/best/new/*.pth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36347" y="3633597"/>
                <a:ext cx="2311903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ls data/Mixamo/bones.fbx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6347" y="3825050"/>
                <a:ext cx="96823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nvidia-smi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42" name="code-explanation"/>
            <p:cNvGrpSpPr/>
            <p:nvPr/>
          </p:nvGrpSpPr>
          <p:grpSpPr>
            <a:xfrm>
              <a:off x="5993511" y="1493996"/>
              <a:ext cx="2376932" cy="3193352"/>
              <a:chOff x="5993511" y="1493996"/>
              <a:chExt cx="2376932" cy="3193352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993511" y="14939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三个位置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93511" y="1741646"/>
                <a:ext cx="2376932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SSH 在本机运行。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docker exec 在服务器运行。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后续 Python 在容器内运行。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93511" y="257984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环境检查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93511" y="2827496"/>
                <a:ext cx="2034286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en-US" sz="1420" dirty="0">
                    <a:solidFill>
                      <a:srgbClr val="11111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Python 3.11.14</a:t>
                </a:r>
                <a:br>
                  <a:rPr lang="en-US" sz="1420" dirty="0">
                    <a:solidFill>
                      <a:srgbClr val="11111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</a:br>
                <a:r>
                  <a:rPr lang="en-US" sz="1420" dirty="0">
                    <a:solidFill>
                      <a:srgbClr val="11111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PyTorch 2.1.2+cu121</a:t>
                </a:r>
                <a:br>
                  <a:rPr lang="en-US" sz="1420" dirty="0">
                    <a:solidFill>
                      <a:srgbClr val="11111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CUDA 可用，bpy 4.3.0。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93511" y="36656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资源检查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93511" y="3913346"/>
                <a:ext cx="2151507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应看到 5 个 .pth 权重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和 bones.fbx 骨架模板。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/mnt/mia 的资源不完整。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382178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启动运行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MIA 服务与网页参数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7429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通过 SSH 隧道访问容器中的 Gradio 服务，网页上传模型并运行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5443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本地浏览器访问 localhost:7860，推理与绑定在服务器容器内执行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09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7" name="lesson-body"/>
          <p:cNvGrpSpPr/>
          <p:nvPr/>
        </p:nvGrpSpPr>
        <p:grpSpPr>
          <a:xfrm>
            <a:off x="228600" y="1438275"/>
            <a:ext cx="8317928" cy="3001423"/>
            <a:chOff x="228600" y="1438275"/>
            <a:chExt cx="8317928" cy="3001423"/>
          </a:xfrm>
        </p:grpSpPr>
        <p:grpSp>
          <p:nvGrpSpPr>
            <p:cNvPr id="30" name="startup-command"/>
            <p:cNvGrpSpPr/>
            <p:nvPr/>
          </p:nvGrpSpPr>
          <p:grpSpPr>
            <a:xfrm>
              <a:off x="228600" y="1438275"/>
              <a:ext cx="5095875" cy="2028825"/>
              <a:chOff x="228600" y="1438275"/>
              <a:chExt cx="5095875" cy="202882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" y="1438275"/>
                <a:ext cx="5095875" cy="2028825"/>
              </a:xfrm>
              <a:prstGeom prst="roundRect">
                <a:avLst>
                  <a:gd name="adj" fmla="val 2817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6042" y="1540192"/>
                <a:ext cx="287607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容器内，完成第 8 页环境设置后</a:t>
                </a:r>
                <a:endParaRPr lang="zh-CN" sz="135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042" y="1768792"/>
                <a:ext cx="13131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python app.py</a:t>
                </a:r>
                <a:endParaRPr lang="en-US" sz="135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042" y="2225992"/>
                <a:ext cx="34892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本机另开 PowerShell，保持 SSH 隧道</a:t>
                </a:r>
                <a:endParaRPr lang="zh-CN" sz="135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042" y="2454592"/>
                <a:ext cx="38657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ssh -N -L 7860:172.17.0.4:7860 new3090</a:t>
                </a:r>
                <a:endParaRPr lang="en-US" sz="135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6042" y="2911792"/>
                <a:ext cx="14857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本机浏览器打开</a:t>
                </a:r>
                <a:endParaRPr lang="zh-CN" sz="135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042" y="3140392"/>
                <a:ext cx="21127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http://localhost:7860</a:t>
                </a:r>
                <a:endParaRPr lang="en-US" sz="135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259461" y="3627596"/>
              <a:ext cx="2701544" cy="812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app.py 载入权重并创建网页。</a:t>
              </a:r>
              <a:b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服务监听容器内 0.0.0.0:7860。</a:t>
              </a:r>
              <a:b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当前使用 SSH 隧道连接该服务。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6" name="web-parameters"/>
            <p:cNvGrpSpPr/>
            <p:nvPr/>
          </p:nvGrpSpPr>
          <p:grpSpPr>
            <a:xfrm>
              <a:off x="5574220" y="1499473"/>
              <a:ext cx="2972308" cy="2867311"/>
              <a:chOff x="5574220" y="1499473"/>
              <a:chExt cx="2972308" cy="2867311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5574220" y="1499473"/>
                <a:ext cx="801040" cy="286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6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网页操作</a:t>
                </a:r>
                <a:endParaRPr lang="zh-CN" sz="146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574220" y="1766173"/>
                <a:ext cx="2610739" cy="16195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Input 3D Model：上传 GLB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No Fingers：手指未分开时勾选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Reset to Rest：恢复规范姿态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Animation File：上传动作 FBX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Retarget：动作重定向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点击 Run，观察各阶段输出</a:t>
                </a:r>
                <a:endParaRPr lang="zh-CN" sz="146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574220" y="3547348"/>
                <a:ext cx="801040" cy="2860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6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地址说明</a:t>
                </a:r>
                <a:endParaRPr lang="zh-CN" sz="146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74220" y="3814048"/>
                <a:ext cx="2972308" cy="5527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100"/>
                  </a:lnSpc>
                </a:pP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172.17.0.4 是本次核对的容器 IP。</a:t>
                </a:r>
                <a:b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6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容器重建后需重新确认。</a:t>
                </a:r>
                <a:endParaRPr lang="zh-CN" sz="146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8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27982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核心流程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Run 按钮对应的六个阶段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130" y="904875"/>
              <a:ext cx="50354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app.py 的 _pipeline() 按顺序处理同一个 DB 数据对象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221742" y="4883468"/>
              <a:ext cx="49903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沿 DB 对象追踪 mesh、pts、bw、joints、pose 和输出路径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10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6" name="lesson-body"/>
          <p:cNvGrpSpPr/>
          <p:nvPr/>
        </p:nvGrpSpPr>
        <p:grpSpPr>
          <a:xfrm>
            <a:off x="257556" y="1520190"/>
            <a:ext cx="8505444" cy="2685669"/>
            <a:chOff x="257556" y="1520190"/>
            <a:chExt cx="8505444" cy="2685669"/>
          </a:xfrm>
        </p:grpSpPr>
        <p:sp>
          <p:nvSpPr>
            <p:cNvPr id="22" name="TextBox 22"/>
            <p:cNvSpPr txBox="1"/>
            <p:nvPr/>
          </p:nvSpPr>
          <p:spPr>
            <a:xfrm>
              <a:off x="257556" y="15201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0174" y="1544479"/>
              <a:ext cx="153680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prepare_input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0711" y="1560671"/>
              <a:ext cx="40957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读取网格与法线，采样 32768 点，建立输出路径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266700" y="18669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7556" y="19869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0174" y="2011204"/>
              <a:ext cx="118585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preprocess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40711" y="2027396"/>
              <a:ext cx="433204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粗定位骨架，对齐 Hips 朝向，并进行手部关注采样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266700" y="2333625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57556" y="245364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0174" y="2477929"/>
              <a:ext cx="60092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infer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40711" y="2494121"/>
              <a:ext cx="41244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预测顶点权重 bw、关节 joints 和规范姿态 pose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Line 34"/>
            <p:cNvSpPr/>
            <p:nvPr/>
          </p:nvSpPr>
          <p:spPr>
            <a:xfrm>
              <a:off x="266700" y="280035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7556" y="2920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0174" y="2944654"/>
              <a:ext cx="36695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vis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40711" y="2960846"/>
              <a:ext cx="42200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处理权重与姿态，导出关节、权重和规范姿态预览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266700" y="3267075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57556" y="3387090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30174" y="3411379"/>
              <a:ext cx="13028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vis_blender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640711" y="3427571"/>
              <a:ext cx="392136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写入骨架与权重，载入动作，导出 FBX 与 GLB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Line 42"/>
            <p:cNvSpPr/>
            <p:nvPr/>
          </p:nvSpPr>
          <p:spPr>
            <a:xfrm>
              <a:off x="266700" y="3733800"/>
              <a:ext cx="8496300" cy="9525"/>
            </a:xfrm>
            <a:custGeom>
              <a:avLst/>
              <a:gdLst/>
              <a:ahLst/>
              <a:cxnLst/>
              <a:rect l="l" t="t" r="r" b="b"/>
              <a:pathLst>
                <a:path w="8496300" h="9525">
                  <a:moveTo>
                    <a:pt x="0" y="0"/>
                  </a:moveTo>
                  <a:lnTo>
                    <a:pt x="8496300" y="0"/>
                  </a:lnTo>
                </a:path>
              </a:pathLst>
            </a:custGeom>
            <a:noFill/>
            <a:ln w="14288">
              <a:solidFill>
                <a:srgbClr val="BCC6D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57556" y="385381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C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6</a:t>
              </a:r>
              <a:endParaRPr lang="zh-CN" sz="1800" b="1" dirty="0">
                <a:solidFill>
                  <a:srgbClr val="C00000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30174" y="3878104"/>
              <a:ext cx="71791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rgbClr val="002060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finish</a:t>
              </a:r>
              <a:endParaRPr lang="en-US" sz="1580" b="1" dirty="0">
                <a:solidFill>
                  <a:srgbClr val="002060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40711" y="3894296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结束流程并清理内存，保留网页可下载结果</a:t>
              </a:r>
              <a:endParaRPr lang="zh-CN" sz="142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35403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代码精读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① 预训练权重加载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5383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init_models() 创建 PCAE 网络，载入权重并切换到推理模式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48733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 个权重各有用途，Use Normal 控制是否使用法线权重分支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11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2" name="lesson-body"/>
          <p:cNvGrpSpPr/>
          <p:nvPr/>
        </p:nvGrpSpPr>
        <p:grpSpPr>
          <a:xfrm>
            <a:off x="228600" y="1438275"/>
            <a:ext cx="8213979" cy="3190875"/>
            <a:chOff x="228600" y="1438275"/>
            <a:chExt cx="8213979" cy="3190875"/>
          </a:xfrm>
        </p:grpSpPr>
        <p:grpSp>
          <p:nvGrpSpPr>
            <p:cNvPr id="36" name="code-section"/>
            <p:cNvGrpSpPr/>
            <p:nvPr/>
          </p:nvGrpSpPr>
          <p:grpSpPr>
            <a:xfrm>
              <a:off x="228600" y="1438275"/>
              <a:ext cx="5572125" cy="3190875"/>
              <a:chOff x="228600" y="1438275"/>
              <a:chExt cx="5572125" cy="3190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" y="1438275"/>
                <a:ext cx="5572125" cy="3190875"/>
              </a:xfrm>
              <a:prstGeom prst="roundRect">
                <a:avLst>
                  <a:gd name="adj" fmla="val 1791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6347" y="1527620"/>
                <a:ext cx="265273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app.py  init_models() 节选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347" y="1719072"/>
                <a:ext cx="211439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device = torch.device(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347" y="1910524"/>
                <a:ext cx="373810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"cuda" if torch.cuda.is_available()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347" y="2101977"/>
                <a:ext cx="144580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else "cpu")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6347" y="2293430"/>
                <a:ext cx="92138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N = 32768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347" y="2484882"/>
                <a:ext cx="249644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hands_resample_ratio = 0.5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6347" y="2867787"/>
                <a:ext cx="176150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PCAE 网络创建之后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47" y="3059240"/>
                <a:ext cx="373810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model_bw.load("output/best/new/bw.pth")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347" y="3250692"/>
                <a:ext cx="249644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model_bw.to(device).eval()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36347" y="3442144"/>
                <a:ext cx="173233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model_joints.load(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6347" y="3633597"/>
                <a:ext cx="316503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"output/best/new/joints.pth")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36347" y="3825050"/>
                <a:ext cx="412016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model_pose.load("output/best/new/pose.pth")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41" name="code-explanation"/>
            <p:cNvGrpSpPr/>
            <p:nvPr/>
          </p:nvGrpSpPr>
          <p:grpSpPr>
            <a:xfrm>
              <a:off x="5993511" y="1493996"/>
              <a:ext cx="2449068" cy="2602802"/>
              <a:chOff x="5993511" y="1493996"/>
              <a:chExt cx="2449068" cy="2602802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5993511" y="14939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权重文件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93511" y="1741646"/>
                <a:ext cx="2331847" cy="1269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bw.pth：蒙皮权重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bw_normal.pth：法线分支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joints.pth：关节头尾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joints_coarse.pth：粗定位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pose.pth：规范姿态旋转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93511" y="307514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关键语句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93511" y="3322796"/>
                <a:ext cx="2449068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load() 读取预训练参数。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to(device) 将网络放到 GPU。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eval() 切换推理模式。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8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05297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代码精读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② GLB 读取与点云采样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130" y="904875"/>
              <a:ext cx="66708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prepare_input() 将三维网格整理为网络输入，preprocess() 对齐朝向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221742" y="4883468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pts 描述整个表面，verts 对应需要预测蒙皮权重的所有顶点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12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5" name="lesson-body"/>
          <p:cNvGrpSpPr/>
          <p:nvPr/>
        </p:nvGrpSpPr>
        <p:grpSpPr>
          <a:xfrm>
            <a:off x="228600" y="1438275"/>
            <a:ext cx="8069707" cy="3190875"/>
            <a:chOff x="228600" y="1438275"/>
            <a:chExt cx="8069707" cy="3190875"/>
          </a:xfrm>
        </p:grpSpPr>
        <p:grpSp>
          <p:nvGrpSpPr>
            <p:cNvPr id="37" name="code-section"/>
            <p:cNvGrpSpPr/>
            <p:nvPr/>
          </p:nvGrpSpPr>
          <p:grpSpPr>
            <a:xfrm>
              <a:off x="228600" y="1438275"/>
              <a:ext cx="5572125" cy="3190875"/>
              <a:chOff x="228600" y="1438275"/>
              <a:chExt cx="5572125" cy="319087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228600" y="1438275"/>
                <a:ext cx="5572125" cy="3190875"/>
              </a:xfrm>
              <a:prstGeom prst="roundRect">
                <a:avLst>
                  <a:gd name="adj" fmla="val 1791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336347" y="1527620"/>
                <a:ext cx="2010194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app.py  网格分支节选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6347" y="1719072"/>
                <a:ext cx="4311186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mesh = trimesh.load(input_path, force="mesh")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347" y="1910524"/>
                <a:ext cx="478875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verts = np.array(mesh.vertices).astype(np.float32)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347" y="2101977"/>
                <a:ext cx="2687467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faces = np.array(mesh.faces)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347" y="2293430"/>
                <a:ext cx="173233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pts = sample_mesh(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347" y="2484882"/>
                <a:ext cx="373810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get_masked_mesh(mesh, sample_mask),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6347" y="2676334"/>
                <a:ext cx="441498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N, get_normals=is_mesh).astype(np.float32)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47" y="2867787"/>
                <a:ext cx="383362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pts = torch.from_numpy(pts).unsqueeze(0)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347" y="3059240"/>
                <a:ext cx="4215674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verts = torch.from_numpy(verts).unsqueeze(0)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36347" y="3250692"/>
                <a:ext cx="4311186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pts, pts_normal = torch.chunk(pts, 2, dim=-1)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6347" y="3633597"/>
                <a:ext cx="1350287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db.mesh = mesh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36347" y="3825050"/>
                <a:ext cx="316503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db.verts, db.faces = verts, faces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36347" y="4016502"/>
                <a:ext cx="373810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db.pts, db.pts_normal = pts, pts_normal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44" name="code-explanation"/>
            <p:cNvGrpSpPr/>
            <p:nvPr/>
          </p:nvGrpSpPr>
          <p:grpSpPr>
            <a:xfrm>
              <a:off x="5993511" y="1493996"/>
              <a:ext cx="2304796" cy="2945702"/>
              <a:chOff x="5993511" y="1493996"/>
              <a:chExt cx="2304796" cy="2945702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5993511" y="14939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数据维度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93511" y="1741646"/>
                <a:ext cx="2304796" cy="10216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verts：[1,V,3]，全部顶点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faces：[F,3]，三角面索引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pts：[1,32768,3]，采样点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pts_normal：采样点法线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93511" y="2827496"/>
                <a:ext cx="116144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两类点的作用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93511" y="3075146"/>
                <a:ext cx="2178558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采样点描述全身形状。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每个顶点需要自己的权重。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993511" y="3665696"/>
                <a:ext cx="5879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预处理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93511" y="3913346"/>
                <a:ext cx="2277745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对齐 Hips 朝向并关注手部。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DB 保存结果供后续读取。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6980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代码精读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③ 蒙皮权重、关节与姿态预测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298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三个主要预测分支输出绑定数据，模型本身不写出最终 FBX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5454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生成绑定数据：bw 控制顶点受哪些骨骼影响，joints 确定骨架位置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13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3" name="lesson-body"/>
          <p:cNvGrpSpPr/>
          <p:nvPr/>
        </p:nvGrpSpPr>
        <p:grpSpPr>
          <a:xfrm>
            <a:off x="228600" y="1438275"/>
            <a:ext cx="7943469" cy="3190875"/>
            <a:chOff x="228600" y="1438275"/>
            <a:chExt cx="7943469" cy="3190875"/>
          </a:xfrm>
        </p:grpSpPr>
        <p:grpSp>
          <p:nvGrpSpPr>
            <p:cNvPr id="35" name="code-section"/>
            <p:cNvGrpSpPr/>
            <p:nvPr/>
          </p:nvGrpSpPr>
          <p:grpSpPr>
            <a:xfrm>
              <a:off x="228600" y="1438275"/>
              <a:ext cx="5572125" cy="3190875"/>
              <a:chOff x="228600" y="1438275"/>
              <a:chExt cx="5572125" cy="3190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" y="1438275"/>
                <a:ext cx="5572125" cy="3190875"/>
              </a:xfrm>
              <a:prstGeom prst="roundRect">
                <a:avLst>
                  <a:gd name="adj" fmla="val 1791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6347" y="1527620"/>
                <a:ext cx="313030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app.py  model_forward_bw() 节选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347" y="1719072"/>
                <a:ext cx="2878493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bw_ = model_bw(pts, verts_).bw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347" y="2101977"/>
                <a:ext cx="265273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model_forward_bones() 节选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347" y="2293430"/>
                <a:ext cx="392913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joints = model_joints.forward(pts).joints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6347" y="2484882"/>
                <a:ext cx="2305416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joints_ = joints.clone()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347" y="2676334"/>
                <a:ext cx="173233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pose = model_pose(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6347" y="2867787"/>
                <a:ext cx="335605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pts, joints=joints_).pose_trans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47" y="3250692"/>
                <a:ext cx="166287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infer() 保存结果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347" y="3442144"/>
                <a:ext cx="96823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db.bw = bw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36347" y="3633597"/>
                <a:ext cx="173233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db.joints = joints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6347" y="3825050"/>
                <a:ext cx="1350287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db.pose = pose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42" name="code-explanation"/>
            <p:cNvGrpSpPr/>
            <p:nvPr/>
          </p:nvGrpSpPr>
          <p:grpSpPr>
            <a:xfrm>
              <a:off x="5993511" y="1493996"/>
              <a:ext cx="2178558" cy="2698052"/>
              <a:chOff x="5993511" y="1493996"/>
              <a:chExt cx="2178558" cy="2698052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5993511" y="1493996"/>
                <a:ext cx="123121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bw：蒙皮权重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993511" y="1741646"/>
                <a:ext cx="2178558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维度 [1,V,K]。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一个顶点可受多骨骼影响。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993511" y="2332196"/>
                <a:ext cx="153229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joints：骨架位置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993511" y="2579846"/>
                <a:ext cx="1817878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维度 [1,K,6]。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每根骨骼含头尾坐标。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993511" y="3170396"/>
                <a:ext cx="141186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pose：规范姿态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993511" y="3418046"/>
                <a:ext cx="1971167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ortho6d 输出 6D 旋转。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vis() 转为骨骼变换。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默认 K=52，含手指。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4978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代码精读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④ Blender 绑定与文件生成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6968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vis_blender() 传递预测数据，app_blender.py 完成骨架、权重与动作组装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5399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最终 FBX 在 app_blender.py 生成，网页 GLB 由 FBX2glTF 转换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14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8" name="lesson-body"/>
          <p:cNvGrpSpPr/>
          <p:nvPr/>
        </p:nvGrpSpPr>
        <p:grpSpPr>
          <a:xfrm>
            <a:off x="228600" y="1438275"/>
            <a:ext cx="7943469" cy="3190875"/>
            <a:chOff x="228600" y="1438275"/>
            <a:chExt cx="7943469" cy="3190875"/>
          </a:xfrm>
        </p:grpSpPr>
        <p:grpSp>
          <p:nvGrpSpPr>
            <p:cNvPr id="40" name="code-section"/>
            <p:cNvGrpSpPr/>
            <p:nvPr/>
          </p:nvGrpSpPr>
          <p:grpSpPr>
            <a:xfrm>
              <a:off x="228600" y="1438275"/>
              <a:ext cx="5572125" cy="3190875"/>
              <a:chOff x="228600" y="1438275"/>
              <a:chExt cx="5572125" cy="3190875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28600" y="1438275"/>
                <a:ext cx="5572125" cy="3190875"/>
              </a:xfrm>
              <a:prstGeom prst="roundRect">
                <a:avLst>
                  <a:gd name="adj" fmla="val 1791"/>
                </a:avLst>
              </a:prstGeom>
              <a:solidFill>
                <a:srgbClr val="F2F2F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36347" y="1527620"/>
                <a:ext cx="274824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app_blender.py  main() 节选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6347" y="1703832"/>
                <a:ext cx="278298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blender_utils.set_rest_bones(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36347" y="1880044"/>
                <a:ext cx="335605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armature_obj, joints / scaling,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36347" y="2056257"/>
                <a:ext cx="402464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joints_tail / scaling, bones_idx_dict)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6347" y="2232470"/>
                <a:ext cx="3260545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blender_utils.set_armature_parent(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36347" y="2408682"/>
                <a:ext cx="2782980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[mesh_obj], armature_obj)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36347" y="2584894"/>
                <a:ext cx="545734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blender_utils.set_weights([mesh_obj], bw, bones_idx_dict)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36347" y="2761107"/>
                <a:ext cx="124609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90" dirty="0">
                    <a:solidFill>
                      <a:srgbClr val="317044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# 有动作文件时</a:t>
                </a:r>
                <a:endParaRPr lang="zh-CN" sz="1290" dirty="0">
                  <a:solidFill>
                    <a:srgbClr val="31704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36347" y="2937320"/>
                <a:ext cx="2974006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blender_utils.load_mixamo_anim(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36347" y="3113532"/>
                <a:ext cx="4788751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[armature_obj, mesh_obj], args.animation_path,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36347" y="3289744"/>
                <a:ext cx="4979777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do_retarget=args.retarget, inplace=args.inplace)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36347" y="3465957"/>
                <a:ext cx="240092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bpy.ops.export_scene.fbx(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36347" y="3642170"/>
                <a:ext cx="2878493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filepath=args.output_path,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36347" y="3818382"/>
                <a:ext cx="3833622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bake_anim=bool(args.animation_path),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36347" y="3994594"/>
                <a:ext cx="4063798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path_mode="COPY", embed_textures=True,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36347" y="4170807"/>
                <a:ext cx="2408879" cy="2522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90" dirty="0">
                    <a:solidFill>
                      <a:srgbClr val="111111"/>
                    </a:solidFill>
                    <a:latin typeface="Consolas" panose="020B0609020204030204"/>
                    <a:ea typeface="Consolas" panose="020B0609020204030204"/>
                    <a:cs typeface="Consolas" panose="020B0609020204030204"/>
                  </a:rPr>
                  <a:t>    add_leaf_bones=False)</a:t>
                </a:r>
                <a:endParaRPr lang="en-US" sz="1290" dirty="0">
                  <a:solidFill>
                    <a:srgbClr val="11111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endParaRPr>
              </a:p>
            </p:txBody>
          </p:sp>
        </p:grpSp>
        <p:grpSp>
          <p:nvGrpSpPr>
            <p:cNvPr id="47" name="code-explanation"/>
            <p:cNvGrpSpPr/>
            <p:nvPr/>
          </p:nvGrpSpPr>
          <p:grpSpPr>
            <a:xfrm>
              <a:off x="5993511" y="1493996"/>
              <a:ext cx="2178558" cy="2698052"/>
              <a:chOff x="5993511" y="1493996"/>
              <a:chExt cx="2178558" cy="2698052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5993511" y="14939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骨架写入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993511" y="1741646"/>
                <a:ext cx="2178558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载入 bones.fbx 模板。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写入头尾位置并关联网格。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993511" y="2332196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权重与动作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993511" y="2579846"/>
                <a:ext cx="1998218" cy="5263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写入每个顶点的权重。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载入动作并进行重定向。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993511" y="31703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rgbClr val="00206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输出文件</a:t>
                </a:r>
                <a:endParaRPr lang="zh-CN" sz="142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993511" y="3418046"/>
                <a:ext cx="2115439" cy="7740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1950"/>
                  </a:lnSpc>
                </a:pP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FBX：网格、骨架和动画。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GLB：网页快速预览。</a:t>
                </a:r>
                <a:b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</a:br>
                <a:r>
                  <a:rPr lang="zh-CN" sz="142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保存位置见终端输出。</a:t>
                </a:r>
                <a:endParaRPr lang="zh-CN" sz="142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1432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动作验证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自选 FBX 动作与重定向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9302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 Mixamo 或其他动作来源选择动作，先确认骨骼命名与格式兼容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5303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MIA 负责绑定，动作文件提供时间序列，两者共同形成可播放动画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15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1" name="lesson-body"/>
          <p:cNvGrpSpPr/>
          <p:nvPr/>
        </p:nvGrpSpPr>
        <p:grpSpPr>
          <a:xfrm>
            <a:off x="258699" y="1449229"/>
            <a:ext cx="6487516" cy="3260788"/>
            <a:chOff x="258699" y="1449229"/>
            <a:chExt cx="6487516" cy="3260788"/>
          </a:xfrm>
        </p:grpSpPr>
        <p:sp>
          <p:nvSpPr>
            <p:cNvPr id="23" name="TextBox 23"/>
            <p:cNvSpPr txBox="1"/>
            <p:nvPr/>
          </p:nvSpPr>
          <p:spPr>
            <a:xfrm>
              <a:off x="258699" y="14492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动作来源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8699" y="1715929"/>
              <a:ext cx="6045835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Mixamo：https://www.mixamo.com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选择 X Bot 作为基础角色，搜索招手、站立或行走动作，下载 FBX。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8699" y="2344579"/>
              <a:ext cx="138594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与 MIA 的对应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699" y="2611279"/>
              <a:ext cx="5614416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Animation File 上传动作，勾选 Reset to Rest 和 Retarget。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In Place 适合原地循环。其他动作库先核对格式和骨架。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8699" y="3239929"/>
              <a:ext cx="21429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首次运行与再次换动作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699" y="3506629"/>
              <a:ext cx="648751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首次 Run 完成推理与绑定。结果保留后，更换动作并点击 Animate。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8699" y="38685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观察结果</a:t>
              </a:r>
              <a:endParaRPr lang="zh-CN" sz="158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8699" y="4135279"/>
              <a:ext cx="5925439" cy="574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检查肩肘、髋膝是否正常变形，下载 FBX 在 Blender 中播放验证。</a:t>
              </a:r>
              <a:b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58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未选择动作时输出静态规范姿态。</a:t>
              </a:r>
              <a:endParaRPr lang="zh-CN" sz="158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0" y="157099"/>
            <a:ext cx="180975" cy="3214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4773930"/>
            <a:ext cx="8849360" cy="36957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2945" y="4773930"/>
            <a:ext cx="821055" cy="36957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"/>
          <p:cNvCxnSpPr/>
          <p:nvPr/>
        </p:nvCxnSpPr>
        <p:spPr>
          <a:xfrm>
            <a:off x="312420" y="596519"/>
            <a:ext cx="8378835" cy="12700"/>
          </a:xfrm>
          <a:prstGeom prst="straightConnector1">
            <a:avLst/>
          </a:prstGeom>
          <a:solidFill>
            <a:srgbClr val="DEE0E3"/>
          </a:solidFill>
          <a:ln w="12700" cap="flat" cmpd="sng">
            <a:solidFill>
              <a:srgbClr val="D9D9D9"/>
            </a:solidFill>
            <a:miter lim="1000000"/>
          </a:ln>
        </p:spPr>
      </p:cxnSp>
      <p:grpSp>
        <p:nvGrpSpPr>
          <p:cNvPr id="19" name="lesson-header"/>
          <p:cNvGrpSpPr/>
          <p:nvPr/>
        </p:nvGrpSpPr>
        <p:grpSpPr>
          <a:xfrm>
            <a:off x="133350" y="156210"/>
            <a:ext cx="8801100" cy="1101090"/>
            <a:chOff x="133350" y="156210"/>
            <a:chExt cx="8801100" cy="1101090"/>
          </a:xfrm>
        </p:grpSpPr>
        <p:sp>
          <p:nvSpPr>
            <p:cNvPr id="15" name="TextBox 15"/>
            <p:cNvSpPr txBox="1"/>
            <p:nvPr/>
          </p:nvSpPr>
          <p:spPr>
            <a:xfrm>
              <a:off x="329184" y="156210"/>
              <a:ext cx="449143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实验完成</a:t>
              </a:r>
              <a:r>
                <a:rPr lang="zh-CN" sz="172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　三维生成、绑定与后续接入</a:t>
              </a:r>
              <a:endParaRPr lang="zh-CN" sz="172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3350" y="733425"/>
              <a:ext cx="8801100" cy="523875"/>
            </a:xfrm>
            <a:prstGeom prst="roundRect">
              <a:avLst>
                <a:gd name="adj" fmla="val 16364"/>
              </a:avLst>
            </a:prstGeom>
            <a:noFill/>
            <a:ln w="12382">
              <a:solidFill>
                <a:srgbClr val="C0000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8130" y="90487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本周完成外观生成和骨骼绑定，得到能够播放自选动作的人物资产</a:t>
              </a:r>
              <a:endParaRPr lang="zh-CN" sz="15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2" name="lesson-footer"/>
          <p:cNvGrpSpPr/>
          <p:nvPr/>
        </p:nvGrpSpPr>
        <p:grpSpPr>
          <a:xfrm>
            <a:off x="221742" y="4883468"/>
            <a:ext cx="8735895" cy="264033"/>
            <a:chOff x="221742" y="4883468"/>
            <a:chExt cx="8735895" cy="264033"/>
          </a:xfrm>
        </p:grpSpPr>
        <p:sp>
          <p:nvSpPr>
            <p:cNvPr id="20" name="TextBox 20"/>
            <p:cNvSpPr txBox="1"/>
            <p:nvPr/>
          </p:nvSpPr>
          <p:spPr>
            <a:xfrm>
              <a:off x="221742" y="4883468"/>
              <a:ext cx="53699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下次课：将绑定后的人物接入 SoulLink，演示招手动作与语音交互</a:t>
              </a:r>
              <a:endParaRPr lang="zh-CN" sz="1350" b="1" dirty="0">
                <a:solidFill>
                  <a:srgbClr val="FFFF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758862" y="489966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17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0" name="lesson-body"/>
          <p:cNvGrpSpPr/>
          <p:nvPr>
            <p:custDataLst>
              <p:tags r:id="rId1"/>
            </p:custDataLst>
          </p:nvPr>
        </p:nvGrpSpPr>
        <p:grpSpPr>
          <a:xfrm>
            <a:off x="258318" y="1507808"/>
            <a:ext cx="6563263" cy="3132581"/>
            <a:chOff x="258318" y="1507808"/>
            <a:chExt cx="6563263" cy="3132581"/>
          </a:xfrm>
        </p:grpSpPr>
        <p:sp>
          <p:nvSpPr>
            <p:cNvPr id="23" name="TextBox 23"/>
            <p:cNvSpPr txBox="1"/>
            <p:nvPr>
              <p:custDataLst>
                <p:tags r:id="rId2"/>
              </p:custDataLst>
            </p:nvPr>
          </p:nvSpPr>
          <p:spPr>
            <a:xfrm>
              <a:off x="258318" y="15078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本周完成状态</a:t>
              </a:r>
              <a:endParaRPr lang="zh-CN" sz="165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3"/>
              </p:custDataLst>
            </p:nvPr>
          </p:nvSpPr>
          <p:spPr>
            <a:xfrm>
              <a:off x="258318" y="1793558"/>
              <a:ext cx="441731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生成一个人物 GLB，得到 MIA 绑定后的 FBX。</a:t>
              </a:r>
              <a:b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验证自选动作能够播放，人物随骨骼正常变形。</a:t>
              </a:r>
              <a:endParaRPr lang="zh-CN" sz="165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4"/>
              </p:custDataLst>
            </p:nvPr>
          </p:nvSpPr>
          <p:spPr>
            <a:xfrm>
              <a:off x="258318" y="24603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资产整理</a:t>
              </a:r>
              <a:endParaRPr lang="zh-CN" sz="165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>
              <p:custDataLst>
                <p:tags r:id="rId5"/>
              </p:custDataLst>
            </p:nvPr>
          </p:nvSpPr>
          <p:spPr>
            <a:xfrm>
              <a:off x="258318" y="2746058"/>
              <a:ext cx="4626864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保留输入 GLB、动作 FBX、绑定结果和运行参数。</a:t>
              </a:r>
              <a:b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记录素材来源，以及需要改进的关节或网格部位。</a:t>
              </a:r>
              <a:endParaRPr lang="zh-CN" sz="165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>
              <p:custDataLst>
                <p:tags r:id="rId6"/>
              </p:custDataLst>
            </p:nvPr>
          </p:nvSpPr>
          <p:spPr>
            <a:xfrm>
              <a:off x="258318" y="3412808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0206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代码理解</a:t>
              </a:r>
              <a:endParaRPr lang="zh-CN" sz="1650" b="1" dirty="0">
                <a:solidFill>
                  <a:srgbClr val="00206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7"/>
              </p:custDataLst>
            </p:nvPr>
          </p:nvSpPr>
          <p:spPr>
            <a:xfrm>
              <a:off x="258318" y="3698558"/>
              <a:ext cx="4773549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prepare_input 处理输入，网络预测关节与权重。</a:t>
              </a:r>
              <a:b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</a:br>
              <a:r>
                <a:rPr lang="zh-CN" sz="165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app_blender.py 写入骨架、应用动作并导出 FBX。</a:t>
              </a:r>
              <a:endParaRPr lang="zh-CN" sz="165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8318" y="4317682"/>
              <a:ext cx="65632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000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后续接入 SoulLink：人物资产、动作选择、语音接口与口型同步。</a:t>
              </a:r>
              <a:endParaRPr lang="zh-CN" sz="1650" b="1" dirty="0">
                <a:solidFill>
                  <a:srgbClr val="C000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2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3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4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5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6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ags/tag7.xml><?xml version="1.0" encoding="utf-8"?>
<p:tagLst xmlns:p="http://schemas.openxmlformats.org/presentationml/2006/main">
  <p:tag name="KSO_WM_DIAGRAM_VIRTUALLY_FRAME" val="{&quot;height&quot;:246.65992125984252,&quot;left&quot;:20.34,&quot;top&quot;:118.72503937007873,&quot;width&quot;:516.7923622047244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自定义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6608</Words>
  <Application>WPS 演示</Application>
  <PresentationFormat>全屏显示(16:9)</PresentationFormat>
  <Paragraphs>652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Arial</vt:lpstr>
      <vt:lpstr>等线 Light</vt:lpstr>
      <vt:lpstr>微软雅黑</vt:lpstr>
      <vt:lpstr>Calibri</vt:lpstr>
      <vt:lpstr>Times New Roman</vt:lpstr>
      <vt:lpstr>Consolas</vt:lpstr>
      <vt:lpstr>Arial Unicode MS</vt:lpstr>
      <vt:lpstr>Office 主题​​</vt:lpstr>
      <vt:lpstr>自定义主题</vt:lpstr>
      <vt:lpstr>Office 主题​​</vt:lpstr>
      <vt:lpstr>Office 主题​​</vt:lpstr>
      <vt:lpstr>主题1</vt:lpstr>
      <vt:lpstr>1_自定义主题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ㅤ</cp:lastModifiedBy>
  <cp:revision>12</cp:revision>
  <dcterms:created xsi:type="dcterms:W3CDTF">2026-09-19T13:30:00Z</dcterms:created>
  <dcterms:modified xsi:type="dcterms:W3CDTF">2026-10-11T09:25:46Z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7A89E5F0E19E4D14A7DA9C84D003239D_12</vt:lpwstr>
  </property>
  <property fmtid="{D5CDD505-2E9C-101B-9397-08002B2CF9AE}" pid="3" name="KSOProductBuildVer">
    <vt:lpwstr>2052-12.1.0.28043</vt:lpwstr>
  </property>
</Properties>
</file>