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74" r:id="rId4"/>
    <p:sldMasterId id="2147483686" r:id="rId5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/>
            </a:lvl1pPr>
          </a:lstStyle>
          <a:p>
            <a:pPr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/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/>
            </a:lvl1pPr>
          </a:lstStyle>
          <a:p>
            <a:pPr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32" hasCustomPrompt="1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ctr" defTabSz="914400">
              <a:lnSpc>
                <a:spcPct val="92000"/>
              </a:lnSpc>
              <a:buNone/>
              <a:defRPr sz="60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lang="en-US" sz="60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33" hasCustomPrompt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ctr" defTabSz="914400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单击以编辑母版副标题样式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3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3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3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3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41" hasCustomPrompt="1"/>
          </p:nvPr>
        </p:nvSpPr>
        <p:spPr>
          <a:xfrm>
            <a:off x="7058025" y="4869657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800" b="0" i="0" u="none" strike="noStrike">
                <a:solidFill>
                  <a:srgbClr val="FFFFFF"/>
                </a:solidFill>
                <a:latin typeface="微软雅黑" panose="020B0503020204020204" charset="-122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800" b="0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42" hasCustomPrompt="1"/>
          </p:nvPr>
        </p:nvSpPr>
        <p:spPr>
          <a:xfrm>
            <a:off x="623888" y="1282306"/>
            <a:ext cx="7886700" cy="2139553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60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60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43" hasCustomPrompt="1"/>
          </p:nvPr>
        </p:nvSpPr>
        <p:spPr>
          <a:xfrm>
            <a:off x="623888" y="3442099"/>
            <a:ext cx="7886700" cy="11251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4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4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4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48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49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5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5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53" hasCustomPrompt="1"/>
          </p:nvPr>
        </p:nvSpPr>
        <p:spPr>
          <a:xfrm>
            <a:off x="629841" y="273846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54" hasCustomPrompt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2400" b="1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55" hasCustomPrompt="1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56" hasCustomPrompt="1"/>
          </p:nvPr>
        </p:nvSpPr>
        <p:spPr>
          <a:xfrm>
            <a:off x="4629153" y="1260872"/>
            <a:ext cx="3887391" cy="617934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2400" b="1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7" hasCustomPrompt="1"/>
          </p:nvPr>
        </p:nvSpPr>
        <p:spPr>
          <a:xfrm>
            <a:off x="4629153" y="1878806"/>
            <a:ext cx="3887391" cy="276344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5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15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16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6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6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6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32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32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9" hasCustomPrompt="1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32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70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16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74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32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32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175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76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16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7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7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7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8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8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8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8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85" hasCustomPrompt="1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</p:spPr>
        <p:txBody>
          <a:bodyPr vert="eaVert"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86" hasCustomPrompt="1"/>
          </p:nvPr>
        </p:nvSpPr>
        <p:spPr>
          <a:xfrm>
            <a:off x="628653" y="273845"/>
            <a:ext cx="5800725" cy="4358879"/>
          </a:xfrm>
          <a:prstGeom prst="rect">
            <a:avLst/>
          </a:prstGeom>
        </p:spPr>
        <p:txBody>
          <a:bodyPr vert="eaVert"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本讲内容&amp;金句" preserve="1">
  <p:cSld name="1_本讲内容&amp;金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 l="247" b="906"/>
          <a:stretch>
            <a:fillRect/>
          </a:stretch>
        </p:blipFill>
        <p:spPr>
          <a:xfrm>
            <a:off x="0" y="4624387"/>
            <a:ext cx="9144000" cy="519113"/>
          </a:xfrm>
          <a:prstGeom prst="rect">
            <a:avLst/>
          </a:prstGeom>
          <a:ln w="12700">
            <a:noFill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465388" cy="1081088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小结" preserve="1">
  <p:cSld name="1_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/>
            </a:lvl1pPr>
          </a:lstStyle>
          <a:p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/>
            </a:lvl1pPr>
          </a:lstStyle>
          <a:p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2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92000"/>
              </a:lnSpc>
              <a:buNone/>
              <a:defRPr sz="4400" b="1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400" b="1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marR="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marR="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marR="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marR="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3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3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Arial" panose="020B060402020202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案例实践一 </a:t>
            </a:r>
            <a:r>
              <a:rPr lang="zh-CN" alt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面向情绪疏导的情智互动数字人构建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/>
          </a:lstStyle>
          <a:p>
            <a:pPr marL="9398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lang="en-US"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输入：用户视频与对话 → 输出：情绪标签 + 数字人共情话术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255016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任务输入：用户视频流、对话文本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1 情绪识别：视频帧 → 情绪标签（ViT+语义MoE）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2 三维数字人</a:t>
            </a:r>
            <a:r>
              <a:rPr lang="zh-CN" alt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生成与驱动</a:t>
            </a: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：人像照片 → 3D头像（混元/Tripo）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→ 可驱动数字人（MIA）</a:t>
            </a:r>
            <a:r>
              <a:rPr lang="zh-CN" alt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（系统已具备可尝试其他方法）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3 语音复刻：文字+参考音 → 角色语音（SoVITS）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4 知识库：疏导语料 → 检索问答</a:t>
            </a:r>
          </a:p>
          <a:p>
            <a:pPr marL="0" marR="0" algn="l" defTabSz="914400">
              <a:lnSpc>
                <a:spcPct val="108000"/>
              </a:lnSpc>
            </a:pPr>
            <a:r>
              <a:rPr lang="en-US" sz="13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5 系统闭环：情绪+知识 → 话术 → 数字人输出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从视频情绪识别到共情话术输出，构建情绪疏导智能体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680970" y="1581150"/>
            <a:ext cx="6562940" cy="3706447"/>
            <a:chOff x="2680970" y="1581150"/>
            <a:chExt cx="6562940" cy="3706447"/>
          </a:xfrm>
          <a:noFill/>
        </p:grpSpPr>
        <p:sp>
          <p:nvSpPr>
            <p:cNvPr id="10" name="Shape"/>
            <p:cNvSpPr>
              <a:spLocks noGrp="1"/>
            </p:cNvSpPr>
            <p:nvPr/>
          </p:nvSpPr>
          <p:spPr>
            <a:xfrm>
              <a:off x="8773152" y="5060839"/>
              <a:ext cx="470758" cy="226758"/>
            </a:xfrm>
            <a:prstGeom prst="trapezoid">
              <a:avLst>
                <a:gd name="adj" fmla="val 48628"/>
              </a:avLst>
            </a:prstGeom>
            <a:solidFill>
              <a:srgbClr val="002060"/>
            </a:solidFill>
            <a:ln w="12700" cap="flat" cmpd="sng">
              <a:solidFill>
                <a:srgbClr val="002060"/>
              </a:solidFill>
              <a:miter lim="1000000"/>
            </a:ln>
          </p:spPr>
          <p:txBody>
            <a:bodyPr vert="horz" wrap="square" lIns="63500" tIns="63500" rIns="63500" bIns="6350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11" name="Shape"/>
            <p:cNvSpPr>
              <a:spLocks noGrp="1"/>
            </p:cNvSpPr>
            <p:nvPr/>
          </p:nvSpPr>
          <p:spPr>
            <a:xfrm>
              <a:off x="4328441" y="4414850"/>
              <a:ext cx="1110450" cy="262993"/>
            </a:xfrm>
            <a:prstGeom prst="roundRect">
              <a:avLst>
                <a:gd name="adj" fmla="val 45333"/>
              </a:avLst>
            </a:prstGeom>
            <a:solidFill>
              <a:srgbClr val="FCDDC8"/>
            </a:solidFill>
            <a:ln w="12700">
              <a:solidFill>
                <a:srgbClr val="4472C4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12" name="Shape"/>
            <p:cNvSpPr>
              <a:spLocks noGrp="1"/>
            </p:cNvSpPr>
            <p:nvPr/>
          </p:nvSpPr>
          <p:spPr>
            <a:xfrm>
              <a:off x="7738796" y="1581150"/>
              <a:ext cx="1236786" cy="684950"/>
            </a:xfrm>
            <a:prstGeom prst="flowChartTerminator">
              <a:avLst/>
            </a:prstGeom>
            <a:solidFill>
              <a:srgbClr val="FBF7FE"/>
            </a:solidFill>
            <a:ln w="25400">
              <a:solidFill>
                <a:srgbClr val="3D15B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pic>
          <p:nvPicPr>
            <p:cNvPr id="13" name="Picture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799961" y="2554808"/>
              <a:ext cx="1112634" cy="2123035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14" name="Shape"/>
            <p:cNvSpPr>
              <a:spLocks noGrp="1"/>
            </p:cNvSpPr>
            <p:nvPr/>
          </p:nvSpPr>
          <p:spPr>
            <a:xfrm>
              <a:off x="6112078" y="1648554"/>
              <a:ext cx="1389701" cy="3029289"/>
            </a:xfrm>
            <a:prstGeom prst="roundRect">
              <a:avLst>
                <a:gd name="adj" fmla="val 5973"/>
              </a:avLst>
            </a:prstGeom>
            <a:solidFill>
              <a:srgbClr val="F8F4FE"/>
            </a:solidFill>
            <a:ln w="25400">
              <a:solidFill>
                <a:srgbClr val="3D15B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pic>
          <p:nvPicPr>
            <p:cNvPr id="15" name="Picture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304411" y="2990013"/>
              <a:ext cx="1151591" cy="1305614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6" name="Picture"/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4265454" y="1609982"/>
              <a:ext cx="1204019" cy="132119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17" name="TextBox"/>
            <p:cNvSpPr txBox="1">
              <a:spLocks noGrp="1"/>
            </p:cNvSpPr>
            <p:nvPr/>
          </p:nvSpPr>
          <p:spPr>
            <a:xfrm>
              <a:off x="7739160" y="1592839"/>
              <a:ext cx="1256082" cy="3448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650" b="1" i="0" u="none" strike="noStrike" spc="0">
                  <a:solidFill>
                    <a:srgbClr val="3D199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状态响应</a:t>
              </a:r>
            </a:p>
          </p:txBody>
        </p:sp>
        <p:cxnSp>
          <p:nvCxnSpPr>
            <p:cNvPr id="18" name="Connector"/>
            <p:cNvCxnSpPr/>
            <p:nvPr/>
          </p:nvCxnSpPr>
          <p:spPr>
            <a:xfrm flipV="1">
              <a:off x="3705496" y="2270776"/>
              <a:ext cx="559958" cy="660404"/>
            </a:xfrm>
            <a:prstGeom prst="bentConnector3">
              <a:avLst>
                <a:gd name="adj1" fmla="val 49349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19" name="Connector"/>
            <p:cNvCxnSpPr/>
            <p:nvPr/>
          </p:nvCxnSpPr>
          <p:spPr>
            <a:xfrm>
              <a:off x="3662899" y="2931180"/>
              <a:ext cx="628041" cy="1058985"/>
            </a:xfrm>
            <a:prstGeom prst="bentConnector3">
              <a:avLst>
                <a:gd name="adj1" fmla="val 50742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0" name="Connector"/>
            <p:cNvCxnSpPr/>
            <p:nvPr/>
          </p:nvCxnSpPr>
          <p:spPr>
            <a:xfrm>
              <a:off x="5469473" y="2270776"/>
              <a:ext cx="642605" cy="892617"/>
            </a:xfrm>
            <a:prstGeom prst="bentConnector3">
              <a:avLst>
                <a:gd name="adj1" fmla="val 58364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1" name="Connector"/>
            <p:cNvCxnSpPr/>
            <p:nvPr/>
          </p:nvCxnSpPr>
          <p:spPr>
            <a:xfrm flipV="1">
              <a:off x="5456002" y="3163393"/>
              <a:ext cx="656076" cy="479621"/>
            </a:xfrm>
            <a:prstGeom prst="bentConnector3">
              <a:avLst>
                <a:gd name="adj1" fmla="val 61639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2" name="Connector"/>
            <p:cNvCxnSpPr/>
            <p:nvPr/>
          </p:nvCxnSpPr>
          <p:spPr>
            <a:xfrm rot="5400000">
              <a:off x="5413692" y="-560290"/>
              <a:ext cx="802226" cy="5085496"/>
            </a:xfrm>
            <a:prstGeom prst="bentConnector3">
              <a:avLst>
                <a:gd name="adj1" fmla="val -18237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sp>
          <p:nvSpPr>
            <p:cNvPr id="23" name="TextBox"/>
            <p:cNvSpPr txBox="1">
              <a:spLocks noGrp="1"/>
            </p:cNvSpPr>
            <p:nvPr/>
          </p:nvSpPr>
          <p:spPr>
            <a:xfrm>
              <a:off x="4328076" y="3031312"/>
              <a:ext cx="1141761" cy="3066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400" b="1" i="0" u="none" strike="noStrike" spc="0">
                  <a:solidFill>
                    <a:srgbClr val="26820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艺术小游戏</a:t>
              </a:r>
            </a:p>
          </p:txBody>
        </p:sp>
        <p:sp>
          <p:nvSpPr>
            <p:cNvPr id="24" name="TextBox"/>
            <p:cNvSpPr txBox="1">
              <a:spLocks noGrp="1"/>
            </p:cNvSpPr>
            <p:nvPr/>
          </p:nvSpPr>
          <p:spPr>
            <a:xfrm>
              <a:off x="4290940" y="1648164"/>
              <a:ext cx="1147586" cy="27546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200" b="1" i="0" u="none" strike="noStrike" spc="0">
                  <a:solidFill>
                    <a:srgbClr val="0652C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视频情绪识别</a:t>
              </a:r>
            </a:p>
          </p:txBody>
        </p:sp>
        <p:sp>
          <p:nvSpPr>
            <p:cNvPr id="25" name="TextBox"/>
            <p:cNvSpPr txBox="1">
              <a:spLocks noGrp="1"/>
            </p:cNvSpPr>
            <p:nvPr/>
          </p:nvSpPr>
          <p:spPr>
            <a:xfrm>
              <a:off x="3011920" y="3478985"/>
              <a:ext cx="835568" cy="3370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600" b="1" i="0" u="none" strike="noStrike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用户</a:t>
              </a:r>
            </a:p>
          </p:txBody>
        </p:sp>
        <p:pic>
          <p:nvPicPr>
            <p:cNvPr id="26" name="Picture"/>
            <p:cNvPicPr/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680970" y="1915054"/>
              <a:ext cx="867243" cy="109560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27" name="Shape"/>
            <p:cNvSpPr>
              <a:spLocks noGrp="1"/>
            </p:cNvSpPr>
            <p:nvPr/>
          </p:nvSpPr>
          <p:spPr>
            <a:xfrm>
              <a:off x="6223487" y="2391168"/>
              <a:ext cx="1184722" cy="636638"/>
            </a:xfrm>
            <a:prstGeom prst="rect">
              <a:avLst/>
            </a:prstGeom>
            <a:solidFill>
              <a:srgbClr val="FDFCFE"/>
            </a:solidFill>
            <a:ln w="12700">
              <a:solidFill>
                <a:srgbClr val="9286D7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28" name="Shape"/>
            <p:cNvSpPr>
              <a:spLocks noGrp="1"/>
            </p:cNvSpPr>
            <p:nvPr/>
          </p:nvSpPr>
          <p:spPr>
            <a:xfrm>
              <a:off x="6223487" y="3253395"/>
              <a:ext cx="1175984" cy="508453"/>
            </a:xfrm>
            <a:prstGeom prst="rect">
              <a:avLst/>
            </a:prstGeom>
            <a:solidFill>
              <a:srgbClr val="FEFDFE"/>
            </a:solidFill>
            <a:ln w="12700">
              <a:solidFill>
                <a:srgbClr val="8D83D0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29" name="Shape"/>
            <p:cNvSpPr>
              <a:spLocks noGrp="1"/>
            </p:cNvSpPr>
            <p:nvPr/>
          </p:nvSpPr>
          <p:spPr>
            <a:xfrm>
              <a:off x="6384775" y="1897521"/>
              <a:ext cx="851952" cy="1519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65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30" name="Shape"/>
            <p:cNvSpPr>
              <a:spLocks noGrp="1"/>
            </p:cNvSpPr>
            <p:nvPr/>
          </p:nvSpPr>
          <p:spPr>
            <a:xfrm>
              <a:off x="6112078" y="1737777"/>
              <a:ext cx="1389336" cy="54351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400" b="1" i="0" u="none" strike="noStrike" spc="0">
                  <a:solidFill>
                    <a:srgbClr val="3D199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状态感知智能体</a:t>
              </a:r>
            </a:p>
          </p:txBody>
        </p:sp>
        <p:sp>
          <p:nvSpPr>
            <p:cNvPr id="31" name="Shape"/>
            <p:cNvSpPr>
              <a:spLocks noGrp="1"/>
            </p:cNvSpPr>
            <p:nvPr/>
          </p:nvSpPr>
          <p:spPr>
            <a:xfrm>
              <a:off x="6566816" y="3394048"/>
              <a:ext cx="783140" cy="2364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400" b="1" i="0" u="none" strike="noStrike" spc="0">
                  <a:solidFill>
                    <a:srgbClr val="39393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响应规划</a:t>
              </a:r>
            </a:p>
          </p:txBody>
        </p:sp>
        <p:sp>
          <p:nvSpPr>
            <p:cNvPr id="32" name="Shape"/>
            <p:cNvSpPr>
              <a:spLocks noGrp="1"/>
            </p:cNvSpPr>
            <p:nvPr/>
          </p:nvSpPr>
          <p:spPr>
            <a:xfrm>
              <a:off x="6661477" y="2664291"/>
              <a:ext cx="556317" cy="12428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125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33" name="Shape"/>
            <p:cNvSpPr>
              <a:spLocks noGrp="1"/>
            </p:cNvSpPr>
            <p:nvPr/>
          </p:nvSpPr>
          <p:spPr>
            <a:xfrm>
              <a:off x="6690240" y="2554808"/>
              <a:ext cx="585444" cy="3132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400" b="1" i="0" u="none" strike="noStrike" spc="0">
                  <a:solidFill>
                    <a:srgbClr val="35353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情绪感知</a:t>
              </a:r>
            </a:p>
          </p:txBody>
        </p:sp>
        <p:sp>
          <p:nvSpPr>
            <p:cNvPr id="34" name="TextBox"/>
            <p:cNvSpPr txBox="1">
              <a:spLocks noGrp="1"/>
            </p:cNvSpPr>
            <p:nvPr/>
          </p:nvSpPr>
          <p:spPr>
            <a:xfrm>
              <a:off x="7817073" y="2704812"/>
              <a:ext cx="1112270" cy="3066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altLang="zh-CN" sz="1400" b="1" i="0" u="none" strike="noStrike" spc="0">
                  <a:solidFill>
                    <a:srgbClr val="3F179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3D Avatar</a:t>
              </a:r>
            </a:p>
          </p:txBody>
        </p:sp>
        <p:cxnSp>
          <p:nvCxnSpPr>
            <p:cNvPr id="35" name="Connector"/>
            <p:cNvCxnSpPr/>
            <p:nvPr/>
          </p:nvCxnSpPr>
          <p:spPr>
            <a:xfrm flipV="1">
              <a:off x="8356278" y="2266100"/>
              <a:ext cx="1092" cy="28870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36" name="Connector"/>
            <p:cNvCxnSpPr/>
            <p:nvPr/>
          </p:nvCxnSpPr>
          <p:spPr>
            <a:xfrm flipV="1">
              <a:off x="7501414" y="3540934"/>
              <a:ext cx="305101" cy="194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tailEnd type="triangle" w="med" len="med"/>
            </a:ln>
          </p:spPr>
        </p:cxnSp>
        <p:sp>
          <p:nvSpPr>
            <p:cNvPr id="37" name="TextBox"/>
            <p:cNvSpPr txBox="1">
              <a:spLocks noGrp="1"/>
            </p:cNvSpPr>
            <p:nvPr/>
          </p:nvSpPr>
          <p:spPr>
            <a:xfrm>
              <a:off x="4608784" y="4434721"/>
              <a:ext cx="981565" cy="27546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200" b="1" i="0" u="none" strike="noStrike" spc="0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音频</a:t>
              </a:r>
              <a:r>
                <a:rPr lang="en-US" altLang="zh-CN" sz="1200" b="1" i="0" u="none" strike="noStrike" spc="0">
                  <a:solidFill>
                    <a:srgbClr val="2F559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/</a:t>
              </a:r>
              <a:r>
                <a:rPr lang="zh-CN" altLang="en-US" sz="1200" b="1" i="0" u="none" strike="noStrike" spc="0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文本</a:t>
              </a:r>
            </a:p>
          </p:txBody>
        </p:sp>
        <p:pic>
          <p:nvPicPr>
            <p:cNvPr id="38" name="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03441" y="4452643"/>
              <a:ext cx="178400" cy="190913"/>
            </a:xfrm>
            <a:prstGeom prst="rect">
              <a:avLst/>
            </a:prstGeom>
          </p:spPr>
        </p:pic>
        <p:sp>
          <p:nvSpPr>
            <p:cNvPr id="39" name="Shape"/>
            <p:cNvSpPr>
              <a:spLocks noGrp="1"/>
            </p:cNvSpPr>
            <p:nvPr/>
          </p:nvSpPr>
          <p:spPr>
            <a:xfrm>
              <a:off x="6223487" y="3990165"/>
              <a:ext cx="1184722" cy="508453"/>
            </a:xfrm>
            <a:prstGeom prst="rect">
              <a:avLst/>
            </a:prstGeom>
            <a:solidFill>
              <a:srgbClr val="FEFDFE"/>
            </a:solidFill>
            <a:ln w="12700">
              <a:solidFill>
                <a:srgbClr val="8D83D0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pic>
          <p:nvPicPr>
            <p:cNvPr id="40" name="Picture"/>
            <p:cNvPicPr/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6272638" y="4031075"/>
              <a:ext cx="305829" cy="37987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41" name="Shape"/>
            <p:cNvSpPr>
              <a:spLocks noGrp="1"/>
            </p:cNvSpPr>
            <p:nvPr/>
          </p:nvSpPr>
          <p:spPr>
            <a:xfrm>
              <a:off x="6627618" y="4260561"/>
              <a:ext cx="606196" cy="1051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2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</a:p>
          </p:txBody>
        </p:sp>
        <p:sp>
          <p:nvSpPr>
            <p:cNvPr id="42" name="Shape"/>
            <p:cNvSpPr>
              <a:spLocks noGrp="1"/>
            </p:cNvSpPr>
            <p:nvPr/>
          </p:nvSpPr>
          <p:spPr>
            <a:xfrm>
              <a:off x="6690240" y="4094973"/>
              <a:ext cx="527555" cy="3568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200" b="1" i="0" u="none" strike="noStrike" spc="0">
                  <a:solidFill>
                    <a:srgbClr val="39393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知识库信息</a:t>
              </a:r>
            </a:p>
          </p:txBody>
        </p:sp>
        <p:pic>
          <p:nvPicPr>
            <p:cNvPr id="43" name="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85381" y="3339112"/>
              <a:ext cx="309106" cy="330787"/>
            </a:xfrm>
            <a:prstGeom prst="rect">
              <a:avLst/>
            </a:prstGeom>
          </p:spPr>
        </p:pic>
        <p:pic>
          <p:nvPicPr>
            <p:cNvPr id="44" name="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67177" y="2568055"/>
              <a:ext cx="296363" cy="317150"/>
            </a:xfrm>
            <a:prstGeom prst="rect">
              <a:avLst/>
            </a:prstGeom>
          </p:spPr>
        </p:pic>
        <p:cxnSp>
          <p:nvCxnSpPr>
            <p:cNvPr id="45" name="Connector"/>
            <p:cNvCxnSpPr/>
            <p:nvPr/>
          </p:nvCxnSpPr>
          <p:spPr>
            <a:xfrm>
              <a:off x="3705496" y="2931180"/>
              <a:ext cx="622944" cy="1615361"/>
            </a:xfrm>
            <a:prstGeom prst="bentConnector3">
              <a:avLst>
                <a:gd name="adj1" fmla="val 43892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46" name="Connector"/>
            <p:cNvCxnSpPr/>
            <p:nvPr/>
          </p:nvCxnSpPr>
          <p:spPr>
            <a:xfrm flipV="1">
              <a:off x="5590348" y="3163393"/>
              <a:ext cx="521365" cy="1409252"/>
            </a:xfrm>
            <a:prstGeom prst="bentConnector3">
              <a:avLst>
                <a:gd name="adj1" fmla="val 50061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关键技术一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基于视频的多模态情绪识别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/>
          </a:lstStyle>
          <a:p>
            <a:pPr marL="9398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lang="en-US"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以视频为输入，识别人物当下的情绪状态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2991485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输入：用户面部视频流（仅视频模态）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人脸检测对齐：RetinaFace 检测关键点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抽帧：统一分辨率、帧率与亮度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输出：情绪类别标签 + 置信度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作用：为智能体提供情绪状态输入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数据集：DFEW、MAFW 公开表情视频库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技术一：看懂用户情绪，是共情陪伴的第一步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09925" y="1516380"/>
            <a:ext cx="5921375" cy="2929255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关键技术一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基于视频的多模态情绪识别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/>
          </a:lstStyle>
          <a:p>
            <a:pPr marL="9398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lang="en-US"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ViT-B/16 骨干 + 面部语义区域 Token + 语义引导 MoE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骨干：ViT-B/16 提取帧级视觉特征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语义区域 Token：面部关键点单独编码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语义引导 MoE：按区域路由专家网络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时序聚合：多帧特征融合输出情绪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指标：UAR、WAR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基线：帧级 ResNet + 时序池化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技术一：复现 S4D 开源代码，在小规模子集上跑通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366895" y="3020060"/>
            <a:ext cx="4210050" cy="1681480"/>
          </a:xfrm>
          <a:prstGeom prst="rect">
            <a:avLst/>
          </a:prstGeom>
          <a:ln w="12700">
            <a:noFill/>
          </a:ln>
        </p:spPr>
      </p:pic>
      <p:pic>
        <p:nvPicPr>
          <p:cNvPr id="11" name="Picture 10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28820" y="1428115"/>
            <a:ext cx="3886200" cy="1522730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关键技术一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基于视频的多模态情绪识别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/>
          </a:lstStyle>
          <a:p>
            <a:pPr marL="9398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lang="en-US"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下载开源代码，在小规模子集上跑通推理并记录指标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获取：S4D 开源代码（MSA-LMC/S4D）</a:t>
            </a:r>
            <a:r>
              <a:rPr lang="en-US" altLang="zh-CN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https://github.com/MSA-LMC/S4D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数据：下载 DFEW / MAFW 小规模子集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运行：按 README 配环境、加载权重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任务：跑通视频 → 情绪标签推理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记录：UAR/WAR，与论文基线对比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可选：换骨干或调 MoE 数量做对比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技术一实验：跑通推理即达标，有余力再做对比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029710" y="1466215"/>
            <a:ext cx="4819650" cy="3200400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关键技术二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三维数字人构建与驱动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由人像图片或多帧视频，重建可渲染的三维人像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292608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输入：人像照片或短视频多帧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方案A：混元3D（在线）由图/文生成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方案B：Tripo3D（在线）快速生成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输出：带贴图、可旋转的三维人像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可复用现有系统资产，也可自试开源方案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技术二：先出可看的三维人像，再谈动作与表情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75965" y="1534795"/>
            <a:ext cx="5718810" cy="3090545"/>
          </a:xfrm>
          <a:prstGeom prst="rect">
            <a:avLst/>
          </a:prstGeom>
          <a:noFill/>
          <a:ln w="25400" cap="flat" cmpd="sng">
            <a:noFill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92000"/>
              </a:lnSpc>
              <a:buNone/>
              <a:defRPr sz="1600" b="1" i="0" u="none" strike="noStrike">
                <a:solidFill>
                  <a:srgbClr val="1F2329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关键技术二</a:t>
            </a:r>
            <a:r>
              <a:rPr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三维数字人构建与驱动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MIA 自动骨架估计 + 蒙皮权重生成，让三维人像随动作表情动起来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084195" cy="309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117000"/>
              </a:lnSpc>
              <a:buNone/>
              <a:defRPr sz="1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输入：上一步导出的三维人像模型（GLB/OBJ）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方案：MIA（Make-It-Animatable）自动绑骨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骨架估计：自动识别全身骨架与面部关节点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蒙皮权重：自动生成，免手动刷权重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驱动方式：动作/表情序列直接控制姿态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输出：可被动作序列驱动的数字人资产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技术二：绑骨自动化，数字人才能随动作动起来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05" y="1486535"/>
            <a:ext cx="5881370" cy="281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92000"/>
              </a:lnSpc>
              <a:buNone/>
              <a:defRPr sz="1600" b="1" i="0" u="none" strike="noStrike">
                <a:solidFill>
                  <a:srgbClr val="1F2329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关键技术二</a:t>
            </a:r>
            <a:r>
              <a:rPr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三维数字人构建与驱动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按步骤跑通 MIA：导入人像 → 自动绑骨 → 播放动作序列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117000"/>
              </a:lnSpc>
              <a:buNone/>
              <a:defRPr sz="1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获取：MIA 开源代码（jasongzy/Make-It-Animatable）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导入：上一步导出的三维人像模型（GLB/OBJ）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运行：执行自动骨架估计与蒙皮权重生成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验证：导入动作序列，查看数字人跟随动作效果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对接：将绑骨后资产接入系统数字人模块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达标：动作帧与口型基本对齐，可用于对话演示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937000" y="1905000"/>
            <a:ext cx="4826000" cy="241300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技术二实验：自动绑骨跑通，数字人能随动作动起来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</a:t>
            </a:r>
            <a:r>
              <a:rPr lang="zh-CN" alt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按人物</a:t>
            </a:r>
            <a:r>
              <a:rPr lang="zh-CN" alt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语音声调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文字 → 保留音色/语调/语速的复刻语音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输入：要说的文案 + 一段参考音频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方案A：GPT-SoVITS 本地零样本复刻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方案B：CosyVoice 本地复刻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zh-CN" alt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r>
              <a:rPr lang="en-US" altLang="zh-CN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r>
              <a:rPr lang="zh-CN" alt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altLang="zh-CN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Qwen3-TTS-Voice-Design</a:t>
            </a:r>
            <a:r>
              <a:rPr lang="zh-CN" alt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音色设计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也可直接调用在线语音合成 API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输出：与角色音色一致的语音波形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注意：智能体只生成文案，语音调本模块接口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技术三：声音一次复刻好，后面智能体直接调用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803650" y="1475740"/>
            <a:ext cx="5140960" cy="318135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92000"/>
              </a:lnSpc>
              <a:buNone/>
              <a:defRPr sz="1600" b="1" i="0" u="none" strike="noStrike">
                <a:solidFill>
                  <a:srgbClr val="1F2329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关键技术三</a:t>
            </a:r>
            <a:r>
              <a:rPr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按人物复刻语音声调（TTS）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 GPT-SoVITS 、 CosyVoice、Qwen3-TTS-Voice-Design，把文字读成角色声音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41757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获取：GPT-SoVITS / CosyVoice/</a:t>
            </a:r>
            <a:r>
              <a:rPr lang="en-US" altLang="zh-CN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Qwen3-TTS-Voice-Design</a:t>
            </a: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代码</a:t>
            </a:r>
            <a:r>
              <a:rPr lang="zh-CN" alt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或</a:t>
            </a:r>
            <a:r>
              <a:rPr lang="en-US" altLang="zh-CN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API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数据：一段参考音色音频（课程提供）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运行：加载预训练模型，输入参考音频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生成：输入疏导话术文字导出语音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试听：对比原声与复刻，调语调语速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技术三实验：同一段话，复刻出角色专属声音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594100" y="1358900"/>
            <a:ext cx="3168015" cy="322199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pic>
        <p:nvPicPr>
          <p:cNvPr id="11" name="Picture 10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925185" y="1486535"/>
            <a:ext cx="2924175" cy="245110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pic>
        <p:nvPicPr>
          <p:cNvPr id="12" name="Picture 11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424170" y="2407920"/>
            <a:ext cx="3338830" cy="230378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</a:t>
            </a:r>
            <a:r>
              <a:rPr lang="zh-CN" alt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构建情绪疏导知识库与智能问答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不从头训大模型，知识入库 + 检索调用即可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2296506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语料：课程提供临床心理知识包（18卡片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清洗分块：去重、切分检索片段</a:t>
            </a:r>
            <a:endParaRPr lang="en-US"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向量化：BGE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嵌入模型生成向量</a:t>
            </a:r>
            <a:endParaRPr lang="en-US"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入库：存入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FAISS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向量库</a:t>
            </a:r>
            <a:endParaRPr lang="en-US"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检索：按问题取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Top-k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相关片段</a:t>
            </a:r>
            <a:endParaRPr lang="en-US"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问答：检索结果</a:t>
            </a:r>
            <a:r>
              <a:rPr lang="en-US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大模型可溯源回答</a:t>
            </a:r>
            <a:endParaRPr lang="en-US"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技术四：知识库外挂，回答有据可依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88819B-3D46-1F4D-992A-660A8887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235" y="1385570"/>
            <a:ext cx="675576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92000"/>
              </a:lnSpc>
              <a:buNone/>
              <a:defRPr sz="1600" b="1" i="0" u="none" strike="noStrike">
                <a:solidFill>
                  <a:srgbClr val="1F2329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关键技术四</a:t>
            </a:r>
            <a:r>
              <a:rPr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构建情绪疏导知识库与智能问答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把课程知识包入库，构造问题集验证检索效果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准备：课程提供的临床心理知识包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建库：BGE 向量化 + FAISS 入库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接口：实现 Top-k 检索调用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评测：自拟 20-30 个疏导场景问题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验收：检索相关、答案可溯源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可选：补充学生自搜的话术资料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937000" y="1905000"/>
            <a:ext cx="4826000" cy="241300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25400" rIns="91440" bIns="25400" rtlCol="0" anchor="ctr" anchorCtr="0">
            <a:noAutofit/>
          </a:bodyPr>
          <a:lstStyle>
            <a:lvl1pPr algn="ctr" defTabSz="914400">
              <a:lnSpc>
                <a:spcPct val="92000"/>
              </a:lnSpc>
              <a:buNone/>
              <a:defRPr sz="1600" b="1" i="0" u="none" strike="noStrike">
                <a:solidFill>
                  <a:srgbClr val="FFFF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技术四实验：知识入库能答对题，即达标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92000"/>
              </a:lnSpc>
              <a:buNone/>
              <a:defRPr sz="1600" b="1" i="0" u="none" strike="noStrike">
                <a:solidFill>
                  <a:srgbClr val="1F2329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关键技术五</a:t>
            </a:r>
            <a:r>
              <a:rPr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跑通情绪疏导智能体闭环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情绪识别 → 知识检索 → 话术生成 → 语音数字人输出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框架：课程提供整体系统代码（soullink-demo）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接入：情绪识别输出情绪标签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接入：知识库返回相关疏导知识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生成：大模型按状态与知识生成话术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输出：话术送语音复刻 + 数字人动作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闭环：端到端"识别-检索-生成-输出"演示</a:t>
            </a:r>
          </a:p>
          <a:p>
            <a:pPr marL="0" marR="0" algn="l" defTabSz="914400">
              <a:lnSpc>
                <a:spcPct val="117000"/>
              </a:lnSpc>
            </a:pPr>
            <a:r>
              <a:rPr lang="zh-CN" altLang="en-US" sz="1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现有系统代码中有小游戏部分，可二次开发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937000" y="1905000"/>
            <a:ext cx="4826000" cy="2413000"/>
          </a:xfrm>
          <a:prstGeom prst="rect">
            <a:avLst/>
          </a:prstGeom>
          <a:noFill/>
          <a:ln w="25400" cap="flat" cmpd="sng">
            <a:noFill/>
            <a:round/>
          </a:ln>
        </p:spPr>
      </p:pic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系统集成：各模块接口打通，完成端到端演示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3" name="Auto Shape 2"/>
          <p:cNvSpPr>
            <a:spLocks noGrp="1"/>
          </p:cNvSpPr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/>
          </a:lstStyle>
          <a:p>
            <a:pPr marL="0" marR="0" algn="l" defTabSz="914400">
              <a:lnSpc>
                <a:spcPct val="92000"/>
              </a:lnSpc>
            </a:pPr>
            <a:r>
              <a:rPr lang="en-US" sz="2800" b="1" i="0" u="none" strike="noStrike" spc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案例总结</a:t>
            </a:r>
            <a:r>
              <a:rPr lang="en-US" sz="1800" b="1" i="0" u="none" strike="noStrike" spc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从技术点到完整系统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5" name="Auto Shape 4"/>
          <p:cNvSpPr>
            <a:spLocks noGrp="1"/>
          </p:cNvSpPr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>
              <a:lnSpc>
                <a:spcPts val="2460"/>
              </a:lnSpc>
              <a:defRPr sz="1800" b="1" i="0" u="none" strike="noStrike">
                <a:solidFill>
                  <a:srgbClr val="111111"/>
                </a:solidFill>
                <a:latin typeface="微软雅黑" panose="020B0503020204020204" charset="-122"/>
              </a:defRPr>
            </a:lvl1pPr>
          </a:lstStyle>
          <a:p>
            <a:pPr marL="1168400" marR="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20204"/>
              <a:buChar char="•"/>
            </a:pPr>
            <a:r>
              <a:rPr sz="1800" b="1" i="0" u="none" strike="noStrike" spc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五个关键技术环环相扣，可跑通演示</a:t>
            </a:r>
          </a:p>
        </p:txBody>
      </p:sp>
      <p:sp>
        <p:nvSpPr>
          <p:cNvPr id="6" name="Auto Shape 5"/>
          <p:cNvSpPr>
            <a:spLocks noGrp="1"/>
          </p:cNvSpPr>
          <p:nvPr/>
        </p:nvSpPr>
        <p:spPr>
          <a:xfrm>
            <a:off x="90487" y="1922745"/>
            <a:ext cx="3600450" cy="210150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round/>
          </a:ln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>
              <a:lnSpc>
                <a:spcPct val="117000"/>
              </a:lnSpc>
              <a:buNone/>
              <a:defRPr sz="1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技术一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视频情绪识别</a:t>
            </a:r>
            <a:endParaRPr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技术二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数字人构建与驱动</a:t>
            </a:r>
            <a:endParaRPr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技术三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语音</a:t>
            </a:r>
            <a:r>
              <a:rPr lang="zh-CN"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</a:t>
            </a:r>
            <a:endParaRPr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技术四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知识库与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RAG</a:t>
            </a:r>
          </a:p>
          <a:p>
            <a:pPr marL="0" marR="0" algn="l" defTabSz="914400">
              <a:lnSpc>
                <a:spcPct val="117000"/>
              </a:lnSpc>
            </a:pP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技术五</a:t>
            </a:r>
            <a:r>
              <a:rPr sz="1400" b="0" i="0" u="none" strike="noStrike" spc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sz="1400" b="0" i="0" u="none" strike="noStrike" spc="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智能体集成</a:t>
            </a:r>
            <a:endParaRPr sz="1400" b="0" i="0" u="none" strike="noStrike" spc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round/>
          </a:ln>
        </p:spPr>
        <p:txBody>
          <a:bodyPr vert="horz" wrap="square" lIns="91440" tIns="25400" rIns="91440" bIns="25400" rtlCol="0" anchor="ctr">
            <a:noAutofit/>
          </a:bodyPr>
          <a:lstStyle>
            <a:lvl1pPr algn="ctr" defTabSz="914400"/>
          </a:lstStyle>
          <a:p>
            <a:pPr marL="0" marR="0" algn="ctr" defTabSz="914400">
              <a:lnSpc>
                <a:spcPct val="92000"/>
              </a:lnSpc>
            </a:pPr>
            <a:r>
              <a:rPr lang="en-US" sz="1600" b="1" i="0" u="none" strike="noStrike" spc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案例实践一 · 情绪疏导数字人系统</a:t>
            </a: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490" y="1716405"/>
            <a:ext cx="4972685" cy="2647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846</Words>
  <Application>Microsoft Office PowerPoint</Application>
  <PresentationFormat>全屏显示(16:9)</PresentationFormat>
  <Paragraphs>176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 Light</vt:lpstr>
      <vt:lpstr>微软雅黑</vt:lpstr>
      <vt:lpstr>Arial</vt:lpstr>
      <vt:lpstr>Calibri</vt:lpstr>
      <vt:lpstr>Times New Roman</vt:lpstr>
      <vt:lpstr>Office 主题​​</vt:lpstr>
      <vt:lpstr>自定义主题</vt:lpstr>
      <vt:lpstr>Office 主题​​</vt:lpstr>
      <vt:lpstr>Office 主题​​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world hello</cp:lastModifiedBy>
  <cp:revision>4</cp:revision>
  <dcterms:created xsi:type="dcterms:W3CDTF">2026-09-19T13:30:00Z</dcterms:created>
  <dcterms:modified xsi:type="dcterms:W3CDTF">2026-09-21T02:22:00Z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7A89E5F0E19E4D14A7DA9C84D003239D_12</vt:lpwstr>
  </property>
  <property fmtid="{D5CDD505-2E9C-101B-9397-08002B2CF9AE}" pid="3" name="KSOProductBuildVer">
    <vt:lpwstr>2052-12.1.0.28043</vt:lpwstr>
  </property>
</Properties>
</file>