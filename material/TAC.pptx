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sldIdLst>
    <p:sldId id="4753" r:id="rId2"/>
    <p:sldId id="4752" r:id="rId3"/>
    <p:sldId id="4776" r:id="rId4"/>
    <p:sldId id="4748" r:id="rId5"/>
    <p:sldId id="4767" r:id="rId6"/>
    <p:sldId id="4769" r:id="rId7"/>
    <p:sldId id="4758" r:id="rId8"/>
    <p:sldId id="4755" r:id="rId9"/>
    <p:sldId id="4761" r:id="rId10"/>
    <p:sldId id="4760" r:id="rId11"/>
    <p:sldId id="4751" r:id="rId12"/>
    <p:sldId id="4771" r:id="rId13"/>
    <p:sldId id="4766" r:id="rId14"/>
    <p:sldId id="4777" r:id="rId15"/>
    <p:sldId id="4778" r:id="rId16"/>
    <p:sldId id="4773" r:id="rId17"/>
    <p:sldId id="4770" r:id="rId18"/>
    <p:sldId id="4774" r:id="rId19"/>
    <p:sldId id="4775" r:id="rId20"/>
    <p:sldId id="4768" r:id="rId21"/>
    <p:sldId id="4749" r:id="rId22"/>
    <p:sldId id="4754" r:id="rId23"/>
    <p:sldId id="4750"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课题题目" id="{A510A491-D987-1E45-8548-147CFFC8B9F8}">
          <p14:sldIdLst>
            <p14:sldId id="4753"/>
            <p14:sldId id="4752"/>
            <p14:sldId id="4776"/>
            <p14:sldId id="4748"/>
            <p14:sldId id="4767"/>
            <p14:sldId id="4769"/>
            <p14:sldId id="4758"/>
            <p14:sldId id="4755"/>
            <p14:sldId id="4761"/>
            <p14:sldId id="4760"/>
            <p14:sldId id="4751"/>
            <p14:sldId id="4771"/>
            <p14:sldId id="4766"/>
            <p14:sldId id="4777"/>
            <p14:sldId id="4778"/>
            <p14:sldId id="4773"/>
            <p14:sldId id="4770"/>
            <p14:sldId id="4774"/>
            <p14:sldId id="4775"/>
            <p14:sldId id="4768"/>
            <p14:sldId id="4749"/>
            <p14:sldId id="4754"/>
            <p14:sldId id="4750"/>
          </p14:sldIdLst>
        </p14:section>
      </p14:sectionLst>
    </p:ext>
    <p:ext uri="{EFAFB233-063F-42B5-8137-9DF3F51BA10A}">
      <p15:sldGuideLst xmlns:p15="http://schemas.microsoft.com/office/powerpoint/2012/main">
        <p15:guide id="1" orient="horz" pos="2289" userDrawn="1">
          <p15:clr>
            <a:srgbClr val="A4A3A4"/>
          </p15:clr>
        </p15:guide>
        <p15:guide id="2" pos="38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cmAuthor id="2" name="bco iu" initials="bi" lastIdx="6" clrIdx="1"/>
  <p:cmAuthor id="3" name="王妍" initials="王" lastIdx="0" clrIdx="2"/>
  <p:cmAuthor id="4" name="Xiangxian Lee" initials="XL" lastIdx="0" clrIdx="3"/>
  <p:cmAuthor id="5" name="lixiang" initials="l" lastIdx="0" clrIdx="4"/>
  <p:cmAuthor id="6" name="LX" initials="L"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E7"/>
    <a:srgbClr val="DECBEC"/>
    <a:srgbClr val="F0F6FB"/>
    <a:srgbClr val="F2F7F6"/>
    <a:srgbClr val="A0C6A5"/>
    <a:srgbClr val="84A9D0"/>
    <a:srgbClr val="F2F6FB"/>
    <a:srgbClr val="743DC0"/>
    <a:srgbClr val="EC602D"/>
    <a:srgbClr val="4C61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38" autoAdjust="0"/>
    <p:restoredTop sz="91279" autoAdjust="0"/>
  </p:normalViewPr>
  <p:slideViewPr>
    <p:cSldViewPr snapToGrid="0" showGuides="1">
      <p:cViewPr varScale="1">
        <p:scale>
          <a:sx n="79" d="100"/>
          <a:sy n="79" d="100"/>
        </p:scale>
        <p:origin x="84" y="40"/>
      </p:cViewPr>
      <p:guideLst>
        <p:guide orient="horz" pos="2289"/>
        <p:guide pos="3853"/>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125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noFill/>
                <a:latin typeface="+mn-lt"/>
                <a:ea typeface="+mn-ea"/>
                <a:cs typeface="+mn-cs"/>
              </a:defRPr>
            </a:pPr>
            <a:r>
              <a:rPr lang="zh-CN" dirty="0"/>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no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c:f>
              <c:strCache>
                <c:ptCount val="1"/>
                <c:pt idx="0">
                  <c:v>类别 1</c:v>
                </c:pt>
              </c:strCache>
            </c:strRef>
          </c:cat>
          <c:val>
            <c:numRef>
              <c:f>Sheet1!$B$2</c:f>
              <c:numCache>
                <c:formatCode>General</c:formatCode>
                <c:ptCount val="1"/>
                <c:pt idx="0">
                  <c:v>4.3</c:v>
                </c:pt>
              </c:numCache>
            </c:numRef>
          </c:val>
          <c:extLst>
            <c:ext xmlns:c16="http://schemas.microsoft.com/office/drawing/2014/chart" uri="{C3380CC4-5D6E-409C-BE32-E72D297353CC}">
              <c16:uniqueId val="{00000000-F142-4963-B714-B8999E14CCEB}"/>
            </c:ext>
          </c:extLst>
        </c:ser>
        <c:ser>
          <c:idx val="1"/>
          <c:order val="1"/>
          <c:tx>
            <c:strRef>
              <c:f>Sheet1!$C$1</c:f>
              <c:strCache>
                <c:ptCount val="1"/>
                <c:pt idx="0">
                  <c:v>系列 2</c:v>
                </c:pt>
              </c:strCache>
            </c:strRef>
          </c:tx>
          <c:spPr>
            <a:solidFill>
              <a:schemeClr val="accent2"/>
            </a:solidFill>
            <a:ln>
              <a:noFill/>
            </a:ln>
            <a:effectLst/>
          </c:spPr>
          <c:invertIfNegative val="0"/>
          <c:cat>
            <c:strRef>
              <c:f>Sheet1!$A$2</c:f>
              <c:strCache>
                <c:ptCount val="1"/>
                <c:pt idx="0">
                  <c:v>类别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F142-4963-B714-B8999E14CCEB}"/>
            </c:ext>
          </c:extLst>
        </c:ser>
        <c:ser>
          <c:idx val="2"/>
          <c:order val="2"/>
          <c:tx>
            <c:strRef>
              <c:f>Sheet1!$D$1</c:f>
              <c:strCache>
                <c:ptCount val="1"/>
                <c:pt idx="0">
                  <c:v>系列 3</c:v>
                </c:pt>
              </c:strCache>
            </c:strRef>
          </c:tx>
          <c:spPr>
            <a:solidFill>
              <a:schemeClr val="accent3"/>
            </a:solidFill>
            <a:ln>
              <a:noFill/>
            </a:ln>
            <a:effectLst/>
          </c:spPr>
          <c:invertIfNegative val="0"/>
          <c:cat>
            <c:strRef>
              <c:f>Sheet1!$A$2</c:f>
              <c:strCache>
                <c:ptCount val="1"/>
                <c:pt idx="0">
                  <c:v>类别 1</c:v>
                </c:pt>
              </c:strCache>
            </c:strRef>
          </c:cat>
          <c:val>
            <c:numRef>
              <c:f>Sheet1!$D$2</c:f>
              <c:numCache>
                <c:formatCode>General</c:formatCode>
                <c:ptCount val="1"/>
                <c:pt idx="0">
                  <c:v>2</c:v>
                </c:pt>
              </c:numCache>
            </c:numRef>
          </c:val>
          <c:extLst>
            <c:ext xmlns:c16="http://schemas.microsoft.com/office/drawing/2014/chart" uri="{C3380CC4-5D6E-409C-BE32-E72D297353CC}">
              <c16:uniqueId val="{00000002-F142-4963-B714-B8999E14CCEB}"/>
            </c:ext>
          </c:extLst>
        </c:ser>
        <c:ser>
          <c:idx val="3"/>
          <c:order val="3"/>
          <c:tx>
            <c:strRef>
              <c:f>Sheet1!$E$1</c:f>
              <c:strCache>
                <c:ptCount val="1"/>
                <c:pt idx="0">
                  <c:v>系列 4</c:v>
                </c:pt>
              </c:strCache>
            </c:strRef>
          </c:tx>
          <c:spPr>
            <a:solidFill>
              <a:schemeClr val="accent4"/>
            </a:solidFill>
            <a:ln>
              <a:noFill/>
            </a:ln>
            <a:effectLst/>
          </c:spPr>
          <c:invertIfNegative val="0"/>
          <c:cat>
            <c:strRef>
              <c:f>Sheet1!$A$2</c:f>
              <c:strCache>
                <c:ptCount val="1"/>
                <c:pt idx="0">
                  <c:v>类别 1</c:v>
                </c:pt>
              </c:strCache>
            </c:strRef>
          </c:cat>
          <c:val>
            <c:numRef>
              <c:f>Sheet1!$E$2</c:f>
              <c:numCache>
                <c:formatCode>General</c:formatCode>
                <c:ptCount val="1"/>
                <c:pt idx="0">
                  <c:v>3.1</c:v>
                </c:pt>
              </c:numCache>
            </c:numRef>
          </c:val>
          <c:extLst>
            <c:ext xmlns:c16="http://schemas.microsoft.com/office/drawing/2014/chart" uri="{C3380CC4-5D6E-409C-BE32-E72D297353CC}">
              <c16:uniqueId val="{00000003-F142-4963-B714-B8999E14CCEB}"/>
            </c:ext>
          </c:extLst>
        </c:ser>
        <c:dLbls>
          <c:showLegendKey val="0"/>
          <c:showVal val="0"/>
          <c:showCatName val="0"/>
          <c:showSerName val="0"/>
          <c:showPercent val="0"/>
          <c:showBubbleSize val="0"/>
        </c:dLbls>
        <c:gapWidth val="219"/>
        <c:overlap val="-27"/>
        <c:axId val="439195488"/>
        <c:axId val="438611520"/>
      </c:barChart>
      <c:catAx>
        <c:axId val="43919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noFill/>
                <a:latin typeface="+mn-lt"/>
                <a:ea typeface="+mn-ea"/>
                <a:cs typeface="+mn-cs"/>
              </a:defRPr>
            </a:pPr>
            <a:endParaRPr lang="zh-CN"/>
          </a:p>
        </c:txPr>
        <c:crossAx val="438611520"/>
        <c:crosses val="autoZero"/>
        <c:auto val="1"/>
        <c:lblAlgn val="ctr"/>
        <c:lblOffset val="100"/>
        <c:noMultiLvlLbl val="0"/>
      </c:catAx>
      <c:valAx>
        <c:axId val="4386115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noFill/>
                <a:latin typeface="+mn-lt"/>
                <a:ea typeface="+mn-ea"/>
                <a:cs typeface="+mn-cs"/>
              </a:defRPr>
            </a:pPr>
            <a:endParaRPr lang="zh-CN"/>
          </a:p>
        </c:txPr>
        <c:crossAx val="439195488"/>
        <c:crosses val="autoZero"/>
        <c:crossBetween val="between"/>
      </c:valAx>
      <c:spPr>
        <a:noFill/>
        <a:ln>
          <a:noFill/>
        </a:ln>
        <a:effectLst/>
      </c:spPr>
    </c:plotArea>
    <c:plotVisOnly val="1"/>
    <c:dispBlanksAs val="gap"/>
    <c:showDLblsOverMax val="0"/>
    <c:extLst>
      <c:ext uri="{0b15fc19-7d7d-44ad-8c2d-2c3a37ce22c3}">
        <chartProps xmlns="https://web.wps.cn/et/2018/main" chartId="{34388b5d-12bc-46b1-87db-03c8c8e030e8}"/>
      </c:ext>
    </c:extLst>
  </c:chart>
  <c:spPr>
    <a:noFill/>
    <a:ln>
      <a:noFill/>
    </a:ln>
    <a:effectLst/>
  </c:spPr>
  <c:txPr>
    <a:bodyPr/>
    <a:lstStyle/>
    <a:p>
      <a:pPr>
        <a:defRPr lang="zh-CN">
          <a:no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noFill/>
                <a:latin typeface="+mn-lt"/>
                <a:ea typeface="+mn-ea"/>
                <a:cs typeface="+mn-cs"/>
              </a:defRPr>
            </a:pPr>
            <a:r>
              <a:rPr lang="zh-CN" dirty="0"/>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no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c:f>
              <c:strCache>
                <c:ptCount val="1"/>
                <c:pt idx="0">
                  <c:v>类别 1</c:v>
                </c:pt>
              </c:strCache>
            </c:strRef>
          </c:cat>
          <c:val>
            <c:numRef>
              <c:f>Sheet1!$B$2</c:f>
              <c:numCache>
                <c:formatCode>General</c:formatCode>
                <c:ptCount val="1"/>
                <c:pt idx="0">
                  <c:v>4.3</c:v>
                </c:pt>
              </c:numCache>
            </c:numRef>
          </c:val>
          <c:extLst>
            <c:ext xmlns:c16="http://schemas.microsoft.com/office/drawing/2014/chart" uri="{C3380CC4-5D6E-409C-BE32-E72D297353CC}">
              <c16:uniqueId val="{00000000-F142-4963-B714-B8999E14CCEB}"/>
            </c:ext>
          </c:extLst>
        </c:ser>
        <c:ser>
          <c:idx val="1"/>
          <c:order val="1"/>
          <c:tx>
            <c:strRef>
              <c:f>Sheet1!$C$1</c:f>
              <c:strCache>
                <c:ptCount val="1"/>
                <c:pt idx="0">
                  <c:v>系列 2</c:v>
                </c:pt>
              </c:strCache>
            </c:strRef>
          </c:tx>
          <c:spPr>
            <a:solidFill>
              <a:schemeClr val="accent2"/>
            </a:solidFill>
            <a:ln>
              <a:noFill/>
            </a:ln>
            <a:effectLst/>
          </c:spPr>
          <c:invertIfNegative val="0"/>
          <c:cat>
            <c:strRef>
              <c:f>Sheet1!$A$2</c:f>
              <c:strCache>
                <c:ptCount val="1"/>
                <c:pt idx="0">
                  <c:v>类别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F142-4963-B714-B8999E14CCEB}"/>
            </c:ext>
          </c:extLst>
        </c:ser>
        <c:ser>
          <c:idx val="2"/>
          <c:order val="2"/>
          <c:tx>
            <c:strRef>
              <c:f>Sheet1!$D$1</c:f>
              <c:strCache>
                <c:ptCount val="1"/>
                <c:pt idx="0">
                  <c:v>系列 3</c:v>
                </c:pt>
              </c:strCache>
            </c:strRef>
          </c:tx>
          <c:spPr>
            <a:solidFill>
              <a:schemeClr val="accent3"/>
            </a:solidFill>
            <a:ln>
              <a:noFill/>
            </a:ln>
            <a:effectLst/>
          </c:spPr>
          <c:invertIfNegative val="0"/>
          <c:cat>
            <c:strRef>
              <c:f>Sheet1!$A$2</c:f>
              <c:strCache>
                <c:ptCount val="1"/>
                <c:pt idx="0">
                  <c:v>类别 1</c:v>
                </c:pt>
              </c:strCache>
            </c:strRef>
          </c:cat>
          <c:val>
            <c:numRef>
              <c:f>Sheet1!$D$2</c:f>
              <c:numCache>
                <c:formatCode>General</c:formatCode>
                <c:ptCount val="1"/>
                <c:pt idx="0">
                  <c:v>2</c:v>
                </c:pt>
              </c:numCache>
            </c:numRef>
          </c:val>
          <c:extLst>
            <c:ext xmlns:c16="http://schemas.microsoft.com/office/drawing/2014/chart" uri="{C3380CC4-5D6E-409C-BE32-E72D297353CC}">
              <c16:uniqueId val="{00000002-F142-4963-B714-B8999E14CCEB}"/>
            </c:ext>
          </c:extLst>
        </c:ser>
        <c:ser>
          <c:idx val="3"/>
          <c:order val="3"/>
          <c:tx>
            <c:strRef>
              <c:f>Sheet1!$E$1</c:f>
              <c:strCache>
                <c:ptCount val="1"/>
                <c:pt idx="0">
                  <c:v>系列 4</c:v>
                </c:pt>
              </c:strCache>
            </c:strRef>
          </c:tx>
          <c:spPr>
            <a:solidFill>
              <a:schemeClr val="accent4"/>
            </a:solidFill>
            <a:ln>
              <a:noFill/>
            </a:ln>
            <a:effectLst/>
          </c:spPr>
          <c:invertIfNegative val="0"/>
          <c:cat>
            <c:strRef>
              <c:f>Sheet1!$A$2</c:f>
              <c:strCache>
                <c:ptCount val="1"/>
                <c:pt idx="0">
                  <c:v>类别 1</c:v>
                </c:pt>
              </c:strCache>
            </c:strRef>
          </c:cat>
          <c:val>
            <c:numRef>
              <c:f>Sheet1!$E$2</c:f>
              <c:numCache>
                <c:formatCode>General</c:formatCode>
                <c:ptCount val="1"/>
                <c:pt idx="0">
                  <c:v>3.1</c:v>
                </c:pt>
              </c:numCache>
            </c:numRef>
          </c:val>
          <c:extLst>
            <c:ext xmlns:c16="http://schemas.microsoft.com/office/drawing/2014/chart" uri="{C3380CC4-5D6E-409C-BE32-E72D297353CC}">
              <c16:uniqueId val="{00000003-F142-4963-B714-B8999E14CCEB}"/>
            </c:ext>
          </c:extLst>
        </c:ser>
        <c:dLbls>
          <c:showLegendKey val="0"/>
          <c:showVal val="0"/>
          <c:showCatName val="0"/>
          <c:showSerName val="0"/>
          <c:showPercent val="0"/>
          <c:showBubbleSize val="0"/>
        </c:dLbls>
        <c:gapWidth val="219"/>
        <c:overlap val="-27"/>
        <c:axId val="439195488"/>
        <c:axId val="438611520"/>
      </c:barChart>
      <c:catAx>
        <c:axId val="43919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noFill/>
                <a:latin typeface="+mn-lt"/>
                <a:ea typeface="+mn-ea"/>
                <a:cs typeface="+mn-cs"/>
              </a:defRPr>
            </a:pPr>
            <a:endParaRPr lang="zh-CN"/>
          </a:p>
        </c:txPr>
        <c:crossAx val="438611520"/>
        <c:crosses val="autoZero"/>
        <c:auto val="1"/>
        <c:lblAlgn val="ctr"/>
        <c:lblOffset val="100"/>
        <c:noMultiLvlLbl val="0"/>
      </c:catAx>
      <c:valAx>
        <c:axId val="4386115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noFill/>
                <a:latin typeface="+mn-lt"/>
                <a:ea typeface="+mn-ea"/>
                <a:cs typeface="+mn-cs"/>
              </a:defRPr>
            </a:pPr>
            <a:endParaRPr lang="zh-CN"/>
          </a:p>
        </c:txPr>
        <c:crossAx val="439195488"/>
        <c:crosses val="autoZero"/>
        <c:crossBetween val="between"/>
      </c:valAx>
      <c:spPr>
        <a:noFill/>
        <a:ln>
          <a:noFill/>
        </a:ln>
        <a:effectLst/>
      </c:spPr>
    </c:plotArea>
    <c:plotVisOnly val="1"/>
    <c:dispBlanksAs val="gap"/>
    <c:showDLblsOverMax val="0"/>
    <c:extLst>
      <c:ext uri="{0b15fc19-7d7d-44ad-8c2d-2c3a37ce22c3}">
        <chartProps xmlns="https://web.wps.cn/et/2018/main" chartId="{34388b5d-12bc-46b1-87db-03c8c8e030e8}"/>
      </c:ext>
    </c:extLst>
  </c:chart>
  <c:spPr>
    <a:noFill/>
    <a:ln>
      <a:noFill/>
    </a:ln>
    <a:effectLst/>
  </c:spPr>
  <c:txPr>
    <a:bodyPr/>
    <a:lstStyle/>
    <a:p>
      <a:pPr>
        <a:defRPr lang="zh-CN">
          <a:noFill/>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D45DB-4C1C-4CFC-A206-84ECEF943802}" type="datetimeFigureOut">
              <a:rPr lang="zh-CN" altLang="en-US" smtClean="0"/>
              <a:t>2026/7/16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8BABC2-6772-4727-AFE1-F6A682502C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1</a:t>
            </a:r>
            <a:r>
              <a:rPr lang="zh-CN" altLang="en-US">
                <a:sym typeface="+mn-ea"/>
              </a:rPr>
              <a:t>、需要补充的内容；</a:t>
            </a:r>
            <a:r>
              <a:rPr lang="en-US" altLang="zh-CN">
                <a:sym typeface="+mn-ea"/>
              </a:rPr>
              <a:t>Avatar</a:t>
            </a:r>
            <a:r>
              <a:rPr lang="zh-CN" altLang="en-US">
                <a:sym typeface="+mn-ea"/>
              </a:rPr>
              <a:t>和艺术游戏二者之间应该互有引导，二者密不可分。</a:t>
            </a:r>
            <a:r>
              <a:rPr lang="en-US" altLang="zh-CN">
                <a:sym typeface="+mn-ea"/>
              </a:rPr>
              <a:t>Avatar</a:t>
            </a:r>
            <a:r>
              <a:rPr lang="zh-CN" altLang="en-US">
                <a:sym typeface="+mn-ea"/>
              </a:rPr>
              <a:t>就可以当成一个</a:t>
            </a:r>
            <a:r>
              <a:rPr lang="en-US" altLang="zh-CN">
                <a:sym typeface="+mn-ea"/>
              </a:rPr>
              <a:t>Agent</a:t>
            </a:r>
            <a:r>
              <a:rPr lang="zh-CN" altLang="en-US">
                <a:sym typeface="+mn-ea"/>
              </a:rPr>
              <a:t>，</a:t>
            </a:r>
            <a:r>
              <a:rPr lang="en-US" altLang="zh-CN">
                <a:sym typeface="+mn-ea"/>
              </a:rPr>
              <a:t>Action</a:t>
            </a:r>
            <a:r>
              <a:rPr lang="zh-CN" altLang="en-US">
                <a:sym typeface="+mn-ea"/>
              </a:rPr>
              <a:t>层。视频，文本，听觉也是</a:t>
            </a:r>
            <a:r>
              <a:rPr lang="en-US" altLang="zh-CN">
                <a:sym typeface="+mn-ea"/>
              </a:rPr>
              <a:t>Agent</a:t>
            </a:r>
            <a:r>
              <a:rPr lang="zh-CN" altLang="en-US">
                <a:sym typeface="+mn-ea"/>
              </a:rPr>
              <a:t>的一个个层。视觉层，听觉层，大脑层。</a:t>
            </a:r>
            <a:r>
              <a:rPr lang="en-US" altLang="zh-CN">
                <a:sym typeface="+mn-ea"/>
              </a:rPr>
              <a:t>motivation</a:t>
            </a:r>
            <a:r>
              <a:rPr lang="zh-CN" altLang="en-US">
                <a:sym typeface="+mn-ea"/>
              </a:rPr>
              <a:t>图</a:t>
            </a:r>
            <a:r>
              <a:rPr lang="en-US" altLang="zh-CN">
                <a:sym typeface="+mn-ea"/>
              </a:rPr>
              <a:t>video</a:t>
            </a:r>
            <a:r>
              <a:rPr lang="zh-CN" altLang="en-US">
                <a:sym typeface="+mn-ea"/>
              </a:rPr>
              <a:t>和</a:t>
            </a:r>
            <a:r>
              <a:rPr lang="en-US" altLang="zh-CN">
                <a:sym typeface="+mn-ea"/>
              </a:rPr>
              <a:t>audio</a:t>
            </a:r>
            <a:r>
              <a:rPr lang="zh-CN" altLang="en-US">
                <a:sym typeface="+mn-ea"/>
              </a:rPr>
              <a:t>放一起就行了。</a:t>
            </a:r>
          </a:p>
          <a:p>
            <a:endParaRPr lang="zh-CN" altLang="en-US">
              <a:sym typeface="+mn-ea"/>
            </a:endParaRPr>
          </a:p>
          <a:p>
            <a:endParaRPr lang="zh-CN" altLang="en-US">
              <a:sym typeface="+mn-ea"/>
            </a:endParaRPr>
          </a:p>
          <a:p>
            <a:r>
              <a:rPr lang="en-US" altLang="zh-CN">
                <a:sym typeface="+mn-ea"/>
              </a:rPr>
              <a:t>2</a:t>
            </a:r>
            <a:r>
              <a:rPr lang="zh-CN" altLang="en-US">
                <a:sym typeface="+mn-ea"/>
              </a:rPr>
              <a:t>、技术上，加入骨骼绑定那一的技术上的东西，能够让行动传达更加准确。</a:t>
            </a:r>
            <a:r>
              <a:rPr lang="zh-CN" altLang="en-US" dirty="0">
                <a:solidFill>
                  <a:srgbClr val="0070C0"/>
                </a:solidFill>
                <a:effectLst/>
                <a:ea typeface="Google Sans"/>
                <a:cs typeface="Google Sans"/>
                <a:sym typeface="+mn-ea"/>
              </a:rPr>
              <a:t>朱氏于提供绑骨结果的</a:t>
            </a:r>
            <a:r>
              <a:rPr lang="en-US" altLang="zh-CN" dirty="0">
                <a:solidFill>
                  <a:srgbClr val="0070C0"/>
                </a:solidFill>
                <a:effectLst/>
                <a:ea typeface="Google Sans"/>
                <a:cs typeface="Google Sans"/>
                <a:sym typeface="+mn-ea"/>
              </a:rPr>
              <a:t>rignet, , Unirig</a:t>
            </a:r>
            <a:r>
              <a:rPr lang="zh-CN" altLang="en-US" dirty="0">
                <a:solidFill>
                  <a:srgbClr val="0070C0"/>
                </a:solidFill>
                <a:effectLst/>
                <a:ea typeface="宋体" pitchFamily="2" charset="-122"/>
                <a:cs typeface="Google Sans"/>
                <a:sym typeface="+mn-ea"/>
              </a:rPr>
              <a:t>，</a:t>
            </a:r>
            <a:r>
              <a:rPr lang="en-US" altLang="zh-CN" dirty="0">
                <a:solidFill>
                  <a:srgbClr val="0070C0"/>
                </a:solidFill>
                <a:effectLst/>
                <a:ea typeface="宋体" pitchFamily="2" charset="-122"/>
                <a:cs typeface="Google Sans"/>
                <a:sym typeface="+mn-ea"/>
              </a:rPr>
              <a:t>ours</a:t>
            </a:r>
            <a:r>
              <a:rPr lang="en-US" altLang="zh-CN" dirty="0">
                <a:solidFill>
                  <a:srgbClr val="0070C0"/>
                </a:solidFill>
                <a:effectLst/>
                <a:ea typeface="Google Sans"/>
                <a:cs typeface="Google Sans"/>
                <a:sym typeface="+mn-ea"/>
              </a:rPr>
              <a:t>(</a:t>
            </a:r>
            <a:r>
              <a:rPr lang="zh-CN" altLang="en-US" dirty="0">
                <a:solidFill>
                  <a:srgbClr val="0070C0"/>
                </a:solidFill>
                <a:effectLst/>
                <a:ea typeface="Google Sans"/>
                <a:cs typeface="Google Sans"/>
                <a:sym typeface="+mn-ea"/>
              </a:rPr>
              <a:t>假设是我们的</a:t>
            </a:r>
            <a:r>
              <a:rPr lang="en-US" altLang="zh-CN" dirty="0">
                <a:solidFill>
                  <a:srgbClr val="0070C0"/>
                </a:solidFill>
                <a:effectLst/>
                <a:ea typeface="Google Sans"/>
                <a:cs typeface="Google Sans"/>
                <a:sym typeface="+mn-ea"/>
              </a:rPr>
              <a:t>ICME)</a:t>
            </a:r>
            <a:r>
              <a:rPr lang="zh-CN" altLang="en-US" dirty="0">
                <a:solidFill>
                  <a:srgbClr val="0070C0"/>
                </a:solidFill>
                <a:effectLst/>
                <a:ea typeface="宋体" pitchFamily="2" charset="-122"/>
                <a:cs typeface="Google Sans"/>
                <a:sym typeface="+mn-ea"/>
              </a:rPr>
              <a:t>。</a:t>
            </a:r>
          </a:p>
          <a:p>
            <a:endParaRPr lang="zh-CN" altLang="en-US">
              <a:sym typeface="+mn-ea"/>
            </a:endParaRPr>
          </a:p>
          <a:p>
            <a:endParaRPr lang="zh-CN" altLang="en-US">
              <a:sym typeface="+mn-ea"/>
            </a:endParaRPr>
          </a:p>
          <a:p>
            <a:r>
              <a:rPr lang="en-US" altLang="zh-CN" dirty="0">
                <a:solidFill>
                  <a:srgbClr val="0070C0"/>
                </a:solidFill>
                <a:effectLst/>
                <a:ea typeface="Google Sans"/>
                <a:cs typeface="Google Sans"/>
                <a:sym typeface="+mn-ea"/>
              </a:rPr>
              <a:t>3</a:t>
            </a:r>
            <a:r>
              <a:rPr lang="zh-CN" altLang="en-US" dirty="0">
                <a:solidFill>
                  <a:srgbClr val="0070C0"/>
                </a:solidFill>
                <a:effectLst/>
                <a:ea typeface="宋体" pitchFamily="2" charset="-122"/>
                <a:cs typeface="Google Sans"/>
                <a:sym typeface="+mn-ea"/>
              </a:rPr>
              <a:t>、</a:t>
            </a:r>
            <a:r>
              <a:rPr lang="zh-CN" altLang="en-US" dirty="0">
                <a:solidFill>
                  <a:srgbClr val="0070C0"/>
                </a:solidFill>
                <a:effectLst/>
                <a:ea typeface="Google Sans"/>
                <a:cs typeface="Google Sans"/>
                <a:sym typeface="+mn-ea"/>
              </a:rPr>
              <a:t>朱氏于提供软件界面截图，（英文版），用户使用脚本。图一的光头强。</a:t>
            </a:r>
          </a:p>
          <a:p>
            <a:endParaRPr lang="zh-CN" altLang="en-US">
              <a:sym typeface="+mn-ea"/>
            </a:endParaRPr>
          </a:p>
          <a:p>
            <a:r>
              <a:rPr lang="en-US" altLang="zh-CN" dirty="0">
                <a:solidFill>
                  <a:srgbClr val="0070C0"/>
                </a:solidFill>
                <a:effectLst/>
                <a:ea typeface="Google Sans"/>
                <a:cs typeface="Google Sans"/>
                <a:sym typeface="+mn-ea"/>
              </a:rPr>
              <a:t>4</a:t>
            </a:r>
            <a:r>
              <a:rPr lang="zh-CN" altLang="en-US" dirty="0">
                <a:solidFill>
                  <a:srgbClr val="0070C0"/>
                </a:solidFill>
                <a:effectLst/>
                <a:ea typeface="宋体" pitchFamily="2" charset="-122"/>
                <a:cs typeface="Google Sans"/>
                <a:sym typeface="+mn-ea"/>
              </a:rPr>
              <a:t>、模型图要画出来</a:t>
            </a:r>
            <a:r>
              <a:rPr lang="en-US" altLang="zh-CN" dirty="0">
                <a:solidFill>
                  <a:srgbClr val="0070C0"/>
                </a:solidFill>
                <a:effectLst/>
                <a:ea typeface="宋体" pitchFamily="2" charset="-122"/>
                <a:cs typeface="Google Sans"/>
                <a:sym typeface="+mn-ea"/>
              </a:rPr>
              <a:t>3D</a:t>
            </a:r>
            <a:r>
              <a:rPr lang="zh-CN" altLang="en-US" dirty="0">
                <a:solidFill>
                  <a:srgbClr val="0070C0"/>
                </a:solidFill>
                <a:effectLst/>
                <a:ea typeface="宋体" pitchFamily="2" charset="-122"/>
                <a:cs typeface="Google Sans"/>
                <a:sym typeface="+mn-ea"/>
              </a:rPr>
              <a:t>人体生成和绑定。</a:t>
            </a:r>
          </a:p>
          <a:p>
            <a:endParaRPr lang="zh-CN" altLang="en-US" dirty="0">
              <a:solidFill>
                <a:srgbClr val="0070C0"/>
              </a:solidFill>
              <a:effectLst/>
              <a:ea typeface="Google Sans"/>
              <a:cs typeface="Google Sans"/>
              <a:sym typeface="+mn-ea"/>
            </a:endParaRPr>
          </a:p>
          <a:p>
            <a:r>
              <a:rPr lang="zh-CN" altLang="zh-CN" dirty="0">
                <a:solidFill>
                  <a:srgbClr val="0070C0"/>
                </a:solidFill>
                <a:effectLst/>
                <a:ea typeface="Google Sans"/>
                <a:cs typeface="Google Sans"/>
                <a:sym typeface="+mn-ea"/>
              </a:rPr>
              <a:t>聚焦性。还要在增强还不够。</a:t>
            </a:r>
            <a:r>
              <a:rPr lang="en-US" altLang="zh-CN" dirty="0">
                <a:solidFill>
                  <a:srgbClr val="0070C0"/>
                </a:solidFill>
                <a:effectLst/>
                <a:ea typeface="Google Sans"/>
                <a:cs typeface="Google Sans"/>
                <a:sym typeface="+mn-ea"/>
              </a:rPr>
              <a:t> </a:t>
            </a:r>
          </a:p>
          <a:p>
            <a:r>
              <a:rPr lang="zh-CN" altLang="en-US" dirty="0">
                <a:solidFill>
                  <a:srgbClr val="0070C0"/>
                </a:solidFill>
                <a:effectLst/>
                <a:ea typeface="Google Sans"/>
                <a:cs typeface="Google Sans"/>
                <a:sym typeface="+mn-ea"/>
              </a:rPr>
              <a:t>技术大图也要补充一个从游戏里出来一个特别的东西，输入到</a:t>
            </a:r>
            <a:r>
              <a:rPr lang="en-US" altLang="zh-CN" dirty="0">
                <a:solidFill>
                  <a:srgbClr val="0070C0"/>
                </a:solidFill>
                <a:effectLst/>
                <a:ea typeface="Google Sans"/>
                <a:cs typeface="Google Sans"/>
                <a:sym typeface="+mn-ea"/>
              </a:rPr>
              <a:t>Agent</a:t>
            </a:r>
            <a:r>
              <a:rPr lang="zh-CN" altLang="en-US" dirty="0">
                <a:solidFill>
                  <a:srgbClr val="0070C0"/>
                </a:solidFill>
                <a:effectLst/>
                <a:ea typeface="Google Sans"/>
                <a:cs typeface="Google Sans"/>
                <a:sym typeface="+mn-ea"/>
              </a:rPr>
              <a:t>中去。</a:t>
            </a:r>
          </a:p>
          <a:p>
            <a:endParaRPr lang="zh-CN" altLang="en-US" dirty="0">
              <a:solidFill>
                <a:srgbClr val="0070C0"/>
              </a:solidFill>
              <a:effectLst/>
              <a:ea typeface="Google Sans"/>
              <a:cs typeface="Google Sans"/>
              <a:sym typeface="+mn-ea"/>
            </a:endParaRPr>
          </a:p>
          <a:p>
            <a:endParaRPr lang="zh-CN" altLang="en-US" dirty="0">
              <a:solidFill>
                <a:srgbClr val="0070C0"/>
              </a:solidFill>
              <a:effectLst/>
              <a:ea typeface="宋体" pitchFamily="2" charset="-122"/>
              <a:cs typeface="Google Sans"/>
              <a:sym typeface="+mn-ea"/>
            </a:endParaRPr>
          </a:p>
          <a:p>
            <a:r>
              <a:rPr lang="zh-CN" altLang="en-US" dirty="0">
                <a:solidFill>
                  <a:srgbClr val="0070C0"/>
                </a:solidFill>
                <a:effectLst/>
                <a:ea typeface="宋体" pitchFamily="2" charset="-122"/>
                <a:cs typeface="Google Sans"/>
                <a:sym typeface="+mn-ea"/>
              </a:rPr>
              <a:t>用户评估结果统计和图表绘制。周六</a:t>
            </a:r>
          </a:p>
          <a:p>
            <a:endParaRPr lang="zh-CN" altLang="en-US" dirty="0">
              <a:solidFill>
                <a:srgbClr val="0070C0"/>
              </a:solidFill>
              <a:effectLst/>
              <a:ea typeface="宋体" pitchFamily="2" charset="-122"/>
              <a:cs typeface="Google Sans"/>
              <a:sym typeface="+mn-ea"/>
            </a:endParaRPr>
          </a:p>
          <a:p>
            <a:r>
              <a:rPr lang="zh-CN" altLang="en-US" dirty="0">
                <a:solidFill>
                  <a:srgbClr val="0070C0"/>
                </a:solidFill>
                <a:effectLst/>
                <a:ea typeface="Google Sans"/>
                <a:cs typeface="Google Sans"/>
                <a:sym typeface="+mn-ea"/>
              </a:rPr>
              <a:t>用户评估展示设计，周日上午。</a:t>
            </a:r>
          </a:p>
          <a:p>
            <a:endParaRPr lang="zh-CN" altLang="en-US" dirty="0">
              <a:solidFill>
                <a:srgbClr val="0070C0"/>
              </a:solidFill>
              <a:effectLst/>
              <a:ea typeface="Google Sans"/>
              <a:cs typeface="Google Sans"/>
              <a:sym typeface="+mn-ea"/>
            </a:endParaRPr>
          </a:p>
          <a:p>
            <a:r>
              <a:rPr lang="zh-CN" altLang="en-US" dirty="0">
                <a:solidFill>
                  <a:srgbClr val="0070C0"/>
                </a:solidFill>
                <a:effectLst/>
                <a:ea typeface="Google Sans"/>
                <a:cs typeface="Google Sans"/>
                <a:sym typeface="+mn-ea"/>
              </a:rPr>
              <a:t>阅读赵娜的论文，并找赵娜讨论</a:t>
            </a:r>
            <a:endParaRPr lang="en-US" altLang="zh-CN" dirty="0">
              <a:solidFill>
                <a:srgbClr val="0070C0"/>
              </a:solidFill>
              <a:effectLst/>
              <a:ea typeface="Google Sans"/>
              <a:cs typeface="Google Sans"/>
              <a:sym typeface="+mn-ea"/>
            </a:endParaRPr>
          </a:p>
          <a:p>
            <a:endParaRPr lang="zh-CN" altLang="en-US">
              <a:sym typeface="+mn-ea"/>
            </a:endParaRPr>
          </a:p>
          <a:p>
            <a:endParaRPr lang="zh-CN" altLang="en-US">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sym typeface="+mn-ea"/>
              </a:rPr>
              <a:t>技术上有一些邦骨的内容和实验支持</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sym typeface="+mn-ea"/>
              </a:rPr>
              <a:t>技术上有一些邦骨的内容和实验支持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br>
              <a:rPr lang="en-US" altLang="zh-CN" b="1" dirty="0">
                <a:solidFill>
                  <a:srgbClr val="0070C0"/>
                </a:solidFill>
                <a:effectLst/>
                <a:ea typeface="Google Sans"/>
                <a:cs typeface="Google Sans"/>
                <a:sym typeface="+mn-ea"/>
              </a:rPr>
            </a:br>
            <a:br>
              <a:rPr lang="en-US" altLang="zh-CN" b="1" dirty="0">
                <a:solidFill>
                  <a:srgbClr val="0070C0"/>
                </a:solidFill>
                <a:effectLst/>
                <a:ea typeface="Google Sans"/>
                <a:cs typeface="Google Sans"/>
                <a:sym typeface="+mn-ea"/>
              </a:rPr>
            </a:br>
            <a:br>
              <a:rPr lang="en-US" altLang="zh-CN" b="1" dirty="0">
                <a:solidFill>
                  <a:srgbClr val="0070C0"/>
                </a:solidFill>
                <a:effectLst/>
                <a:ea typeface="Google Sans"/>
                <a:cs typeface="Google Sans"/>
                <a:sym typeface="+mn-ea"/>
              </a:rPr>
            </a:br>
            <a:r>
              <a:rPr lang="zh-CN" altLang="zh-CN" b="1" dirty="0">
                <a:solidFill>
                  <a:srgbClr val="0070C0"/>
                </a:solidFill>
                <a:effectLst/>
                <a:ea typeface="Google Sans"/>
                <a:cs typeface="Google Sans"/>
                <a:sym typeface="+mn-ea"/>
              </a:rPr>
              <a:t>如何引导用户情绪表达，及疗愈的系统</a:t>
            </a:r>
            <a:endParaRPr lang="zh-CN" altLang="zh-CN" b="1" u="none" strike="noStrike" dirty="0">
              <a:solidFill>
                <a:srgbClr val="0070C0"/>
              </a:solidFill>
              <a:effectLst/>
              <a:ea typeface="Google Sans"/>
              <a:cs typeface="Google Sans"/>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需要一个解释，具身情感对话定义，参考现有</a:t>
            </a:r>
            <a:r>
              <a:rPr lang="en-US" altLang="zh-CN"/>
              <a:t> TAC </a:t>
            </a:r>
            <a:r>
              <a:rPr lang="zh-CN" altLang="en-US"/>
              <a:t>论文。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干预用户和</a:t>
            </a:r>
            <a:r>
              <a:rPr lang="en-US" altLang="zh-CN"/>
              <a:t>game</a:t>
            </a:r>
            <a:r>
              <a:rPr lang="zh-CN" altLang="en-US"/>
              <a:t>的过程；任务描述好，独特的东西。</a:t>
            </a:r>
            <a:r>
              <a:rPr lang="en-US" altLang="zh-CN"/>
              <a:t>game</a:t>
            </a:r>
            <a:r>
              <a:rPr lang="zh-CN" altLang="en-US"/>
              <a:t>可以提升交互，</a:t>
            </a:r>
            <a:r>
              <a:rPr lang="en-US" altLang="zh-CN"/>
              <a:t>avatar </a:t>
            </a:r>
            <a:r>
              <a:rPr lang="zh-CN" altLang="en-US"/>
              <a:t>也改善</a:t>
            </a:r>
            <a:r>
              <a:rPr lang="en-US" altLang="zh-CN"/>
              <a:t>game</a:t>
            </a:r>
            <a:r>
              <a:rPr lang="zh-CN" altLang="en-US"/>
              <a:t>的交互。我们的</a:t>
            </a:r>
            <a:r>
              <a:rPr lang="en-US" altLang="zh-CN"/>
              <a:t>agent</a:t>
            </a:r>
            <a:r>
              <a:rPr lang="zh-CN" altLang="en-US"/>
              <a:t>加了特别的东西，会比较好</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Affective Art </a:t>
            </a:r>
            <a:r>
              <a:rPr lang="zh-CN" altLang="en-US">
                <a:sym typeface="+mn-ea"/>
              </a:rPr>
              <a:t>定义？</a:t>
            </a:r>
            <a:r>
              <a:rPr lang="en-US" altLang="zh-CN">
                <a:sym typeface="+mn-ea"/>
              </a:rPr>
              <a:t>Affective Art for </a:t>
            </a:r>
            <a:r>
              <a:rPr lang="zh-CN" altLang="en-US">
                <a:sym typeface="+mn-ea"/>
              </a:rPr>
              <a:t>情感疗愈</a:t>
            </a:r>
            <a:r>
              <a:rPr lang="en-US" altLang="zh-CN">
                <a:sym typeface="+mn-ea"/>
              </a:rPr>
              <a:t>   Visual Emotion in Affective Art </a:t>
            </a:r>
          </a:p>
          <a:p>
            <a:endParaRPr lang="en-US" altLang="zh-CN">
              <a:sym typeface="+mn-ea"/>
            </a:endParaRPr>
          </a:p>
          <a:p>
            <a:r>
              <a:rPr lang="zh-CN" altLang="en-US">
                <a:sym typeface="+mn-ea"/>
              </a:rPr>
              <a:t>名字上</a:t>
            </a:r>
            <a:r>
              <a:rPr lang="en-US" altLang="zh-CN">
                <a:sym typeface="+mn-ea"/>
              </a:rPr>
              <a:t> Support?</a:t>
            </a:r>
            <a:r>
              <a:rPr lang="zh-CN" altLang="en-US">
                <a:sym typeface="+mn-ea"/>
              </a:rPr>
              <a:t>找一个更合适的词，体现情绪等。与本文的模块也要</a:t>
            </a:r>
          </a:p>
          <a:p>
            <a:endParaRPr lang="en-US" altLang="zh-CN">
              <a:sym typeface="+mn-ea"/>
            </a:endParaRPr>
          </a:p>
          <a:p>
            <a:r>
              <a:rPr lang="zh-CN" altLang="en-US">
                <a:sym typeface="+mn-ea"/>
              </a:rPr>
              <a:t>相关工作：每一章要有明确的指向性，通过对话实现，实现的怎么样。</a:t>
            </a:r>
          </a:p>
          <a:p>
            <a:endParaRPr lang="zh-CN" altLang="en-US">
              <a:sym typeface="+mn-ea"/>
            </a:endParaRPr>
          </a:p>
          <a:p>
            <a:r>
              <a:rPr lang="en-US" altLang="zh-CN">
                <a:sym typeface="+mn-ea"/>
              </a:rPr>
              <a:t>Embodied Affective Agents</a:t>
            </a:r>
            <a:r>
              <a:rPr lang="zh-CN" altLang="en-US">
                <a:sym typeface="+mn-ea"/>
              </a:rPr>
              <a:t>现有的工作是什么做的，可以放到</a:t>
            </a:r>
            <a:r>
              <a:rPr lang="en-US" altLang="zh-CN">
                <a:sym typeface="+mn-ea"/>
              </a:rPr>
              <a:t> 2.3 </a:t>
            </a:r>
            <a:r>
              <a:rPr lang="zh-CN" altLang="en-US">
                <a:sym typeface="+mn-ea"/>
              </a:rPr>
              <a:t>和</a:t>
            </a:r>
            <a:r>
              <a:rPr lang="en-US" altLang="zh-CN">
                <a:sym typeface="+mn-ea"/>
              </a:rPr>
              <a:t> 2.2 </a:t>
            </a:r>
            <a:r>
              <a:rPr lang="zh-CN" altLang="en-US">
                <a:sym typeface="+mn-ea"/>
              </a:rPr>
              <a:t>中</a:t>
            </a:r>
            <a:endParaRPr lang="en-US" altLang="zh-CN"/>
          </a:p>
          <a:p>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Affective Art </a:t>
            </a:r>
            <a:r>
              <a:rPr lang="zh-CN" altLang="en-US">
                <a:sym typeface="+mn-ea"/>
              </a:rPr>
              <a:t>定义？</a:t>
            </a:r>
            <a:r>
              <a:rPr lang="en-US" altLang="zh-CN">
                <a:sym typeface="+mn-ea"/>
              </a:rPr>
              <a:t>Affective Art for </a:t>
            </a:r>
            <a:r>
              <a:rPr lang="zh-CN" altLang="en-US">
                <a:sym typeface="+mn-ea"/>
              </a:rPr>
              <a:t>情感疗愈</a:t>
            </a:r>
            <a:r>
              <a:rPr lang="en-US" altLang="zh-CN">
                <a:sym typeface="+mn-ea"/>
              </a:rPr>
              <a:t>   Visual Emotion in Affective Art </a:t>
            </a:r>
          </a:p>
          <a:p>
            <a:endParaRPr lang="en-US" altLang="zh-CN">
              <a:sym typeface="+mn-ea"/>
            </a:endParaRPr>
          </a:p>
          <a:p>
            <a:r>
              <a:rPr lang="zh-CN" altLang="en-US">
                <a:sym typeface="+mn-ea"/>
              </a:rPr>
              <a:t>名字上</a:t>
            </a:r>
            <a:r>
              <a:rPr lang="en-US" altLang="zh-CN">
                <a:sym typeface="+mn-ea"/>
              </a:rPr>
              <a:t> Support?</a:t>
            </a:r>
            <a:r>
              <a:rPr lang="zh-CN" altLang="en-US">
                <a:sym typeface="+mn-ea"/>
              </a:rPr>
              <a:t>找一个更合适的词，体现情绪等。与本文的模块也要</a:t>
            </a:r>
          </a:p>
          <a:p>
            <a:endParaRPr lang="en-US" altLang="zh-CN">
              <a:sym typeface="+mn-ea"/>
            </a:endParaRPr>
          </a:p>
          <a:p>
            <a:r>
              <a:rPr lang="zh-CN" altLang="en-US">
                <a:sym typeface="+mn-ea"/>
              </a:rPr>
              <a:t>相关工作：每一章要有明确的指向性，通过对话实现，实现的怎么样。</a:t>
            </a:r>
          </a:p>
          <a:p>
            <a:endParaRPr lang="zh-CN" altLang="en-US">
              <a:sym typeface="+mn-ea"/>
            </a:endParaRPr>
          </a:p>
          <a:p>
            <a:r>
              <a:rPr lang="en-US" altLang="zh-CN">
                <a:sym typeface="+mn-ea"/>
              </a:rPr>
              <a:t>Embodied Affective Agents</a:t>
            </a:r>
            <a:r>
              <a:rPr lang="zh-CN" altLang="en-US">
                <a:sym typeface="+mn-ea"/>
              </a:rPr>
              <a:t>现有的工作是什么做的，可以放到</a:t>
            </a:r>
            <a:r>
              <a:rPr lang="en-US" altLang="zh-CN">
                <a:sym typeface="+mn-ea"/>
              </a:rPr>
              <a:t> 2.3 </a:t>
            </a:r>
            <a:r>
              <a:rPr lang="zh-CN" altLang="en-US">
                <a:sym typeface="+mn-ea"/>
              </a:rPr>
              <a:t>和</a:t>
            </a:r>
            <a:r>
              <a:rPr lang="en-US" altLang="zh-CN">
                <a:sym typeface="+mn-ea"/>
              </a:rPr>
              <a:t> 2.2 </a:t>
            </a:r>
            <a:r>
              <a:rPr lang="zh-CN" altLang="en-US">
                <a:sym typeface="+mn-ea"/>
              </a:rPr>
              <a:t>中</a:t>
            </a:r>
            <a:endParaRPr lang="en-US" altLang="zh-CN"/>
          </a:p>
          <a:p>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Affective Art </a:t>
            </a:r>
            <a:r>
              <a:rPr lang="zh-CN" altLang="en-US">
                <a:sym typeface="+mn-ea"/>
              </a:rPr>
              <a:t>定义？</a:t>
            </a:r>
            <a:r>
              <a:rPr lang="en-US" altLang="zh-CN">
                <a:sym typeface="+mn-ea"/>
              </a:rPr>
              <a:t>Affective Art for </a:t>
            </a:r>
            <a:r>
              <a:rPr lang="zh-CN" altLang="en-US">
                <a:sym typeface="+mn-ea"/>
              </a:rPr>
              <a:t>情感疗愈</a:t>
            </a:r>
            <a:r>
              <a:rPr lang="en-US" altLang="zh-CN">
                <a:sym typeface="+mn-ea"/>
              </a:rPr>
              <a:t>   Visual Emotion in Affective Art </a:t>
            </a:r>
          </a:p>
          <a:p>
            <a:endParaRPr lang="en-US" altLang="zh-CN">
              <a:sym typeface="+mn-ea"/>
            </a:endParaRPr>
          </a:p>
          <a:p>
            <a:r>
              <a:rPr lang="zh-CN" altLang="en-US">
                <a:sym typeface="+mn-ea"/>
              </a:rPr>
              <a:t>名字上</a:t>
            </a:r>
            <a:r>
              <a:rPr lang="en-US" altLang="zh-CN">
                <a:sym typeface="+mn-ea"/>
              </a:rPr>
              <a:t> Support?</a:t>
            </a:r>
            <a:r>
              <a:rPr lang="zh-CN" altLang="en-US">
                <a:sym typeface="+mn-ea"/>
              </a:rPr>
              <a:t>找一个更合适的词，体现情绪等。与本文的模块也要</a:t>
            </a:r>
          </a:p>
          <a:p>
            <a:endParaRPr lang="en-US" altLang="zh-CN">
              <a:sym typeface="+mn-ea"/>
            </a:endParaRPr>
          </a:p>
          <a:p>
            <a:r>
              <a:rPr lang="zh-CN" altLang="en-US">
                <a:sym typeface="+mn-ea"/>
              </a:rPr>
              <a:t>相关工作：每一章要有明确的指向性，通过对话实现，实现的怎么样。</a:t>
            </a:r>
          </a:p>
          <a:p>
            <a:endParaRPr lang="zh-CN" altLang="en-US">
              <a:sym typeface="+mn-ea"/>
            </a:endParaRPr>
          </a:p>
          <a:p>
            <a:r>
              <a:rPr lang="en-US" altLang="zh-CN">
                <a:sym typeface="+mn-ea"/>
              </a:rPr>
              <a:t>Embodied Affective Agents</a:t>
            </a:r>
            <a:r>
              <a:rPr lang="zh-CN" altLang="en-US">
                <a:sym typeface="+mn-ea"/>
              </a:rPr>
              <a:t>现有的工作是什么做的，可以放到</a:t>
            </a:r>
            <a:r>
              <a:rPr lang="en-US" altLang="zh-CN">
                <a:sym typeface="+mn-ea"/>
              </a:rPr>
              <a:t> 2.3 </a:t>
            </a:r>
            <a:r>
              <a:rPr lang="zh-CN" altLang="en-US">
                <a:sym typeface="+mn-ea"/>
              </a:rPr>
              <a:t>和</a:t>
            </a:r>
            <a:r>
              <a:rPr lang="en-US" altLang="zh-CN">
                <a:sym typeface="+mn-ea"/>
              </a:rPr>
              <a:t> 2.2 </a:t>
            </a:r>
            <a:r>
              <a:rPr lang="zh-CN" altLang="en-US">
                <a:sym typeface="+mn-ea"/>
              </a:rPr>
              <a:t>中</a:t>
            </a:r>
            <a:endParaRPr lang="en-US" altLang="zh-CN"/>
          </a:p>
          <a:p>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Affective Art </a:t>
            </a:r>
            <a:r>
              <a:rPr lang="zh-CN" altLang="en-US">
                <a:sym typeface="+mn-ea"/>
              </a:rPr>
              <a:t>定义？</a:t>
            </a:r>
            <a:r>
              <a:rPr lang="en-US" altLang="zh-CN">
                <a:sym typeface="+mn-ea"/>
              </a:rPr>
              <a:t>Affective Art for </a:t>
            </a:r>
            <a:r>
              <a:rPr lang="zh-CN" altLang="en-US">
                <a:sym typeface="+mn-ea"/>
              </a:rPr>
              <a:t>情感疗愈</a:t>
            </a:r>
            <a:r>
              <a:rPr lang="en-US" altLang="zh-CN">
                <a:sym typeface="+mn-ea"/>
              </a:rPr>
              <a:t>   Visual Emotion in Affective Art </a:t>
            </a:r>
          </a:p>
          <a:p>
            <a:endParaRPr lang="en-US" altLang="zh-CN">
              <a:sym typeface="+mn-ea"/>
            </a:endParaRPr>
          </a:p>
          <a:p>
            <a:r>
              <a:rPr lang="zh-CN" altLang="en-US">
                <a:sym typeface="+mn-ea"/>
              </a:rPr>
              <a:t>名字上</a:t>
            </a:r>
            <a:r>
              <a:rPr lang="en-US" altLang="zh-CN">
                <a:sym typeface="+mn-ea"/>
              </a:rPr>
              <a:t> Support?</a:t>
            </a:r>
            <a:r>
              <a:rPr lang="zh-CN" altLang="en-US">
                <a:sym typeface="+mn-ea"/>
              </a:rPr>
              <a:t>找一个更合适的词，体现情绪等。与本文的模块也要</a:t>
            </a:r>
          </a:p>
          <a:p>
            <a:endParaRPr lang="en-US" altLang="zh-CN">
              <a:sym typeface="+mn-ea"/>
            </a:endParaRPr>
          </a:p>
          <a:p>
            <a:r>
              <a:rPr lang="zh-CN" altLang="en-US">
                <a:sym typeface="+mn-ea"/>
              </a:rPr>
              <a:t>相关工作：每一章要有明确的指向性，通过对话实现，实现的怎么样。</a:t>
            </a:r>
          </a:p>
          <a:p>
            <a:endParaRPr lang="zh-CN" altLang="en-US">
              <a:sym typeface="+mn-ea"/>
            </a:endParaRPr>
          </a:p>
          <a:p>
            <a:r>
              <a:rPr lang="en-US" altLang="zh-CN">
                <a:sym typeface="+mn-ea"/>
              </a:rPr>
              <a:t>Embodied Affective Agents</a:t>
            </a:r>
            <a:r>
              <a:rPr lang="zh-CN" altLang="en-US">
                <a:sym typeface="+mn-ea"/>
              </a:rPr>
              <a:t>现有的工作是什么做的，可以放到</a:t>
            </a:r>
            <a:r>
              <a:rPr lang="en-US" altLang="zh-CN">
                <a:sym typeface="+mn-ea"/>
              </a:rPr>
              <a:t> 2.3 </a:t>
            </a:r>
            <a:r>
              <a:rPr lang="zh-CN" altLang="en-US">
                <a:sym typeface="+mn-ea"/>
              </a:rPr>
              <a:t>和</a:t>
            </a:r>
            <a:r>
              <a:rPr lang="en-US" altLang="zh-CN">
                <a:sym typeface="+mn-ea"/>
              </a:rPr>
              <a:t> 2.2 </a:t>
            </a:r>
            <a:r>
              <a:rPr lang="zh-CN" altLang="en-US">
                <a:sym typeface="+mn-ea"/>
              </a:rPr>
              <a:t>中</a:t>
            </a:r>
            <a:endParaRPr lang="en-US" altLang="zh-CN"/>
          </a:p>
          <a:p>
            <a:endParaRPr lang="zh-CN" altLang="en-US">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r>
              <a:rPr lang="zh-CN" altLang="en-US"/>
              <a:t>第一章第三段，提出什么问题，</a:t>
            </a:r>
            <a:r>
              <a:rPr lang="en-US" altLang="zh-CN"/>
              <a:t>-</a:t>
            </a:r>
            <a:r>
              <a:rPr lang="zh-CN" altLang="en-US"/>
              <a:t>》技术</a:t>
            </a:r>
            <a:r>
              <a:rPr lang="en-US" altLang="zh-CN"/>
              <a:t>-</a:t>
            </a:r>
            <a:r>
              <a:rPr lang="zh-CN" altLang="en-US"/>
              <a:t>》解决什么现有方法的问题。</a:t>
            </a:r>
          </a:p>
          <a:p>
            <a:endParaRPr lang="zh-CN" altLang="en-US"/>
          </a:p>
          <a:p>
            <a:endParaRPr lang="zh-CN" altLang="en-US"/>
          </a:p>
          <a:p>
            <a:r>
              <a:rPr lang="zh-CN" altLang="en-US"/>
              <a:t>提出能够支撑</a:t>
            </a:r>
            <a:r>
              <a:rPr lang="en-US" altLang="zh-CN"/>
              <a:t> XX </a:t>
            </a:r>
            <a:r>
              <a:rPr lang="zh-CN" altLang="en-US"/>
              <a:t>的系统，针对现有</a:t>
            </a:r>
            <a:r>
              <a:rPr lang="en-US" altLang="zh-CN"/>
              <a:t> XX</a:t>
            </a:r>
            <a:r>
              <a:rPr lang="zh-CN" altLang="en-US"/>
              <a:t>，我们设计了新的</a:t>
            </a:r>
            <a:r>
              <a:rPr lang="en-US" altLang="zh-CN"/>
              <a:t>XX </a:t>
            </a:r>
            <a:r>
              <a:rPr lang="zh-CN" altLang="en-US"/>
              <a:t>方法和模式，使得</a:t>
            </a:r>
          </a:p>
          <a:p>
            <a:endParaRPr lang="zh-CN" altLang="en-US"/>
          </a:p>
          <a:p>
            <a:endParaRPr lang="zh-CN" altLang="en-US"/>
          </a:p>
          <a:p>
            <a:r>
              <a:rPr lang="zh-CN" altLang="en-US"/>
              <a:t>在梳理一下，看现有工作，从技术路线上，哪一块更值得去做。</a:t>
            </a:r>
          </a:p>
          <a:p>
            <a:endParaRPr lang="zh-CN" altLang="en-US"/>
          </a:p>
          <a:p>
            <a:r>
              <a:rPr lang="zh-CN" altLang="en-US"/>
              <a:t>第三章：</a:t>
            </a:r>
            <a:r>
              <a:rPr lang="en-US" altLang="zh-CN"/>
              <a:t>framework, </a:t>
            </a:r>
          </a:p>
          <a:p>
            <a:endParaRPr lang="en-US" altLang="zh-CN"/>
          </a:p>
          <a:p>
            <a:r>
              <a:rPr lang="en-US" altLang="zh-CN"/>
              <a:t>overview</a:t>
            </a:r>
          </a:p>
          <a:p>
            <a:endParaRPr lang="en-US" altLang="zh-CN"/>
          </a:p>
          <a:p>
            <a:r>
              <a:rPr lang="zh-CN" altLang="en-US"/>
              <a:t>模块</a:t>
            </a:r>
          </a:p>
          <a:p>
            <a:endParaRPr lang="zh-CN" altLang="en-US"/>
          </a:p>
          <a:p>
            <a:r>
              <a:rPr lang="en-US" altLang="zh-CN"/>
              <a:t>Avatar </a:t>
            </a:r>
            <a:r>
              <a:rPr lang="zh-CN" altLang="en-US"/>
              <a:t>交互</a:t>
            </a:r>
            <a:r>
              <a:rPr lang="en-US" altLang="zh-CN"/>
              <a:t> </a:t>
            </a:r>
            <a:endParaRPr lang="zh-CN" altLang="en-US"/>
          </a:p>
          <a:p>
            <a:endParaRPr lang="zh-CN" altLang="en-US"/>
          </a:p>
          <a:p>
            <a:r>
              <a:rPr lang="zh-CN" altLang="en-US" b="1" dirty="0">
                <a:solidFill>
                  <a:srgbClr val="1F1F1F"/>
                </a:solidFill>
                <a:effectLst/>
                <a:ea typeface="Google Sans"/>
                <a:cs typeface="Google Sans"/>
                <a:sym typeface="+mn-ea"/>
              </a:rPr>
              <a:t>情感外化的对话引擎</a:t>
            </a:r>
          </a:p>
          <a:p>
            <a:endParaRPr lang="zh-CN" altLang="en-US" b="1" dirty="0">
              <a:solidFill>
                <a:srgbClr val="1F1F1F"/>
              </a:solidFill>
              <a:effectLst/>
              <a:ea typeface="Google Sans"/>
              <a:cs typeface="Google Sans"/>
              <a:sym typeface="+mn-ea"/>
            </a:endParaRPr>
          </a:p>
          <a:p>
            <a:r>
              <a:rPr lang="zh-CN" altLang="en-US" b="1" dirty="0">
                <a:solidFill>
                  <a:srgbClr val="1F1F1F"/>
                </a:solidFill>
                <a:effectLst/>
                <a:ea typeface="Google Sans"/>
                <a:cs typeface="Google Sans"/>
                <a:sym typeface="+mn-ea"/>
              </a:rPr>
              <a:t>结合用户画作结果有一个交互决策，操作的引导</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你可以将模块命名为：</a:t>
            </a:r>
          </a:p>
          <a:p>
            <a:r>
              <a:rPr lang="en-US" altLang="zh-CN" b="1" dirty="0"/>
              <a:t>Hierarchical Causal Composition and Inference Module</a:t>
            </a:r>
            <a:endParaRPr lang="en-US" altLang="zh-CN" dirty="0"/>
          </a:p>
          <a:p>
            <a:r>
              <a:rPr lang="zh-CN" altLang="en-US" dirty="0"/>
              <a:t>这样既保留了你强调的“组合（</a:t>
            </a:r>
            <a:r>
              <a:rPr lang="en-US" altLang="zh-CN" dirty="0"/>
              <a:t>Composition</a:t>
            </a:r>
            <a:r>
              <a:rPr lang="zh-CN" altLang="en-US" dirty="0"/>
              <a:t>）”操作，又明确了它最终用于</a:t>
            </a:r>
            <a:r>
              <a:rPr lang="zh-CN" altLang="en-US" b="1" dirty="0"/>
              <a:t>因果推理（</a:t>
            </a:r>
            <a:r>
              <a:rPr lang="en-US" altLang="zh-CN" b="1" dirty="0"/>
              <a:t>Inference</a:t>
            </a:r>
            <a:r>
              <a:rPr lang="zh-CN" altLang="en-US" b="1" dirty="0"/>
              <a:t>）</a:t>
            </a:r>
            <a:r>
              <a:rPr lang="zh-CN" altLang="en-US" dirty="0"/>
              <a:t>，尤其适用于你最后对去混淆因果图进行分类预测的功能设定。</a:t>
            </a:r>
          </a:p>
        </p:txBody>
      </p:sp>
      <p:sp>
        <p:nvSpPr>
          <p:cNvPr id="4" name="灯片编号占位符 3"/>
          <p:cNvSpPr>
            <a:spLocks noGrp="1"/>
          </p:cNvSpPr>
          <p:nvPr>
            <p:ph type="sldNum" sz="quarter" idx="5"/>
          </p:nvPr>
        </p:nvSpPr>
        <p:spPr/>
        <p:txBody>
          <a:bodyPr/>
          <a:lstStyle/>
          <a:p>
            <a:fld id="{01F5EAAC-B275-401B-AFD7-48A861767139}"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9EFFD-7268-8AAB-49CD-ED592BBFAD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CFA6D7-2F56-0C5D-1824-F08C29DFF0F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2303F61-DF41-1115-36CF-8222F8C50F49}"/>
              </a:ext>
            </a:extLst>
          </p:cNvPr>
          <p:cNvSpPr>
            <a:spLocks noGrp="1"/>
          </p:cNvSpPr>
          <p:nvPr>
            <p:ph type="body" idx="1"/>
          </p:nvPr>
        </p:nvSpPr>
        <p:spPr/>
        <p:txBody>
          <a:bodyPr/>
          <a:lstStyle/>
          <a:p>
            <a:r>
              <a:rPr lang="zh-CN" altLang="en-US" dirty="0"/>
              <a:t>你可以将模块命名为：</a:t>
            </a:r>
          </a:p>
          <a:p>
            <a:r>
              <a:rPr lang="en-US" altLang="zh-CN" b="1" dirty="0"/>
              <a:t>Hierarchical Causal Composition and Inference Module</a:t>
            </a:r>
            <a:endParaRPr lang="en-US" altLang="zh-CN" dirty="0"/>
          </a:p>
          <a:p>
            <a:r>
              <a:rPr lang="zh-CN" altLang="en-US" dirty="0"/>
              <a:t>这样既保留了你强调的“组合（</a:t>
            </a:r>
            <a:r>
              <a:rPr lang="en-US" altLang="zh-CN" dirty="0"/>
              <a:t>Composition</a:t>
            </a:r>
            <a:r>
              <a:rPr lang="zh-CN" altLang="en-US" dirty="0"/>
              <a:t>）”操作，又明确了它最终用于</a:t>
            </a:r>
            <a:r>
              <a:rPr lang="zh-CN" altLang="en-US" b="1" dirty="0"/>
              <a:t>因果推理（</a:t>
            </a:r>
            <a:r>
              <a:rPr lang="en-US" altLang="zh-CN" b="1" dirty="0"/>
              <a:t>Inference</a:t>
            </a:r>
            <a:r>
              <a:rPr lang="zh-CN" altLang="en-US" b="1" dirty="0"/>
              <a:t>）</a:t>
            </a:r>
            <a:r>
              <a:rPr lang="zh-CN" altLang="en-US" dirty="0"/>
              <a:t>，尤其适用于你最后对去混淆因果图进行分类预测的功能设定。</a:t>
            </a:r>
          </a:p>
        </p:txBody>
      </p:sp>
      <p:sp>
        <p:nvSpPr>
          <p:cNvPr id="4" name="灯片编号占位符 3">
            <a:extLst>
              <a:ext uri="{FF2B5EF4-FFF2-40B4-BE49-F238E27FC236}">
                <a16:creationId xmlns:a16="http://schemas.microsoft.com/office/drawing/2014/main" id="{7C06BB19-DB02-7295-85C8-6A9974E87AC1}"/>
              </a:ext>
            </a:extLst>
          </p:cNvPr>
          <p:cNvSpPr>
            <a:spLocks noGrp="1"/>
          </p:cNvSpPr>
          <p:nvPr>
            <p:ph type="sldNum" sz="quarter" idx="5"/>
          </p:nvPr>
        </p:nvSpPr>
        <p:spPr/>
        <p:txBody>
          <a:bodyPr/>
          <a:lstStyle/>
          <a:p>
            <a:fld id="{01F5EAAC-B275-401B-AFD7-48A861767139}" type="slidenum">
              <a:rPr lang="zh-CN" altLang="en-US" smtClean="0"/>
              <a:t>15</a:t>
            </a:fld>
            <a:endParaRPr lang="zh-CN" altLang="en-US"/>
          </a:p>
        </p:txBody>
      </p:sp>
    </p:spTree>
    <p:extLst>
      <p:ext uri="{BB962C8B-B14F-4D97-AF65-F5344CB8AC3E}">
        <p14:creationId xmlns:p14="http://schemas.microsoft.com/office/powerpoint/2010/main" val="4158533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需要一个解释，具身情感对话定义，参考现有</a:t>
            </a:r>
            <a:r>
              <a:rPr lang="en-US" altLang="zh-CN"/>
              <a:t> TAC </a:t>
            </a:r>
            <a:r>
              <a:rPr lang="zh-CN" altLang="en-US"/>
              <a:t>论文。</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既包含背景相关的内容，也包含了没有抽象出来的问题。</a:t>
            </a:r>
          </a:p>
          <a:p>
            <a:endParaRPr lang="zh-CN" altLang="en-US"/>
          </a:p>
          <a:p>
            <a:r>
              <a:rPr lang="zh-CN" altLang="en-US"/>
              <a:t>视频情感识别</a:t>
            </a:r>
            <a:r>
              <a:rPr lang="en-US" altLang="zh-CN"/>
              <a:t>-</a:t>
            </a:r>
            <a:r>
              <a:rPr lang="zh-CN" altLang="en-US"/>
              <a:t>》然而，</a:t>
            </a:r>
          </a:p>
          <a:p>
            <a:endParaRPr lang="zh-CN" altLang="en-US"/>
          </a:p>
          <a:p>
            <a:r>
              <a:rPr lang="zh-CN" altLang="en-US"/>
              <a:t>具身交互</a:t>
            </a:r>
            <a:r>
              <a:rPr lang="en-US" altLang="zh-CN"/>
              <a:t> </a:t>
            </a:r>
            <a:r>
              <a:rPr lang="zh-CN" altLang="en-US"/>
              <a:t>是不是</a:t>
            </a:r>
            <a:r>
              <a:rPr lang="en-US" altLang="zh-CN"/>
              <a:t> </a:t>
            </a:r>
            <a:r>
              <a:rPr lang="zh-CN" altLang="en-US"/>
              <a:t>实体</a:t>
            </a:r>
            <a:r>
              <a:rPr lang="en-US" altLang="zh-CN"/>
              <a:t> </a:t>
            </a:r>
            <a:r>
              <a:rPr lang="zh-CN" altLang="en-US"/>
              <a:t>需要？</a:t>
            </a:r>
          </a:p>
          <a:p>
            <a:endParaRPr lang="zh-CN" altLang="en-US"/>
          </a:p>
          <a:p>
            <a:r>
              <a:rPr lang="en-US" altLang="zh-CN">
                <a:sym typeface="+mn-ea"/>
              </a:rPr>
              <a:t>Embodied Affective Agents</a:t>
            </a:r>
            <a:r>
              <a:rPr lang="zh-CN" altLang="en-US"/>
              <a:t>是不是我们的范围，是软件系统，还是具身实体？</a:t>
            </a:r>
          </a:p>
          <a:p>
            <a:endParaRPr lang="zh-CN" altLang="en-US"/>
          </a:p>
          <a:p>
            <a:r>
              <a:rPr lang="zh-CN" altLang="en-US"/>
              <a:t>通过引导用户绘画，干预用户情绪的工作有多少？</a:t>
            </a:r>
          </a:p>
          <a:p>
            <a:endParaRPr lang="zh-CN" altLang="en-US"/>
          </a:p>
          <a:p>
            <a:r>
              <a:rPr lang="zh-CN" altLang="en-US"/>
              <a:t>组合创新，适配任务，整体提升</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Affective Art </a:t>
            </a:r>
            <a:r>
              <a:rPr lang="zh-CN" altLang="en-US">
                <a:sym typeface="+mn-ea"/>
              </a:rPr>
              <a:t>定义？</a:t>
            </a:r>
            <a:r>
              <a:rPr lang="en-US" altLang="zh-CN">
                <a:sym typeface="+mn-ea"/>
              </a:rPr>
              <a:t>Affective Art for </a:t>
            </a:r>
            <a:r>
              <a:rPr lang="zh-CN" altLang="en-US">
                <a:sym typeface="+mn-ea"/>
              </a:rPr>
              <a:t>情感疗愈</a:t>
            </a:r>
            <a:r>
              <a:rPr lang="en-US" altLang="zh-CN">
                <a:sym typeface="+mn-ea"/>
              </a:rPr>
              <a:t>   Visual Emotion in Affective Art </a:t>
            </a:r>
          </a:p>
          <a:p>
            <a:endParaRPr lang="en-US" altLang="zh-CN">
              <a:sym typeface="+mn-ea"/>
            </a:endParaRPr>
          </a:p>
          <a:p>
            <a:r>
              <a:rPr lang="zh-CN" altLang="en-US">
                <a:sym typeface="+mn-ea"/>
              </a:rPr>
              <a:t>名字上</a:t>
            </a:r>
            <a:r>
              <a:rPr lang="en-US" altLang="zh-CN">
                <a:sym typeface="+mn-ea"/>
              </a:rPr>
              <a:t> Support?</a:t>
            </a:r>
            <a:r>
              <a:rPr lang="zh-CN" altLang="en-US">
                <a:sym typeface="+mn-ea"/>
              </a:rPr>
              <a:t>找一个更合适的词，体现情绪等。与本文的模块也要</a:t>
            </a:r>
          </a:p>
          <a:p>
            <a:endParaRPr lang="en-US" altLang="zh-CN">
              <a:sym typeface="+mn-ea"/>
            </a:endParaRPr>
          </a:p>
          <a:p>
            <a:r>
              <a:rPr lang="zh-CN" altLang="en-US">
                <a:sym typeface="+mn-ea"/>
              </a:rPr>
              <a:t>相关工作：每一章要有明确的指向性，通过对话实现，实现的怎么样。</a:t>
            </a:r>
          </a:p>
          <a:p>
            <a:endParaRPr lang="zh-CN" altLang="en-US">
              <a:sym typeface="+mn-ea"/>
            </a:endParaRPr>
          </a:p>
          <a:p>
            <a:r>
              <a:rPr lang="en-US" altLang="zh-CN">
                <a:sym typeface="+mn-ea"/>
              </a:rPr>
              <a:t>Embodied Affective Agents</a:t>
            </a:r>
            <a:r>
              <a:rPr lang="zh-CN" altLang="en-US">
                <a:sym typeface="+mn-ea"/>
              </a:rPr>
              <a:t>现有的工作是什么做的，可以放到</a:t>
            </a:r>
            <a:r>
              <a:rPr lang="en-US" altLang="zh-CN">
                <a:sym typeface="+mn-ea"/>
              </a:rPr>
              <a:t> 2.3 </a:t>
            </a:r>
            <a:r>
              <a:rPr lang="zh-CN" altLang="en-US">
                <a:sym typeface="+mn-ea"/>
              </a:rPr>
              <a:t>和</a:t>
            </a:r>
            <a:r>
              <a:rPr lang="en-US" altLang="zh-CN">
                <a:sym typeface="+mn-ea"/>
              </a:rPr>
              <a:t> 2.2 </a:t>
            </a:r>
            <a:r>
              <a:rPr lang="zh-CN" altLang="en-US">
                <a:sym typeface="+mn-ea"/>
              </a:rPr>
              <a:t>中</a:t>
            </a:r>
            <a:endParaRPr lang="en-US" altLang="zh-CN"/>
          </a:p>
          <a:p>
            <a:endParaRPr lang="zh-CN" altLang="en-US">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为什么需要具身交互，必要性</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Ref idx="1001">
        <a:schemeClr val="bg1"/>
      </p:bgRef>
    </p:bg>
    <p:spTree>
      <p:nvGrpSpPr>
        <p:cNvPr id="1" name=""/>
        <p:cNvGrpSpPr/>
        <p:nvPr/>
      </p:nvGrpSpPr>
      <p:grpSpPr>
        <a:xfrm>
          <a:off x="0" y="0"/>
          <a:ext cx="0" cy="0"/>
          <a:chOff x="0" y="0"/>
          <a:chExt cx="0" cy="0"/>
        </a:xfrm>
      </p:grpSpPr>
      <p:sp>
        <p:nvSpPr>
          <p:cNvPr id="320" name="图片占位符 319"/>
          <p:cNvSpPr>
            <a:spLocks noGrp="1"/>
          </p:cNvSpPr>
          <p:nvPr>
            <p:ph type="pic" sz="quarter" idx="10"/>
          </p:nvPr>
        </p:nvSpPr>
        <p:spPr>
          <a:xfrm>
            <a:off x="1" y="1"/>
            <a:ext cx="10895637" cy="5189229"/>
          </a:xfrm>
          <a:custGeom>
            <a:avLst/>
            <a:gdLst>
              <a:gd name="connsiteX0" fmla="*/ 607241 w 10895637"/>
              <a:gd name="connsiteY0" fmla="*/ 3408786 h 5189229"/>
              <a:gd name="connsiteX1" fmla="*/ 1497462 w 10895637"/>
              <a:gd name="connsiteY1" fmla="*/ 4299007 h 5189229"/>
              <a:gd name="connsiteX2" fmla="*/ 607242 w 10895637"/>
              <a:gd name="connsiteY2" fmla="*/ 5189229 h 5189229"/>
              <a:gd name="connsiteX3" fmla="*/ 0 w 10895637"/>
              <a:gd name="connsiteY3" fmla="*/ 4581987 h 5189229"/>
              <a:gd name="connsiteX4" fmla="*/ 0 w 10895637"/>
              <a:gd name="connsiteY4" fmla="*/ 4016028 h 5189229"/>
              <a:gd name="connsiteX5" fmla="*/ 9065598 w 10895637"/>
              <a:gd name="connsiteY5" fmla="*/ 2490539 h 5189229"/>
              <a:gd name="connsiteX6" fmla="*/ 9955820 w 10895637"/>
              <a:gd name="connsiteY6" fmla="*/ 3380760 h 5189229"/>
              <a:gd name="connsiteX7" fmla="*/ 9065598 w 10895637"/>
              <a:gd name="connsiteY7" fmla="*/ 4270982 h 5189229"/>
              <a:gd name="connsiteX8" fmla="*/ 8175377 w 10895637"/>
              <a:gd name="connsiteY8" fmla="*/ 3380761 h 5189229"/>
              <a:gd name="connsiteX9" fmla="*/ 7185963 w 10895637"/>
              <a:gd name="connsiteY9" fmla="*/ 2490539 h 5189229"/>
              <a:gd name="connsiteX10" fmla="*/ 8076185 w 10895637"/>
              <a:gd name="connsiteY10" fmla="*/ 3380761 h 5189229"/>
              <a:gd name="connsiteX11" fmla="*/ 7185964 w 10895637"/>
              <a:gd name="connsiteY11" fmla="*/ 4270982 h 5189229"/>
              <a:gd name="connsiteX12" fmla="*/ 6295742 w 10895637"/>
              <a:gd name="connsiteY12" fmla="*/ 3380760 h 5189229"/>
              <a:gd name="connsiteX13" fmla="*/ 1547057 w 10895637"/>
              <a:gd name="connsiteY13" fmla="*/ 2467029 h 5189229"/>
              <a:gd name="connsiteX14" fmla="*/ 2437279 w 10895637"/>
              <a:gd name="connsiteY14" fmla="*/ 3357251 h 5189229"/>
              <a:gd name="connsiteX15" fmla="*/ 1547057 w 10895637"/>
              <a:gd name="connsiteY15" fmla="*/ 4247474 h 5189229"/>
              <a:gd name="connsiteX16" fmla="*/ 656836 w 10895637"/>
              <a:gd name="connsiteY16" fmla="*/ 3357251 h 5189229"/>
              <a:gd name="connsiteX17" fmla="*/ 2486877 w 10895637"/>
              <a:gd name="connsiteY17" fmla="*/ 1525276 h 5189229"/>
              <a:gd name="connsiteX18" fmla="*/ 3377098 w 10895637"/>
              <a:gd name="connsiteY18" fmla="*/ 2415495 h 5189229"/>
              <a:gd name="connsiteX19" fmla="*/ 2486877 w 10895637"/>
              <a:gd name="connsiteY19" fmla="*/ 3305717 h 5189229"/>
              <a:gd name="connsiteX20" fmla="*/ 1596655 w 10895637"/>
              <a:gd name="connsiteY20" fmla="*/ 2415495 h 5189229"/>
              <a:gd name="connsiteX21" fmla="*/ 10005415 w 10895637"/>
              <a:gd name="connsiteY21" fmla="*/ 1525276 h 5189229"/>
              <a:gd name="connsiteX22" fmla="*/ 10895637 w 10895637"/>
              <a:gd name="connsiteY22" fmla="*/ 2415495 h 5189229"/>
              <a:gd name="connsiteX23" fmla="*/ 10005415 w 10895637"/>
              <a:gd name="connsiteY23" fmla="*/ 3305717 h 5189229"/>
              <a:gd name="connsiteX24" fmla="*/ 9115194 w 10895637"/>
              <a:gd name="connsiteY24" fmla="*/ 2415495 h 5189229"/>
              <a:gd name="connsiteX25" fmla="*/ 8125779 w 10895637"/>
              <a:gd name="connsiteY25" fmla="*/ 1525276 h 5189229"/>
              <a:gd name="connsiteX26" fmla="*/ 9016000 w 10895637"/>
              <a:gd name="connsiteY26" fmla="*/ 2415495 h 5189229"/>
              <a:gd name="connsiteX27" fmla="*/ 8125779 w 10895637"/>
              <a:gd name="connsiteY27" fmla="*/ 3305717 h 5189229"/>
              <a:gd name="connsiteX28" fmla="*/ 7235557 w 10895637"/>
              <a:gd name="connsiteY28" fmla="*/ 2415495 h 5189229"/>
              <a:gd name="connsiteX29" fmla="*/ 6246143 w 10895637"/>
              <a:gd name="connsiteY29" fmla="*/ 1525276 h 5189229"/>
              <a:gd name="connsiteX30" fmla="*/ 7136365 w 10895637"/>
              <a:gd name="connsiteY30" fmla="*/ 2415495 h 5189229"/>
              <a:gd name="connsiteX31" fmla="*/ 6246143 w 10895637"/>
              <a:gd name="connsiteY31" fmla="*/ 3305717 h 5189229"/>
              <a:gd name="connsiteX32" fmla="*/ 5355923 w 10895637"/>
              <a:gd name="connsiteY32" fmla="*/ 2415495 h 5189229"/>
              <a:gd name="connsiteX33" fmla="*/ 4366509 w 10895637"/>
              <a:gd name="connsiteY33" fmla="*/ 1525276 h 5189229"/>
              <a:gd name="connsiteX34" fmla="*/ 5256730 w 10895637"/>
              <a:gd name="connsiteY34" fmla="*/ 2415495 h 5189229"/>
              <a:gd name="connsiteX35" fmla="*/ 4366509 w 10895637"/>
              <a:gd name="connsiteY35" fmla="*/ 3305717 h 5189229"/>
              <a:gd name="connsiteX36" fmla="*/ 3476291 w 10895637"/>
              <a:gd name="connsiteY36" fmla="*/ 2415495 h 5189229"/>
              <a:gd name="connsiteX37" fmla="*/ 607238 w 10895637"/>
              <a:gd name="connsiteY37" fmla="*/ 1525274 h 5189229"/>
              <a:gd name="connsiteX38" fmla="*/ 1497459 w 10895637"/>
              <a:gd name="connsiteY38" fmla="*/ 2415495 h 5189229"/>
              <a:gd name="connsiteX39" fmla="*/ 607238 w 10895637"/>
              <a:gd name="connsiteY39" fmla="*/ 3305716 h 5189229"/>
              <a:gd name="connsiteX40" fmla="*/ 0 w 10895637"/>
              <a:gd name="connsiteY40" fmla="*/ 2698479 h 5189229"/>
              <a:gd name="connsiteX41" fmla="*/ 0 w 10895637"/>
              <a:gd name="connsiteY41" fmla="*/ 2132511 h 5189229"/>
              <a:gd name="connsiteX42" fmla="*/ 9065598 w 10895637"/>
              <a:gd name="connsiteY42" fmla="*/ 585458 h 5189229"/>
              <a:gd name="connsiteX43" fmla="*/ 9955819 w 10895637"/>
              <a:gd name="connsiteY43" fmla="*/ 1475679 h 5189229"/>
              <a:gd name="connsiteX44" fmla="*/ 9065598 w 10895637"/>
              <a:gd name="connsiteY44" fmla="*/ 2365899 h 5189229"/>
              <a:gd name="connsiteX45" fmla="*/ 8175377 w 10895637"/>
              <a:gd name="connsiteY45" fmla="*/ 1475679 h 5189229"/>
              <a:gd name="connsiteX46" fmla="*/ 7185964 w 10895637"/>
              <a:gd name="connsiteY46" fmla="*/ 585458 h 5189229"/>
              <a:gd name="connsiteX47" fmla="*/ 8076185 w 10895637"/>
              <a:gd name="connsiteY47" fmla="*/ 1475679 h 5189229"/>
              <a:gd name="connsiteX48" fmla="*/ 7185963 w 10895637"/>
              <a:gd name="connsiteY48" fmla="*/ 2365898 h 5189229"/>
              <a:gd name="connsiteX49" fmla="*/ 6295742 w 10895637"/>
              <a:gd name="connsiteY49" fmla="*/ 1475680 h 5189229"/>
              <a:gd name="connsiteX50" fmla="*/ 5306327 w 10895637"/>
              <a:gd name="connsiteY50" fmla="*/ 585458 h 5189229"/>
              <a:gd name="connsiteX51" fmla="*/ 6196548 w 10895637"/>
              <a:gd name="connsiteY51" fmla="*/ 1475679 h 5189229"/>
              <a:gd name="connsiteX52" fmla="*/ 5306328 w 10895637"/>
              <a:gd name="connsiteY52" fmla="*/ 2365898 h 5189229"/>
              <a:gd name="connsiteX53" fmla="*/ 4416106 w 10895637"/>
              <a:gd name="connsiteY53" fmla="*/ 1475679 h 5189229"/>
              <a:gd name="connsiteX54" fmla="*/ 3426696 w 10895637"/>
              <a:gd name="connsiteY54" fmla="*/ 585458 h 5189229"/>
              <a:gd name="connsiteX55" fmla="*/ 4316913 w 10895637"/>
              <a:gd name="connsiteY55" fmla="*/ 1475679 h 5189229"/>
              <a:gd name="connsiteX56" fmla="*/ 3426695 w 10895637"/>
              <a:gd name="connsiteY56" fmla="*/ 2365898 h 5189229"/>
              <a:gd name="connsiteX57" fmla="*/ 2536473 w 10895637"/>
              <a:gd name="connsiteY57" fmla="*/ 1475679 h 5189229"/>
              <a:gd name="connsiteX58" fmla="*/ 1547057 w 10895637"/>
              <a:gd name="connsiteY58" fmla="*/ 585456 h 5189229"/>
              <a:gd name="connsiteX59" fmla="*/ 2437279 w 10895637"/>
              <a:gd name="connsiteY59" fmla="*/ 1475679 h 5189229"/>
              <a:gd name="connsiteX60" fmla="*/ 1547057 w 10895637"/>
              <a:gd name="connsiteY60" fmla="*/ 2365899 h 5189229"/>
              <a:gd name="connsiteX61" fmla="*/ 656837 w 10895637"/>
              <a:gd name="connsiteY61" fmla="*/ 1475679 h 5189229"/>
              <a:gd name="connsiteX62" fmla="*/ 9022147 w 10895637"/>
              <a:gd name="connsiteY62" fmla="*/ 0 h 5189229"/>
              <a:gd name="connsiteX63" fmla="*/ 9543551 w 10895637"/>
              <a:gd name="connsiteY63" fmla="*/ 0 h 5189229"/>
              <a:gd name="connsiteX64" fmla="*/ 9065598 w 10895637"/>
              <a:gd name="connsiteY64" fmla="*/ 477954 h 5189229"/>
              <a:gd name="connsiteX65" fmla="*/ 8587642 w 10895637"/>
              <a:gd name="connsiteY65" fmla="*/ 1 h 5189229"/>
              <a:gd name="connsiteX66" fmla="*/ 8485680 w 10895637"/>
              <a:gd name="connsiteY66" fmla="*/ 0 h 5189229"/>
              <a:gd name="connsiteX67" fmla="*/ 9016000 w 10895637"/>
              <a:gd name="connsiteY67" fmla="*/ 530321 h 5189229"/>
              <a:gd name="connsiteX68" fmla="*/ 8125779 w 10895637"/>
              <a:gd name="connsiteY68" fmla="*/ 1420543 h 5189229"/>
              <a:gd name="connsiteX69" fmla="*/ 7235558 w 10895637"/>
              <a:gd name="connsiteY69" fmla="*/ 530321 h 5189229"/>
              <a:gd name="connsiteX70" fmla="*/ 7765878 w 10895637"/>
              <a:gd name="connsiteY70" fmla="*/ 1 h 5189229"/>
              <a:gd name="connsiteX71" fmla="*/ 6708009 w 10895637"/>
              <a:gd name="connsiteY71" fmla="*/ 0 h 5189229"/>
              <a:gd name="connsiteX72" fmla="*/ 7663917 w 10895637"/>
              <a:gd name="connsiteY72" fmla="*/ 0 h 5189229"/>
              <a:gd name="connsiteX73" fmla="*/ 7185963 w 10895637"/>
              <a:gd name="connsiteY73" fmla="*/ 477954 h 5189229"/>
              <a:gd name="connsiteX74" fmla="*/ 5886244 w 10895637"/>
              <a:gd name="connsiteY74" fmla="*/ 0 h 5189229"/>
              <a:gd name="connsiteX75" fmla="*/ 6606043 w 10895637"/>
              <a:gd name="connsiteY75" fmla="*/ 0 h 5189229"/>
              <a:gd name="connsiteX76" fmla="*/ 7136365 w 10895637"/>
              <a:gd name="connsiteY76" fmla="*/ 530322 h 5189229"/>
              <a:gd name="connsiteX77" fmla="*/ 6246143 w 10895637"/>
              <a:gd name="connsiteY77" fmla="*/ 1420543 h 5189229"/>
              <a:gd name="connsiteX78" fmla="*/ 5355921 w 10895637"/>
              <a:gd name="connsiteY78" fmla="*/ 530321 h 5189229"/>
              <a:gd name="connsiteX79" fmla="*/ 4828374 w 10895637"/>
              <a:gd name="connsiteY79" fmla="*/ 0 h 5189229"/>
              <a:gd name="connsiteX80" fmla="*/ 5784282 w 10895637"/>
              <a:gd name="connsiteY80" fmla="*/ 0 h 5189229"/>
              <a:gd name="connsiteX81" fmla="*/ 5306328 w 10895637"/>
              <a:gd name="connsiteY81" fmla="*/ 477954 h 5189229"/>
              <a:gd name="connsiteX82" fmla="*/ 4006611 w 10895637"/>
              <a:gd name="connsiteY82" fmla="*/ 0 h 5189229"/>
              <a:gd name="connsiteX83" fmla="*/ 4726410 w 10895637"/>
              <a:gd name="connsiteY83" fmla="*/ 1 h 5189229"/>
              <a:gd name="connsiteX84" fmla="*/ 5256731 w 10895637"/>
              <a:gd name="connsiteY84" fmla="*/ 530321 h 5189229"/>
              <a:gd name="connsiteX85" fmla="*/ 4366509 w 10895637"/>
              <a:gd name="connsiteY85" fmla="*/ 1420543 h 5189229"/>
              <a:gd name="connsiteX86" fmla="*/ 3476290 w 10895637"/>
              <a:gd name="connsiteY86" fmla="*/ 530321 h 5189229"/>
              <a:gd name="connsiteX87" fmla="*/ 2948738 w 10895637"/>
              <a:gd name="connsiteY87" fmla="*/ 0 h 5189229"/>
              <a:gd name="connsiteX88" fmla="*/ 3904646 w 10895637"/>
              <a:gd name="connsiteY88" fmla="*/ 0 h 5189229"/>
              <a:gd name="connsiteX89" fmla="*/ 3426692 w 10895637"/>
              <a:gd name="connsiteY89" fmla="*/ 477954 h 5189229"/>
              <a:gd name="connsiteX90" fmla="*/ 2126976 w 10895637"/>
              <a:gd name="connsiteY90" fmla="*/ 0 h 5189229"/>
              <a:gd name="connsiteX91" fmla="*/ 2846776 w 10895637"/>
              <a:gd name="connsiteY91" fmla="*/ 0 h 5189229"/>
              <a:gd name="connsiteX92" fmla="*/ 3377096 w 10895637"/>
              <a:gd name="connsiteY92" fmla="*/ 530322 h 5189229"/>
              <a:gd name="connsiteX93" fmla="*/ 2486877 w 10895637"/>
              <a:gd name="connsiteY93" fmla="*/ 1420543 h 5189229"/>
              <a:gd name="connsiteX94" fmla="*/ 1596654 w 10895637"/>
              <a:gd name="connsiteY94" fmla="*/ 530321 h 5189229"/>
              <a:gd name="connsiteX95" fmla="*/ 1069103 w 10895637"/>
              <a:gd name="connsiteY95" fmla="*/ 0 h 5189229"/>
              <a:gd name="connsiteX96" fmla="*/ 2025011 w 10895637"/>
              <a:gd name="connsiteY96" fmla="*/ 0 h 5189229"/>
              <a:gd name="connsiteX97" fmla="*/ 1547057 w 10895637"/>
              <a:gd name="connsiteY97" fmla="*/ 477954 h 5189229"/>
              <a:gd name="connsiteX98" fmla="*/ 247336 w 10895637"/>
              <a:gd name="connsiteY98" fmla="*/ 0 h 5189229"/>
              <a:gd name="connsiteX99" fmla="*/ 967138 w 10895637"/>
              <a:gd name="connsiteY99" fmla="*/ 0 h 5189229"/>
              <a:gd name="connsiteX100" fmla="*/ 1497458 w 10895637"/>
              <a:gd name="connsiteY100" fmla="*/ 530320 h 5189229"/>
              <a:gd name="connsiteX101" fmla="*/ 607237 w 10895637"/>
              <a:gd name="connsiteY101" fmla="*/ 1420542 h 5189229"/>
              <a:gd name="connsiteX102" fmla="*/ 0 w 10895637"/>
              <a:gd name="connsiteY102" fmla="*/ 813305 h 5189229"/>
              <a:gd name="connsiteX103" fmla="*/ 0 w 10895637"/>
              <a:gd name="connsiteY103" fmla="*/ 247336 h 518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0895637" h="5189229">
                <a:moveTo>
                  <a:pt x="607241" y="3408786"/>
                </a:moveTo>
                <a:lnTo>
                  <a:pt x="1497462" y="4299007"/>
                </a:lnTo>
                <a:lnTo>
                  <a:pt x="607242" y="5189229"/>
                </a:lnTo>
                <a:lnTo>
                  <a:pt x="0" y="4581987"/>
                </a:lnTo>
                <a:lnTo>
                  <a:pt x="0" y="4016028"/>
                </a:lnTo>
                <a:close/>
                <a:moveTo>
                  <a:pt x="9065598" y="2490539"/>
                </a:moveTo>
                <a:lnTo>
                  <a:pt x="9955820" y="3380760"/>
                </a:lnTo>
                <a:lnTo>
                  <a:pt x="9065598" y="4270982"/>
                </a:lnTo>
                <a:lnTo>
                  <a:pt x="8175377" y="3380761"/>
                </a:lnTo>
                <a:close/>
                <a:moveTo>
                  <a:pt x="7185963" y="2490539"/>
                </a:moveTo>
                <a:lnTo>
                  <a:pt x="8076185" y="3380761"/>
                </a:lnTo>
                <a:lnTo>
                  <a:pt x="7185964" y="4270982"/>
                </a:lnTo>
                <a:lnTo>
                  <a:pt x="6295742" y="3380760"/>
                </a:lnTo>
                <a:close/>
                <a:moveTo>
                  <a:pt x="1547057" y="2467029"/>
                </a:moveTo>
                <a:lnTo>
                  <a:pt x="2437279" y="3357251"/>
                </a:lnTo>
                <a:lnTo>
                  <a:pt x="1547057" y="4247474"/>
                </a:lnTo>
                <a:lnTo>
                  <a:pt x="656836" y="3357251"/>
                </a:lnTo>
                <a:close/>
                <a:moveTo>
                  <a:pt x="2486877" y="1525276"/>
                </a:moveTo>
                <a:lnTo>
                  <a:pt x="3377098" y="2415495"/>
                </a:lnTo>
                <a:lnTo>
                  <a:pt x="2486877" y="3305717"/>
                </a:lnTo>
                <a:lnTo>
                  <a:pt x="1596655" y="2415495"/>
                </a:lnTo>
                <a:close/>
                <a:moveTo>
                  <a:pt x="10005415" y="1525276"/>
                </a:moveTo>
                <a:lnTo>
                  <a:pt x="10895637" y="2415495"/>
                </a:lnTo>
                <a:lnTo>
                  <a:pt x="10005415" y="3305717"/>
                </a:lnTo>
                <a:lnTo>
                  <a:pt x="9115194" y="2415495"/>
                </a:lnTo>
                <a:close/>
                <a:moveTo>
                  <a:pt x="8125779" y="1525276"/>
                </a:moveTo>
                <a:lnTo>
                  <a:pt x="9016000" y="2415495"/>
                </a:lnTo>
                <a:lnTo>
                  <a:pt x="8125779" y="3305717"/>
                </a:lnTo>
                <a:lnTo>
                  <a:pt x="7235557" y="2415495"/>
                </a:lnTo>
                <a:close/>
                <a:moveTo>
                  <a:pt x="6246143" y="1525276"/>
                </a:moveTo>
                <a:lnTo>
                  <a:pt x="7136365" y="2415495"/>
                </a:lnTo>
                <a:lnTo>
                  <a:pt x="6246143" y="3305717"/>
                </a:lnTo>
                <a:lnTo>
                  <a:pt x="5355923" y="2415495"/>
                </a:lnTo>
                <a:close/>
                <a:moveTo>
                  <a:pt x="4366509" y="1525276"/>
                </a:moveTo>
                <a:lnTo>
                  <a:pt x="5256730" y="2415495"/>
                </a:lnTo>
                <a:lnTo>
                  <a:pt x="4366509" y="3305717"/>
                </a:lnTo>
                <a:lnTo>
                  <a:pt x="3476291" y="2415495"/>
                </a:lnTo>
                <a:close/>
                <a:moveTo>
                  <a:pt x="607238" y="1525274"/>
                </a:moveTo>
                <a:lnTo>
                  <a:pt x="1497459" y="2415495"/>
                </a:lnTo>
                <a:lnTo>
                  <a:pt x="607238" y="3305716"/>
                </a:lnTo>
                <a:lnTo>
                  <a:pt x="0" y="2698479"/>
                </a:lnTo>
                <a:lnTo>
                  <a:pt x="0" y="2132511"/>
                </a:lnTo>
                <a:close/>
                <a:moveTo>
                  <a:pt x="9065598" y="585458"/>
                </a:moveTo>
                <a:lnTo>
                  <a:pt x="9955819" y="1475679"/>
                </a:lnTo>
                <a:lnTo>
                  <a:pt x="9065598" y="2365899"/>
                </a:lnTo>
                <a:lnTo>
                  <a:pt x="8175377" y="1475679"/>
                </a:lnTo>
                <a:close/>
                <a:moveTo>
                  <a:pt x="7185964" y="585458"/>
                </a:moveTo>
                <a:lnTo>
                  <a:pt x="8076185" y="1475679"/>
                </a:lnTo>
                <a:lnTo>
                  <a:pt x="7185963" y="2365898"/>
                </a:lnTo>
                <a:lnTo>
                  <a:pt x="6295742" y="1475680"/>
                </a:lnTo>
                <a:close/>
                <a:moveTo>
                  <a:pt x="5306327" y="585458"/>
                </a:moveTo>
                <a:lnTo>
                  <a:pt x="6196548" y="1475679"/>
                </a:lnTo>
                <a:lnTo>
                  <a:pt x="5306328" y="2365898"/>
                </a:lnTo>
                <a:lnTo>
                  <a:pt x="4416106" y="1475679"/>
                </a:lnTo>
                <a:close/>
                <a:moveTo>
                  <a:pt x="3426696" y="585458"/>
                </a:moveTo>
                <a:lnTo>
                  <a:pt x="4316913" y="1475679"/>
                </a:lnTo>
                <a:lnTo>
                  <a:pt x="3426695" y="2365898"/>
                </a:lnTo>
                <a:lnTo>
                  <a:pt x="2536473" y="1475679"/>
                </a:lnTo>
                <a:close/>
                <a:moveTo>
                  <a:pt x="1547057" y="585456"/>
                </a:moveTo>
                <a:lnTo>
                  <a:pt x="2437279" y="1475679"/>
                </a:lnTo>
                <a:lnTo>
                  <a:pt x="1547057" y="2365899"/>
                </a:lnTo>
                <a:lnTo>
                  <a:pt x="656837" y="1475679"/>
                </a:lnTo>
                <a:close/>
                <a:moveTo>
                  <a:pt x="9022147" y="0"/>
                </a:moveTo>
                <a:lnTo>
                  <a:pt x="9543551" y="0"/>
                </a:lnTo>
                <a:lnTo>
                  <a:pt x="9065598" y="477954"/>
                </a:lnTo>
                <a:lnTo>
                  <a:pt x="8587642" y="1"/>
                </a:lnTo>
                <a:close/>
                <a:moveTo>
                  <a:pt x="8485680" y="0"/>
                </a:moveTo>
                <a:lnTo>
                  <a:pt x="9016000" y="530321"/>
                </a:lnTo>
                <a:lnTo>
                  <a:pt x="8125779" y="1420543"/>
                </a:lnTo>
                <a:lnTo>
                  <a:pt x="7235558" y="530321"/>
                </a:lnTo>
                <a:lnTo>
                  <a:pt x="7765878" y="1"/>
                </a:lnTo>
                <a:close/>
                <a:moveTo>
                  <a:pt x="6708009" y="0"/>
                </a:moveTo>
                <a:lnTo>
                  <a:pt x="7663917" y="0"/>
                </a:lnTo>
                <a:lnTo>
                  <a:pt x="7185963" y="477954"/>
                </a:lnTo>
                <a:close/>
                <a:moveTo>
                  <a:pt x="5886244" y="0"/>
                </a:moveTo>
                <a:lnTo>
                  <a:pt x="6606043" y="0"/>
                </a:lnTo>
                <a:lnTo>
                  <a:pt x="7136365" y="530322"/>
                </a:lnTo>
                <a:lnTo>
                  <a:pt x="6246143" y="1420543"/>
                </a:lnTo>
                <a:lnTo>
                  <a:pt x="5355921" y="530321"/>
                </a:lnTo>
                <a:close/>
                <a:moveTo>
                  <a:pt x="4828374" y="0"/>
                </a:moveTo>
                <a:lnTo>
                  <a:pt x="5784282" y="0"/>
                </a:lnTo>
                <a:lnTo>
                  <a:pt x="5306328" y="477954"/>
                </a:lnTo>
                <a:close/>
                <a:moveTo>
                  <a:pt x="4006611" y="0"/>
                </a:moveTo>
                <a:lnTo>
                  <a:pt x="4726410" y="1"/>
                </a:lnTo>
                <a:lnTo>
                  <a:pt x="5256731" y="530321"/>
                </a:lnTo>
                <a:lnTo>
                  <a:pt x="4366509" y="1420543"/>
                </a:lnTo>
                <a:lnTo>
                  <a:pt x="3476290" y="530321"/>
                </a:lnTo>
                <a:close/>
                <a:moveTo>
                  <a:pt x="2948738" y="0"/>
                </a:moveTo>
                <a:lnTo>
                  <a:pt x="3904646" y="0"/>
                </a:lnTo>
                <a:lnTo>
                  <a:pt x="3426692" y="477954"/>
                </a:lnTo>
                <a:close/>
                <a:moveTo>
                  <a:pt x="2126976" y="0"/>
                </a:moveTo>
                <a:lnTo>
                  <a:pt x="2846776" y="0"/>
                </a:lnTo>
                <a:lnTo>
                  <a:pt x="3377096" y="530322"/>
                </a:lnTo>
                <a:lnTo>
                  <a:pt x="2486877" y="1420543"/>
                </a:lnTo>
                <a:lnTo>
                  <a:pt x="1596654" y="530321"/>
                </a:lnTo>
                <a:close/>
                <a:moveTo>
                  <a:pt x="1069103" y="0"/>
                </a:moveTo>
                <a:lnTo>
                  <a:pt x="2025011" y="0"/>
                </a:lnTo>
                <a:lnTo>
                  <a:pt x="1547057" y="477954"/>
                </a:lnTo>
                <a:close/>
                <a:moveTo>
                  <a:pt x="247336" y="0"/>
                </a:moveTo>
                <a:lnTo>
                  <a:pt x="967138" y="0"/>
                </a:lnTo>
                <a:lnTo>
                  <a:pt x="1497458" y="530320"/>
                </a:lnTo>
                <a:lnTo>
                  <a:pt x="607237" y="1420542"/>
                </a:lnTo>
                <a:lnTo>
                  <a:pt x="0" y="813305"/>
                </a:lnTo>
                <a:lnTo>
                  <a:pt x="0" y="247336"/>
                </a:lnTo>
                <a:close/>
              </a:path>
            </a:pathLst>
          </a:custGeom>
        </p:spPr>
        <p:txBody>
          <a:bodyPr wrap="square">
            <a:noAutofit/>
          </a:bodyPr>
          <a:lstStyle/>
          <a:p>
            <a:endParaRPr lang="zh-CN" altLang="en-US"/>
          </a:p>
        </p:txBody>
      </p:sp>
      <p:sp>
        <p:nvSpPr>
          <p:cNvPr id="9801" name="副标题 2"/>
          <p:cNvSpPr>
            <a:spLocks noGrp="1"/>
          </p:cNvSpPr>
          <p:nvPr>
            <p:ph type="subTitle" idx="1"/>
          </p:nvPr>
        </p:nvSpPr>
        <p:spPr>
          <a:xfrm>
            <a:off x="2381250" y="5411074"/>
            <a:ext cx="9139238" cy="558799"/>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US" altLang="zh-CN" dirty="0"/>
              <a:t>Click to edit Master subtitle style</a:t>
            </a:r>
          </a:p>
        </p:txBody>
      </p:sp>
      <p:sp>
        <p:nvSpPr>
          <p:cNvPr id="9802" name="标题 1"/>
          <p:cNvSpPr>
            <a:spLocks noGrp="1"/>
          </p:cNvSpPr>
          <p:nvPr>
            <p:ph type="ctrTitle"/>
          </p:nvPr>
        </p:nvSpPr>
        <p:spPr>
          <a:xfrm>
            <a:off x="2381250" y="4314548"/>
            <a:ext cx="9139238" cy="1096527"/>
          </a:xfrm>
        </p:spPr>
        <p:txBody>
          <a:bodyPr anchor="b">
            <a:normAutofit/>
          </a:bodyPr>
          <a:lstStyle>
            <a:lvl1pPr algn="l">
              <a:defRPr sz="4000">
                <a:solidFill>
                  <a:schemeClr val="accent1"/>
                </a:solidFill>
              </a:defRPr>
            </a:lvl1pPr>
          </a:lstStyle>
          <a:p>
            <a:r>
              <a:rPr lang="en-US" altLang="zh-CN" dirty="0"/>
              <a:t>Click to edit Master title style</a:t>
            </a:r>
            <a:endParaRPr lang="zh-CN" altLang="en-US" dirty="0"/>
          </a:p>
        </p:txBody>
      </p:sp>
      <p:sp>
        <p:nvSpPr>
          <p:cNvPr id="322" name="任意多边形: 形状 321"/>
          <p:cNvSpPr/>
          <p:nvPr userDrawn="1"/>
        </p:nvSpPr>
        <p:spPr>
          <a:xfrm rot="2700000">
            <a:off x="8938663" y="-367058"/>
            <a:ext cx="4163901" cy="3883643"/>
          </a:xfrm>
          <a:custGeom>
            <a:avLst/>
            <a:gdLst>
              <a:gd name="connsiteX0" fmla="*/ 1 w 4163901"/>
              <a:gd name="connsiteY0" fmla="*/ 1796719 h 3883643"/>
              <a:gd name="connsiteX1" fmla="*/ 1796720 w 4163901"/>
              <a:gd name="connsiteY1" fmla="*/ 0 h 3883643"/>
              <a:gd name="connsiteX2" fmla="*/ 4163901 w 4163901"/>
              <a:gd name="connsiteY2" fmla="*/ 2367181 h 3883643"/>
              <a:gd name="connsiteX3" fmla="*/ 4163901 w 4163901"/>
              <a:gd name="connsiteY3" fmla="*/ 3883643 h 3883643"/>
              <a:gd name="connsiteX4" fmla="*/ 0 w 4163901"/>
              <a:gd name="connsiteY4" fmla="*/ 3883643 h 3883643"/>
              <a:gd name="connsiteX5" fmla="*/ 0 w 4163901"/>
              <a:gd name="connsiteY5" fmla="*/ 3879725 h 3883643"/>
              <a:gd name="connsiteX6" fmla="*/ 2679672 w 4163901"/>
              <a:gd name="connsiteY6" fmla="*/ 3879726 h 3883643"/>
              <a:gd name="connsiteX7" fmla="*/ 2679672 w 4163901"/>
              <a:gd name="connsiteY7" fmla="*/ 2536975 h 3883643"/>
              <a:gd name="connsiteX8" fmla="*/ 0 w 4163901"/>
              <a:gd name="connsiteY8" fmla="*/ 2536975 h 3883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3901" h="3883643">
                <a:moveTo>
                  <a:pt x="1" y="1796719"/>
                </a:moveTo>
                <a:lnTo>
                  <a:pt x="1796720" y="0"/>
                </a:lnTo>
                <a:lnTo>
                  <a:pt x="4163901" y="2367181"/>
                </a:lnTo>
                <a:lnTo>
                  <a:pt x="4163901" y="3883643"/>
                </a:lnTo>
                <a:lnTo>
                  <a:pt x="0" y="3883643"/>
                </a:lnTo>
                <a:lnTo>
                  <a:pt x="0" y="3879725"/>
                </a:lnTo>
                <a:lnTo>
                  <a:pt x="2679672" y="3879726"/>
                </a:lnTo>
                <a:lnTo>
                  <a:pt x="2679672" y="2536975"/>
                </a:lnTo>
                <a:lnTo>
                  <a:pt x="0" y="25369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317" name="任意多边形: 形状 316"/>
          <p:cNvSpPr/>
          <p:nvPr userDrawn="1"/>
        </p:nvSpPr>
        <p:spPr>
          <a:xfrm rot="2700000">
            <a:off x="-1059549" y="1356915"/>
            <a:ext cx="2119098" cy="2119098"/>
          </a:xfrm>
          <a:custGeom>
            <a:avLst/>
            <a:gdLst>
              <a:gd name="connsiteX0" fmla="*/ 1330475 w 2119098"/>
              <a:gd name="connsiteY0" fmla="*/ 1330475 h 2119098"/>
              <a:gd name="connsiteX1" fmla="*/ 2119098 w 2119098"/>
              <a:gd name="connsiteY1" fmla="*/ 1330475 h 2119098"/>
              <a:gd name="connsiteX2" fmla="*/ 2119098 w 2119098"/>
              <a:gd name="connsiteY2" fmla="*/ 2119098 h 2119098"/>
              <a:gd name="connsiteX3" fmla="*/ 0 w 2119098"/>
              <a:gd name="connsiteY3" fmla="*/ 0 h 2119098"/>
              <a:gd name="connsiteX4" fmla="*/ 788624 w 2119098"/>
              <a:gd name="connsiteY4" fmla="*/ 0 h 2119098"/>
              <a:gd name="connsiteX5" fmla="*/ 788624 w 2119098"/>
              <a:gd name="connsiteY5" fmla="*/ 788624 h 211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9098" h="2119098">
                <a:moveTo>
                  <a:pt x="1330475" y="1330475"/>
                </a:moveTo>
                <a:lnTo>
                  <a:pt x="2119098" y="1330475"/>
                </a:lnTo>
                <a:lnTo>
                  <a:pt x="2119098" y="2119098"/>
                </a:lnTo>
                <a:close/>
                <a:moveTo>
                  <a:pt x="0" y="0"/>
                </a:moveTo>
                <a:lnTo>
                  <a:pt x="788624" y="0"/>
                </a:lnTo>
                <a:lnTo>
                  <a:pt x="788624" y="7886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节标题">
    <p:bg>
      <p:bgRef idx="1001">
        <a:schemeClr val="bg1"/>
      </p:bgRef>
    </p:bg>
    <p:spTree>
      <p:nvGrpSpPr>
        <p:cNvPr id="1" name=""/>
        <p:cNvGrpSpPr/>
        <p:nvPr/>
      </p:nvGrpSpPr>
      <p:grpSpPr>
        <a:xfrm>
          <a:off x="0" y="0"/>
          <a:ext cx="0" cy="0"/>
          <a:chOff x="0" y="0"/>
          <a:chExt cx="0" cy="0"/>
        </a:xfrm>
      </p:grpSpPr>
      <p:sp>
        <p:nvSpPr>
          <p:cNvPr id="62" name="图片占位符 61"/>
          <p:cNvSpPr>
            <a:spLocks noGrp="1"/>
          </p:cNvSpPr>
          <p:nvPr>
            <p:ph type="pic" sz="quarter" idx="17"/>
          </p:nvPr>
        </p:nvSpPr>
        <p:spPr>
          <a:xfrm>
            <a:off x="185318" y="0"/>
            <a:ext cx="4777207" cy="3148659"/>
          </a:xfrm>
          <a:custGeom>
            <a:avLst/>
            <a:gdLst>
              <a:gd name="connsiteX0" fmla="*/ 4797271 w 5564108"/>
              <a:gd name="connsiteY0" fmla="*/ 2135449 h 3667306"/>
              <a:gd name="connsiteX1" fmla="*/ 5564108 w 5564108"/>
              <a:gd name="connsiteY1" fmla="*/ 2900469 h 3667306"/>
              <a:gd name="connsiteX2" fmla="*/ 4799086 w 5564108"/>
              <a:gd name="connsiteY2" fmla="*/ 3667306 h 3667306"/>
              <a:gd name="connsiteX3" fmla="*/ 4032250 w 5564108"/>
              <a:gd name="connsiteY3" fmla="*/ 2902285 h 3667306"/>
              <a:gd name="connsiteX4" fmla="*/ 1571472 w 5564108"/>
              <a:gd name="connsiteY4" fmla="*/ 2135449 h 3667306"/>
              <a:gd name="connsiteX5" fmla="*/ 2338307 w 5564108"/>
              <a:gd name="connsiteY5" fmla="*/ 2900470 h 3667306"/>
              <a:gd name="connsiteX6" fmla="*/ 1573287 w 5564108"/>
              <a:gd name="connsiteY6" fmla="*/ 3667305 h 3667306"/>
              <a:gd name="connsiteX7" fmla="*/ 806451 w 5564108"/>
              <a:gd name="connsiteY7" fmla="*/ 2902284 h 3667306"/>
              <a:gd name="connsiteX8" fmla="*/ 3184371 w 5564108"/>
              <a:gd name="connsiteY8" fmla="*/ 2135448 h 3667306"/>
              <a:gd name="connsiteX9" fmla="*/ 3951207 w 5564108"/>
              <a:gd name="connsiteY9" fmla="*/ 2900469 h 3667306"/>
              <a:gd name="connsiteX10" fmla="*/ 3186186 w 5564108"/>
              <a:gd name="connsiteY10" fmla="*/ 3667305 h 3667306"/>
              <a:gd name="connsiteX11" fmla="*/ 2419350 w 5564108"/>
              <a:gd name="connsiteY11" fmla="*/ 2902284 h 3667306"/>
              <a:gd name="connsiteX12" fmla="*/ 2377921 w 5564108"/>
              <a:gd name="connsiteY12" fmla="*/ 1343278 h 3667306"/>
              <a:gd name="connsiteX13" fmla="*/ 3144757 w 5564108"/>
              <a:gd name="connsiteY13" fmla="*/ 2108299 h 3667306"/>
              <a:gd name="connsiteX14" fmla="*/ 2379736 w 5564108"/>
              <a:gd name="connsiteY14" fmla="*/ 2875134 h 3667306"/>
              <a:gd name="connsiteX15" fmla="*/ 1612901 w 5564108"/>
              <a:gd name="connsiteY15" fmla="*/ 2110113 h 3667306"/>
              <a:gd name="connsiteX16" fmla="*/ 765021 w 5564108"/>
              <a:gd name="connsiteY16" fmla="*/ 1343277 h 3667306"/>
              <a:gd name="connsiteX17" fmla="*/ 1531858 w 5564108"/>
              <a:gd name="connsiteY17" fmla="*/ 2108298 h 3667306"/>
              <a:gd name="connsiteX18" fmla="*/ 766836 w 5564108"/>
              <a:gd name="connsiteY18" fmla="*/ 2875134 h 3667306"/>
              <a:gd name="connsiteX19" fmla="*/ 0 w 5564108"/>
              <a:gd name="connsiteY19" fmla="*/ 2110113 h 3667306"/>
              <a:gd name="connsiteX20" fmla="*/ 3993242 w 5564108"/>
              <a:gd name="connsiteY20" fmla="*/ 1339579 h 3667306"/>
              <a:gd name="connsiteX21" fmla="*/ 4760078 w 5564108"/>
              <a:gd name="connsiteY21" fmla="*/ 2104600 h 3667306"/>
              <a:gd name="connsiteX22" fmla="*/ 3995057 w 5564108"/>
              <a:gd name="connsiteY22" fmla="*/ 2871436 h 3667306"/>
              <a:gd name="connsiteX23" fmla="*/ 3228222 w 5564108"/>
              <a:gd name="connsiteY23" fmla="*/ 2106415 h 3667306"/>
              <a:gd name="connsiteX24" fmla="*/ 1571472 w 5564108"/>
              <a:gd name="connsiteY24" fmla="*/ 536985 h 3667306"/>
              <a:gd name="connsiteX25" fmla="*/ 2338306 w 5564108"/>
              <a:gd name="connsiteY25" fmla="*/ 1302004 h 3667306"/>
              <a:gd name="connsiteX26" fmla="*/ 1573287 w 5564108"/>
              <a:gd name="connsiteY26" fmla="*/ 2068840 h 3667306"/>
              <a:gd name="connsiteX27" fmla="*/ 806451 w 5564108"/>
              <a:gd name="connsiteY27" fmla="*/ 1303819 h 3667306"/>
              <a:gd name="connsiteX28" fmla="*/ 3184371 w 5564108"/>
              <a:gd name="connsiteY28" fmla="*/ 536984 h 3667306"/>
              <a:gd name="connsiteX29" fmla="*/ 3951207 w 5564108"/>
              <a:gd name="connsiteY29" fmla="*/ 1302004 h 3667306"/>
              <a:gd name="connsiteX30" fmla="*/ 3186186 w 5564108"/>
              <a:gd name="connsiteY30" fmla="*/ 2068840 h 3667306"/>
              <a:gd name="connsiteX31" fmla="*/ 2419350 w 5564108"/>
              <a:gd name="connsiteY31" fmla="*/ 1303819 h 3667306"/>
              <a:gd name="connsiteX32" fmla="*/ 4797271 w 5564108"/>
              <a:gd name="connsiteY32" fmla="*/ 526123 h 3667306"/>
              <a:gd name="connsiteX33" fmla="*/ 5564107 w 5564108"/>
              <a:gd name="connsiteY33" fmla="*/ 1291144 h 3667306"/>
              <a:gd name="connsiteX34" fmla="*/ 4799086 w 5564108"/>
              <a:gd name="connsiteY34" fmla="*/ 2057979 h 3667306"/>
              <a:gd name="connsiteX35" fmla="*/ 4032250 w 5564108"/>
              <a:gd name="connsiteY35" fmla="*/ 1292958 h 3667306"/>
              <a:gd name="connsiteX36" fmla="*/ 4341202 w 5564108"/>
              <a:gd name="connsiteY36" fmla="*/ 1 h 3667306"/>
              <a:gd name="connsiteX37" fmla="*/ 5254803 w 5564108"/>
              <a:gd name="connsiteY37" fmla="*/ 1 h 3667306"/>
              <a:gd name="connsiteX38" fmla="*/ 4799085 w 5564108"/>
              <a:gd name="connsiteY38" fmla="*/ 456799 h 3667306"/>
              <a:gd name="connsiteX39" fmla="*/ 3655447 w 5564108"/>
              <a:gd name="connsiteY39" fmla="*/ 1 h 3667306"/>
              <a:gd name="connsiteX40" fmla="*/ 3186186 w 5564108"/>
              <a:gd name="connsiteY40" fmla="*/ 470376 h 3667306"/>
              <a:gd name="connsiteX41" fmla="*/ 2714695 w 5564108"/>
              <a:gd name="connsiteY41" fmla="*/ 1 h 3667306"/>
              <a:gd name="connsiteX42" fmla="*/ 2633714 w 5564108"/>
              <a:gd name="connsiteY42" fmla="*/ 1 h 3667306"/>
              <a:gd name="connsiteX43" fmla="*/ 3144757 w 5564108"/>
              <a:gd name="connsiteY43" fmla="*/ 509834 h 3667306"/>
              <a:gd name="connsiteX44" fmla="*/ 2379736 w 5564108"/>
              <a:gd name="connsiteY44" fmla="*/ 1276669 h 3667306"/>
              <a:gd name="connsiteX45" fmla="*/ 1612901 w 5564108"/>
              <a:gd name="connsiteY45" fmla="*/ 511649 h 3667306"/>
              <a:gd name="connsiteX46" fmla="*/ 2123338 w 5564108"/>
              <a:gd name="connsiteY46" fmla="*/ 1 h 3667306"/>
              <a:gd name="connsiteX47" fmla="*/ 3734969 w 5564108"/>
              <a:gd name="connsiteY47" fmla="*/ 0 h 3667306"/>
              <a:gd name="connsiteX48" fmla="*/ 4252742 w 5564108"/>
              <a:gd name="connsiteY48" fmla="*/ 1 h 3667306"/>
              <a:gd name="connsiteX49" fmla="*/ 4760078 w 5564108"/>
              <a:gd name="connsiteY49" fmla="*/ 506136 h 3667306"/>
              <a:gd name="connsiteX50" fmla="*/ 3995058 w 5564108"/>
              <a:gd name="connsiteY50" fmla="*/ 1272971 h 3667306"/>
              <a:gd name="connsiteX51" fmla="*/ 3228221 w 5564108"/>
              <a:gd name="connsiteY51" fmla="*/ 507951 h 3667306"/>
              <a:gd name="connsiteX52" fmla="*/ 2042548 w 5564108"/>
              <a:gd name="connsiteY52" fmla="*/ 0 h 3667306"/>
              <a:gd name="connsiteX53" fmla="*/ 1573287 w 5564108"/>
              <a:gd name="connsiteY53" fmla="*/ 470376 h 3667306"/>
              <a:gd name="connsiteX54" fmla="*/ 1101795 w 5564108"/>
              <a:gd name="connsiteY54" fmla="*/ 0 h 366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564108" h="3667306">
                <a:moveTo>
                  <a:pt x="4797271" y="2135449"/>
                </a:moveTo>
                <a:lnTo>
                  <a:pt x="5564108" y="2900469"/>
                </a:lnTo>
                <a:lnTo>
                  <a:pt x="4799086" y="3667306"/>
                </a:lnTo>
                <a:lnTo>
                  <a:pt x="4032250" y="2902285"/>
                </a:lnTo>
                <a:close/>
                <a:moveTo>
                  <a:pt x="1571472" y="2135449"/>
                </a:moveTo>
                <a:lnTo>
                  <a:pt x="2338307" y="2900470"/>
                </a:lnTo>
                <a:lnTo>
                  <a:pt x="1573287" y="3667305"/>
                </a:lnTo>
                <a:lnTo>
                  <a:pt x="806451" y="2902284"/>
                </a:lnTo>
                <a:close/>
                <a:moveTo>
                  <a:pt x="3184371" y="2135448"/>
                </a:moveTo>
                <a:lnTo>
                  <a:pt x="3951207" y="2900469"/>
                </a:lnTo>
                <a:lnTo>
                  <a:pt x="3186186" y="3667305"/>
                </a:lnTo>
                <a:lnTo>
                  <a:pt x="2419350" y="2902284"/>
                </a:lnTo>
                <a:close/>
                <a:moveTo>
                  <a:pt x="2377921" y="1343278"/>
                </a:moveTo>
                <a:lnTo>
                  <a:pt x="3144757" y="2108299"/>
                </a:lnTo>
                <a:lnTo>
                  <a:pt x="2379736" y="2875134"/>
                </a:lnTo>
                <a:lnTo>
                  <a:pt x="1612901" y="2110113"/>
                </a:lnTo>
                <a:close/>
                <a:moveTo>
                  <a:pt x="765021" y="1343277"/>
                </a:moveTo>
                <a:lnTo>
                  <a:pt x="1531858" y="2108298"/>
                </a:lnTo>
                <a:lnTo>
                  <a:pt x="766836" y="2875134"/>
                </a:lnTo>
                <a:lnTo>
                  <a:pt x="0" y="2110113"/>
                </a:lnTo>
                <a:close/>
                <a:moveTo>
                  <a:pt x="3993242" y="1339579"/>
                </a:moveTo>
                <a:lnTo>
                  <a:pt x="4760078" y="2104600"/>
                </a:lnTo>
                <a:lnTo>
                  <a:pt x="3995057" y="2871436"/>
                </a:lnTo>
                <a:lnTo>
                  <a:pt x="3228222" y="2106415"/>
                </a:lnTo>
                <a:close/>
                <a:moveTo>
                  <a:pt x="1571472" y="536985"/>
                </a:moveTo>
                <a:lnTo>
                  <a:pt x="2338306" y="1302004"/>
                </a:lnTo>
                <a:lnTo>
                  <a:pt x="1573287" y="2068840"/>
                </a:lnTo>
                <a:lnTo>
                  <a:pt x="806451" y="1303819"/>
                </a:lnTo>
                <a:close/>
                <a:moveTo>
                  <a:pt x="3184371" y="536984"/>
                </a:moveTo>
                <a:lnTo>
                  <a:pt x="3951207" y="1302004"/>
                </a:lnTo>
                <a:lnTo>
                  <a:pt x="3186186" y="2068840"/>
                </a:lnTo>
                <a:lnTo>
                  <a:pt x="2419350" y="1303819"/>
                </a:lnTo>
                <a:close/>
                <a:moveTo>
                  <a:pt x="4797271" y="526123"/>
                </a:moveTo>
                <a:lnTo>
                  <a:pt x="5564107" y="1291144"/>
                </a:lnTo>
                <a:lnTo>
                  <a:pt x="4799086" y="2057979"/>
                </a:lnTo>
                <a:lnTo>
                  <a:pt x="4032250" y="1292958"/>
                </a:lnTo>
                <a:close/>
                <a:moveTo>
                  <a:pt x="4341202" y="1"/>
                </a:moveTo>
                <a:lnTo>
                  <a:pt x="5254803" y="1"/>
                </a:lnTo>
                <a:lnTo>
                  <a:pt x="4799085" y="456799"/>
                </a:lnTo>
                <a:close/>
                <a:moveTo>
                  <a:pt x="3655447" y="1"/>
                </a:moveTo>
                <a:lnTo>
                  <a:pt x="3186186" y="470376"/>
                </a:lnTo>
                <a:lnTo>
                  <a:pt x="2714695" y="1"/>
                </a:lnTo>
                <a:close/>
                <a:moveTo>
                  <a:pt x="2633714" y="1"/>
                </a:moveTo>
                <a:lnTo>
                  <a:pt x="3144757" y="509834"/>
                </a:lnTo>
                <a:lnTo>
                  <a:pt x="2379736" y="1276669"/>
                </a:lnTo>
                <a:lnTo>
                  <a:pt x="1612901" y="511649"/>
                </a:lnTo>
                <a:lnTo>
                  <a:pt x="2123338" y="1"/>
                </a:lnTo>
                <a:close/>
                <a:moveTo>
                  <a:pt x="3734969" y="0"/>
                </a:moveTo>
                <a:lnTo>
                  <a:pt x="4252742" y="1"/>
                </a:lnTo>
                <a:lnTo>
                  <a:pt x="4760078" y="506136"/>
                </a:lnTo>
                <a:lnTo>
                  <a:pt x="3995058" y="1272971"/>
                </a:lnTo>
                <a:lnTo>
                  <a:pt x="3228221" y="507951"/>
                </a:lnTo>
                <a:close/>
                <a:moveTo>
                  <a:pt x="2042548" y="0"/>
                </a:moveTo>
                <a:lnTo>
                  <a:pt x="1573287" y="470376"/>
                </a:lnTo>
                <a:lnTo>
                  <a:pt x="1101795" y="0"/>
                </a:lnTo>
                <a:close/>
              </a:path>
            </a:pathLst>
          </a:custGeom>
        </p:spPr>
        <p:txBody>
          <a:bodyPr wrap="square">
            <a:noAutofit/>
          </a:bodyPr>
          <a:lstStyle/>
          <a:p>
            <a:endParaRPr lang="zh-CN" altLang="en-US"/>
          </a:p>
        </p:txBody>
      </p:sp>
      <p:sp>
        <p:nvSpPr>
          <p:cNvPr id="61" name="任意多边形: 形状 60"/>
          <p:cNvSpPr/>
          <p:nvPr userDrawn="1"/>
        </p:nvSpPr>
        <p:spPr>
          <a:xfrm rot="18895927">
            <a:off x="-741774" y="-8938"/>
            <a:ext cx="2458932" cy="2339486"/>
          </a:xfrm>
          <a:custGeom>
            <a:avLst/>
            <a:gdLst>
              <a:gd name="connsiteX0" fmla="*/ 1981637 w 2863967"/>
              <a:gd name="connsiteY0" fmla="*/ 0 h 2724846"/>
              <a:gd name="connsiteX1" fmla="*/ 2863967 w 2863967"/>
              <a:gd name="connsiteY1" fmla="*/ 884424 h 2724846"/>
              <a:gd name="connsiteX2" fmla="*/ 2863967 w 2863967"/>
              <a:gd name="connsiteY2" fmla="*/ 1572560 h 2724846"/>
              <a:gd name="connsiteX3" fmla="*/ 581336 w 2863967"/>
              <a:gd name="connsiteY3" fmla="*/ 1572560 h 2724846"/>
              <a:gd name="connsiteX4" fmla="*/ 581336 w 2863967"/>
              <a:gd name="connsiteY4" fmla="*/ 2724846 h 2724846"/>
              <a:gd name="connsiteX5" fmla="*/ 0 w 2863967"/>
              <a:gd name="connsiteY5" fmla="*/ 2724846 h 2724846"/>
              <a:gd name="connsiteX6" fmla="*/ 0 w 2863967"/>
              <a:gd name="connsiteY6" fmla="*/ 1976947 h 2724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967" h="2724846">
                <a:moveTo>
                  <a:pt x="1981637" y="0"/>
                </a:moveTo>
                <a:lnTo>
                  <a:pt x="2863967" y="884424"/>
                </a:lnTo>
                <a:lnTo>
                  <a:pt x="2863967" y="1572560"/>
                </a:lnTo>
                <a:lnTo>
                  <a:pt x="581336" y="1572560"/>
                </a:lnTo>
                <a:lnTo>
                  <a:pt x="581336" y="2724846"/>
                </a:lnTo>
                <a:lnTo>
                  <a:pt x="0" y="2724846"/>
                </a:lnTo>
                <a:lnTo>
                  <a:pt x="0" y="197694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20" name="标题 1"/>
          <p:cNvSpPr>
            <a:spLocks noGrp="1"/>
          </p:cNvSpPr>
          <p:nvPr>
            <p:ph type="title"/>
          </p:nvPr>
        </p:nvSpPr>
        <p:spPr>
          <a:xfrm>
            <a:off x="6096000" y="3954002"/>
            <a:ext cx="5424488" cy="656792"/>
          </a:xfrm>
        </p:spPr>
        <p:txBody>
          <a:bodyPr anchor="b">
            <a:normAutofit/>
          </a:bodyPr>
          <a:lstStyle>
            <a:lvl1pPr algn="l">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p:ph type="body" idx="1"/>
          </p:nvPr>
        </p:nvSpPr>
        <p:spPr>
          <a:xfrm>
            <a:off x="6096000" y="4610793"/>
            <a:ext cx="5424488" cy="1015623"/>
          </a:xfrm>
        </p:spPr>
        <p:txBody>
          <a:bodyPr anchor="t">
            <a:normAutofit/>
          </a:bodyPr>
          <a:lstStyle>
            <a:lvl1pPr marL="0" indent="0" algn="l">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p>
        </p:txBody>
      </p:sp>
      <p:pic>
        <p:nvPicPr>
          <p:cNvPr id="7" name="图片 6" descr="3C5EEB60D8612D4B7AC81916BAD_73A9D09F_43B8"/>
          <p:cNvPicPr>
            <a:picLocks noChangeAspect="1"/>
          </p:cNvPicPr>
          <p:nvPr userDrawn="1"/>
        </p:nvPicPr>
        <p:blipFill>
          <a:blip r:embed="rId2"/>
          <a:stretch>
            <a:fillRect/>
          </a:stretch>
        </p:blipFill>
        <p:spPr>
          <a:xfrm>
            <a:off x="9234170" y="214630"/>
            <a:ext cx="2286635" cy="101854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t>2026/7/16</a:t>
            </a:fld>
            <a:endParaRPr lang="zh-CN" altLang="en-US"/>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pic>
        <p:nvPicPr>
          <p:cNvPr id="7" name="图片 6" descr="3C5EEB60D8612D4B7AC81916BAD_73A9D09F_43B8"/>
          <p:cNvPicPr>
            <a:picLocks noChangeAspect="1"/>
          </p:cNvPicPr>
          <p:nvPr userDrawn="1"/>
        </p:nvPicPr>
        <p:blipFill>
          <a:blip r:embed="rId2"/>
          <a:stretch>
            <a:fillRect/>
          </a:stretch>
        </p:blipFill>
        <p:spPr>
          <a:xfrm>
            <a:off x="9234170" y="214630"/>
            <a:ext cx="2286635" cy="10185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Ref idx="1001">
        <a:schemeClr val="bg1"/>
      </p:bgRef>
    </p:bg>
    <p:spTree>
      <p:nvGrpSpPr>
        <p:cNvPr id="1" name=""/>
        <p:cNvGrpSpPr/>
        <p:nvPr/>
      </p:nvGrpSpPr>
      <p:grpSpPr>
        <a:xfrm>
          <a:off x="0" y="0"/>
          <a:ext cx="0" cy="0"/>
          <a:chOff x="0" y="0"/>
          <a:chExt cx="0" cy="0"/>
        </a:xfrm>
      </p:grpSpPr>
      <p:sp>
        <p:nvSpPr>
          <p:cNvPr id="13" name="标题 1"/>
          <p:cNvSpPr>
            <a:spLocks noGrp="1"/>
          </p:cNvSpPr>
          <p:nvPr>
            <p:ph type="ctrTitle" hasCustomPrompt="1"/>
          </p:nvPr>
        </p:nvSpPr>
        <p:spPr>
          <a:xfrm>
            <a:off x="6414001" y="3249227"/>
            <a:ext cx="4701233" cy="1508067"/>
          </a:xfrm>
        </p:spPr>
        <p:txBody>
          <a:bodyPr anchor="b">
            <a:normAutofit/>
          </a:bodyPr>
          <a:lstStyle>
            <a:lvl1pPr marL="0" indent="0" algn="l">
              <a:buFont typeface="Arial" panose="020B060402020209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6414001" y="5039751"/>
            <a:ext cx="4701233" cy="310871"/>
          </a:xfrm>
        </p:spPr>
        <p:txBody>
          <a:bodyPr vert="horz" lIns="91440" tIns="45720" rIns="91440" bIns="45720" rtlCol="0">
            <a:normAutofit/>
          </a:bodyPr>
          <a:lstStyle>
            <a:lvl1pPr marL="0" indent="0" algn="l">
              <a:buNone/>
              <a:defRPr lang="zh-CN" altLang="en-US" sz="1600" smtClean="0"/>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p>
        </p:txBody>
      </p:sp>
      <p:sp>
        <p:nvSpPr>
          <p:cNvPr id="15" name="文本占位符 62"/>
          <p:cNvSpPr>
            <a:spLocks noGrp="1"/>
          </p:cNvSpPr>
          <p:nvPr>
            <p:ph type="body" sz="quarter" idx="18" hasCustomPrompt="1"/>
          </p:nvPr>
        </p:nvSpPr>
        <p:spPr>
          <a:xfrm>
            <a:off x="6414001" y="5355385"/>
            <a:ext cx="4701233" cy="310871"/>
          </a:xfrm>
        </p:spPr>
        <p:txBody>
          <a:bodyPr vert="horz" lIns="91440" tIns="45720" rIns="91440" bIns="45720" rtlCol="0">
            <a:normAutofit/>
          </a:bodyPr>
          <a:lstStyle>
            <a:lvl1pPr marL="0" indent="0" algn="l">
              <a:buNone/>
              <a:defRPr lang="zh-CN" altLang="en-US" sz="1600" smtClean="0"/>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10" name="图片占位符 9"/>
          <p:cNvSpPr>
            <a:spLocks noGrp="1"/>
          </p:cNvSpPr>
          <p:nvPr>
            <p:ph type="pic" sz="quarter" idx="19"/>
          </p:nvPr>
        </p:nvSpPr>
        <p:spPr>
          <a:xfrm>
            <a:off x="213893" y="-1"/>
            <a:ext cx="5564108" cy="3667306"/>
          </a:xfrm>
          <a:custGeom>
            <a:avLst/>
            <a:gdLst>
              <a:gd name="connsiteX0" fmla="*/ 4797271 w 5564108"/>
              <a:gd name="connsiteY0" fmla="*/ 2135449 h 3667306"/>
              <a:gd name="connsiteX1" fmla="*/ 5564108 w 5564108"/>
              <a:gd name="connsiteY1" fmla="*/ 2900469 h 3667306"/>
              <a:gd name="connsiteX2" fmla="*/ 4799086 w 5564108"/>
              <a:gd name="connsiteY2" fmla="*/ 3667306 h 3667306"/>
              <a:gd name="connsiteX3" fmla="*/ 4032250 w 5564108"/>
              <a:gd name="connsiteY3" fmla="*/ 2902285 h 3667306"/>
              <a:gd name="connsiteX4" fmla="*/ 1571472 w 5564108"/>
              <a:gd name="connsiteY4" fmla="*/ 2135449 h 3667306"/>
              <a:gd name="connsiteX5" fmla="*/ 2338307 w 5564108"/>
              <a:gd name="connsiteY5" fmla="*/ 2900470 h 3667306"/>
              <a:gd name="connsiteX6" fmla="*/ 1573287 w 5564108"/>
              <a:gd name="connsiteY6" fmla="*/ 3667305 h 3667306"/>
              <a:gd name="connsiteX7" fmla="*/ 806451 w 5564108"/>
              <a:gd name="connsiteY7" fmla="*/ 2902284 h 3667306"/>
              <a:gd name="connsiteX8" fmla="*/ 3184371 w 5564108"/>
              <a:gd name="connsiteY8" fmla="*/ 2135448 h 3667306"/>
              <a:gd name="connsiteX9" fmla="*/ 3951207 w 5564108"/>
              <a:gd name="connsiteY9" fmla="*/ 2900469 h 3667306"/>
              <a:gd name="connsiteX10" fmla="*/ 3186186 w 5564108"/>
              <a:gd name="connsiteY10" fmla="*/ 3667305 h 3667306"/>
              <a:gd name="connsiteX11" fmla="*/ 2419350 w 5564108"/>
              <a:gd name="connsiteY11" fmla="*/ 2902284 h 3667306"/>
              <a:gd name="connsiteX12" fmla="*/ 2377921 w 5564108"/>
              <a:gd name="connsiteY12" fmla="*/ 1343278 h 3667306"/>
              <a:gd name="connsiteX13" fmla="*/ 3144757 w 5564108"/>
              <a:gd name="connsiteY13" fmla="*/ 2108299 h 3667306"/>
              <a:gd name="connsiteX14" fmla="*/ 2379736 w 5564108"/>
              <a:gd name="connsiteY14" fmla="*/ 2875134 h 3667306"/>
              <a:gd name="connsiteX15" fmla="*/ 1612901 w 5564108"/>
              <a:gd name="connsiteY15" fmla="*/ 2110113 h 3667306"/>
              <a:gd name="connsiteX16" fmla="*/ 765021 w 5564108"/>
              <a:gd name="connsiteY16" fmla="*/ 1343277 h 3667306"/>
              <a:gd name="connsiteX17" fmla="*/ 1531858 w 5564108"/>
              <a:gd name="connsiteY17" fmla="*/ 2108298 h 3667306"/>
              <a:gd name="connsiteX18" fmla="*/ 766836 w 5564108"/>
              <a:gd name="connsiteY18" fmla="*/ 2875134 h 3667306"/>
              <a:gd name="connsiteX19" fmla="*/ 0 w 5564108"/>
              <a:gd name="connsiteY19" fmla="*/ 2110113 h 3667306"/>
              <a:gd name="connsiteX20" fmla="*/ 3993242 w 5564108"/>
              <a:gd name="connsiteY20" fmla="*/ 1339579 h 3667306"/>
              <a:gd name="connsiteX21" fmla="*/ 4760078 w 5564108"/>
              <a:gd name="connsiteY21" fmla="*/ 2104600 h 3667306"/>
              <a:gd name="connsiteX22" fmla="*/ 3995057 w 5564108"/>
              <a:gd name="connsiteY22" fmla="*/ 2871436 h 3667306"/>
              <a:gd name="connsiteX23" fmla="*/ 3228222 w 5564108"/>
              <a:gd name="connsiteY23" fmla="*/ 2106415 h 3667306"/>
              <a:gd name="connsiteX24" fmla="*/ 1571472 w 5564108"/>
              <a:gd name="connsiteY24" fmla="*/ 536985 h 3667306"/>
              <a:gd name="connsiteX25" fmla="*/ 2338306 w 5564108"/>
              <a:gd name="connsiteY25" fmla="*/ 1302004 h 3667306"/>
              <a:gd name="connsiteX26" fmla="*/ 1573287 w 5564108"/>
              <a:gd name="connsiteY26" fmla="*/ 2068840 h 3667306"/>
              <a:gd name="connsiteX27" fmla="*/ 806451 w 5564108"/>
              <a:gd name="connsiteY27" fmla="*/ 1303819 h 3667306"/>
              <a:gd name="connsiteX28" fmla="*/ 3184371 w 5564108"/>
              <a:gd name="connsiteY28" fmla="*/ 536984 h 3667306"/>
              <a:gd name="connsiteX29" fmla="*/ 3951207 w 5564108"/>
              <a:gd name="connsiteY29" fmla="*/ 1302004 h 3667306"/>
              <a:gd name="connsiteX30" fmla="*/ 3186186 w 5564108"/>
              <a:gd name="connsiteY30" fmla="*/ 2068840 h 3667306"/>
              <a:gd name="connsiteX31" fmla="*/ 2419350 w 5564108"/>
              <a:gd name="connsiteY31" fmla="*/ 1303819 h 3667306"/>
              <a:gd name="connsiteX32" fmla="*/ 4797271 w 5564108"/>
              <a:gd name="connsiteY32" fmla="*/ 526123 h 3667306"/>
              <a:gd name="connsiteX33" fmla="*/ 5564107 w 5564108"/>
              <a:gd name="connsiteY33" fmla="*/ 1291144 h 3667306"/>
              <a:gd name="connsiteX34" fmla="*/ 4799086 w 5564108"/>
              <a:gd name="connsiteY34" fmla="*/ 2057979 h 3667306"/>
              <a:gd name="connsiteX35" fmla="*/ 4032250 w 5564108"/>
              <a:gd name="connsiteY35" fmla="*/ 1292958 h 3667306"/>
              <a:gd name="connsiteX36" fmla="*/ 4341202 w 5564108"/>
              <a:gd name="connsiteY36" fmla="*/ 1 h 3667306"/>
              <a:gd name="connsiteX37" fmla="*/ 5254803 w 5564108"/>
              <a:gd name="connsiteY37" fmla="*/ 1 h 3667306"/>
              <a:gd name="connsiteX38" fmla="*/ 4799085 w 5564108"/>
              <a:gd name="connsiteY38" fmla="*/ 456799 h 3667306"/>
              <a:gd name="connsiteX39" fmla="*/ 3655447 w 5564108"/>
              <a:gd name="connsiteY39" fmla="*/ 1 h 3667306"/>
              <a:gd name="connsiteX40" fmla="*/ 3186186 w 5564108"/>
              <a:gd name="connsiteY40" fmla="*/ 470376 h 3667306"/>
              <a:gd name="connsiteX41" fmla="*/ 2714695 w 5564108"/>
              <a:gd name="connsiteY41" fmla="*/ 1 h 3667306"/>
              <a:gd name="connsiteX42" fmla="*/ 2633714 w 5564108"/>
              <a:gd name="connsiteY42" fmla="*/ 1 h 3667306"/>
              <a:gd name="connsiteX43" fmla="*/ 3144757 w 5564108"/>
              <a:gd name="connsiteY43" fmla="*/ 509834 h 3667306"/>
              <a:gd name="connsiteX44" fmla="*/ 2379736 w 5564108"/>
              <a:gd name="connsiteY44" fmla="*/ 1276669 h 3667306"/>
              <a:gd name="connsiteX45" fmla="*/ 1612901 w 5564108"/>
              <a:gd name="connsiteY45" fmla="*/ 511649 h 3667306"/>
              <a:gd name="connsiteX46" fmla="*/ 2123338 w 5564108"/>
              <a:gd name="connsiteY46" fmla="*/ 1 h 3667306"/>
              <a:gd name="connsiteX47" fmla="*/ 3734969 w 5564108"/>
              <a:gd name="connsiteY47" fmla="*/ 0 h 3667306"/>
              <a:gd name="connsiteX48" fmla="*/ 4252742 w 5564108"/>
              <a:gd name="connsiteY48" fmla="*/ 1 h 3667306"/>
              <a:gd name="connsiteX49" fmla="*/ 4760078 w 5564108"/>
              <a:gd name="connsiteY49" fmla="*/ 506136 h 3667306"/>
              <a:gd name="connsiteX50" fmla="*/ 3995058 w 5564108"/>
              <a:gd name="connsiteY50" fmla="*/ 1272971 h 3667306"/>
              <a:gd name="connsiteX51" fmla="*/ 3228221 w 5564108"/>
              <a:gd name="connsiteY51" fmla="*/ 507951 h 3667306"/>
              <a:gd name="connsiteX52" fmla="*/ 2042548 w 5564108"/>
              <a:gd name="connsiteY52" fmla="*/ 0 h 3667306"/>
              <a:gd name="connsiteX53" fmla="*/ 1573287 w 5564108"/>
              <a:gd name="connsiteY53" fmla="*/ 470376 h 3667306"/>
              <a:gd name="connsiteX54" fmla="*/ 1101795 w 5564108"/>
              <a:gd name="connsiteY54" fmla="*/ 0 h 366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564108" h="3667306">
                <a:moveTo>
                  <a:pt x="4797271" y="2135449"/>
                </a:moveTo>
                <a:lnTo>
                  <a:pt x="5564108" y="2900469"/>
                </a:lnTo>
                <a:lnTo>
                  <a:pt x="4799086" y="3667306"/>
                </a:lnTo>
                <a:lnTo>
                  <a:pt x="4032250" y="2902285"/>
                </a:lnTo>
                <a:close/>
                <a:moveTo>
                  <a:pt x="1571472" y="2135449"/>
                </a:moveTo>
                <a:lnTo>
                  <a:pt x="2338307" y="2900470"/>
                </a:lnTo>
                <a:lnTo>
                  <a:pt x="1573287" y="3667305"/>
                </a:lnTo>
                <a:lnTo>
                  <a:pt x="806451" y="2902284"/>
                </a:lnTo>
                <a:close/>
                <a:moveTo>
                  <a:pt x="3184371" y="2135448"/>
                </a:moveTo>
                <a:lnTo>
                  <a:pt x="3951207" y="2900469"/>
                </a:lnTo>
                <a:lnTo>
                  <a:pt x="3186186" y="3667305"/>
                </a:lnTo>
                <a:lnTo>
                  <a:pt x="2419350" y="2902284"/>
                </a:lnTo>
                <a:close/>
                <a:moveTo>
                  <a:pt x="2377921" y="1343278"/>
                </a:moveTo>
                <a:lnTo>
                  <a:pt x="3144757" y="2108299"/>
                </a:lnTo>
                <a:lnTo>
                  <a:pt x="2379736" y="2875134"/>
                </a:lnTo>
                <a:lnTo>
                  <a:pt x="1612901" y="2110113"/>
                </a:lnTo>
                <a:close/>
                <a:moveTo>
                  <a:pt x="765021" y="1343277"/>
                </a:moveTo>
                <a:lnTo>
                  <a:pt x="1531858" y="2108298"/>
                </a:lnTo>
                <a:lnTo>
                  <a:pt x="766836" y="2875134"/>
                </a:lnTo>
                <a:lnTo>
                  <a:pt x="0" y="2110113"/>
                </a:lnTo>
                <a:close/>
                <a:moveTo>
                  <a:pt x="3993242" y="1339579"/>
                </a:moveTo>
                <a:lnTo>
                  <a:pt x="4760078" y="2104600"/>
                </a:lnTo>
                <a:lnTo>
                  <a:pt x="3995057" y="2871436"/>
                </a:lnTo>
                <a:lnTo>
                  <a:pt x="3228222" y="2106415"/>
                </a:lnTo>
                <a:close/>
                <a:moveTo>
                  <a:pt x="1571472" y="536985"/>
                </a:moveTo>
                <a:lnTo>
                  <a:pt x="2338306" y="1302004"/>
                </a:lnTo>
                <a:lnTo>
                  <a:pt x="1573287" y="2068840"/>
                </a:lnTo>
                <a:lnTo>
                  <a:pt x="806451" y="1303819"/>
                </a:lnTo>
                <a:close/>
                <a:moveTo>
                  <a:pt x="3184371" y="536984"/>
                </a:moveTo>
                <a:lnTo>
                  <a:pt x="3951207" y="1302004"/>
                </a:lnTo>
                <a:lnTo>
                  <a:pt x="3186186" y="2068840"/>
                </a:lnTo>
                <a:lnTo>
                  <a:pt x="2419350" y="1303819"/>
                </a:lnTo>
                <a:close/>
                <a:moveTo>
                  <a:pt x="4797271" y="526123"/>
                </a:moveTo>
                <a:lnTo>
                  <a:pt x="5564107" y="1291144"/>
                </a:lnTo>
                <a:lnTo>
                  <a:pt x="4799086" y="2057979"/>
                </a:lnTo>
                <a:lnTo>
                  <a:pt x="4032250" y="1292958"/>
                </a:lnTo>
                <a:close/>
                <a:moveTo>
                  <a:pt x="4341202" y="1"/>
                </a:moveTo>
                <a:lnTo>
                  <a:pt x="5254803" y="1"/>
                </a:lnTo>
                <a:lnTo>
                  <a:pt x="4799085" y="456799"/>
                </a:lnTo>
                <a:close/>
                <a:moveTo>
                  <a:pt x="3655447" y="1"/>
                </a:moveTo>
                <a:lnTo>
                  <a:pt x="3186186" y="470376"/>
                </a:lnTo>
                <a:lnTo>
                  <a:pt x="2714695" y="1"/>
                </a:lnTo>
                <a:close/>
                <a:moveTo>
                  <a:pt x="2633714" y="1"/>
                </a:moveTo>
                <a:lnTo>
                  <a:pt x="3144757" y="509834"/>
                </a:lnTo>
                <a:lnTo>
                  <a:pt x="2379736" y="1276669"/>
                </a:lnTo>
                <a:lnTo>
                  <a:pt x="1612901" y="511649"/>
                </a:lnTo>
                <a:lnTo>
                  <a:pt x="2123338" y="1"/>
                </a:lnTo>
                <a:close/>
                <a:moveTo>
                  <a:pt x="3734969" y="0"/>
                </a:moveTo>
                <a:lnTo>
                  <a:pt x="4252742" y="1"/>
                </a:lnTo>
                <a:lnTo>
                  <a:pt x="4760078" y="506136"/>
                </a:lnTo>
                <a:lnTo>
                  <a:pt x="3995058" y="1272971"/>
                </a:lnTo>
                <a:lnTo>
                  <a:pt x="3228221" y="507951"/>
                </a:lnTo>
                <a:close/>
                <a:moveTo>
                  <a:pt x="2042548" y="0"/>
                </a:moveTo>
                <a:lnTo>
                  <a:pt x="1573287" y="470376"/>
                </a:lnTo>
                <a:lnTo>
                  <a:pt x="1101795" y="0"/>
                </a:lnTo>
                <a:close/>
              </a:path>
            </a:pathLst>
          </a:custGeom>
        </p:spPr>
        <p:txBody>
          <a:bodyPr wrap="square">
            <a:noAutofit/>
          </a:bodyPr>
          <a:lstStyle/>
          <a:p>
            <a:endParaRPr lang="zh-CN" altLang="en-US"/>
          </a:p>
        </p:txBody>
      </p:sp>
      <p:sp>
        <p:nvSpPr>
          <p:cNvPr id="11" name="任意多边形: 形状 10"/>
          <p:cNvSpPr/>
          <p:nvPr userDrawn="1"/>
        </p:nvSpPr>
        <p:spPr>
          <a:xfrm rot="18895927">
            <a:off x="-855667" y="-11063"/>
            <a:ext cx="2863967" cy="2724846"/>
          </a:xfrm>
          <a:custGeom>
            <a:avLst/>
            <a:gdLst>
              <a:gd name="connsiteX0" fmla="*/ 1981637 w 2863967"/>
              <a:gd name="connsiteY0" fmla="*/ 0 h 2724846"/>
              <a:gd name="connsiteX1" fmla="*/ 2863967 w 2863967"/>
              <a:gd name="connsiteY1" fmla="*/ 884424 h 2724846"/>
              <a:gd name="connsiteX2" fmla="*/ 2863967 w 2863967"/>
              <a:gd name="connsiteY2" fmla="*/ 1572560 h 2724846"/>
              <a:gd name="connsiteX3" fmla="*/ 581336 w 2863967"/>
              <a:gd name="connsiteY3" fmla="*/ 1572560 h 2724846"/>
              <a:gd name="connsiteX4" fmla="*/ 581336 w 2863967"/>
              <a:gd name="connsiteY4" fmla="*/ 2724846 h 2724846"/>
              <a:gd name="connsiteX5" fmla="*/ 0 w 2863967"/>
              <a:gd name="connsiteY5" fmla="*/ 2724846 h 2724846"/>
              <a:gd name="connsiteX6" fmla="*/ 0 w 2863967"/>
              <a:gd name="connsiteY6" fmla="*/ 1976947 h 2724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967" h="2724846">
                <a:moveTo>
                  <a:pt x="1981637" y="0"/>
                </a:moveTo>
                <a:lnTo>
                  <a:pt x="2863967" y="884424"/>
                </a:lnTo>
                <a:lnTo>
                  <a:pt x="2863967" y="1572560"/>
                </a:lnTo>
                <a:lnTo>
                  <a:pt x="581336" y="1572560"/>
                </a:lnTo>
                <a:lnTo>
                  <a:pt x="581336" y="2724846"/>
                </a:lnTo>
                <a:lnTo>
                  <a:pt x="0" y="2724846"/>
                </a:lnTo>
                <a:lnTo>
                  <a:pt x="0" y="197694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8" y="1122377"/>
            <a:ext cx="10363291" cy="2387629"/>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13" y="3602082"/>
            <a:ext cx="9144080" cy="165578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5B74AC4-E636-4280-B423-8A583CE7E7A9}" type="datetimeFigureOut">
              <a:rPr lang="zh-CN" altLang="en-US" smtClean="0"/>
              <a:t>2026/7/16</a:t>
            </a:fld>
            <a:endParaRPr lang="zh-CN" altLang="en-US"/>
          </a:p>
        </p:txBody>
      </p:sp>
      <p:sp>
        <p:nvSpPr>
          <p:cNvPr id="5" name="Footer Placeholder 4"/>
          <p:cNvSpPr>
            <a:spLocks noGrp="1"/>
          </p:cNvSpPr>
          <p:nvPr>
            <p:ph type="ftr" sz="quarter" idx="11"/>
          </p:nvPr>
        </p:nvSpPr>
        <p:spPr>
          <a:xfrm>
            <a:off x="4038636" y="6356430"/>
            <a:ext cx="4114836" cy="365129"/>
          </a:xfrm>
        </p:spPr>
        <p:txBody>
          <a:bodyPr/>
          <a:lstStyle/>
          <a:p>
            <a:endParaRPr lang="zh-CN" altLang="en-US"/>
          </a:p>
        </p:txBody>
      </p:sp>
      <p:sp>
        <p:nvSpPr>
          <p:cNvPr id="6" name="Slide Number Placeholder 5"/>
          <p:cNvSpPr>
            <a:spLocks noGrp="1"/>
          </p:cNvSpPr>
          <p:nvPr>
            <p:ph type="sldNum" sz="quarter" idx="12"/>
          </p:nvPr>
        </p:nvSpPr>
        <p:spPr/>
        <p:txBody>
          <a:bodyPr/>
          <a:lstStyle/>
          <a:p>
            <a:fld id="{30B65EA8-A7ED-44EF-9235-8E7B78C0183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tint val="75000"/>
                  </a:schemeClr>
                </a:solidFill>
              </a:defRPr>
            </a:lvl1pPr>
          </a:lstStyle>
          <a:p>
            <a:fld id="{6489D9C7-5DC6-4263-87FF-7C99F6FB63C3}" type="datetime1">
              <a:rPr lang="zh-CN" altLang="en-US" smtClean="0"/>
              <a:t>2026/7/16</a:t>
            </a:fld>
            <a:endParaRPr lang="zh-CN" altLang="en-US"/>
          </a:p>
        </p:txBody>
      </p:sp>
      <p:sp>
        <p:nvSpPr>
          <p:cNvPr id="6"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tint val="75000"/>
                  </a:schemeClr>
                </a:solidFill>
              </a:defRPr>
            </a:lvl1pPr>
          </a:lstStyle>
          <a:p>
            <a:fld id="{5DD3DB80-B894-403A-B48E-6FDC1A72010E}" type="slidenum">
              <a:rPr lang="zh-CN" altLang="en-US" smtClean="0"/>
              <a:t>‹#›</a:t>
            </a:fld>
            <a:endParaRPr lang="zh-CN" altLang="en-US"/>
          </a:p>
        </p:txBody>
      </p:sp>
      <p:cxnSp>
        <p:nvCxnSpPr>
          <p:cNvPr id="7" name="直接连接符 6"/>
          <p:cNvCxnSpPr/>
          <p:nvPr userDrawn="1"/>
        </p:nvCxnSpPr>
        <p:spPr>
          <a:xfrm>
            <a:off x="588901"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notesSlide" Target="../notesSlides/notesSlide3.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3.xml"/><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slideLayout" Target="../slideLayouts/slideLayout3.xml"/><Relationship Id="rId9" Type="http://schemas.openxmlformats.org/officeDocument/2006/relationships/image" Target="../media/image12.sv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16.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notesSlide" Target="../notesSlides/notesSlide12.xml"/><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4.png"/><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chart" Target="../charts/chart1.xml"/><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16.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notesSlide" Target="../notesSlides/notesSlide13.xml"/><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4.png"/><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chart" Target="../charts/chart2.xml"/><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43.svg"/><Relationship Id="rId2" Type="http://schemas.openxmlformats.org/officeDocument/2006/relationships/slideLayout" Target="../slideLayouts/slideLayout3.xml"/><Relationship Id="rId1" Type="http://schemas.openxmlformats.org/officeDocument/2006/relationships/tags" Target="../tags/tag3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图片占位符 96" descr="C:\Users\Administrator\Desktop\山东大学\图片\942959d44dde4c449286759f34761e5.jpg942959d44dde4c449286759f34761e5"/>
          <p:cNvPicPr>
            <a:picLocks noGrp="1" noChangeAspect="1"/>
          </p:cNvPicPr>
          <p:nvPr>
            <p:ph type="pic" sz="quarter" idx="10"/>
          </p:nvPr>
        </p:nvPicPr>
        <p:blipFill rotWithShape="1">
          <a:blip r:embed="rId3"/>
          <a:srcRect/>
          <a:stretch>
            <a:fillRect/>
          </a:stretch>
        </p:blipFill>
        <p:spPr>
          <a:xfrm>
            <a:off x="635" y="-7620"/>
            <a:ext cx="10965180" cy="5202555"/>
          </a:xfrm>
        </p:spPr>
      </p:pic>
      <p:sp>
        <p:nvSpPr>
          <p:cNvPr id="5" name="副标题 4"/>
          <p:cNvSpPr>
            <a:spLocks noGrp="1"/>
          </p:cNvSpPr>
          <p:nvPr>
            <p:ph type="subTitle" idx="1"/>
          </p:nvPr>
        </p:nvSpPr>
        <p:spPr>
          <a:xfrm>
            <a:off x="3678316" y="6453515"/>
            <a:ext cx="1607023" cy="558799"/>
          </a:xfrm>
        </p:spPr>
        <p:txBody>
          <a:bodyPr/>
          <a:lstStyle/>
          <a:p>
            <a:r>
              <a:rPr lang="en-US" altLang="zh-CN" dirty="0">
                <a:latin typeface="微软雅黑" panose="020B0503020204020204" charset="-122"/>
                <a:ea typeface="微软雅黑" panose="020B0503020204020204" charset="-122"/>
              </a:rPr>
              <a:t>2026-4-16</a:t>
            </a:r>
            <a:endParaRPr lang="zh-CN" altLang="en-US" dirty="0">
              <a:latin typeface="微软雅黑" panose="020B0503020204020204" charset="-122"/>
              <a:ea typeface="微软雅黑" panose="020B0503020204020204" charset="-122"/>
            </a:endParaRPr>
          </a:p>
        </p:txBody>
      </p:sp>
      <p:sp>
        <p:nvSpPr>
          <p:cNvPr id="4" name="标题 3"/>
          <p:cNvSpPr>
            <a:spLocks noGrp="1"/>
          </p:cNvSpPr>
          <p:nvPr>
            <p:ph type="ctrTitle"/>
          </p:nvPr>
        </p:nvSpPr>
        <p:spPr>
          <a:xfrm>
            <a:off x="1858645" y="4307840"/>
            <a:ext cx="10779125" cy="1778635"/>
          </a:xfrm>
        </p:spPr>
        <p:txBody>
          <a:bodyPr>
            <a:normAutofit fontScale="90000"/>
          </a:bodyPr>
          <a:lstStyle/>
          <a:p>
            <a:pPr algn="l"/>
            <a:r>
              <a:rPr lang="en-US" altLang="zh-CN" sz="3400" dirty="0"/>
              <a:t>A State-Aware Affective Conversational System</a:t>
            </a:r>
            <a:br>
              <a:rPr lang="en-US" altLang="zh-CN" sz="3400" dirty="0"/>
            </a:br>
            <a:r>
              <a:rPr lang="en-US" altLang="zh-CN" sz="3400" dirty="0"/>
              <a:t>with Video Emotion Recognition and</a:t>
            </a:r>
            <a:br>
              <a:rPr lang="en-US" altLang="zh-CN" sz="3400" dirty="0"/>
            </a:br>
            <a:r>
              <a:rPr lang="en-US" altLang="zh-CN" sz="3400" dirty="0"/>
              <a:t>Affective-Art Interaction</a:t>
            </a:r>
            <a:br>
              <a:rPr lang="en-US" altLang="zh-CN" sz="3400" dirty="0"/>
            </a:br>
            <a:r>
              <a:rPr lang="zh-CN" altLang="en-US" sz="3400" dirty="0"/>
              <a:t>基于视频情绪识别与情感艺术交互的状态感知情感对话系统</a:t>
            </a:r>
          </a:p>
        </p:txBody>
      </p:sp>
      <p:pic>
        <p:nvPicPr>
          <p:cNvPr id="3" name="图片 2" descr="c59850773f9e9fb7fe171e25cac377d"/>
          <p:cNvPicPr>
            <a:picLocks noChangeAspect="1"/>
          </p:cNvPicPr>
          <p:nvPr/>
        </p:nvPicPr>
        <p:blipFill>
          <a:blip r:embed="rId4"/>
          <a:stretch>
            <a:fillRect/>
          </a:stretch>
        </p:blipFill>
        <p:spPr>
          <a:xfrm>
            <a:off x="714058" y="4307669"/>
            <a:ext cx="1233170" cy="1223645"/>
          </a:xfrm>
          <a:prstGeom prst="rect">
            <a:avLst/>
          </a:prstGeom>
        </p:spPr>
      </p:pic>
      <p:pic>
        <p:nvPicPr>
          <p:cNvPr id="9" name="图片 8" descr="文本&#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3200" y="5969873"/>
            <a:ext cx="5638800" cy="1114604"/>
          </a:xfrm>
          <a:prstGeom prst="rect">
            <a:avLst/>
          </a:prstGeom>
        </p:spPr>
      </p:pic>
      <p:sp>
        <p:nvSpPr>
          <p:cNvPr id="11" name="副标题 4"/>
          <p:cNvSpPr txBox="1"/>
          <p:nvPr/>
        </p:nvSpPr>
        <p:spPr>
          <a:xfrm>
            <a:off x="3669029" y="6087231"/>
            <a:ext cx="2781523" cy="558799"/>
          </a:xfrm>
          <a:prstGeom prst="rect">
            <a:avLst/>
          </a:prstGeom>
        </p:spPr>
        <p:txBody>
          <a:bodyPr vert="horz" lIns="91440" tIns="45720" rIns="91440" bIns="45720" rtlCol="0"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r>
              <a:rPr lang="zh-CN" altLang="en-US" b="1" dirty="0">
                <a:latin typeface="微软雅黑" panose="020B0503020204020204" charset="-122"/>
                <a:ea typeface="微软雅黑" panose="020B0503020204020204" charset="-122"/>
              </a:rPr>
              <a:t>山东大学软件学院</a:t>
            </a:r>
          </a:p>
        </p:txBody>
      </p:sp>
      <p:grpSp>
        <p:nvGrpSpPr>
          <p:cNvPr id="2" name="组合 1"/>
          <p:cNvGrpSpPr/>
          <p:nvPr/>
        </p:nvGrpSpPr>
        <p:grpSpPr>
          <a:xfrm>
            <a:off x="0" y="6087110"/>
            <a:ext cx="2661285" cy="698302"/>
            <a:chOff x="8796327" y="5260785"/>
            <a:chExt cx="3196753" cy="935158"/>
          </a:xfrm>
        </p:grpSpPr>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82491" y="5260785"/>
              <a:ext cx="2640116" cy="537845"/>
            </a:xfrm>
            <a:prstGeom prst="rect">
              <a:avLst/>
            </a:prstGeom>
          </p:spPr>
        </p:pic>
        <p:sp>
          <p:nvSpPr>
            <p:cNvPr id="8" name="文本框 7"/>
            <p:cNvSpPr txBox="1"/>
            <p:nvPr/>
          </p:nvSpPr>
          <p:spPr>
            <a:xfrm>
              <a:off x="8796327" y="5785207"/>
              <a:ext cx="3196753" cy="410736"/>
            </a:xfrm>
            <a:prstGeom prst="rect">
              <a:avLst/>
            </a:prstGeom>
            <a:noFill/>
          </p:spPr>
          <p:txBody>
            <a:bodyPr wrap="square" rtlCol="0">
              <a:spAutoFit/>
            </a:bodyPr>
            <a:lstStyle/>
            <a:p>
              <a:pPr algn="ctr"/>
              <a:r>
                <a:rPr kumimoji="1" lang="zh-CN" altLang="en-US" sz="1400" dirty="0">
                  <a:latin typeface="华文新魏" panose="02010800040101010101" pitchFamily="2" charset="-122"/>
                  <a:ea typeface="华文新魏" panose="02010800040101010101" pitchFamily="2" charset="-122"/>
                </a:rPr>
                <a:t>多媒体挖掘推理与生成实验室</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13"/>
          <p:cNvSpPr/>
          <p:nvPr/>
        </p:nvSpPr>
        <p:spPr>
          <a:xfrm>
            <a:off x="8175625" y="1604010"/>
            <a:ext cx="0" cy="5220000"/>
          </a:xfrm>
          <a:prstGeom prst="line">
            <a:avLst/>
          </a:prstGeom>
          <a:noFill/>
          <a:ln w="12700">
            <a:solidFill>
              <a:srgbClr val="D0D8E4"/>
            </a:solidFill>
            <a:prstDash val="solid"/>
          </a:ln>
        </p:spPr>
      </p:sp>
      <p:sp>
        <p:nvSpPr>
          <p:cNvPr id="56" name="Shape 13"/>
          <p:cNvSpPr/>
          <p:nvPr/>
        </p:nvSpPr>
        <p:spPr>
          <a:xfrm>
            <a:off x="7157085" y="1604010"/>
            <a:ext cx="0" cy="5220000"/>
          </a:xfrm>
          <a:prstGeom prst="line">
            <a:avLst/>
          </a:prstGeom>
          <a:noFill/>
          <a:ln w="12700">
            <a:solidFill>
              <a:srgbClr val="D0D8E4"/>
            </a:solidFill>
            <a:prstDash val="solid"/>
          </a:ln>
        </p:spPr>
      </p:sp>
      <p:sp>
        <p:nvSpPr>
          <p:cNvPr id="132" name="Shape 93"/>
          <p:cNvSpPr/>
          <p:nvPr/>
        </p:nvSpPr>
        <p:spPr>
          <a:xfrm>
            <a:off x="6138545" y="1604010"/>
            <a:ext cx="0" cy="5220000"/>
          </a:xfrm>
          <a:prstGeom prst="line">
            <a:avLst/>
          </a:prstGeom>
          <a:noFill/>
          <a:ln w="12700">
            <a:solidFill>
              <a:srgbClr val="D0D8E4"/>
            </a:solidFill>
            <a:prstDash val="solid"/>
          </a:ln>
        </p:spPr>
      </p:sp>
      <p:sp>
        <p:nvSpPr>
          <p:cNvPr id="141" name="Shape 102"/>
          <p:cNvSpPr/>
          <p:nvPr/>
        </p:nvSpPr>
        <p:spPr>
          <a:xfrm>
            <a:off x="5120005" y="1604010"/>
            <a:ext cx="0" cy="5220000"/>
          </a:xfrm>
          <a:prstGeom prst="line">
            <a:avLst/>
          </a:prstGeom>
          <a:noFill/>
          <a:ln w="12700">
            <a:solidFill>
              <a:srgbClr val="D0D8E4"/>
            </a:solidFill>
            <a:prstDash val="solid"/>
          </a:ln>
        </p:spPr>
      </p:sp>
      <p:sp>
        <p:nvSpPr>
          <p:cNvPr id="150" name="Shape 111"/>
          <p:cNvSpPr/>
          <p:nvPr/>
        </p:nvSpPr>
        <p:spPr>
          <a:xfrm>
            <a:off x="4101465" y="1604010"/>
            <a:ext cx="0" cy="5220000"/>
          </a:xfrm>
          <a:prstGeom prst="line">
            <a:avLst/>
          </a:prstGeom>
          <a:noFill/>
          <a:ln w="12700">
            <a:solidFill>
              <a:srgbClr val="D0D8E4"/>
            </a:solidFill>
            <a:prstDash val="solid"/>
          </a:ln>
        </p:spPr>
      </p:sp>
      <p:sp>
        <p:nvSpPr>
          <p:cNvPr id="2" name="标题 1"/>
          <p:cNvSpPr>
            <a:spLocks noGrp="1"/>
          </p:cNvSpPr>
          <p:nvPr>
            <p:ph type="title"/>
          </p:nvPr>
        </p:nvSpPr>
        <p:spPr>
          <a:xfrm>
            <a:off x="669924" y="1"/>
            <a:ext cx="10850563" cy="1028699"/>
          </a:xfrm>
        </p:spPr>
        <p:txBody>
          <a:bodyPr/>
          <a:lstStyle/>
          <a:p>
            <a:r>
              <a:rPr lang="zh-CN" altLang="en-US" dirty="0"/>
              <a:t>项目推进甘特图（</a:t>
            </a:r>
            <a:r>
              <a:rPr lang="en-US" altLang="zh-CN" dirty="0"/>
              <a:t>2026</a:t>
            </a:r>
            <a:r>
              <a:rPr lang="zh-CN" altLang="en-US" dirty="0"/>
              <a:t>年</a:t>
            </a:r>
            <a:r>
              <a:rPr lang="en-US" altLang="zh-CN" dirty="0"/>
              <a:t>4</a:t>
            </a:r>
            <a:r>
              <a:rPr lang="zh-CN" altLang="en-US" dirty="0"/>
              <a:t>月</a:t>
            </a:r>
            <a:r>
              <a:rPr lang="en-US" altLang="zh-CN" dirty="0"/>
              <a:t>week4 </a:t>
            </a:r>
            <a:r>
              <a:rPr lang="zh-CN" altLang="en-US" dirty="0"/>
              <a:t>）</a:t>
            </a:r>
          </a:p>
        </p:txBody>
      </p:sp>
      <p:sp>
        <p:nvSpPr>
          <p:cNvPr id="4" name="灯片编号占位符 3"/>
          <p:cNvSpPr>
            <a:spLocks noGrp="1"/>
          </p:cNvSpPr>
          <p:nvPr>
            <p:ph type="sldNum" sz="quarter" idx="12"/>
          </p:nvPr>
        </p:nvSpPr>
        <p:spPr>
          <a:xfrm>
            <a:off x="9282112" y="6651619"/>
            <a:ext cx="2909888" cy="206381"/>
          </a:xfrm>
        </p:spPr>
        <p:txBody>
          <a:bodyPr/>
          <a:lstStyle/>
          <a:p>
            <a:fld id="{5DD3DB80-B894-403A-B48E-6FDC1A72010E}" type="slidenum">
              <a:rPr lang="zh-CN" altLang="en-US" smtClean="0"/>
              <a:t>2</a:t>
            </a:fld>
            <a:endParaRPr lang="zh-CN" altLang="en-US" dirty="0"/>
          </a:p>
        </p:txBody>
      </p:sp>
      <p:sp>
        <p:nvSpPr>
          <p:cNvPr id="26" name="Shape 2"/>
          <p:cNvSpPr/>
          <p:nvPr/>
        </p:nvSpPr>
        <p:spPr>
          <a:xfrm>
            <a:off x="3082925" y="1138555"/>
            <a:ext cx="7700010" cy="320675"/>
          </a:xfrm>
          <a:prstGeom prst="rect">
            <a:avLst/>
          </a:prstGeom>
          <a:solidFill>
            <a:srgbClr val="0F2044">
              <a:alpha val="80000"/>
            </a:srgbClr>
          </a:solidFill>
          <a:ln w="12700">
            <a:solidFill>
              <a:srgbClr val="0F2044"/>
            </a:solidFill>
            <a:prstDash val="solid"/>
          </a:ln>
        </p:spPr>
      </p:sp>
      <p:sp>
        <p:nvSpPr>
          <p:cNvPr id="46" name="Text 3"/>
          <p:cNvSpPr/>
          <p:nvPr/>
        </p:nvSpPr>
        <p:spPr>
          <a:xfrm>
            <a:off x="3082925" y="1125855"/>
            <a:ext cx="558165" cy="357505"/>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周一</a:t>
            </a:r>
          </a:p>
        </p:txBody>
      </p:sp>
      <p:sp>
        <p:nvSpPr>
          <p:cNvPr id="50" name="Shape 7"/>
          <p:cNvSpPr/>
          <p:nvPr/>
        </p:nvSpPr>
        <p:spPr>
          <a:xfrm>
            <a:off x="280670" y="1468120"/>
            <a:ext cx="2716530" cy="339725"/>
          </a:xfrm>
          <a:prstGeom prst="rect">
            <a:avLst/>
          </a:prstGeom>
          <a:solidFill>
            <a:srgbClr val="FFFFFF"/>
          </a:solidFill>
          <a:ln w="12700">
            <a:solidFill>
              <a:srgbClr val="D6E4F0"/>
            </a:solidFill>
            <a:prstDash val="solid"/>
          </a:ln>
        </p:spPr>
      </p:sp>
      <p:sp>
        <p:nvSpPr>
          <p:cNvPr id="51" name="Text 8"/>
          <p:cNvSpPr/>
          <p:nvPr/>
        </p:nvSpPr>
        <p:spPr>
          <a:xfrm>
            <a:off x="340360" y="1492250"/>
            <a:ext cx="2621280" cy="292100"/>
          </a:xfrm>
          <a:prstGeom prst="rect">
            <a:avLst/>
          </a:prstGeom>
          <a:noFill/>
        </p:spPr>
        <p:txBody>
          <a:bodyPr wrap="square" lIns="0" tIns="0" rIns="0" bIns="0" rtlCol="0" anchor="ctr"/>
          <a:lstStyle/>
          <a:p>
            <a:pPr marL="0" indent="0">
              <a:buNone/>
            </a:pP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① 论文</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模板</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投稿系统</a:t>
            </a:r>
          </a:p>
        </p:txBody>
      </p:sp>
      <p:sp>
        <p:nvSpPr>
          <p:cNvPr id="52" name="Shape 9"/>
          <p:cNvSpPr/>
          <p:nvPr/>
        </p:nvSpPr>
        <p:spPr>
          <a:xfrm>
            <a:off x="3082925" y="1515745"/>
            <a:ext cx="1016635" cy="244475"/>
          </a:xfrm>
          <a:prstGeom prst="rect">
            <a:avLst/>
          </a:prstGeom>
          <a:solidFill>
            <a:srgbClr val="00A87E"/>
          </a:solidFill>
          <a:ln w="12700">
            <a:solidFill>
              <a:srgbClr val="2E7DD1"/>
            </a:solidFill>
            <a:prstDash val="solid"/>
          </a:ln>
        </p:spPr>
        <p:txBody>
          <a:bodyPr/>
          <a:lstStyle/>
          <a:p>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a:t>
            </a:r>
          </a:p>
          <a:p>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54" name="Shape 11"/>
          <p:cNvSpPr/>
          <p:nvPr/>
        </p:nvSpPr>
        <p:spPr>
          <a:xfrm>
            <a:off x="3082925" y="1651000"/>
            <a:ext cx="0" cy="4646295"/>
          </a:xfrm>
          <a:prstGeom prst="line">
            <a:avLst/>
          </a:prstGeom>
          <a:noFill/>
          <a:ln w="12700">
            <a:solidFill>
              <a:srgbClr val="D0D8E4"/>
            </a:solidFill>
            <a:prstDash val="solid"/>
          </a:ln>
        </p:spPr>
      </p:sp>
      <p:sp>
        <p:nvSpPr>
          <p:cNvPr id="59" name="Shape 16"/>
          <p:cNvSpPr/>
          <p:nvPr/>
        </p:nvSpPr>
        <p:spPr>
          <a:xfrm>
            <a:off x="280670" y="1855470"/>
            <a:ext cx="2716530" cy="339725"/>
          </a:xfrm>
          <a:prstGeom prst="rect">
            <a:avLst/>
          </a:prstGeom>
          <a:solidFill>
            <a:srgbClr val="FFFFFF"/>
          </a:solidFill>
          <a:ln w="12700">
            <a:solidFill>
              <a:srgbClr val="D6E4F0"/>
            </a:solidFill>
            <a:prstDash val="solid"/>
          </a:ln>
        </p:spPr>
      </p:sp>
      <p:sp>
        <p:nvSpPr>
          <p:cNvPr id="60" name="Text 17"/>
          <p:cNvSpPr/>
          <p:nvPr/>
        </p:nvSpPr>
        <p:spPr>
          <a:xfrm>
            <a:off x="340360" y="1879600"/>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②</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论文大纲</a:t>
            </a:r>
          </a:p>
        </p:txBody>
      </p:sp>
      <p:sp>
        <p:nvSpPr>
          <p:cNvPr id="61" name="Shape 18"/>
          <p:cNvSpPr/>
          <p:nvPr/>
        </p:nvSpPr>
        <p:spPr>
          <a:xfrm>
            <a:off x="3082925" y="1903730"/>
            <a:ext cx="4074160" cy="243840"/>
          </a:xfrm>
          <a:prstGeom prst="rect">
            <a:avLst/>
          </a:prstGeom>
          <a:solidFill>
            <a:srgbClr val="00A87E"/>
          </a:solidFill>
          <a:ln w="12700">
            <a:solidFill>
              <a:srgbClr val="2E7DD1"/>
            </a:solidFill>
            <a:prstDash val="solid"/>
          </a:ln>
        </p:spPr>
        <p:txBody>
          <a:bodyPr>
            <a:noAutofit/>
          </a:bodyPr>
          <a:lstStyle/>
          <a:p>
            <a:pPr lvl="0" algn="ctr">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a:t>
            </a:r>
          </a:p>
          <a:p>
            <a:pPr lvl="0" algn="ctr">
              <a:buClrTx/>
              <a:buSzTx/>
              <a:buFontTx/>
            </a:pPr>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63" name="Shape 20"/>
          <p:cNvSpPr/>
          <p:nvPr/>
        </p:nvSpPr>
        <p:spPr>
          <a:xfrm>
            <a:off x="3082925" y="1651000"/>
            <a:ext cx="0" cy="4646295"/>
          </a:xfrm>
          <a:prstGeom prst="line">
            <a:avLst/>
          </a:prstGeom>
          <a:noFill/>
          <a:ln w="12700">
            <a:solidFill>
              <a:srgbClr val="D0D8E4"/>
            </a:solidFill>
            <a:prstDash val="solid"/>
          </a:ln>
        </p:spPr>
      </p:sp>
      <p:sp>
        <p:nvSpPr>
          <p:cNvPr id="68" name="Shape 25"/>
          <p:cNvSpPr/>
          <p:nvPr/>
        </p:nvSpPr>
        <p:spPr>
          <a:xfrm>
            <a:off x="280670" y="224282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70" name="Shape 27"/>
          <p:cNvSpPr/>
          <p:nvPr/>
        </p:nvSpPr>
        <p:spPr>
          <a:xfrm>
            <a:off x="4103370" y="2242820"/>
            <a:ext cx="4071620" cy="243840"/>
          </a:xfrm>
          <a:prstGeom prst="rect">
            <a:avLst/>
          </a:prstGeom>
          <a:solidFill>
            <a:srgbClr val="4A90D9"/>
          </a:solidFill>
          <a:ln w="12700">
            <a:solidFill>
              <a:srgbClr val="4A90D9"/>
            </a:solidFill>
            <a:prstDash val="solid"/>
          </a:ln>
        </p:spPr>
        <p:txBody>
          <a:bodyPr>
            <a:noAutofit/>
          </a:bodyPr>
          <a:lstStyle/>
          <a:p>
            <a:pPr lvl="0" algn="ctr">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张亚冲+李祥</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p>
        </p:txBody>
      </p:sp>
      <p:sp>
        <p:nvSpPr>
          <p:cNvPr id="72" name="Shape 29"/>
          <p:cNvSpPr/>
          <p:nvPr/>
        </p:nvSpPr>
        <p:spPr>
          <a:xfrm>
            <a:off x="3082925" y="1651000"/>
            <a:ext cx="0" cy="4646295"/>
          </a:xfrm>
          <a:prstGeom prst="line">
            <a:avLst/>
          </a:prstGeom>
          <a:noFill/>
          <a:ln w="12700">
            <a:solidFill>
              <a:srgbClr val="D0D8E4"/>
            </a:solidFill>
            <a:prstDash val="solid"/>
          </a:ln>
        </p:spPr>
      </p:sp>
      <p:sp>
        <p:nvSpPr>
          <p:cNvPr id="79" name="Shape 36"/>
          <p:cNvSpPr/>
          <p:nvPr/>
        </p:nvSpPr>
        <p:spPr>
          <a:xfrm>
            <a:off x="4098925" y="2677795"/>
            <a:ext cx="3058160" cy="243840"/>
          </a:xfrm>
          <a:prstGeom prst="rect">
            <a:avLst/>
          </a:prstGeom>
          <a:solidFill>
            <a:srgbClr val="00A87E"/>
          </a:solidFill>
          <a:ln w="12700">
            <a:solidFill>
              <a:srgbClr val="2E7DD1"/>
            </a:solidFill>
            <a:prstDash val="solid"/>
          </a:ln>
        </p:spPr>
        <p:txBody>
          <a:bodyPr>
            <a:noAutofit/>
          </a:bodyPr>
          <a:lstStyle/>
          <a:p>
            <a:pPr lvl="0" algn="ctr">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魏方圆</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朱世宇✅</a:t>
            </a:r>
          </a:p>
          <a:p>
            <a:pPr lvl="0" algn="ctr">
              <a:buClrTx/>
              <a:buSzTx/>
              <a:buFontTx/>
            </a:pPr>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81" name="Shape 38"/>
          <p:cNvSpPr/>
          <p:nvPr/>
        </p:nvSpPr>
        <p:spPr>
          <a:xfrm>
            <a:off x="3082925" y="1651000"/>
            <a:ext cx="0" cy="4646295"/>
          </a:xfrm>
          <a:prstGeom prst="line">
            <a:avLst/>
          </a:prstGeom>
          <a:noFill/>
          <a:ln w="12700">
            <a:solidFill>
              <a:srgbClr val="D0D8E4"/>
            </a:solidFill>
            <a:prstDash val="solid"/>
          </a:ln>
        </p:spPr>
      </p:sp>
      <p:sp>
        <p:nvSpPr>
          <p:cNvPr id="88" name="Shape 45"/>
          <p:cNvSpPr/>
          <p:nvPr/>
        </p:nvSpPr>
        <p:spPr>
          <a:xfrm>
            <a:off x="7157720" y="3065145"/>
            <a:ext cx="2319020" cy="244475"/>
          </a:xfrm>
          <a:prstGeom prst="rect">
            <a:avLst/>
          </a:prstGeom>
          <a:solidFill>
            <a:srgbClr val="00A87E"/>
          </a:solidFill>
          <a:ln w="12700">
            <a:solidFill>
              <a:srgbClr val="2E7DD1"/>
            </a:solidFill>
            <a:prstDash val="solid"/>
          </a:ln>
        </p:spPr>
        <p:txBody>
          <a:bodyPr/>
          <a:lstStyle/>
          <a:p>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李春波✅</a:t>
            </a:r>
          </a:p>
          <a:p>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90" name="Shape 47"/>
          <p:cNvSpPr/>
          <p:nvPr/>
        </p:nvSpPr>
        <p:spPr>
          <a:xfrm>
            <a:off x="3082925" y="1651000"/>
            <a:ext cx="0" cy="4646295"/>
          </a:xfrm>
          <a:prstGeom prst="line">
            <a:avLst/>
          </a:prstGeom>
          <a:noFill/>
          <a:ln w="12700">
            <a:solidFill>
              <a:srgbClr val="D0D8E4"/>
            </a:solidFill>
            <a:prstDash val="solid"/>
          </a:ln>
        </p:spPr>
      </p:sp>
      <p:sp>
        <p:nvSpPr>
          <p:cNvPr id="95" name="Shape 56"/>
          <p:cNvSpPr/>
          <p:nvPr/>
        </p:nvSpPr>
        <p:spPr>
          <a:xfrm>
            <a:off x="3082925" y="1651000"/>
            <a:ext cx="0" cy="4646295"/>
          </a:xfrm>
          <a:prstGeom prst="line">
            <a:avLst/>
          </a:prstGeom>
          <a:noFill/>
          <a:ln w="12700">
            <a:solidFill>
              <a:srgbClr val="D0D8E4"/>
            </a:solidFill>
            <a:prstDash val="solid"/>
          </a:ln>
        </p:spPr>
      </p:sp>
      <p:sp>
        <p:nvSpPr>
          <p:cNvPr id="104" name="Shape 65"/>
          <p:cNvSpPr/>
          <p:nvPr/>
        </p:nvSpPr>
        <p:spPr>
          <a:xfrm>
            <a:off x="3082925" y="1651000"/>
            <a:ext cx="0" cy="4646295"/>
          </a:xfrm>
          <a:prstGeom prst="line">
            <a:avLst/>
          </a:prstGeom>
          <a:noFill/>
          <a:ln w="12700">
            <a:solidFill>
              <a:srgbClr val="D0D8E4"/>
            </a:solidFill>
            <a:prstDash val="solid"/>
          </a:ln>
        </p:spPr>
      </p:sp>
      <p:sp>
        <p:nvSpPr>
          <p:cNvPr id="113" name="Shape 74"/>
          <p:cNvSpPr/>
          <p:nvPr/>
        </p:nvSpPr>
        <p:spPr>
          <a:xfrm>
            <a:off x="3082925" y="1651000"/>
            <a:ext cx="0" cy="4646295"/>
          </a:xfrm>
          <a:prstGeom prst="line">
            <a:avLst/>
          </a:prstGeom>
          <a:noFill/>
          <a:ln w="12700">
            <a:solidFill>
              <a:srgbClr val="D0D8E4"/>
            </a:solidFill>
            <a:prstDash val="solid"/>
          </a:ln>
        </p:spPr>
      </p:sp>
      <p:sp>
        <p:nvSpPr>
          <p:cNvPr id="122" name="Shape 83"/>
          <p:cNvSpPr/>
          <p:nvPr/>
        </p:nvSpPr>
        <p:spPr>
          <a:xfrm>
            <a:off x="3082925" y="1651000"/>
            <a:ext cx="0" cy="4646295"/>
          </a:xfrm>
          <a:prstGeom prst="line">
            <a:avLst/>
          </a:prstGeom>
          <a:noFill/>
          <a:ln w="12700">
            <a:solidFill>
              <a:srgbClr val="D0D8E4"/>
            </a:solidFill>
            <a:prstDash val="solid"/>
          </a:ln>
        </p:spPr>
      </p:sp>
      <p:sp>
        <p:nvSpPr>
          <p:cNvPr id="131" name="Shape 92"/>
          <p:cNvSpPr/>
          <p:nvPr/>
        </p:nvSpPr>
        <p:spPr>
          <a:xfrm>
            <a:off x="3082925" y="1651000"/>
            <a:ext cx="0" cy="4646295"/>
          </a:xfrm>
          <a:prstGeom prst="line">
            <a:avLst/>
          </a:prstGeom>
          <a:noFill/>
          <a:ln w="12700">
            <a:solidFill>
              <a:srgbClr val="D0D8E4"/>
            </a:solidFill>
            <a:prstDash val="solid"/>
          </a:ln>
        </p:spPr>
      </p:sp>
      <p:sp>
        <p:nvSpPr>
          <p:cNvPr id="140" name="Shape 101"/>
          <p:cNvSpPr/>
          <p:nvPr/>
        </p:nvSpPr>
        <p:spPr>
          <a:xfrm>
            <a:off x="3082925" y="1651000"/>
            <a:ext cx="0" cy="4646295"/>
          </a:xfrm>
          <a:prstGeom prst="line">
            <a:avLst/>
          </a:prstGeom>
          <a:noFill/>
          <a:ln w="12700">
            <a:solidFill>
              <a:srgbClr val="D0D8E4"/>
            </a:solidFill>
            <a:prstDash val="solid"/>
          </a:ln>
        </p:spPr>
      </p:sp>
      <p:sp>
        <p:nvSpPr>
          <p:cNvPr id="149" name="Shape 110"/>
          <p:cNvSpPr/>
          <p:nvPr/>
        </p:nvSpPr>
        <p:spPr>
          <a:xfrm>
            <a:off x="3082925" y="1651000"/>
            <a:ext cx="0" cy="4646295"/>
          </a:xfrm>
          <a:prstGeom prst="line">
            <a:avLst/>
          </a:prstGeom>
          <a:noFill/>
          <a:ln w="12700">
            <a:solidFill>
              <a:srgbClr val="D0D8E4"/>
            </a:solidFill>
            <a:prstDash val="solid"/>
          </a:ln>
        </p:spPr>
      </p:sp>
      <p:sp>
        <p:nvSpPr>
          <p:cNvPr id="159" name="Text 3"/>
          <p:cNvSpPr/>
          <p:nvPr/>
        </p:nvSpPr>
        <p:spPr>
          <a:xfrm>
            <a:off x="414718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周二</a:t>
            </a:r>
          </a:p>
        </p:txBody>
      </p:sp>
      <p:sp>
        <p:nvSpPr>
          <p:cNvPr id="160" name="Text 3"/>
          <p:cNvSpPr/>
          <p:nvPr/>
        </p:nvSpPr>
        <p:spPr>
          <a:xfrm>
            <a:off x="521144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周三</a:t>
            </a:r>
          </a:p>
        </p:txBody>
      </p:sp>
      <p:sp>
        <p:nvSpPr>
          <p:cNvPr id="161" name="Text 3"/>
          <p:cNvSpPr/>
          <p:nvPr/>
        </p:nvSpPr>
        <p:spPr>
          <a:xfrm>
            <a:off x="627570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周四</a:t>
            </a:r>
          </a:p>
        </p:txBody>
      </p:sp>
      <p:sp>
        <p:nvSpPr>
          <p:cNvPr id="162" name="Text 3"/>
          <p:cNvSpPr/>
          <p:nvPr/>
        </p:nvSpPr>
        <p:spPr>
          <a:xfrm>
            <a:off x="733996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周五</a:t>
            </a:r>
          </a:p>
        </p:txBody>
      </p:sp>
      <p:sp>
        <p:nvSpPr>
          <p:cNvPr id="163" name="Shape 110"/>
          <p:cNvSpPr/>
          <p:nvPr/>
        </p:nvSpPr>
        <p:spPr>
          <a:xfrm>
            <a:off x="3082925" y="1604010"/>
            <a:ext cx="0" cy="5220000"/>
          </a:xfrm>
          <a:prstGeom prst="line">
            <a:avLst/>
          </a:prstGeom>
          <a:noFill/>
          <a:ln w="12700">
            <a:solidFill>
              <a:srgbClr val="D0D8E4"/>
            </a:solidFill>
            <a:prstDash val="solid"/>
          </a:ln>
        </p:spPr>
      </p:sp>
      <p:sp>
        <p:nvSpPr>
          <p:cNvPr id="173" name="Shape 45"/>
          <p:cNvSpPr/>
          <p:nvPr/>
        </p:nvSpPr>
        <p:spPr>
          <a:xfrm>
            <a:off x="8176260" y="3450590"/>
            <a:ext cx="1300480" cy="244475"/>
          </a:xfrm>
          <a:prstGeom prst="rect">
            <a:avLst/>
          </a:prstGeom>
          <a:solidFill>
            <a:srgbClr val="00A87E"/>
          </a:solidFill>
          <a:ln w="12700">
            <a:solidFill>
              <a:srgbClr val="2E7DD1"/>
            </a:solidFill>
            <a:prstDash val="solid"/>
          </a:ln>
        </p:spPr>
        <p:txBody>
          <a:bodyPr/>
          <a:lstStyle/>
          <a:p>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a:t>
            </a:r>
          </a:p>
          <a:p>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7" name="Shape 36"/>
          <p:cNvSpPr/>
          <p:nvPr/>
        </p:nvSpPr>
        <p:spPr>
          <a:xfrm>
            <a:off x="6141085" y="5746115"/>
            <a:ext cx="2033905"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杨宗一✅</a:t>
            </a:r>
          </a:p>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p>
        </p:txBody>
      </p:sp>
      <p:sp>
        <p:nvSpPr>
          <p:cNvPr id="195" name="Shape 9"/>
          <p:cNvSpPr/>
          <p:nvPr/>
        </p:nvSpPr>
        <p:spPr>
          <a:xfrm>
            <a:off x="4103370" y="4007485"/>
            <a:ext cx="3051175" cy="243840"/>
          </a:xfrm>
          <a:prstGeom prst="rect">
            <a:avLst/>
          </a:prstGeom>
          <a:solidFill>
            <a:srgbClr val="00A87E"/>
          </a:solidFill>
          <a:ln w="12700">
            <a:solidFill>
              <a:srgbClr val="2E7DD1"/>
            </a:solidFill>
            <a:prstDash val="solid"/>
          </a:ln>
        </p:spPr>
        <p:txBody>
          <a:bodyPr/>
          <a:lstStyle/>
          <a:p>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李春波✅</a:t>
            </a:r>
          </a:p>
        </p:txBody>
      </p:sp>
      <p:sp>
        <p:nvSpPr>
          <p:cNvPr id="3" name="Text 17"/>
          <p:cNvSpPr/>
          <p:nvPr/>
        </p:nvSpPr>
        <p:spPr>
          <a:xfrm>
            <a:off x="340360" y="2242820"/>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③</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算法大图</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动机图</a:t>
            </a:r>
          </a:p>
        </p:txBody>
      </p:sp>
      <p:sp>
        <p:nvSpPr>
          <p:cNvPr id="5" name="Shape 25"/>
          <p:cNvSpPr/>
          <p:nvPr/>
        </p:nvSpPr>
        <p:spPr>
          <a:xfrm>
            <a:off x="280670" y="266192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6" name="Text 17"/>
          <p:cNvSpPr/>
          <p:nvPr/>
        </p:nvSpPr>
        <p:spPr>
          <a:xfrm>
            <a:off x="340360" y="2661920"/>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④</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艺术小游戏开发，系统调试</a:t>
            </a:r>
          </a:p>
        </p:txBody>
      </p:sp>
      <p:sp>
        <p:nvSpPr>
          <p:cNvPr id="7" name="Shape 25"/>
          <p:cNvSpPr/>
          <p:nvPr/>
        </p:nvSpPr>
        <p:spPr>
          <a:xfrm>
            <a:off x="280670" y="306514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8" name="Text 17"/>
          <p:cNvSpPr/>
          <p:nvPr/>
        </p:nvSpPr>
        <p:spPr>
          <a:xfrm>
            <a:off x="340360" y="306514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⑤</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用户评估数据管理</a:t>
            </a:r>
          </a:p>
        </p:txBody>
      </p:sp>
      <p:sp>
        <p:nvSpPr>
          <p:cNvPr id="9" name="Shape 25"/>
          <p:cNvSpPr/>
          <p:nvPr/>
        </p:nvSpPr>
        <p:spPr>
          <a:xfrm>
            <a:off x="280670" y="345059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10" name="Text 17"/>
          <p:cNvSpPr/>
          <p:nvPr/>
        </p:nvSpPr>
        <p:spPr>
          <a:xfrm>
            <a:off x="340360" y="3465830"/>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⑥</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实验图表</a:t>
            </a:r>
          </a:p>
        </p:txBody>
      </p:sp>
      <p:sp>
        <p:nvSpPr>
          <p:cNvPr id="11" name="Shape 25"/>
          <p:cNvSpPr/>
          <p:nvPr/>
        </p:nvSpPr>
        <p:spPr>
          <a:xfrm>
            <a:off x="280670" y="395986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12" name="Text 17"/>
          <p:cNvSpPr/>
          <p:nvPr/>
        </p:nvSpPr>
        <p:spPr>
          <a:xfrm>
            <a:off x="340360" y="3959860"/>
            <a:ext cx="2621280" cy="292100"/>
          </a:xfrm>
          <a:prstGeom prst="rect">
            <a:avLst/>
          </a:prstGeom>
          <a:noFill/>
        </p:spPr>
        <p:txBody>
          <a:bodyPr wrap="square" lIns="0" tIns="0" rIns="0" bIns="0" rtlCol="0" anchor="ctr"/>
          <a:lstStyle/>
          <a:p>
            <a:pPr marL="0" indent="0">
              <a:buNone/>
            </a:pP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①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论文写作（参考文献）</a:t>
            </a:r>
          </a:p>
        </p:txBody>
      </p:sp>
      <p:sp>
        <p:nvSpPr>
          <p:cNvPr id="13" name="Text 3"/>
          <p:cNvSpPr/>
          <p:nvPr/>
        </p:nvSpPr>
        <p:spPr>
          <a:xfrm>
            <a:off x="8571865" y="111061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周六</a:t>
            </a:r>
          </a:p>
        </p:txBody>
      </p:sp>
      <p:sp>
        <p:nvSpPr>
          <p:cNvPr id="14" name="Text 3"/>
          <p:cNvSpPr/>
          <p:nvPr/>
        </p:nvSpPr>
        <p:spPr>
          <a:xfrm>
            <a:off x="9800590" y="1125855"/>
            <a:ext cx="982345" cy="357505"/>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周日</a:t>
            </a:r>
            <a:r>
              <a:rPr lang="en-US" altLang="zh-CN" b="1" dirty="0">
                <a:solidFill>
                  <a:srgbClr val="FFFFFF"/>
                </a:solidFill>
                <a:latin typeface="微软雅黑" panose="020B0503020204020204" charset="-122"/>
                <a:ea typeface="微软雅黑" panose="020B0503020204020204" charset="-122"/>
                <a:cs typeface="微软雅黑" panose="020B0503020204020204" pitchFamily="34" charset="-120"/>
              </a:rPr>
              <a:t>4.26</a:t>
            </a:r>
          </a:p>
        </p:txBody>
      </p:sp>
      <p:sp>
        <p:nvSpPr>
          <p:cNvPr id="15" name="Shape 113"/>
          <p:cNvSpPr/>
          <p:nvPr/>
        </p:nvSpPr>
        <p:spPr>
          <a:xfrm>
            <a:off x="9476105" y="1604010"/>
            <a:ext cx="0" cy="5220000"/>
          </a:xfrm>
          <a:prstGeom prst="line">
            <a:avLst/>
          </a:prstGeom>
          <a:noFill/>
          <a:ln w="12700">
            <a:solidFill>
              <a:srgbClr val="D0D8E4"/>
            </a:solidFill>
            <a:prstDash val="solid"/>
          </a:ln>
        </p:spPr>
      </p:sp>
      <p:sp>
        <p:nvSpPr>
          <p:cNvPr id="16" name="Shape 113"/>
          <p:cNvSpPr/>
          <p:nvPr/>
        </p:nvSpPr>
        <p:spPr>
          <a:xfrm>
            <a:off x="10782935" y="1604010"/>
            <a:ext cx="0" cy="5220000"/>
          </a:xfrm>
          <a:prstGeom prst="line">
            <a:avLst/>
          </a:prstGeom>
          <a:noFill/>
          <a:ln w="12700">
            <a:solidFill>
              <a:srgbClr val="D0D8E4"/>
            </a:solidFill>
            <a:prstDash val="solid"/>
          </a:ln>
        </p:spPr>
      </p:sp>
      <p:sp>
        <p:nvSpPr>
          <p:cNvPr id="18" name="Shape 25"/>
          <p:cNvSpPr/>
          <p:nvPr/>
        </p:nvSpPr>
        <p:spPr>
          <a:xfrm>
            <a:off x="280670" y="439229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19" name="Text 17"/>
          <p:cNvSpPr/>
          <p:nvPr/>
        </p:nvSpPr>
        <p:spPr>
          <a:xfrm>
            <a:off x="340360" y="439229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②</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论文写作（算法性能实验）</a:t>
            </a:r>
          </a:p>
        </p:txBody>
      </p:sp>
      <p:sp>
        <p:nvSpPr>
          <p:cNvPr id="20" name="Shape 25"/>
          <p:cNvSpPr/>
          <p:nvPr/>
        </p:nvSpPr>
        <p:spPr>
          <a:xfrm>
            <a:off x="280670" y="482155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1" name="Text 17"/>
          <p:cNvSpPr/>
          <p:nvPr/>
        </p:nvSpPr>
        <p:spPr>
          <a:xfrm>
            <a:off x="340360" y="482155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③</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论文写作（用户评估实验）</a:t>
            </a:r>
          </a:p>
        </p:txBody>
      </p:sp>
      <p:sp>
        <p:nvSpPr>
          <p:cNvPr id="23" name="Shape 25"/>
          <p:cNvSpPr/>
          <p:nvPr/>
        </p:nvSpPr>
        <p:spPr>
          <a:xfrm>
            <a:off x="280670" y="524065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4" name="Text 17"/>
          <p:cNvSpPr/>
          <p:nvPr/>
        </p:nvSpPr>
        <p:spPr>
          <a:xfrm>
            <a:off x="340360" y="524065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④</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论文写作（相关工作）</a:t>
            </a:r>
          </a:p>
        </p:txBody>
      </p:sp>
      <p:sp>
        <p:nvSpPr>
          <p:cNvPr id="25" name="Shape 25"/>
          <p:cNvSpPr/>
          <p:nvPr/>
        </p:nvSpPr>
        <p:spPr>
          <a:xfrm>
            <a:off x="280670" y="565023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7" name="Text 17"/>
          <p:cNvSpPr/>
          <p:nvPr/>
        </p:nvSpPr>
        <p:spPr>
          <a:xfrm>
            <a:off x="340360" y="5650230"/>
            <a:ext cx="274193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⑤</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论文写作（方法章节：情绪识别）</a:t>
            </a:r>
          </a:p>
        </p:txBody>
      </p:sp>
      <p:sp>
        <p:nvSpPr>
          <p:cNvPr id="28" name="Shape 25"/>
          <p:cNvSpPr/>
          <p:nvPr/>
        </p:nvSpPr>
        <p:spPr>
          <a:xfrm>
            <a:off x="280670" y="605599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9" name="Text 17"/>
          <p:cNvSpPr/>
          <p:nvPr/>
        </p:nvSpPr>
        <p:spPr>
          <a:xfrm>
            <a:off x="340360" y="605599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⑥</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sym typeface="+mn-ea"/>
              </a:rPr>
              <a:t>方法章节：系统</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a:t>
            </a:r>
          </a:p>
        </p:txBody>
      </p:sp>
      <p:sp>
        <p:nvSpPr>
          <p:cNvPr id="30" name="Shape 36"/>
          <p:cNvSpPr/>
          <p:nvPr/>
        </p:nvSpPr>
        <p:spPr>
          <a:xfrm>
            <a:off x="6134100" y="4392295"/>
            <a:ext cx="2049145"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杨宗一✅</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p>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p>
        </p:txBody>
      </p:sp>
      <p:sp>
        <p:nvSpPr>
          <p:cNvPr id="31" name="Shape 36"/>
          <p:cNvSpPr/>
          <p:nvPr/>
        </p:nvSpPr>
        <p:spPr>
          <a:xfrm>
            <a:off x="8176895" y="4821555"/>
            <a:ext cx="1300480"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p>
          <a:p>
            <a:pPr lvl="0" algn="l">
              <a:buClrTx/>
              <a:buSzTx/>
              <a:buFontTx/>
            </a:pPr>
            <a:endPar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32" name="Shape 27"/>
          <p:cNvSpPr/>
          <p:nvPr/>
        </p:nvSpPr>
        <p:spPr>
          <a:xfrm>
            <a:off x="6141085" y="5288915"/>
            <a:ext cx="2041525"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a:t>
            </a:r>
          </a:p>
          <a:p>
            <a:pPr lvl="0" algn="l">
              <a:buClrTx/>
              <a:buSzTx/>
              <a:buFontTx/>
            </a:pPr>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33" name="Shape 27"/>
          <p:cNvSpPr/>
          <p:nvPr/>
        </p:nvSpPr>
        <p:spPr>
          <a:xfrm>
            <a:off x="6132195" y="6163945"/>
            <a:ext cx="2051050" cy="243840"/>
          </a:xfrm>
          <a:prstGeom prst="rect">
            <a:avLst/>
          </a:prstGeom>
          <a:solidFill>
            <a:srgbClr val="4A90D9"/>
          </a:solidFill>
          <a:ln w="12700">
            <a:solidFill>
              <a:srgbClr val="4A90D9"/>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李祥+朱世宇</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p>
        </p:txBody>
      </p:sp>
      <p:sp>
        <p:nvSpPr>
          <p:cNvPr id="34" name="Shape 25"/>
          <p:cNvSpPr/>
          <p:nvPr/>
        </p:nvSpPr>
        <p:spPr>
          <a:xfrm>
            <a:off x="280670" y="646239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35" name="Text 17"/>
          <p:cNvSpPr/>
          <p:nvPr/>
        </p:nvSpPr>
        <p:spPr>
          <a:xfrm>
            <a:off x="340360" y="646239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⑥</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论文写作（摘要，引言，结论）</a:t>
            </a:r>
          </a:p>
        </p:txBody>
      </p:sp>
      <p:cxnSp>
        <p:nvCxnSpPr>
          <p:cNvPr id="36" name="直接连接符 35"/>
          <p:cNvCxnSpPr/>
          <p:nvPr/>
        </p:nvCxnSpPr>
        <p:spPr>
          <a:xfrm>
            <a:off x="299720" y="3881120"/>
            <a:ext cx="10496550" cy="0"/>
          </a:xfrm>
          <a:prstGeom prst="line">
            <a:avLst/>
          </a:prstGeom>
          <a:ln w="28575"/>
        </p:spPr>
        <p:style>
          <a:lnRef idx="2">
            <a:schemeClr val="accent1"/>
          </a:lnRef>
          <a:fillRef idx="0">
            <a:srgbClr val="FFFFFF"/>
          </a:fillRef>
          <a:effectRef idx="0">
            <a:srgbClr val="FFFFFF"/>
          </a:effectRef>
          <a:fontRef idx="minor">
            <a:schemeClr val="tx1"/>
          </a:fontRef>
        </p:style>
      </p:cxnSp>
      <p:sp>
        <p:nvSpPr>
          <p:cNvPr id="37" name="Shape 27"/>
          <p:cNvSpPr/>
          <p:nvPr/>
        </p:nvSpPr>
        <p:spPr>
          <a:xfrm>
            <a:off x="8175625" y="6462395"/>
            <a:ext cx="2621280" cy="243840"/>
          </a:xfrm>
          <a:prstGeom prst="rect">
            <a:avLst/>
          </a:prstGeom>
          <a:solidFill>
            <a:srgbClr val="4A90D9"/>
          </a:solidFill>
          <a:ln w="12700">
            <a:solidFill>
              <a:srgbClr val="4A90D9"/>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张亚冲（进展中）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13"/>
          <p:cNvSpPr/>
          <p:nvPr/>
        </p:nvSpPr>
        <p:spPr>
          <a:xfrm>
            <a:off x="8175625" y="1604010"/>
            <a:ext cx="0" cy="5220000"/>
          </a:xfrm>
          <a:prstGeom prst="line">
            <a:avLst/>
          </a:prstGeom>
          <a:noFill/>
          <a:ln w="12700">
            <a:solidFill>
              <a:srgbClr val="D0D8E4"/>
            </a:solidFill>
            <a:prstDash val="solid"/>
          </a:ln>
        </p:spPr>
      </p:sp>
      <p:sp>
        <p:nvSpPr>
          <p:cNvPr id="56" name="Shape 13"/>
          <p:cNvSpPr/>
          <p:nvPr/>
        </p:nvSpPr>
        <p:spPr>
          <a:xfrm>
            <a:off x="7157085" y="1604010"/>
            <a:ext cx="0" cy="5220000"/>
          </a:xfrm>
          <a:prstGeom prst="line">
            <a:avLst/>
          </a:prstGeom>
          <a:noFill/>
          <a:ln w="12700">
            <a:solidFill>
              <a:srgbClr val="D0D8E4"/>
            </a:solidFill>
            <a:prstDash val="solid"/>
          </a:ln>
        </p:spPr>
      </p:sp>
      <p:sp>
        <p:nvSpPr>
          <p:cNvPr id="132" name="Shape 93"/>
          <p:cNvSpPr/>
          <p:nvPr/>
        </p:nvSpPr>
        <p:spPr>
          <a:xfrm>
            <a:off x="6138545" y="1604010"/>
            <a:ext cx="0" cy="5220000"/>
          </a:xfrm>
          <a:prstGeom prst="line">
            <a:avLst/>
          </a:prstGeom>
          <a:noFill/>
          <a:ln w="12700">
            <a:solidFill>
              <a:srgbClr val="D0D8E4"/>
            </a:solidFill>
            <a:prstDash val="solid"/>
          </a:ln>
        </p:spPr>
      </p:sp>
      <p:sp>
        <p:nvSpPr>
          <p:cNvPr id="141" name="Shape 102"/>
          <p:cNvSpPr/>
          <p:nvPr/>
        </p:nvSpPr>
        <p:spPr>
          <a:xfrm>
            <a:off x="5120005" y="1604010"/>
            <a:ext cx="0" cy="5220000"/>
          </a:xfrm>
          <a:prstGeom prst="line">
            <a:avLst/>
          </a:prstGeom>
          <a:noFill/>
          <a:ln w="12700">
            <a:solidFill>
              <a:srgbClr val="D0D8E4"/>
            </a:solidFill>
            <a:prstDash val="solid"/>
          </a:ln>
        </p:spPr>
      </p:sp>
      <p:sp>
        <p:nvSpPr>
          <p:cNvPr id="150" name="Shape 111"/>
          <p:cNvSpPr/>
          <p:nvPr>
            <p:custDataLst>
              <p:tags r:id="rId1"/>
            </p:custDataLst>
          </p:nvPr>
        </p:nvSpPr>
        <p:spPr>
          <a:xfrm>
            <a:off x="4101465" y="1604010"/>
            <a:ext cx="0" cy="5220000"/>
          </a:xfrm>
          <a:prstGeom prst="line">
            <a:avLst/>
          </a:prstGeom>
          <a:noFill/>
          <a:ln w="12700">
            <a:solidFill>
              <a:srgbClr val="D0D8E4"/>
            </a:solidFill>
            <a:prstDash val="solid"/>
          </a:ln>
        </p:spPr>
      </p:sp>
      <p:sp>
        <p:nvSpPr>
          <p:cNvPr id="2" name="标题 1"/>
          <p:cNvSpPr>
            <a:spLocks noGrp="1"/>
          </p:cNvSpPr>
          <p:nvPr>
            <p:ph type="title"/>
          </p:nvPr>
        </p:nvSpPr>
        <p:spPr>
          <a:xfrm>
            <a:off x="669924" y="1"/>
            <a:ext cx="10850563" cy="1028699"/>
          </a:xfrm>
        </p:spPr>
        <p:txBody>
          <a:bodyPr/>
          <a:lstStyle/>
          <a:p>
            <a:r>
              <a:rPr lang="zh-CN" altLang="en-US" dirty="0"/>
              <a:t>项目推进甘特图（</a:t>
            </a:r>
            <a:r>
              <a:rPr lang="en-US" altLang="zh-CN" dirty="0"/>
              <a:t>2026</a:t>
            </a:r>
            <a:r>
              <a:rPr lang="zh-CN" altLang="en-US" dirty="0"/>
              <a:t>年</a:t>
            </a:r>
            <a:r>
              <a:rPr lang="en-US" altLang="zh-CN" dirty="0"/>
              <a:t>4</a:t>
            </a:r>
            <a:r>
              <a:rPr lang="zh-CN" altLang="en-US" dirty="0"/>
              <a:t>月</a:t>
            </a:r>
            <a:r>
              <a:rPr lang="en-US" altLang="zh-CN" dirty="0"/>
              <a:t>week5 </a:t>
            </a:r>
            <a:r>
              <a:rPr lang="zh-CN" altLang="en-US" dirty="0"/>
              <a:t>）</a:t>
            </a:r>
          </a:p>
        </p:txBody>
      </p:sp>
      <p:sp>
        <p:nvSpPr>
          <p:cNvPr id="4" name="灯片编号占位符 3"/>
          <p:cNvSpPr>
            <a:spLocks noGrp="1"/>
          </p:cNvSpPr>
          <p:nvPr>
            <p:ph type="sldNum" sz="quarter" idx="12"/>
          </p:nvPr>
        </p:nvSpPr>
        <p:spPr>
          <a:xfrm>
            <a:off x="9282112" y="6651619"/>
            <a:ext cx="2909888" cy="206381"/>
          </a:xfrm>
        </p:spPr>
        <p:txBody>
          <a:bodyPr/>
          <a:lstStyle/>
          <a:p>
            <a:fld id="{5DD3DB80-B894-403A-B48E-6FDC1A72010E}" type="slidenum">
              <a:rPr lang="zh-CN" altLang="en-US" smtClean="0"/>
              <a:t>3</a:t>
            </a:fld>
            <a:endParaRPr lang="zh-CN" altLang="en-US" dirty="0"/>
          </a:p>
        </p:txBody>
      </p:sp>
      <p:sp>
        <p:nvSpPr>
          <p:cNvPr id="26" name="Shape 2"/>
          <p:cNvSpPr/>
          <p:nvPr/>
        </p:nvSpPr>
        <p:spPr>
          <a:xfrm>
            <a:off x="3082925" y="1138555"/>
            <a:ext cx="7700010" cy="320675"/>
          </a:xfrm>
          <a:prstGeom prst="rect">
            <a:avLst/>
          </a:prstGeom>
          <a:solidFill>
            <a:srgbClr val="0F2044">
              <a:alpha val="80000"/>
            </a:srgbClr>
          </a:solidFill>
          <a:ln w="12700">
            <a:solidFill>
              <a:srgbClr val="0F2044"/>
            </a:solidFill>
            <a:prstDash val="solid"/>
          </a:ln>
        </p:spPr>
      </p:sp>
      <p:sp>
        <p:nvSpPr>
          <p:cNvPr id="46" name="Text 3"/>
          <p:cNvSpPr/>
          <p:nvPr/>
        </p:nvSpPr>
        <p:spPr>
          <a:xfrm>
            <a:off x="3082925" y="1125855"/>
            <a:ext cx="558165" cy="357505"/>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周一</a:t>
            </a:r>
          </a:p>
        </p:txBody>
      </p:sp>
      <p:sp>
        <p:nvSpPr>
          <p:cNvPr id="54" name="Shape 11"/>
          <p:cNvSpPr/>
          <p:nvPr>
            <p:custDataLst>
              <p:tags r:id="rId2"/>
            </p:custDataLst>
          </p:nvPr>
        </p:nvSpPr>
        <p:spPr>
          <a:xfrm>
            <a:off x="3082925" y="1651000"/>
            <a:ext cx="0" cy="4646295"/>
          </a:xfrm>
          <a:prstGeom prst="line">
            <a:avLst/>
          </a:prstGeom>
          <a:noFill/>
          <a:ln w="12700">
            <a:solidFill>
              <a:srgbClr val="D0D8E4"/>
            </a:solidFill>
            <a:prstDash val="solid"/>
          </a:ln>
        </p:spPr>
      </p:sp>
      <p:sp>
        <p:nvSpPr>
          <p:cNvPr id="63" name="Shape 20"/>
          <p:cNvSpPr/>
          <p:nvPr>
            <p:custDataLst>
              <p:tags r:id="rId3"/>
            </p:custDataLst>
          </p:nvPr>
        </p:nvSpPr>
        <p:spPr>
          <a:xfrm>
            <a:off x="3082925" y="1651000"/>
            <a:ext cx="0" cy="4646295"/>
          </a:xfrm>
          <a:prstGeom prst="line">
            <a:avLst/>
          </a:prstGeom>
          <a:noFill/>
          <a:ln w="12700">
            <a:solidFill>
              <a:srgbClr val="D0D8E4"/>
            </a:solidFill>
            <a:prstDash val="solid"/>
          </a:ln>
        </p:spPr>
      </p:sp>
      <p:sp>
        <p:nvSpPr>
          <p:cNvPr id="72" name="Shape 29"/>
          <p:cNvSpPr/>
          <p:nvPr>
            <p:custDataLst>
              <p:tags r:id="rId4"/>
            </p:custDataLst>
          </p:nvPr>
        </p:nvSpPr>
        <p:spPr>
          <a:xfrm>
            <a:off x="3082925" y="1651000"/>
            <a:ext cx="0" cy="4646295"/>
          </a:xfrm>
          <a:prstGeom prst="line">
            <a:avLst/>
          </a:prstGeom>
          <a:noFill/>
          <a:ln w="12700">
            <a:solidFill>
              <a:srgbClr val="D0D8E4"/>
            </a:solidFill>
            <a:prstDash val="solid"/>
          </a:ln>
        </p:spPr>
      </p:sp>
      <p:sp>
        <p:nvSpPr>
          <p:cNvPr id="81" name="Shape 38"/>
          <p:cNvSpPr/>
          <p:nvPr>
            <p:custDataLst>
              <p:tags r:id="rId5"/>
            </p:custDataLst>
          </p:nvPr>
        </p:nvSpPr>
        <p:spPr>
          <a:xfrm>
            <a:off x="3082925" y="1651000"/>
            <a:ext cx="0" cy="4646295"/>
          </a:xfrm>
          <a:prstGeom prst="line">
            <a:avLst/>
          </a:prstGeom>
          <a:noFill/>
          <a:ln w="12700">
            <a:solidFill>
              <a:srgbClr val="D0D8E4"/>
            </a:solidFill>
            <a:prstDash val="solid"/>
          </a:ln>
        </p:spPr>
      </p:sp>
      <p:sp>
        <p:nvSpPr>
          <p:cNvPr id="90" name="Shape 47"/>
          <p:cNvSpPr/>
          <p:nvPr>
            <p:custDataLst>
              <p:tags r:id="rId6"/>
            </p:custDataLst>
          </p:nvPr>
        </p:nvSpPr>
        <p:spPr>
          <a:xfrm>
            <a:off x="3082925" y="1651000"/>
            <a:ext cx="0" cy="4646295"/>
          </a:xfrm>
          <a:prstGeom prst="line">
            <a:avLst/>
          </a:prstGeom>
          <a:noFill/>
          <a:ln w="12700">
            <a:solidFill>
              <a:srgbClr val="D0D8E4"/>
            </a:solidFill>
            <a:prstDash val="solid"/>
          </a:ln>
        </p:spPr>
      </p:sp>
      <p:sp>
        <p:nvSpPr>
          <p:cNvPr id="95" name="Shape 56"/>
          <p:cNvSpPr/>
          <p:nvPr>
            <p:custDataLst>
              <p:tags r:id="rId7"/>
            </p:custDataLst>
          </p:nvPr>
        </p:nvSpPr>
        <p:spPr>
          <a:xfrm>
            <a:off x="3082925" y="1651000"/>
            <a:ext cx="0" cy="4646295"/>
          </a:xfrm>
          <a:prstGeom prst="line">
            <a:avLst/>
          </a:prstGeom>
          <a:noFill/>
          <a:ln w="12700">
            <a:solidFill>
              <a:srgbClr val="D0D8E4"/>
            </a:solidFill>
            <a:prstDash val="solid"/>
          </a:ln>
        </p:spPr>
      </p:sp>
      <p:sp>
        <p:nvSpPr>
          <p:cNvPr id="104" name="Shape 65"/>
          <p:cNvSpPr/>
          <p:nvPr>
            <p:custDataLst>
              <p:tags r:id="rId8"/>
            </p:custDataLst>
          </p:nvPr>
        </p:nvSpPr>
        <p:spPr>
          <a:xfrm>
            <a:off x="3082925" y="1651000"/>
            <a:ext cx="0" cy="4646295"/>
          </a:xfrm>
          <a:prstGeom prst="line">
            <a:avLst/>
          </a:prstGeom>
          <a:noFill/>
          <a:ln w="12700">
            <a:solidFill>
              <a:srgbClr val="D0D8E4"/>
            </a:solidFill>
            <a:prstDash val="solid"/>
          </a:ln>
        </p:spPr>
      </p:sp>
      <p:sp>
        <p:nvSpPr>
          <p:cNvPr id="113" name="Shape 74"/>
          <p:cNvSpPr/>
          <p:nvPr>
            <p:custDataLst>
              <p:tags r:id="rId9"/>
            </p:custDataLst>
          </p:nvPr>
        </p:nvSpPr>
        <p:spPr>
          <a:xfrm>
            <a:off x="3082925" y="1651000"/>
            <a:ext cx="0" cy="4646295"/>
          </a:xfrm>
          <a:prstGeom prst="line">
            <a:avLst/>
          </a:prstGeom>
          <a:noFill/>
          <a:ln w="12700">
            <a:solidFill>
              <a:srgbClr val="D0D8E4"/>
            </a:solidFill>
            <a:prstDash val="solid"/>
          </a:ln>
        </p:spPr>
      </p:sp>
      <p:sp>
        <p:nvSpPr>
          <p:cNvPr id="122" name="Shape 83"/>
          <p:cNvSpPr/>
          <p:nvPr>
            <p:custDataLst>
              <p:tags r:id="rId10"/>
            </p:custDataLst>
          </p:nvPr>
        </p:nvSpPr>
        <p:spPr>
          <a:xfrm>
            <a:off x="3082925" y="1651000"/>
            <a:ext cx="0" cy="4646295"/>
          </a:xfrm>
          <a:prstGeom prst="line">
            <a:avLst/>
          </a:prstGeom>
          <a:noFill/>
          <a:ln w="12700">
            <a:solidFill>
              <a:srgbClr val="D0D8E4"/>
            </a:solidFill>
            <a:prstDash val="solid"/>
          </a:ln>
        </p:spPr>
      </p:sp>
      <p:sp>
        <p:nvSpPr>
          <p:cNvPr id="131" name="Shape 92"/>
          <p:cNvSpPr/>
          <p:nvPr>
            <p:custDataLst>
              <p:tags r:id="rId11"/>
            </p:custDataLst>
          </p:nvPr>
        </p:nvSpPr>
        <p:spPr>
          <a:xfrm>
            <a:off x="3082925" y="1651000"/>
            <a:ext cx="0" cy="4646295"/>
          </a:xfrm>
          <a:prstGeom prst="line">
            <a:avLst/>
          </a:prstGeom>
          <a:noFill/>
          <a:ln w="12700">
            <a:solidFill>
              <a:srgbClr val="D0D8E4"/>
            </a:solidFill>
            <a:prstDash val="solid"/>
          </a:ln>
        </p:spPr>
      </p:sp>
      <p:sp>
        <p:nvSpPr>
          <p:cNvPr id="140" name="Shape 101"/>
          <p:cNvSpPr/>
          <p:nvPr>
            <p:custDataLst>
              <p:tags r:id="rId12"/>
            </p:custDataLst>
          </p:nvPr>
        </p:nvSpPr>
        <p:spPr>
          <a:xfrm>
            <a:off x="3082925" y="1651000"/>
            <a:ext cx="0" cy="4646295"/>
          </a:xfrm>
          <a:prstGeom prst="line">
            <a:avLst/>
          </a:prstGeom>
          <a:noFill/>
          <a:ln w="12700">
            <a:solidFill>
              <a:srgbClr val="D0D8E4"/>
            </a:solidFill>
            <a:prstDash val="solid"/>
          </a:ln>
        </p:spPr>
      </p:sp>
      <p:sp>
        <p:nvSpPr>
          <p:cNvPr id="149" name="Shape 110"/>
          <p:cNvSpPr/>
          <p:nvPr>
            <p:custDataLst>
              <p:tags r:id="rId13"/>
            </p:custDataLst>
          </p:nvPr>
        </p:nvSpPr>
        <p:spPr>
          <a:xfrm>
            <a:off x="3082925" y="1651000"/>
            <a:ext cx="0" cy="4646295"/>
          </a:xfrm>
          <a:prstGeom prst="line">
            <a:avLst/>
          </a:prstGeom>
          <a:noFill/>
          <a:ln w="12700">
            <a:solidFill>
              <a:srgbClr val="D0D8E4"/>
            </a:solidFill>
            <a:prstDash val="solid"/>
          </a:ln>
        </p:spPr>
      </p:sp>
      <p:sp>
        <p:nvSpPr>
          <p:cNvPr id="159" name="Text 3"/>
          <p:cNvSpPr/>
          <p:nvPr/>
        </p:nvSpPr>
        <p:spPr>
          <a:xfrm>
            <a:off x="429958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周二</a:t>
            </a:r>
          </a:p>
        </p:txBody>
      </p:sp>
      <p:sp>
        <p:nvSpPr>
          <p:cNvPr id="160" name="Text 3"/>
          <p:cNvSpPr/>
          <p:nvPr/>
        </p:nvSpPr>
        <p:spPr>
          <a:xfrm>
            <a:off x="536384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周三</a:t>
            </a:r>
          </a:p>
        </p:txBody>
      </p:sp>
      <p:sp>
        <p:nvSpPr>
          <p:cNvPr id="161" name="Text 3"/>
          <p:cNvSpPr/>
          <p:nvPr/>
        </p:nvSpPr>
        <p:spPr>
          <a:xfrm>
            <a:off x="642810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周四</a:t>
            </a:r>
          </a:p>
        </p:txBody>
      </p:sp>
      <p:sp>
        <p:nvSpPr>
          <p:cNvPr id="162" name="Text 3"/>
          <p:cNvSpPr/>
          <p:nvPr/>
        </p:nvSpPr>
        <p:spPr>
          <a:xfrm>
            <a:off x="7492365" y="112585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周五</a:t>
            </a:r>
          </a:p>
        </p:txBody>
      </p:sp>
      <p:sp>
        <p:nvSpPr>
          <p:cNvPr id="163" name="Shape 110"/>
          <p:cNvSpPr/>
          <p:nvPr>
            <p:custDataLst>
              <p:tags r:id="rId14"/>
            </p:custDataLst>
          </p:nvPr>
        </p:nvSpPr>
        <p:spPr>
          <a:xfrm>
            <a:off x="3082925" y="1604010"/>
            <a:ext cx="0" cy="5220000"/>
          </a:xfrm>
          <a:prstGeom prst="line">
            <a:avLst/>
          </a:prstGeom>
          <a:noFill/>
          <a:ln w="12700">
            <a:solidFill>
              <a:srgbClr val="D0D8E4"/>
            </a:solidFill>
            <a:prstDash val="solid"/>
          </a:ln>
        </p:spPr>
      </p:sp>
      <p:sp>
        <p:nvSpPr>
          <p:cNvPr id="177" name="Shape 36"/>
          <p:cNvSpPr/>
          <p:nvPr>
            <p:custDataLst>
              <p:tags r:id="rId15"/>
            </p:custDataLst>
          </p:nvPr>
        </p:nvSpPr>
        <p:spPr>
          <a:xfrm>
            <a:off x="3093720" y="2425700"/>
            <a:ext cx="2033905"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杨宗一 </a:t>
            </a:r>
          </a:p>
        </p:txBody>
      </p:sp>
      <p:sp>
        <p:nvSpPr>
          <p:cNvPr id="195" name="Shape 9"/>
          <p:cNvSpPr/>
          <p:nvPr>
            <p:custDataLst>
              <p:tags r:id="rId16"/>
            </p:custDataLst>
          </p:nvPr>
        </p:nvSpPr>
        <p:spPr>
          <a:xfrm>
            <a:off x="3089910" y="1487170"/>
            <a:ext cx="2029460" cy="501015"/>
          </a:xfrm>
          <a:prstGeom prst="rect">
            <a:avLst/>
          </a:prstGeom>
          <a:solidFill>
            <a:srgbClr val="00A87E"/>
          </a:solidFill>
          <a:ln w="12700">
            <a:solidFill>
              <a:srgbClr val="2E7DD1"/>
            </a:solidFill>
            <a:prstDash val="solid"/>
          </a:ln>
        </p:spPr>
        <p:txBody>
          <a:bodyPr/>
          <a:lstStyle/>
          <a:p>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李春波</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a:t>
            </a:r>
          </a:p>
          <a:p>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杨宗一</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朱世宇</a:t>
            </a:r>
          </a:p>
        </p:txBody>
      </p:sp>
      <p:sp>
        <p:nvSpPr>
          <p:cNvPr id="11" name="Shape 25"/>
          <p:cNvSpPr/>
          <p:nvPr>
            <p:custDataLst>
              <p:tags r:id="rId17"/>
            </p:custDataLst>
          </p:nvPr>
        </p:nvSpPr>
        <p:spPr>
          <a:xfrm>
            <a:off x="280670" y="151574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12" name="Text 17"/>
          <p:cNvSpPr/>
          <p:nvPr>
            <p:custDataLst>
              <p:tags r:id="rId18"/>
            </p:custDataLst>
          </p:nvPr>
        </p:nvSpPr>
        <p:spPr>
          <a:xfrm>
            <a:off x="340360" y="1515745"/>
            <a:ext cx="2757170" cy="292100"/>
          </a:xfrm>
          <a:prstGeom prst="rect">
            <a:avLst/>
          </a:prstGeom>
          <a:noFill/>
        </p:spPr>
        <p:txBody>
          <a:bodyPr wrap="square" lIns="0" tIns="0" rIns="0" bIns="0" rtlCol="0" anchor="ctr"/>
          <a:lstStyle/>
          <a:p>
            <a:pPr marL="0" indent="0">
              <a:buNone/>
            </a:pP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①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论文写作（参考文献引用复查）</a:t>
            </a:r>
          </a:p>
        </p:txBody>
      </p:sp>
      <p:sp>
        <p:nvSpPr>
          <p:cNvPr id="13" name="Text 3"/>
          <p:cNvSpPr/>
          <p:nvPr/>
        </p:nvSpPr>
        <p:spPr>
          <a:xfrm>
            <a:off x="8724265" y="1110615"/>
            <a:ext cx="558165" cy="357430"/>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周六</a:t>
            </a:r>
          </a:p>
        </p:txBody>
      </p:sp>
      <p:sp>
        <p:nvSpPr>
          <p:cNvPr id="14" name="Text 3"/>
          <p:cNvSpPr/>
          <p:nvPr/>
        </p:nvSpPr>
        <p:spPr>
          <a:xfrm>
            <a:off x="9952990" y="1125855"/>
            <a:ext cx="982345" cy="357505"/>
          </a:xfrm>
          <a:prstGeom prst="rect">
            <a:avLst/>
          </a:prstGeom>
          <a:noFill/>
        </p:spPr>
        <p:txBody>
          <a:bodyPr wrap="square" lIns="0" tIns="0" rIns="0" bIns="0" rtlCol="0" anchor="ctr"/>
          <a:lstStyle/>
          <a:p>
            <a:pPr marL="0" indent="0" algn="ctr">
              <a:buNone/>
            </a:pPr>
            <a:r>
              <a:rPr lang="zh-CN" altLang="en-US" b="1" dirty="0">
                <a:solidFill>
                  <a:srgbClr val="FFFFFF"/>
                </a:solidFill>
                <a:latin typeface="微软雅黑" panose="020B0503020204020204" charset="-122"/>
                <a:ea typeface="微软雅黑" panose="020B0503020204020204" charset="-122"/>
                <a:cs typeface="微软雅黑" panose="020B0503020204020204" pitchFamily="34" charset="-120"/>
              </a:rPr>
              <a:t>周日</a:t>
            </a:r>
            <a:r>
              <a:rPr lang="en-US" altLang="zh-CN" b="1" dirty="0">
                <a:solidFill>
                  <a:srgbClr val="FFFFFF"/>
                </a:solidFill>
                <a:latin typeface="微软雅黑" panose="020B0503020204020204" charset="-122"/>
                <a:ea typeface="微软雅黑" panose="020B0503020204020204" charset="-122"/>
                <a:cs typeface="微软雅黑" panose="020B0503020204020204" pitchFamily="34" charset="-120"/>
              </a:rPr>
              <a:t>4.26</a:t>
            </a:r>
          </a:p>
        </p:txBody>
      </p:sp>
      <p:sp>
        <p:nvSpPr>
          <p:cNvPr id="15" name="Shape 113"/>
          <p:cNvSpPr/>
          <p:nvPr/>
        </p:nvSpPr>
        <p:spPr>
          <a:xfrm>
            <a:off x="9476105" y="1604010"/>
            <a:ext cx="0" cy="5220000"/>
          </a:xfrm>
          <a:prstGeom prst="line">
            <a:avLst/>
          </a:prstGeom>
          <a:noFill/>
          <a:ln w="12700">
            <a:solidFill>
              <a:srgbClr val="D0D8E4"/>
            </a:solidFill>
            <a:prstDash val="solid"/>
          </a:ln>
        </p:spPr>
      </p:sp>
      <p:sp>
        <p:nvSpPr>
          <p:cNvPr id="16" name="Shape 113"/>
          <p:cNvSpPr/>
          <p:nvPr/>
        </p:nvSpPr>
        <p:spPr>
          <a:xfrm>
            <a:off x="10782935" y="1604010"/>
            <a:ext cx="0" cy="5220000"/>
          </a:xfrm>
          <a:prstGeom prst="line">
            <a:avLst/>
          </a:prstGeom>
          <a:noFill/>
          <a:ln w="12700">
            <a:solidFill>
              <a:srgbClr val="D0D8E4"/>
            </a:solidFill>
            <a:prstDash val="solid"/>
          </a:ln>
        </p:spPr>
      </p:sp>
      <p:sp>
        <p:nvSpPr>
          <p:cNvPr id="18" name="Shape 25"/>
          <p:cNvSpPr/>
          <p:nvPr>
            <p:custDataLst>
              <p:tags r:id="rId19"/>
            </p:custDataLst>
          </p:nvPr>
        </p:nvSpPr>
        <p:spPr>
          <a:xfrm>
            <a:off x="280670" y="194818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19" name="Text 17"/>
          <p:cNvSpPr/>
          <p:nvPr>
            <p:custDataLst>
              <p:tags r:id="rId20"/>
            </p:custDataLst>
          </p:nvPr>
        </p:nvSpPr>
        <p:spPr>
          <a:xfrm>
            <a:off x="340360" y="1948180"/>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②</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论文写作（算法消融）</a:t>
            </a:r>
          </a:p>
        </p:txBody>
      </p:sp>
      <p:sp>
        <p:nvSpPr>
          <p:cNvPr id="25" name="Shape 25"/>
          <p:cNvSpPr/>
          <p:nvPr>
            <p:custDataLst>
              <p:tags r:id="rId21"/>
            </p:custDataLst>
          </p:nvPr>
        </p:nvSpPr>
        <p:spPr>
          <a:xfrm>
            <a:off x="267335" y="2377440"/>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7" name="Text 17"/>
          <p:cNvSpPr/>
          <p:nvPr>
            <p:custDataLst>
              <p:tags r:id="rId22"/>
            </p:custDataLst>
          </p:nvPr>
        </p:nvSpPr>
        <p:spPr>
          <a:xfrm>
            <a:off x="327025" y="2377440"/>
            <a:ext cx="274193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⑤</a:t>
            </a:r>
            <a:r>
              <a:rPr 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论文写作（方法章节：情绪识别）</a:t>
            </a:r>
          </a:p>
        </p:txBody>
      </p:sp>
      <p:sp>
        <p:nvSpPr>
          <p:cNvPr id="28" name="Shape 25"/>
          <p:cNvSpPr/>
          <p:nvPr>
            <p:custDataLst>
              <p:tags r:id="rId23"/>
            </p:custDataLst>
          </p:nvPr>
        </p:nvSpPr>
        <p:spPr>
          <a:xfrm>
            <a:off x="267335" y="278320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29" name="Text 17"/>
          <p:cNvSpPr/>
          <p:nvPr>
            <p:custDataLst>
              <p:tags r:id="rId24"/>
            </p:custDataLst>
          </p:nvPr>
        </p:nvSpPr>
        <p:spPr>
          <a:xfrm>
            <a:off x="327025" y="278320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⑥</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sym typeface="+mn-ea"/>
              </a:rPr>
              <a:t>方法章节：系统</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a:t>
            </a:r>
          </a:p>
        </p:txBody>
      </p:sp>
      <p:sp>
        <p:nvSpPr>
          <p:cNvPr id="30" name="Shape 36"/>
          <p:cNvSpPr/>
          <p:nvPr>
            <p:custDataLst>
              <p:tags r:id="rId25"/>
            </p:custDataLst>
          </p:nvPr>
        </p:nvSpPr>
        <p:spPr>
          <a:xfrm>
            <a:off x="3082290" y="2045970"/>
            <a:ext cx="2049145" cy="243840"/>
          </a:xfrm>
          <a:prstGeom prst="rect">
            <a:avLst/>
          </a:prstGeom>
          <a:solidFill>
            <a:srgbClr val="00A87E"/>
          </a:solidFill>
          <a:ln w="12700">
            <a:solidFill>
              <a:srgbClr val="2E7DD1"/>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杨宗一 </a:t>
            </a:r>
          </a:p>
        </p:txBody>
      </p:sp>
      <p:sp>
        <p:nvSpPr>
          <p:cNvPr id="33" name="Shape 27"/>
          <p:cNvSpPr/>
          <p:nvPr>
            <p:custDataLst>
              <p:tags r:id="rId26"/>
            </p:custDataLst>
          </p:nvPr>
        </p:nvSpPr>
        <p:spPr>
          <a:xfrm>
            <a:off x="3084195" y="2831465"/>
            <a:ext cx="2050415" cy="243840"/>
          </a:xfrm>
          <a:prstGeom prst="rect">
            <a:avLst/>
          </a:prstGeom>
          <a:solidFill>
            <a:srgbClr val="4A90D9"/>
          </a:solidFill>
          <a:ln w="12700">
            <a:solidFill>
              <a:srgbClr val="4A90D9"/>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李祥+朱世宇</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34" name="Shape 25"/>
          <p:cNvSpPr/>
          <p:nvPr>
            <p:custDataLst>
              <p:tags r:id="rId27"/>
            </p:custDataLst>
          </p:nvPr>
        </p:nvSpPr>
        <p:spPr>
          <a:xfrm>
            <a:off x="267335" y="3189605"/>
            <a:ext cx="2716530" cy="339725"/>
          </a:xfrm>
          <a:prstGeom prst="rect">
            <a:avLst/>
          </a:prstGeom>
          <a:solidFill>
            <a:srgbClr val="FFFFFF"/>
          </a:solidFill>
          <a:ln w="12700">
            <a:solidFill>
              <a:srgbClr val="D6E4F0"/>
            </a:solidFill>
            <a:prstDash val="solid"/>
          </a:ln>
        </p:spPr>
        <p:txBody>
          <a:bodyPr/>
          <a:lstStyle/>
          <a:p>
            <a:endParaRPr lang="zh-CN" altLang="en-US"/>
          </a:p>
        </p:txBody>
      </p:sp>
      <p:sp>
        <p:nvSpPr>
          <p:cNvPr id="35" name="Text 17"/>
          <p:cNvSpPr/>
          <p:nvPr>
            <p:custDataLst>
              <p:tags r:id="rId28"/>
            </p:custDataLst>
          </p:nvPr>
        </p:nvSpPr>
        <p:spPr>
          <a:xfrm>
            <a:off x="327025" y="3189605"/>
            <a:ext cx="2621280" cy="292100"/>
          </a:xfrm>
          <a:prstGeom prst="rect">
            <a:avLst/>
          </a:prstGeom>
          <a:noFill/>
        </p:spPr>
        <p:txBody>
          <a:bodyPr wrap="square" lIns="0" tIns="0" rIns="0" bIns="0" rtlCol="0" anchor="ctr"/>
          <a:lstStyle/>
          <a:p>
            <a:pPr marL="0" indent="0">
              <a:buNone/>
            </a:pP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⑥</a:t>
            </a:r>
            <a:r>
              <a:rPr lang="en-US" altLang="zh-CN" sz="1400" b="1" dirty="0">
                <a:solidFill>
                  <a:srgbClr val="1E2A3A"/>
                </a:solidFill>
                <a:latin typeface="微软雅黑" panose="020B0503020204020204" charset="-122"/>
                <a:ea typeface="微软雅黑" panose="020B0503020204020204" charset="-122"/>
                <a:cs typeface="微软雅黑" panose="020B0503020204020204" pitchFamily="34" charset="-120"/>
              </a:rPr>
              <a:t> </a:t>
            </a:r>
            <a:r>
              <a:rPr lang="zh-CN" altLang="en-US" sz="1400" b="1" dirty="0">
                <a:solidFill>
                  <a:srgbClr val="1E2A3A"/>
                </a:solidFill>
                <a:latin typeface="微软雅黑" panose="020B0503020204020204" charset="-122"/>
                <a:ea typeface="微软雅黑" panose="020B0503020204020204" charset="-122"/>
                <a:cs typeface="微软雅黑" panose="020B0503020204020204" pitchFamily="34" charset="-120"/>
              </a:rPr>
              <a:t>论文写作（摘要，引言，结论）</a:t>
            </a:r>
          </a:p>
        </p:txBody>
      </p:sp>
      <p:sp>
        <p:nvSpPr>
          <p:cNvPr id="37" name="Shape 27"/>
          <p:cNvSpPr/>
          <p:nvPr>
            <p:custDataLst>
              <p:tags r:id="rId29"/>
            </p:custDataLst>
          </p:nvPr>
        </p:nvSpPr>
        <p:spPr>
          <a:xfrm>
            <a:off x="3084195" y="3230245"/>
            <a:ext cx="2051050" cy="243840"/>
          </a:xfrm>
          <a:prstGeom prst="rect">
            <a:avLst/>
          </a:prstGeom>
          <a:solidFill>
            <a:srgbClr val="4A90D9"/>
          </a:solidFill>
          <a:ln w="12700">
            <a:solidFill>
              <a:srgbClr val="4A90D9"/>
            </a:solidFill>
            <a:prstDash val="solid"/>
          </a:ln>
        </p:spPr>
        <p:txBody>
          <a:bodyPr>
            <a:noAutofit/>
          </a:bodyPr>
          <a:lstStyle/>
          <a:p>
            <a:pPr lvl="0" algn="l">
              <a:buClrTx/>
              <a:buSzTx/>
              <a:buFontTx/>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李祥</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sym typeface="+mn-ea"/>
              </a:rPr>
              <a:t>张亚冲</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1028699"/>
          </a:xfrm>
        </p:spPr>
        <p:txBody>
          <a:bodyPr/>
          <a:lstStyle/>
          <a:p>
            <a:r>
              <a:rPr lang="zh-CN" altLang="en-US" dirty="0"/>
              <a:t>研究背景</a:t>
            </a:r>
          </a:p>
        </p:txBody>
      </p:sp>
      <p:sp>
        <p:nvSpPr>
          <p:cNvPr id="4" name="灯片编号占位符 3"/>
          <p:cNvSpPr>
            <a:spLocks noGrp="1"/>
          </p:cNvSpPr>
          <p:nvPr>
            <p:ph type="sldNum" sz="quarter" idx="12"/>
          </p:nvPr>
        </p:nvSpPr>
        <p:spPr>
          <a:xfrm>
            <a:off x="9271009" y="6648654"/>
            <a:ext cx="2909888" cy="206381"/>
          </a:xfrm>
        </p:spPr>
        <p:txBody>
          <a:bodyPr/>
          <a:lstStyle/>
          <a:p>
            <a:fld id="{5DD3DB80-B894-403A-B48E-6FDC1A72010E}" type="slidenum">
              <a:rPr lang="zh-CN" altLang="en-US" smtClean="0"/>
              <a:t>4</a:t>
            </a:fld>
            <a:endParaRPr lang="zh-CN" altLang="en-US" dirty="0"/>
          </a:p>
        </p:txBody>
      </p:sp>
      <p:sp>
        <p:nvSpPr>
          <p:cNvPr id="5" name="文本框 4"/>
          <p:cNvSpPr txBox="1"/>
          <p:nvPr/>
        </p:nvSpPr>
        <p:spPr>
          <a:xfrm>
            <a:off x="578007" y="1108710"/>
            <a:ext cx="11034396" cy="5077460"/>
          </a:xfrm>
          <a:prstGeom prst="rect">
            <a:avLst/>
          </a:prstGeom>
          <a:noFill/>
        </p:spPr>
        <p:txBody>
          <a:bodyPr wrap="square" rtlCol="0">
            <a:spAutoFit/>
          </a:bodyPr>
          <a:lstStyle/>
          <a:p>
            <a:pPr marL="285750" lvl="0" indent="-285750" fontAlgn="base">
              <a:lnSpc>
                <a:spcPct val="150000"/>
              </a:lnSpc>
              <a:buClr>
                <a:srgbClr val="000000"/>
              </a:buClr>
              <a:buSzPts val="1100"/>
              <a:buFont typeface="Wingdings" panose="05000000000000000000" pitchFamily="2" charset="2"/>
              <a:buChar char="n"/>
            </a:pPr>
            <a:r>
              <a:rPr lang="zh-CN" altLang="zh-CN" b="1" dirty="0">
                <a:solidFill>
                  <a:srgbClr val="FF0000"/>
                </a:solidFill>
                <a:effectLst/>
                <a:latin typeface="Arial" panose="020B0604020202090204" pitchFamily="34" charset="0"/>
                <a:ea typeface="Google Sans"/>
                <a:cs typeface="Google Sans"/>
                <a:sym typeface="+mn-ea"/>
              </a:rPr>
              <a:t>情感健康问题：</a:t>
            </a:r>
            <a:r>
              <a:rPr lang="zh-CN" altLang="zh-CN" sz="1800" u="none" strike="noStrike" dirty="0">
                <a:solidFill>
                  <a:srgbClr val="1F1F1F"/>
                </a:solidFill>
                <a:effectLst/>
                <a:latin typeface="Arial" panose="020B0604020202090204" pitchFamily="34" charset="0"/>
                <a:ea typeface="Google Sans"/>
                <a:cs typeface="Google Sans"/>
              </a:rPr>
              <a:t>情感健康已成为人类生活面临的主要问题，但在日常生活中获取持续且低门槛的心理支持资源仍然参差不齐 。</a:t>
            </a:r>
            <a:endParaRPr lang="zh-CN" altLang="zh-CN" sz="1800" u="none" strike="noStrike" dirty="0">
              <a:effectLst/>
              <a:latin typeface="Arial" panose="020B0604020202090204" pitchFamily="34" charset="0"/>
              <a:ea typeface="Arial" panose="020B0604020202090204" pitchFamily="34" charset="0"/>
              <a:cs typeface="Arial" panose="020B0604020202090204" pitchFamily="34" charset="0"/>
            </a:endParaRPr>
          </a:p>
          <a:p>
            <a:pPr marL="285750" lvl="0" indent="-285750" fontAlgn="base">
              <a:lnSpc>
                <a:spcPct val="150000"/>
              </a:lnSpc>
              <a:buClr>
                <a:srgbClr val="000000"/>
              </a:buClr>
              <a:buSzPts val="1100"/>
              <a:buFont typeface="Wingdings" panose="05000000000000000000" pitchFamily="2" charset="2"/>
              <a:buChar char="n"/>
            </a:pPr>
            <a:r>
              <a:rPr lang="zh-CN" altLang="zh-CN" sz="1800" b="1" u="none" strike="noStrike" dirty="0">
                <a:solidFill>
                  <a:srgbClr val="FF0000"/>
                </a:solidFill>
                <a:effectLst/>
                <a:latin typeface="Arial" panose="020B0604020202090204" pitchFamily="34" charset="0"/>
                <a:ea typeface="Google Sans"/>
                <a:cs typeface="Google Sans"/>
              </a:rPr>
              <a:t>对话式人工智能：</a:t>
            </a:r>
            <a:r>
              <a:rPr lang="zh-CN" altLang="zh-CN" sz="1800" u="none" strike="noStrike" dirty="0">
                <a:solidFill>
                  <a:srgbClr val="1F1F1F"/>
                </a:solidFill>
                <a:effectLst/>
                <a:latin typeface="Arial" panose="020B0604020202090204" pitchFamily="34" charset="0"/>
                <a:ea typeface="Google Sans"/>
                <a:cs typeface="Google Sans"/>
              </a:rPr>
              <a:t>能够持续运行、减少等待时间并降低首次接触的门槛，被视为提供情感支持的一种具备可扩展性的途径 。</a:t>
            </a:r>
            <a:endParaRPr lang="en-US" altLang="zh-CN" sz="1800" u="none" strike="noStrike" dirty="0">
              <a:solidFill>
                <a:srgbClr val="1F1F1F"/>
              </a:solidFill>
              <a:effectLst/>
              <a:latin typeface="Arial" panose="020B0604020202090204" pitchFamily="34" charset="0"/>
              <a:ea typeface="Google Sans"/>
              <a:cs typeface="Google Sans"/>
            </a:endParaRPr>
          </a:p>
          <a:p>
            <a:pPr marL="285750" lvl="0" indent="-285750" fontAlgn="base">
              <a:lnSpc>
                <a:spcPct val="150000"/>
              </a:lnSpc>
              <a:buClr>
                <a:srgbClr val="000000"/>
              </a:buClr>
              <a:buSzPts val="1100"/>
              <a:buFont typeface="Wingdings" panose="05000000000000000000" pitchFamily="2" charset="2"/>
              <a:buChar char="n"/>
            </a:pPr>
            <a:r>
              <a:rPr lang="zh-CN" altLang="zh-CN" sz="1800" b="1" dirty="0">
                <a:solidFill>
                  <a:srgbClr val="FF0000"/>
                </a:solidFill>
                <a:effectLst/>
                <a:ea typeface="Google Sans"/>
                <a:cs typeface="Google Sans"/>
              </a:rPr>
              <a:t>用户往往很难直接用语言表达自己的情绪：</a:t>
            </a:r>
            <a:r>
              <a:rPr lang="zh-CN" altLang="en-US" sz="1800" dirty="0">
                <a:solidFill>
                  <a:srgbClr val="1F1F1F"/>
                </a:solidFill>
                <a:effectLst/>
                <a:ea typeface="Google Sans"/>
                <a:cs typeface="Google Sans"/>
              </a:rPr>
              <a:t>用户在真实困扰中常常难以仅靠语言或语音准确表达复杂情绪，用户往往难以精确描述复杂的内心感受，尤其是在痛苦持续或模棱两可的情况下，文本和语音的交互变得局限。</a:t>
            </a:r>
            <a:endParaRPr lang="zh-CN" altLang="zh-CN" sz="1800" dirty="0">
              <a:solidFill>
                <a:srgbClr val="1F1F1F"/>
              </a:solidFill>
              <a:effectLst/>
              <a:ea typeface="Google Sans"/>
              <a:cs typeface="Google Sans"/>
            </a:endParaRPr>
          </a:p>
          <a:p>
            <a:pPr marL="285750" lvl="0" indent="-285750" fontAlgn="base">
              <a:lnSpc>
                <a:spcPct val="150000"/>
              </a:lnSpc>
              <a:buClr>
                <a:srgbClr val="000000"/>
              </a:buClr>
              <a:buSzPts val="1100"/>
              <a:buFont typeface="Wingdings" panose="05000000000000000000" pitchFamily="2" charset="2"/>
              <a:buChar char="n"/>
            </a:pPr>
            <a:endParaRPr lang="zh-CN" altLang="zh-CN" sz="1800" u="none" strike="noStrike" dirty="0">
              <a:effectLst/>
              <a:latin typeface="Arial" panose="020B0604020202090204" pitchFamily="34" charset="0"/>
              <a:ea typeface="Arial" panose="020B0604020202090204" pitchFamily="34" charset="0"/>
              <a:cs typeface="Arial" panose="020B0604020202090204" pitchFamily="34" charset="0"/>
            </a:endParaRPr>
          </a:p>
          <a:p>
            <a:pPr marL="285750" lvl="0" indent="-285750" fontAlgn="base">
              <a:lnSpc>
                <a:spcPct val="150000"/>
              </a:lnSpc>
              <a:buClr>
                <a:srgbClr val="000000"/>
              </a:buClr>
              <a:buSzPts val="1100"/>
              <a:buFont typeface="Wingdings" panose="05000000000000000000" pitchFamily="2" charset="2"/>
              <a:buChar char="n"/>
            </a:pPr>
            <a:r>
              <a:rPr lang="zh-CN" altLang="zh-CN" sz="1800" b="1" u="none" strike="noStrike" dirty="0">
                <a:solidFill>
                  <a:srgbClr val="0070C0"/>
                </a:solidFill>
                <a:effectLst/>
                <a:ea typeface="Google Sans"/>
                <a:cs typeface="Google Sans"/>
              </a:rPr>
              <a:t>因此，开发一个能够</a:t>
            </a:r>
            <a:r>
              <a:rPr lang="zh-CN" altLang="en-US" sz="1800" b="1" u="none" strike="noStrike" dirty="0">
                <a:solidFill>
                  <a:srgbClr val="0070C0"/>
                </a:solidFill>
                <a:effectLst/>
                <a:ea typeface="Google Sans"/>
                <a:cs typeface="Google Sans"/>
              </a:rPr>
              <a:t>捕捉隐式情感，实现低门槛情感外化，</a:t>
            </a:r>
            <a:r>
              <a:rPr lang="zh-CN" altLang="zh-CN" sz="1800" b="1" u="none" strike="noStrike" dirty="0">
                <a:solidFill>
                  <a:srgbClr val="0070C0"/>
                </a:solidFill>
                <a:effectLst/>
                <a:ea typeface="Google Sans"/>
                <a:cs typeface="Google Sans"/>
              </a:rPr>
              <a:t>提供具有社会表现力的情感反馈的情感对话系统至关重要，从而</a:t>
            </a:r>
            <a:r>
              <a:rPr lang="zh-CN" altLang="en-US" sz="1800" b="1" u="none" strike="noStrike" dirty="0">
                <a:solidFill>
                  <a:srgbClr val="0070C0"/>
                </a:solidFill>
                <a:effectLst/>
                <a:ea typeface="Google Sans"/>
                <a:cs typeface="Google Sans"/>
              </a:rPr>
              <a:t>帮助用户获得情感疗愈。</a:t>
            </a:r>
            <a:endParaRPr lang="zh-CN" altLang="zh-CN" sz="1800" b="1" u="none" strike="noStrike" dirty="0">
              <a:solidFill>
                <a:srgbClr val="0070C0"/>
              </a:solidFill>
              <a:effectLst/>
              <a:ea typeface="Google Sans"/>
              <a:cs typeface="Google Sans"/>
            </a:endParaRPr>
          </a:p>
          <a:p>
            <a:pPr marL="285750" lvl="0" indent="-285750" fontAlgn="base">
              <a:lnSpc>
                <a:spcPct val="150000"/>
              </a:lnSpc>
              <a:buClr>
                <a:srgbClr val="000000"/>
              </a:buClr>
              <a:buSzPts val="1100"/>
              <a:buFont typeface="Wingdings" panose="05000000000000000000" pitchFamily="2" charset="2"/>
              <a:buChar char="n"/>
            </a:pPr>
            <a:endParaRPr lang="zh-CN" altLang="zh-CN" sz="1800" b="1" u="none" strike="noStrike" dirty="0">
              <a:solidFill>
                <a:srgbClr val="0070C0"/>
              </a:solidFill>
              <a:effectLst/>
              <a:ea typeface="Google Sans"/>
              <a:cs typeface="Google Sans"/>
            </a:endParaRPr>
          </a:p>
          <a:p>
            <a:pPr marL="285750" lvl="0" indent="-285750" fontAlgn="base">
              <a:lnSpc>
                <a:spcPct val="150000"/>
              </a:lnSpc>
              <a:buClr>
                <a:srgbClr val="000000"/>
              </a:buClr>
              <a:buSzPts val="1100"/>
              <a:buFont typeface="Wingdings" panose="05000000000000000000" pitchFamily="2" charset="2"/>
              <a:buChar char="n"/>
            </a:pPr>
            <a:endParaRPr lang="zh-CN" altLang="zh-CN" sz="1800" b="1" u="none" strike="noStrike" dirty="0">
              <a:solidFill>
                <a:srgbClr val="0070C0"/>
              </a:solidFill>
              <a:effectLst/>
              <a:latin typeface="Arial" panose="020B0604020202090204" pitchFamily="34" charset="0"/>
              <a:ea typeface="Google Sans"/>
              <a:cs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现有技术路线</a:t>
            </a:r>
          </a:p>
        </p:txBody>
      </p:sp>
      <p:sp>
        <p:nvSpPr>
          <p:cNvPr id="3" name="灯片编号占位符 2"/>
          <p:cNvSpPr>
            <a:spLocks noGrp="1"/>
          </p:cNvSpPr>
          <p:nvPr>
            <p:ph type="sldNum" sz="quarter" idx="12"/>
          </p:nvPr>
        </p:nvSpPr>
        <p:spPr/>
        <p:txBody>
          <a:bodyPr/>
          <a:lstStyle/>
          <a:p>
            <a:fld id="{5DD3DB80-B894-403A-B48E-6FDC1A72010E}" type="slidenum">
              <a:rPr lang="zh-CN" altLang="en-US" smtClean="0"/>
              <a:t>5</a:t>
            </a:fld>
            <a:endParaRPr lang="zh-CN" altLang="en-US"/>
          </a:p>
        </p:txBody>
      </p:sp>
      <p:sp>
        <p:nvSpPr>
          <p:cNvPr id="5" name="文本框 4"/>
          <p:cNvSpPr txBox="1"/>
          <p:nvPr/>
        </p:nvSpPr>
        <p:spPr>
          <a:xfrm>
            <a:off x="669925" y="1870075"/>
            <a:ext cx="10404475" cy="3969385"/>
          </a:xfrm>
          <a:prstGeom prst="rect">
            <a:avLst/>
          </a:prstGeom>
        </p:spPr>
        <p:txBody>
          <a:bodyPr wrap="square">
            <a:spAutoFit/>
          </a:bodyPr>
          <a:lstStyle/>
          <a:p>
            <a:pPr marL="0" indent="0" algn="l"/>
            <a:r>
              <a:rPr lang="zh-CN" altLang="en-US" b="1" i="0">
                <a:solidFill>
                  <a:srgbClr val="333333"/>
                </a:solidFill>
                <a:latin typeface="微软雅黑" panose="020B0503020204020204" charset="-122"/>
                <a:ea typeface="微软雅黑" panose="020B0503020204020204" charset="-122"/>
                <a:cs typeface="微软雅黑" panose="020B0503020204020204" charset="-122"/>
              </a:rPr>
              <a:t>一、传统的语音对话系统和具身反馈对话系统。</a:t>
            </a:r>
          </a:p>
          <a:p>
            <a:pPr marL="285750" indent="-285750" algn="l">
              <a:buFont typeface="Wingdings" panose="05000000000000000000" charset="0"/>
              <a:buChar char="n"/>
            </a:pPr>
            <a:r>
              <a:rPr lang="zh-CN" altLang="en-US" b="0" i="0">
                <a:solidFill>
                  <a:srgbClr val="333333"/>
                </a:solidFill>
                <a:latin typeface="微软雅黑" panose="020B0503020204020204" charset="-122"/>
                <a:ea typeface="微软雅黑" panose="020B0503020204020204" charset="-122"/>
                <a:cs typeface="微软雅黑" panose="020B0503020204020204" charset="-122"/>
              </a:rPr>
              <a:t>一方面，通过语音的</a:t>
            </a:r>
            <a:r>
              <a:rPr lang="zh-CN" altLang="en-US">
                <a:latin typeface="微软雅黑" panose="020B0503020204020204" charset="-122"/>
                <a:ea typeface="微软雅黑" panose="020B0503020204020204" charset="-122"/>
                <a:cs typeface="微软雅黑" panose="020B0503020204020204" charset="-122"/>
                <a:sym typeface="+mn-ea"/>
              </a:rPr>
              <a:t>音调、语速、停顿和强调等声音属性能够塑造同理心和关怀的感知方式。</a:t>
            </a:r>
          </a:p>
          <a:p>
            <a:pPr marL="285750" indent="-285750" algn="l">
              <a:buFont typeface="Wingdings" panose="05000000000000000000" charset="0"/>
              <a:buChar char="n"/>
            </a:pPr>
            <a:r>
              <a:rPr lang="zh-CN" altLang="en-US">
                <a:latin typeface="微软雅黑" panose="020B0503020204020204" charset="-122"/>
                <a:ea typeface="微软雅黑" panose="020B0503020204020204" charset="-122"/>
                <a:cs typeface="微软雅黑" panose="020B0503020204020204" charset="-122"/>
                <a:sym typeface="+mn-ea"/>
              </a:rPr>
              <a:t>另一方面、基于化身或智能体的非语言反馈可以通过将语言与注视、姿势、时机和面部表情相结合，增强社会存在感、陪伴感和用户参与度 。</a:t>
            </a:r>
          </a:p>
          <a:p>
            <a:pPr marL="285750" indent="-285750" algn="l">
              <a:buFont typeface="Wingdings" panose="05000000000000000000" charset="0"/>
              <a:buChar char="n"/>
            </a:pPr>
            <a:endParaRPr lang="zh-CN" altLang="en-US" b="0" i="0">
              <a:solidFill>
                <a:srgbClr val="333333"/>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r>
              <a:rPr lang="zh-CN" altLang="en-US" b="0" i="0">
                <a:solidFill>
                  <a:srgbClr val="333333"/>
                </a:solidFill>
                <a:latin typeface="微软雅黑" panose="020B0503020204020204" charset="-122"/>
                <a:ea typeface="微软雅黑" panose="020B0503020204020204" charset="-122"/>
                <a:cs typeface="微软雅黑" panose="020B0503020204020204" charset="-122"/>
              </a:rPr>
              <a:t>然而，现有的情感对话系统和具身对话智能体仍然严重依赖用户显式表达的内容，当用户无法或没有清晰表达时，系统很难推断出潜在的情感状态 。</a:t>
            </a:r>
          </a:p>
          <a:p>
            <a:pPr marL="0" indent="457200" algn="l"/>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r>
              <a:rPr lang="zh-CN" altLang="en-US" b="1">
                <a:solidFill>
                  <a:srgbClr val="333333"/>
                </a:solidFill>
                <a:latin typeface="微软雅黑" panose="020B0503020204020204" charset="-122"/>
                <a:ea typeface="微软雅黑" panose="020B0503020204020204" charset="-122"/>
                <a:cs typeface="微软雅黑" panose="020B0503020204020204" charset="-122"/>
                <a:sym typeface="+mn-ea"/>
              </a:rPr>
              <a:t>二、视频情感感知和情感艺术干预为丰富情感交互提供了两条互补的途径 。</a:t>
            </a:r>
          </a:p>
          <a:p>
            <a:pPr marL="285750" indent="-285750" algn="l">
              <a:buFont typeface="Wingdings" panose="05000000000000000000" charset="0"/>
              <a:buChar char="n"/>
            </a:pPr>
            <a:r>
              <a:rPr lang="zh-CN" altLang="en-US">
                <a:solidFill>
                  <a:srgbClr val="333333"/>
                </a:solidFill>
                <a:latin typeface="微软雅黑" panose="020B0503020204020204" charset="-122"/>
                <a:ea typeface="微软雅黑" panose="020B0503020204020204" charset="-122"/>
                <a:cs typeface="微软雅黑" panose="020B0503020204020204" charset="-122"/>
                <a:sym typeface="+mn-ea"/>
              </a:rPr>
              <a:t>一方面，</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视频情感感知可以直接从真实的交互中捕获面部情感变化，而无需准确的言语表达 。</a:t>
            </a:r>
          </a:p>
          <a:p>
            <a:pPr marL="285750" indent="-285750" algn="l">
              <a:buFont typeface="Wingdings" panose="05000000000000000000" charset="0"/>
              <a:buChar char="n"/>
            </a:pPr>
            <a:r>
              <a:rPr lang="zh-CN" altLang="en-US">
                <a:latin typeface="微软雅黑" panose="020B0503020204020204" charset="-122"/>
                <a:ea typeface="微软雅黑" panose="020B0503020204020204" charset="-122"/>
                <a:cs typeface="微软雅黑" panose="020B0503020204020204" charset="-122"/>
                <a:sym typeface="+mn-ea"/>
              </a:rPr>
              <a:t>另一方面、现有</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艺术治疗和视觉艺术研究表明，这种通过情感外化可以促进情绪调节和疗愈 。</a:t>
            </a:r>
          </a:p>
          <a:p>
            <a:pPr marL="285750" indent="-285750" algn="l">
              <a:buFont typeface="Wingdings" panose="05000000000000000000" charset="0"/>
              <a:buChar char="n"/>
            </a:pPr>
            <a:endParaRPr lang="zh-CN" altLang="en-US">
              <a:solidFill>
                <a:srgbClr val="333333"/>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r>
              <a:rPr lang="zh-CN" altLang="en-US">
                <a:solidFill>
                  <a:srgbClr val="333333"/>
                </a:solidFill>
                <a:latin typeface="微软雅黑" panose="020B0503020204020204" charset="-122"/>
                <a:ea typeface="微软雅黑" panose="020B0503020204020204" charset="-122"/>
                <a:cs typeface="微软雅黑" panose="020B0503020204020204" charset="-122"/>
                <a:sym typeface="+mn-ea"/>
              </a:rPr>
              <a:t>然而，</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现有情感对话系统还缺少对 </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spoken context、video evidence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和创作行为的联合理解与表达。</a:t>
            </a:r>
          </a:p>
          <a:p>
            <a:pPr marL="0" indent="457200" algn="l"/>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669925" y="1185545"/>
            <a:ext cx="6600825" cy="368300"/>
          </a:xfrm>
          <a:prstGeom prst="rect">
            <a:avLst/>
          </a:prstGeom>
          <a:noFill/>
        </p:spPr>
        <p:txBody>
          <a:bodyPr wrap="square" rtlCol="0">
            <a:spAutoFit/>
          </a:bodyPr>
          <a:lstStyle/>
          <a:p>
            <a:r>
              <a:rPr lang="zh-CN" altLang="en-US" b="1"/>
              <a:t>人机情感交互方法：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研究动机</a:t>
            </a:r>
          </a:p>
        </p:txBody>
      </p:sp>
      <p:sp>
        <p:nvSpPr>
          <p:cNvPr id="3" name="灯片编号占位符 2"/>
          <p:cNvSpPr>
            <a:spLocks noGrp="1"/>
          </p:cNvSpPr>
          <p:nvPr>
            <p:ph type="sldNum" sz="quarter" idx="12"/>
          </p:nvPr>
        </p:nvSpPr>
        <p:spPr/>
        <p:txBody>
          <a:bodyPr/>
          <a:lstStyle/>
          <a:p>
            <a:fld id="{5DD3DB80-B894-403A-B48E-6FDC1A72010E}" type="slidenum">
              <a:rPr lang="zh-CN" altLang="en-US" smtClean="0"/>
              <a:t>6</a:t>
            </a:fld>
            <a:endParaRPr lang="zh-CN" altLang="en-US"/>
          </a:p>
        </p:txBody>
      </p:sp>
      <p:pic>
        <p:nvPicPr>
          <p:cNvPr id="4" name="图片 3"/>
          <p:cNvPicPr>
            <a:picLocks noChangeAspect="1"/>
          </p:cNvPicPr>
          <p:nvPr/>
        </p:nvPicPr>
        <p:blipFill>
          <a:blip r:embed="rId3"/>
          <a:stretch>
            <a:fillRect/>
          </a:stretch>
        </p:blipFill>
        <p:spPr>
          <a:xfrm>
            <a:off x="2433955" y="2698115"/>
            <a:ext cx="7324725" cy="3691890"/>
          </a:xfrm>
          <a:prstGeom prst="rect">
            <a:avLst/>
          </a:prstGeom>
        </p:spPr>
      </p:pic>
      <p:sp>
        <p:nvSpPr>
          <p:cNvPr id="5" name="文本框 4"/>
          <p:cNvSpPr txBox="1"/>
          <p:nvPr/>
        </p:nvSpPr>
        <p:spPr>
          <a:xfrm>
            <a:off x="669925" y="1267460"/>
            <a:ext cx="10676890" cy="1252855"/>
          </a:xfrm>
          <a:prstGeom prst="rect">
            <a:avLst/>
          </a:prstGeom>
          <a:noFill/>
        </p:spPr>
        <p:txBody>
          <a:bodyPr wrap="square" rtlCol="0" anchor="t">
            <a:spAutoFit/>
          </a:bodyPr>
          <a:lstStyle/>
          <a:p>
            <a:pPr>
              <a:lnSpc>
                <a:spcPct val="140000"/>
              </a:lnSpc>
            </a:pPr>
            <a:r>
              <a:rPr lang="zh-CN" altLang="en-US" b="1">
                <a:solidFill>
                  <a:schemeClr val="accent1">
                    <a:lumMod val="75000"/>
                  </a:schemeClr>
                </a:solidFill>
              </a:rPr>
              <a:t>本文旨在构建基于视频和情感艺术的状态感知情感交互系统。</a:t>
            </a:r>
          </a:p>
          <a:p>
            <a:pPr>
              <a:lnSpc>
                <a:spcPct val="140000"/>
              </a:lnSpc>
            </a:pPr>
            <a:r>
              <a:rPr lang="zh-CN" altLang="en-US"/>
              <a:t>该系统能够从视频和情感艺术交互中感知用户状态，并通过文本、语音、行为和游戏引导产生以疗愈为导向的情感回复。</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相关工作</a:t>
            </a:r>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7</a:t>
            </a:fld>
            <a:endParaRPr lang="zh-CN" altLang="en-US"/>
          </a:p>
        </p:txBody>
      </p:sp>
      <p:sp>
        <p:nvSpPr>
          <p:cNvPr id="4" name="文本框 3"/>
          <p:cNvSpPr txBox="1"/>
          <p:nvPr/>
        </p:nvSpPr>
        <p:spPr>
          <a:xfrm>
            <a:off x="669290" y="1994535"/>
            <a:ext cx="10850880" cy="4246245"/>
          </a:xfrm>
          <a:prstGeom prst="rect">
            <a:avLst/>
          </a:prstGeom>
          <a:noFill/>
        </p:spPr>
        <p:txBody>
          <a:bodyPr wrap="square" rtlCol="0" anchor="t">
            <a:spAutoFit/>
          </a:bodyPr>
          <a:lstStyle/>
          <a:p>
            <a:r>
              <a:rPr lang="en-US" altLang="zh-CN" b="1">
                <a:solidFill>
                  <a:srgbClr val="0070C0"/>
                </a:solidFill>
              </a:rPr>
              <a:t>#### 2.1 Affective Art for Emotion Externalization</a:t>
            </a:r>
          </a:p>
          <a:p>
            <a:r>
              <a:rPr lang="zh-CN" altLang="en-US" b="1">
                <a:solidFill>
                  <a:srgbClr val="0070C0"/>
                </a:solidFill>
                <a:sym typeface="+mn-ea"/>
              </a:rPr>
              <a:t>介绍引入绘画任务、艺术能做情绪外化与疗愈的“原理动机”。</a:t>
            </a:r>
            <a:endParaRPr lang="en-US" altLang="zh-CN" b="1">
              <a:solidFill>
                <a:srgbClr val="0070C0"/>
              </a:solidFill>
            </a:endParaRPr>
          </a:p>
          <a:p>
            <a:r>
              <a:rPr lang="zh-CN" altLang="en-US"/>
              <a:t>介绍艺术疗愈、视觉情绪设计和几何视觉元素与情绪关系的研究，强调艺术表达在低门槛情绪外化中的作用。</a:t>
            </a:r>
          </a:p>
          <a:p>
            <a:endParaRPr lang="zh-CN" altLang="en-US">
              <a:solidFill>
                <a:srgbClr val="0070C0"/>
              </a:solidFill>
            </a:endParaRPr>
          </a:p>
          <a:p>
            <a:r>
              <a:rPr lang="en-US" altLang="zh-CN" b="1">
                <a:solidFill>
                  <a:srgbClr val="0070C0"/>
                </a:solidFill>
              </a:rPr>
              <a:t>#### 2.2 Video Emotion Recognition</a:t>
            </a:r>
          </a:p>
          <a:p>
            <a:r>
              <a:rPr lang="zh-CN" altLang="en-US" b="1">
                <a:solidFill>
                  <a:srgbClr val="0070C0"/>
                </a:solidFill>
              </a:rPr>
              <a:t>介绍视频情绪视频是一种通过具身感知用户当前情绪状态的直接方法，而不需要用户主动性表达。</a:t>
            </a:r>
            <a:r>
              <a:rPr lang="en-US" altLang="zh-CN" b="1">
                <a:solidFill>
                  <a:srgbClr val="0070C0"/>
                </a:solidFill>
              </a:rPr>
              <a:t>	</a:t>
            </a:r>
          </a:p>
          <a:p>
            <a:r>
              <a:rPr lang="zh-CN" altLang="en-US"/>
              <a:t>介绍视频情绪识别和动态表情识别相关工作，重点说明代表性数据集、主流建模路线以及这些方法在下游情绪支持系统中的适配意义。</a:t>
            </a:r>
          </a:p>
          <a:p>
            <a:endParaRPr lang="zh-CN" altLang="en-US"/>
          </a:p>
          <a:p>
            <a:r>
              <a:rPr lang="en-US" altLang="zh-CN" b="1">
                <a:solidFill>
                  <a:srgbClr val="0070C0"/>
                </a:solidFill>
                <a:sym typeface="+mn-ea"/>
              </a:rPr>
              <a:t>#### 2.3 </a:t>
            </a:r>
            <a:r>
              <a:rPr lang="en-US" altLang="zh-CN" b="1">
                <a:solidFill>
                  <a:srgbClr val="0070C0"/>
                </a:solidFill>
              </a:rPr>
              <a:t>Affective Conversational Systems</a:t>
            </a:r>
          </a:p>
          <a:p>
            <a:r>
              <a:rPr lang="zh-CN" altLang="en-US" b="1">
                <a:solidFill>
                  <a:srgbClr val="0070C0"/>
                </a:solidFill>
                <a:sym typeface="+mn-ea"/>
              </a:rPr>
              <a:t>介绍情感对话系统是一种在多轮交互中将用户状态和对话上下文转化为情感回复的有效方法。</a:t>
            </a:r>
          </a:p>
          <a:p>
            <a:r>
              <a:rPr lang="zh-CN" altLang="en-US">
                <a:sym typeface="+mn-ea"/>
              </a:rPr>
              <a:t>介绍情绪支持和心理健康对话系统的发展，说明现有系统主要依赖文本或语言交互，在情绪理解、多模态适应、具身情感表达方面仍有不足。</a:t>
            </a:r>
            <a:endParaRPr lang="zh-CN" altLang="en-US"/>
          </a:p>
          <a:p>
            <a:endParaRPr lang="zh-CN" altLang="en-US"/>
          </a:p>
        </p:txBody>
      </p:sp>
      <p:sp>
        <p:nvSpPr>
          <p:cNvPr id="6" name="文本框 5"/>
          <p:cNvSpPr txBox="1"/>
          <p:nvPr/>
        </p:nvSpPr>
        <p:spPr>
          <a:xfrm>
            <a:off x="669925" y="1290320"/>
            <a:ext cx="8787765" cy="368300"/>
          </a:xfrm>
          <a:prstGeom prst="rect">
            <a:avLst/>
          </a:prstGeom>
          <a:noFill/>
          <a:ln>
            <a:solidFill>
              <a:schemeClr val="accent1"/>
            </a:solidFill>
          </a:ln>
        </p:spPr>
        <p:txBody>
          <a:bodyPr wrap="square" rtlCol="0" anchor="t">
            <a:spAutoFit/>
          </a:bodyPr>
          <a:lstStyle/>
          <a:p>
            <a:r>
              <a:rPr lang="zh-CN" altLang="en-US"/>
              <a:t>现有研究主要通过三种相对独立的技术路径来完成这项任务。</a:t>
            </a:r>
          </a:p>
        </p:txBody>
      </p:sp>
      <p:sp>
        <p:nvSpPr>
          <p:cNvPr id="7" name="文本框 6"/>
          <p:cNvSpPr txBox="1"/>
          <p:nvPr/>
        </p:nvSpPr>
        <p:spPr>
          <a:xfrm>
            <a:off x="669290" y="6021070"/>
            <a:ext cx="10490200" cy="645160"/>
          </a:xfrm>
          <a:prstGeom prst="rect">
            <a:avLst/>
          </a:prstGeom>
          <a:noFill/>
          <a:ln>
            <a:solidFill>
              <a:schemeClr val="accent1"/>
            </a:solidFill>
          </a:ln>
        </p:spPr>
        <p:txBody>
          <a:bodyPr wrap="square" rtlCol="0" anchor="t">
            <a:spAutoFit/>
          </a:bodyPr>
          <a:lstStyle/>
          <a:p>
            <a:r>
              <a:rPr lang="zh-CN" altLang="en-US"/>
              <a:t>这些方法表明，问题的关键部分在技术上是可行的，并且原则上可以组合成一个基线流程。然而，它们通常被视为孤立的模块或较短的部分链进行研究，而不是作为一个统一的交互循环进行研究。</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相关工作</a:t>
            </a:r>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8</a:t>
            </a:fld>
            <a:endParaRPr lang="zh-CN" altLang="en-US"/>
          </a:p>
        </p:txBody>
      </p:sp>
      <p:sp>
        <p:nvSpPr>
          <p:cNvPr id="4" name="文本框 3"/>
          <p:cNvSpPr txBox="1"/>
          <p:nvPr/>
        </p:nvSpPr>
        <p:spPr>
          <a:xfrm>
            <a:off x="669925" y="1303655"/>
            <a:ext cx="10850880" cy="4523105"/>
          </a:xfrm>
          <a:prstGeom prst="rect">
            <a:avLst/>
          </a:prstGeom>
          <a:noFill/>
        </p:spPr>
        <p:txBody>
          <a:bodyPr wrap="square" rtlCol="0" anchor="t">
            <a:spAutoFit/>
          </a:bodyPr>
          <a:lstStyle/>
          <a:p>
            <a:r>
              <a:rPr lang="en-US" altLang="zh-CN" b="1">
                <a:solidFill>
                  <a:srgbClr val="0070C0"/>
                </a:solidFill>
                <a:sym typeface="+mn-ea"/>
              </a:rPr>
              <a:t>#### 2.1 Affective Art for Emotion Externalization</a:t>
            </a:r>
            <a:endParaRPr lang="en-US" altLang="zh-CN" b="1">
              <a:solidFill>
                <a:srgbClr val="0070C0"/>
              </a:solidFill>
            </a:endParaRPr>
          </a:p>
          <a:p>
            <a:r>
              <a:rPr lang="zh-CN" altLang="en-US" b="1">
                <a:solidFill>
                  <a:srgbClr val="0070C0"/>
                </a:solidFill>
                <a:sym typeface="+mn-ea"/>
              </a:rPr>
              <a:t>介绍引入绘画任务、艺术能做情绪外化与疗愈的“原理动机”。</a:t>
            </a:r>
            <a:endParaRPr lang="en-US" altLang="zh-CN" b="1">
              <a:solidFill>
                <a:srgbClr val="0070C0"/>
              </a:solidFill>
            </a:endParaRPr>
          </a:p>
          <a:p>
            <a:r>
              <a:rPr lang="zh-CN" altLang="en-US">
                <a:sym typeface="+mn-ea"/>
              </a:rPr>
              <a:t>介绍艺术疗愈、视觉情绪设计和几何视觉元素与情绪关系的研究，强调艺术表达在低门槛情绪外化中的作用。</a:t>
            </a:r>
            <a:endParaRPr lang="zh-CN" altLang="en-US"/>
          </a:p>
          <a:p>
            <a:endParaRPr lang="zh-CN" altLang="en-US"/>
          </a:p>
          <a:p>
            <a:r>
              <a:rPr lang="zh-CN" altLang="en-US">
                <a:solidFill>
                  <a:srgbClr val="0070C0"/>
                </a:solidFill>
              </a:rPr>
              <a:t>相关技术路线：</a:t>
            </a:r>
          </a:p>
          <a:p>
            <a:endParaRPr lang="zh-CN" altLang="en-US">
              <a:solidFill>
                <a:srgbClr val="0070C0"/>
              </a:solidFill>
            </a:endParaRPr>
          </a:p>
          <a:p>
            <a:r>
              <a:rPr lang="en-US" altLang="zh-CN">
                <a:solidFill>
                  <a:srgbClr val="0070C0"/>
                </a:solidFill>
              </a:rPr>
              <a:t>1</a:t>
            </a:r>
            <a:r>
              <a:rPr lang="zh-CN" altLang="en-US">
                <a:solidFill>
                  <a:srgbClr val="0070C0"/>
                </a:solidFill>
              </a:rPr>
              <a:t>、传统或治疗师主导的艺术治疗/引导式绘画</a:t>
            </a:r>
          </a:p>
          <a:p>
            <a:r>
              <a:rPr lang="en-US" altLang="zh-CN">
                <a:solidFill>
                  <a:srgbClr val="0070C0"/>
                </a:solidFill>
              </a:rPr>
              <a:t>2</a:t>
            </a:r>
            <a:r>
              <a:rPr lang="zh-CN" altLang="en-US">
                <a:solidFill>
                  <a:srgbClr val="0070C0"/>
                </a:solidFill>
              </a:rPr>
              <a:t>、正念艺术干预心理健康</a:t>
            </a:r>
          </a:p>
          <a:p>
            <a:endParaRPr lang="zh-CN" altLang="en-US">
              <a:solidFill>
                <a:srgbClr val="0070C0"/>
              </a:solidFill>
            </a:endParaRPr>
          </a:p>
          <a:p>
            <a:pPr indent="0">
              <a:buFont typeface="Arial" panose="020B0604020202090204" pitchFamily="34" charset="0"/>
              <a:buNone/>
            </a:pPr>
            <a:r>
              <a:rPr lang="zh-CN" altLang="en-US">
                <a:solidFill>
                  <a:srgbClr val="0070C0"/>
                </a:solidFill>
              </a:rPr>
              <a:t>已有研究表明，治疗师主导的艺术治疗、正念艺术干预以及部分数字化视觉表达工具，能够通过引导用户进行绘画或其他视觉创作来缓解压力、抑郁、焦虑或负性情绪；但现有工作大多是治疗师主导、离线/</a:t>
            </a:r>
            <a:r>
              <a:rPr lang="en-US" altLang="zh-CN">
                <a:solidFill>
                  <a:srgbClr val="0070C0"/>
                </a:solidFill>
              </a:rPr>
              <a:t>session-based </a:t>
            </a:r>
            <a:r>
              <a:rPr lang="zh-CN" altLang="en-US">
                <a:solidFill>
                  <a:srgbClr val="0070C0"/>
                </a:solidFill>
              </a:rPr>
              <a:t>或仅提供静态创作任务，缺少将实时情绪感知、状态驱动对话和绘画过程引导整合为统一闭环系统的研究。</a:t>
            </a:r>
          </a:p>
          <a:p>
            <a:pPr marL="285750" indent="-285750">
              <a:buFont typeface="Arial" panose="020B0604020202090204" pitchFamily="34" charset="0"/>
              <a:buChar char="•"/>
            </a:pPr>
            <a:endParaRPr lang="zh-CN" altLang="en-US"/>
          </a:p>
          <a:p>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相关工作</a:t>
            </a:r>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9</a:t>
            </a:fld>
            <a:endParaRPr lang="zh-CN" altLang="en-US"/>
          </a:p>
        </p:txBody>
      </p:sp>
      <p:sp>
        <p:nvSpPr>
          <p:cNvPr id="4" name="文本框 3"/>
          <p:cNvSpPr txBox="1"/>
          <p:nvPr/>
        </p:nvSpPr>
        <p:spPr>
          <a:xfrm>
            <a:off x="669925" y="1303655"/>
            <a:ext cx="10850880" cy="4246245"/>
          </a:xfrm>
          <a:prstGeom prst="rect">
            <a:avLst/>
          </a:prstGeom>
          <a:noFill/>
        </p:spPr>
        <p:txBody>
          <a:bodyPr wrap="square" rtlCol="0" anchor="t">
            <a:spAutoFit/>
          </a:bodyPr>
          <a:lstStyle/>
          <a:p>
            <a:r>
              <a:rPr lang="en-US" altLang="zh-CN" b="1">
                <a:solidFill>
                  <a:srgbClr val="0070C0"/>
                </a:solidFill>
                <a:sym typeface="+mn-ea"/>
              </a:rPr>
              <a:t>#### 2.2 Video Emotion Recognition</a:t>
            </a:r>
            <a:endParaRPr lang="en-US" altLang="zh-CN" b="1">
              <a:solidFill>
                <a:srgbClr val="0070C0"/>
              </a:solidFill>
            </a:endParaRPr>
          </a:p>
          <a:p>
            <a:r>
              <a:rPr lang="zh-CN" altLang="en-US" b="1">
                <a:solidFill>
                  <a:srgbClr val="0070C0"/>
                </a:solidFill>
                <a:sym typeface="+mn-ea"/>
              </a:rPr>
              <a:t>介绍视频情绪视频是一种通过具身感知用户当前情绪状态的直接方法，而不需要用户主动性表达。</a:t>
            </a:r>
            <a:r>
              <a:rPr lang="en-US" altLang="zh-CN" b="1">
                <a:solidFill>
                  <a:srgbClr val="0070C0"/>
                </a:solidFill>
                <a:sym typeface="+mn-ea"/>
              </a:rPr>
              <a:t>	</a:t>
            </a:r>
            <a:endParaRPr lang="en-US" altLang="zh-CN" b="1">
              <a:solidFill>
                <a:srgbClr val="0070C0"/>
              </a:solidFill>
            </a:endParaRPr>
          </a:p>
          <a:p>
            <a:r>
              <a:rPr lang="zh-CN" altLang="en-US">
                <a:sym typeface="+mn-ea"/>
              </a:rPr>
              <a:t>介绍视频情绪识别和动态表情识别相关工作，重点说明代表性数据集、主流建模路线以及这些方法在下游情绪支持系统中的适配意义。</a:t>
            </a:r>
            <a:endParaRPr lang="zh-CN" altLang="en-US"/>
          </a:p>
          <a:p>
            <a:endParaRPr lang="zh-CN" altLang="en-US"/>
          </a:p>
          <a:p>
            <a:r>
              <a:rPr lang="zh-CN" altLang="en-US">
                <a:solidFill>
                  <a:srgbClr val="0070C0"/>
                </a:solidFill>
              </a:rPr>
              <a:t>相关技术路线：</a:t>
            </a:r>
          </a:p>
          <a:p>
            <a:r>
              <a:rPr lang="en-US" altLang="zh-CN">
                <a:solidFill>
                  <a:srgbClr val="0070C0"/>
                </a:solidFill>
              </a:rPr>
              <a:t>1</a:t>
            </a:r>
            <a:r>
              <a:rPr lang="zh-CN" altLang="en-US">
                <a:solidFill>
                  <a:srgbClr val="0070C0"/>
                </a:solidFill>
              </a:rPr>
              <a:t>、早期手工特征路线</a:t>
            </a:r>
            <a:r>
              <a:rPr lang="en-US" altLang="zh-CN">
                <a:solidFill>
                  <a:srgbClr val="0070C0"/>
                </a:solidFill>
              </a:rPr>
              <a:t> </a:t>
            </a:r>
            <a:r>
              <a:rPr lang="zh-CN" altLang="en-US">
                <a:solidFill>
                  <a:srgbClr val="0070C0"/>
                </a:solidFill>
              </a:rPr>
              <a:t>（依赖人工设计的视觉</a:t>
            </a:r>
            <a:r>
              <a:rPr lang="en-US" altLang="zh-CN">
                <a:solidFill>
                  <a:srgbClr val="0070C0"/>
                </a:solidFill>
              </a:rPr>
              <a:t>/</a:t>
            </a:r>
            <a:r>
              <a:rPr lang="zh-CN" altLang="en-US">
                <a:solidFill>
                  <a:srgbClr val="0070C0"/>
                </a:solidFill>
              </a:rPr>
              <a:t>声学特征和浅层分类器）</a:t>
            </a:r>
          </a:p>
          <a:p>
            <a:r>
              <a:rPr lang="en-US" altLang="zh-CN">
                <a:solidFill>
                  <a:srgbClr val="0070C0"/>
                </a:solidFill>
              </a:rPr>
              <a:t>2</a:t>
            </a:r>
            <a:r>
              <a:rPr lang="zh-CN" altLang="en-US">
                <a:solidFill>
                  <a:srgbClr val="0070C0"/>
                </a:solidFill>
              </a:rPr>
              <a:t>、深度学习预训练路线</a:t>
            </a:r>
            <a:r>
              <a:rPr lang="en-US" altLang="zh-CN">
                <a:solidFill>
                  <a:srgbClr val="0070C0"/>
                </a:solidFill>
              </a:rPr>
              <a:t> </a:t>
            </a:r>
            <a:r>
              <a:rPr lang="zh-CN" altLang="en-US">
                <a:solidFill>
                  <a:srgbClr val="0070C0"/>
                </a:solidFill>
              </a:rPr>
              <a:t>（通过自监督学习、掩码自编码器和跨模态预训练）</a:t>
            </a:r>
          </a:p>
          <a:p>
            <a:r>
              <a:rPr lang="en-US" altLang="zh-CN">
                <a:solidFill>
                  <a:srgbClr val="0070C0"/>
                </a:solidFill>
              </a:rPr>
              <a:t>3</a:t>
            </a:r>
            <a:r>
              <a:rPr lang="zh-CN" altLang="en-US">
                <a:solidFill>
                  <a:srgbClr val="0070C0"/>
                </a:solidFill>
              </a:rPr>
              <a:t>、多模态大模型路线</a:t>
            </a:r>
            <a:r>
              <a:rPr lang="en-US" altLang="zh-CN">
                <a:solidFill>
                  <a:srgbClr val="0070C0"/>
                </a:solidFill>
              </a:rPr>
              <a:t> </a:t>
            </a:r>
            <a:r>
              <a:rPr lang="zh-CN" altLang="en-US">
                <a:solidFill>
                  <a:srgbClr val="0070C0"/>
                </a:solidFill>
              </a:rPr>
              <a:t>（多模态大语言模型的推理与认知能力引入情绪识别）</a:t>
            </a:r>
          </a:p>
          <a:p>
            <a:endParaRPr lang="zh-CN" altLang="en-US">
              <a:solidFill>
                <a:srgbClr val="0070C0"/>
              </a:solidFill>
            </a:endParaRPr>
          </a:p>
          <a:p>
            <a:pPr indent="0">
              <a:buFont typeface="Arial" panose="020B0604020202090204" pitchFamily="34" charset="0"/>
              <a:buNone/>
            </a:pPr>
            <a:r>
              <a:rPr lang="zh-CN" altLang="en-US">
                <a:solidFill>
                  <a:srgbClr val="0070C0"/>
                </a:solidFill>
                <a:sym typeface="+mn-ea"/>
              </a:rPr>
              <a:t>已有研究表明，</a:t>
            </a:r>
            <a:r>
              <a:rPr lang="zh-CN" altLang="en-US">
                <a:solidFill>
                  <a:srgbClr val="0070C0"/>
                </a:solidFill>
              </a:rPr>
              <a:t>从视频中连续估计情感奠定了数据集基础、评估协议和强大的时序建模策略 。然而，大多数方法止步于识别本身，并没有解决估计出的状态应该如何驱动情感支持闭环中的下一步对话、具身行为或创作指导 。在我们的框架中，这一方向对应于“语义引导的视频情感识别”模块，它作为下游交互决策的感知层 。</a:t>
            </a:r>
          </a:p>
          <a:p>
            <a:endParaRPr lang="zh-CN" altLang="en-US">
              <a:solidFill>
                <a:srgbClr val="0070C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相关工作</a:t>
            </a:r>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10</a:t>
            </a:fld>
            <a:endParaRPr lang="zh-CN" altLang="en-US"/>
          </a:p>
        </p:txBody>
      </p:sp>
      <p:sp>
        <p:nvSpPr>
          <p:cNvPr id="4" name="文本框 3"/>
          <p:cNvSpPr txBox="1"/>
          <p:nvPr/>
        </p:nvSpPr>
        <p:spPr>
          <a:xfrm>
            <a:off x="669925" y="1303655"/>
            <a:ext cx="10850880" cy="4246245"/>
          </a:xfrm>
          <a:prstGeom prst="rect">
            <a:avLst/>
          </a:prstGeom>
          <a:noFill/>
        </p:spPr>
        <p:txBody>
          <a:bodyPr wrap="square" rtlCol="0" anchor="t">
            <a:spAutoFit/>
          </a:bodyPr>
          <a:lstStyle/>
          <a:p>
            <a:r>
              <a:rPr lang="en-US" altLang="zh-CN" b="1">
                <a:solidFill>
                  <a:srgbClr val="0070C0"/>
                </a:solidFill>
              </a:rPr>
              <a:t>#### 2.3 Affective Art for Emotion Externalization</a:t>
            </a:r>
          </a:p>
          <a:p>
            <a:r>
              <a:rPr lang="zh-CN" altLang="en-US"/>
              <a:t>介绍艺术疗愈、视觉情绪设计和几何视觉元素与情绪关系的研究，强调艺术表达在低门槛情绪外化中的作用，并引出本文的几何艺术构图任务。</a:t>
            </a:r>
          </a:p>
          <a:p>
            <a:endParaRPr lang="zh-CN" altLang="en-US"/>
          </a:p>
          <a:p>
            <a:r>
              <a:rPr lang="zh-CN" altLang="en-US">
                <a:solidFill>
                  <a:srgbClr val="0070C0"/>
                </a:solidFill>
              </a:rPr>
              <a:t>相关技术路线：</a:t>
            </a:r>
          </a:p>
          <a:p>
            <a:endParaRPr lang="zh-CN" altLang="en-US">
              <a:solidFill>
                <a:srgbClr val="0070C0"/>
              </a:solidFill>
            </a:endParaRPr>
          </a:p>
          <a:p>
            <a:r>
              <a:rPr lang="en-US" altLang="zh-CN">
                <a:solidFill>
                  <a:srgbClr val="0070C0"/>
                </a:solidFill>
              </a:rPr>
              <a:t>1</a:t>
            </a:r>
            <a:r>
              <a:rPr lang="zh-CN" altLang="en-US">
                <a:solidFill>
                  <a:srgbClr val="0070C0"/>
                </a:solidFill>
              </a:rPr>
              <a:t>、以语言为中心的情感对话系统</a:t>
            </a:r>
          </a:p>
          <a:p>
            <a:r>
              <a:rPr lang="en-US" altLang="zh-CN">
                <a:solidFill>
                  <a:srgbClr val="0070C0"/>
                </a:solidFill>
              </a:rPr>
              <a:t>2</a:t>
            </a:r>
            <a:r>
              <a:rPr lang="zh-CN" altLang="en-US">
                <a:solidFill>
                  <a:srgbClr val="0070C0"/>
                </a:solidFill>
              </a:rPr>
              <a:t>、基于化身的交互</a:t>
            </a:r>
            <a:r>
              <a:rPr lang="zh-CN" altLang="en-US">
                <a:solidFill>
                  <a:srgbClr val="0070C0"/>
                </a:solidFill>
                <a:sym typeface="+mn-ea"/>
              </a:rPr>
              <a:t>的情感对话系统</a:t>
            </a:r>
          </a:p>
          <a:p>
            <a:endParaRPr lang="zh-CN" altLang="en-US">
              <a:solidFill>
                <a:srgbClr val="0070C0"/>
              </a:solidFill>
              <a:sym typeface="+mn-ea"/>
            </a:endParaRPr>
          </a:p>
          <a:p>
            <a:endParaRPr lang="zh-CN" altLang="en-US">
              <a:solidFill>
                <a:srgbClr val="0070C0"/>
              </a:solidFill>
            </a:endParaRPr>
          </a:p>
          <a:p>
            <a:r>
              <a:rPr lang="zh-CN" altLang="en-US">
                <a:solidFill>
                  <a:srgbClr val="0070C0"/>
                </a:solidFill>
                <a:sym typeface="+mn-ea"/>
              </a:rPr>
              <a:t>已有研究表明，</a:t>
            </a:r>
            <a:r>
              <a:rPr lang="zh-CN" altLang="en-US">
                <a:solidFill>
                  <a:srgbClr val="0070C0"/>
                </a:solidFill>
              </a:rPr>
              <a:t>情感对话和具身交互研究已经表明基于化身的非语言反馈可以提高同理心、自我表露、和社会存在感 。然而，现有系统缺少将基于视频的用户状态估计、状态感知的对话规划、具身3</a:t>
            </a:r>
            <a:r>
              <a:rPr lang="en-US" altLang="zh-CN">
                <a:solidFill>
                  <a:srgbClr val="0070C0"/>
                </a:solidFill>
              </a:rPr>
              <a:t>D</a:t>
            </a:r>
            <a:r>
              <a:rPr lang="zh-CN" altLang="en-US">
                <a:solidFill>
                  <a:srgbClr val="0070C0"/>
                </a:solidFill>
              </a:rPr>
              <a:t>反馈以及面向绘图的引导整合到单一的交互循环中。</a:t>
            </a:r>
          </a:p>
          <a:p>
            <a:pPr marL="285750" indent="-285750">
              <a:buFont typeface="Arial" panose="020B0604020202090204" pitchFamily="34" charset="0"/>
              <a:buChar char="•"/>
            </a:pPr>
            <a:endParaRPr lang="zh-CN" altLang="en-US"/>
          </a:p>
          <a:p>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1028699"/>
          </a:xfrm>
        </p:spPr>
        <p:txBody>
          <a:bodyPr/>
          <a:lstStyle/>
          <a:p>
            <a:r>
              <a:rPr lang="zh-CN" altLang="en-US" dirty="0"/>
              <a:t>提出方法</a:t>
            </a:r>
          </a:p>
        </p:txBody>
      </p:sp>
      <p:sp>
        <p:nvSpPr>
          <p:cNvPr id="4" name="灯片编号占位符 3"/>
          <p:cNvSpPr>
            <a:spLocks noGrp="1"/>
          </p:cNvSpPr>
          <p:nvPr>
            <p:ph type="sldNum" sz="quarter" idx="12"/>
          </p:nvPr>
        </p:nvSpPr>
        <p:spPr>
          <a:xfrm>
            <a:off x="9271009" y="6648654"/>
            <a:ext cx="2909888" cy="206381"/>
          </a:xfrm>
        </p:spPr>
        <p:txBody>
          <a:bodyPr/>
          <a:lstStyle/>
          <a:p>
            <a:fld id="{5DD3DB80-B894-403A-B48E-6FDC1A72010E}" type="slidenum">
              <a:rPr lang="zh-CN" altLang="en-US" smtClean="0"/>
              <a:t>11</a:t>
            </a:fld>
            <a:endParaRPr lang="zh-CN" altLang="en-US" dirty="0"/>
          </a:p>
        </p:txBody>
      </p:sp>
      <p:sp>
        <p:nvSpPr>
          <p:cNvPr id="6" name="文本框 5"/>
          <p:cNvSpPr txBox="1"/>
          <p:nvPr/>
        </p:nvSpPr>
        <p:spPr>
          <a:xfrm>
            <a:off x="545783" y="1207562"/>
            <a:ext cx="10974704" cy="4069080"/>
          </a:xfrm>
          <a:prstGeom prst="rect">
            <a:avLst/>
          </a:prstGeom>
          <a:noFill/>
        </p:spPr>
        <p:txBody>
          <a:bodyPr wrap="square">
            <a:spAutoFit/>
          </a:bodyPr>
          <a:lstStyle/>
          <a:p>
            <a:pPr>
              <a:lnSpc>
                <a:spcPct val="114000"/>
              </a:lnSpc>
              <a:spcAft>
                <a:spcPts val="750"/>
              </a:spcAft>
            </a:pPr>
            <a:r>
              <a:rPr lang="zh-CN" altLang="zh-CN" sz="1800" dirty="0">
                <a:solidFill>
                  <a:srgbClr val="1F1F1F"/>
                </a:solidFill>
                <a:effectLst/>
                <a:latin typeface="Arial" panose="020B0604020202090204" pitchFamily="34" charset="0"/>
                <a:ea typeface="Google Sans"/>
                <a:cs typeface="Google Sans"/>
              </a:rPr>
              <a:t>为了解决上述问题，本文提出了一个统一的具身对话系统，该系统将</a:t>
            </a:r>
            <a:r>
              <a:rPr lang="zh-CN" altLang="zh-CN" sz="1800" b="1" dirty="0">
                <a:solidFill>
                  <a:srgbClr val="FF0000"/>
                </a:solidFill>
                <a:effectLst/>
                <a:latin typeface="Arial" panose="020B0604020202090204" pitchFamily="34" charset="0"/>
                <a:ea typeface="Google Sans"/>
                <a:cs typeface="Google Sans"/>
              </a:rPr>
              <a:t>感知、推理、具身反馈和艺术表达</a:t>
            </a:r>
            <a:r>
              <a:rPr lang="zh-CN" altLang="zh-CN" sz="1800" dirty="0">
                <a:solidFill>
                  <a:srgbClr val="1F1F1F"/>
                </a:solidFill>
                <a:effectLst/>
                <a:latin typeface="Arial" panose="020B0604020202090204" pitchFamily="34" charset="0"/>
                <a:ea typeface="Google Sans"/>
                <a:cs typeface="Google Sans"/>
              </a:rPr>
              <a:t>紧密结合 。</a:t>
            </a:r>
            <a:endParaRPr lang="zh-CN" altLang="zh-CN" b="1" dirty="0">
              <a:solidFill>
                <a:srgbClr val="0070C0"/>
              </a:solidFill>
              <a:effectLst/>
              <a:ea typeface="Google Sans"/>
              <a:cs typeface="Google Sans"/>
            </a:endParaRPr>
          </a:p>
          <a:p>
            <a:pPr>
              <a:lnSpc>
                <a:spcPct val="114000"/>
              </a:lnSpc>
              <a:spcAft>
                <a:spcPts val="750"/>
              </a:spcAft>
            </a:pPr>
            <a:r>
              <a:rPr lang="zh-CN" altLang="zh-CN" sz="1800" dirty="0">
                <a:solidFill>
                  <a:srgbClr val="1F1F1F"/>
                </a:solidFill>
                <a:effectLst/>
                <a:latin typeface="Arial" panose="020B0604020202090204" pitchFamily="34" charset="0"/>
                <a:ea typeface="Google Sans"/>
                <a:cs typeface="Google Sans"/>
              </a:rPr>
              <a:t>其核心解决方案包括三个模块：</a:t>
            </a:r>
            <a:endParaRPr lang="zh-CN" altLang="zh-CN" sz="1800" dirty="0">
              <a:effectLst/>
              <a:latin typeface="Arial" panose="020B0604020202090204" pitchFamily="34" charset="0"/>
              <a:ea typeface="宋体" pitchFamily="2" charset="-122"/>
            </a:endParaRPr>
          </a:p>
          <a:p>
            <a:pPr marL="285750" lvl="0" indent="-285750" fontAlgn="base">
              <a:lnSpc>
                <a:spcPct val="114000"/>
              </a:lnSpc>
              <a:buClr>
                <a:srgbClr val="000000"/>
              </a:buClr>
              <a:buSzPts val="1100"/>
              <a:buFont typeface="Wingdings" panose="05000000000000000000" pitchFamily="2" charset="2"/>
              <a:buChar char="n"/>
            </a:pPr>
            <a:r>
              <a:rPr lang="en-US" altLang="zh-CN" sz="1800" b="1" u="none" strike="noStrike" dirty="0">
                <a:solidFill>
                  <a:srgbClr val="1F1F1F"/>
                </a:solidFill>
                <a:effectLst/>
                <a:latin typeface="Arial" panose="020B0604020202090204" pitchFamily="34" charset="0"/>
                <a:ea typeface="Google Sans"/>
                <a:cs typeface="Google Sans"/>
              </a:rPr>
              <a:t>Semantic-Guided Video Emotion Recognition</a:t>
            </a:r>
            <a:r>
              <a:rPr lang="zh-CN" altLang="zh-CN" sz="1800" b="1" u="none" strike="noStrike" dirty="0">
                <a:solidFill>
                  <a:srgbClr val="1F1F1F"/>
                </a:solidFill>
                <a:effectLst/>
                <a:latin typeface="Arial" panose="020B0604020202090204" pitchFamily="34" charset="0"/>
                <a:ea typeface="Google Sans"/>
                <a:cs typeface="Google Sans"/>
              </a:rPr>
              <a:t>：</a:t>
            </a:r>
          </a:p>
          <a:p>
            <a:pPr marL="742950" lvl="1" indent="-285750" fontAlgn="base">
              <a:lnSpc>
                <a:spcPct val="114000"/>
              </a:lnSpc>
              <a:buClr>
                <a:srgbClr val="000000"/>
              </a:buClr>
              <a:buSzPts val="1100"/>
              <a:buFont typeface="Wingdings" panose="05000000000000000000" pitchFamily="2" charset="2"/>
              <a:buChar char="n"/>
            </a:pPr>
            <a:r>
              <a:rPr lang="zh-CN" altLang="en-US" sz="1800" u="none" strike="noStrike" dirty="0">
                <a:solidFill>
                  <a:srgbClr val="1F1F1F"/>
                </a:solidFill>
                <a:effectLst/>
                <a:latin typeface="Arial" panose="020B0604020202090204" pitchFamily="34" charset="0"/>
                <a:ea typeface="Google Sans"/>
                <a:cs typeface="Google Sans"/>
              </a:rPr>
              <a:t>该模块旨在从自然场景下的面部视频中提取具有时间基础且在语义上可解释的情感线索 。</a:t>
            </a:r>
          </a:p>
          <a:p>
            <a:pPr marL="285750" lvl="0" indent="-285750" fontAlgn="base">
              <a:lnSpc>
                <a:spcPct val="114000"/>
              </a:lnSpc>
              <a:buClr>
                <a:srgbClr val="000000"/>
              </a:buClr>
              <a:buSzPts val="1100"/>
              <a:buFont typeface="Wingdings" panose="05000000000000000000" pitchFamily="2" charset="2"/>
              <a:buChar char="n"/>
            </a:pPr>
            <a:r>
              <a:rPr lang="en-US" altLang="zh-CN" sz="1800" b="1" u="none" strike="noStrike" dirty="0">
                <a:solidFill>
                  <a:srgbClr val="1F1F1F"/>
                </a:solidFill>
                <a:effectLst/>
                <a:latin typeface="Arial" panose="020B0604020202090204" pitchFamily="34" charset="0"/>
                <a:ea typeface="宋体" pitchFamily="2" charset="-122"/>
                <a:cs typeface="Google Sans"/>
              </a:rPr>
              <a:t>Affective-Art-Game-Based State Perception</a:t>
            </a:r>
            <a:r>
              <a:rPr lang="zh-CN" altLang="zh-CN" sz="1800" b="1" u="none" strike="noStrike" dirty="0">
                <a:solidFill>
                  <a:srgbClr val="1F1F1F"/>
                </a:solidFill>
                <a:effectLst/>
                <a:latin typeface="Arial" panose="020B0604020202090204" pitchFamily="34" charset="0"/>
                <a:ea typeface="Google Sans"/>
                <a:cs typeface="Google Sans"/>
              </a:rPr>
              <a:t>：</a:t>
            </a:r>
          </a:p>
          <a:p>
            <a:pPr marL="742950" lvl="1" indent="-285750" fontAlgn="base">
              <a:lnSpc>
                <a:spcPct val="114000"/>
              </a:lnSpc>
              <a:buClr>
                <a:srgbClr val="000000"/>
              </a:buClr>
              <a:buSzPts val="1100"/>
              <a:buFont typeface="Wingdings" panose="05000000000000000000" pitchFamily="2" charset="2"/>
              <a:buChar char="n"/>
            </a:pPr>
            <a:r>
              <a:rPr lang="zh-CN" altLang="en-US" sz="1800" u="none" strike="noStrike" dirty="0">
                <a:solidFill>
                  <a:srgbClr val="1F1F1F"/>
                </a:solidFill>
                <a:effectLst/>
                <a:latin typeface="Arial" panose="020B0604020202090204" pitchFamily="34" charset="0"/>
                <a:ea typeface="Google Sans"/>
                <a:cs typeface="Google Sans"/>
              </a:rPr>
              <a:t>通过情感几何游戏来实现，在游戏中，用户通过低门槛的结构化的几何游戏外化情感，同时系统分析构图和并给出建议方案，通过重新构图实现情感干预。</a:t>
            </a:r>
          </a:p>
          <a:p>
            <a:pPr marL="285750" lvl="0" indent="-285750" fontAlgn="base">
              <a:lnSpc>
                <a:spcPct val="114000"/>
              </a:lnSpc>
              <a:buClr>
                <a:srgbClr val="000000"/>
              </a:buClr>
              <a:buSzPts val="1100"/>
              <a:buFont typeface="Wingdings" panose="05000000000000000000" pitchFamily="2" charset="2"/>
              <a:buChar char="n"/>
            </a:pPr>
            <a:r>
              <a:rPr lang="en-US" altLang="zh-CN" sz="1800" b="1" u="none" strike="noStrike" dirty="0">
                <a:solidFill>
                  <a:srgbClr val="1F1F1F"/>
                </a:solidFill>
                <a:effectLst/>
                <a:latin typeface="Arial" panose="020B0604020202090204" pitchFamily="34" charset="0"/>
                <a:ea typeface="宋体" pitchFamily="2" charset="-122"/>
                <a:cs typeface="Google Sans"/>
              </a:rPr>
              <a:t>State-Aware Affective Response Agent</a:t>
            </a:r>
            <a:r>
              <a:rPr lang="zh-CN" altLang="zh-CN" sz="1800" b="1" u="none" strike="noStrike" dirty="0">
                <a:solidFill>
                  <a:srgbClr val="1F1F1F"/>
                </a:solidFill>
                <a:effectLst/>
                <a:latin typeface="Arial" panose="020B0604020202090204" pitchFamily="34" charset="0"/>
                <a:ea typeface="Google Sans"/>
                <a:cs typeface="Google Sans"/>
              </a:rPr>
              <a:t>：</a:t>
            </a:r>
          </a:p>
          <a:p>
            <a:pPr marL="742950" lvl="1" indent="-285750" fontAlgn="base">
              <a:lnSpc>
                <a:spcPct val="114000"/>
              </a:lnSpc>
              <a:buClr>
                <a:srgbClr val="000000"/>
              </a:buClr>
              <a:buSzPts val="1100"/>
              <a:buFont typeface="Wingdings" panose="05000000000000000000" pitchFamily="2" charset="2"/>
              <a:buChar char="n"/>
            </a:pPr>
            <a:r>
              <a:rPr lang="en-US" altLang="zh-CN" sz="1800" u="none" strike="noStrike" dirty="0">
                <a:solidFill>
                  <a:srgbClr val="1F1F1F"/>
                </a:solidFill>
                <a:effectLst/>
                <a:latin typeface="Arial" panose="020B0604020202090204" pitchFamily="34" charset="0"/>
                <a:ea typeface="Google Sans"/>
                <a:cs typeface="Google Sans"/>
              </a:rPr>
              <a:t>User-State Understanding: </a:t>
            </a:r>
            <a:r>
              <a:rPr lang="zh-CN" altLang="en-US" sz="1800" u="none" strike="noStrike" dirty="0">
                <a:solidFill>
                  <a:srgbClr val="1F1F1F"/>
                </a:solidFill>
                <a:effectLst/>
                <a:latin typeface="Arial" panose="020B0604020202090204" pitchFamily="34" charset="0"/>
                <a:ea typeface="Google Sans"/>
                <a:cs typeface="Google Sans"/>
              </a:rPr>
              <a:t>综合语音，视频，情感艺术构图状态估计用户的情感倾向。</a:t>
            </a:r>
          </a:p>
          <a:p>
            <a:pPr marL="742950" lvl="1" indent="-285750" fontAlgn="base">
              <a:lnSpc>
                <a:spcPct val="114000"/>
              </a:lnSpc>
              <a:buClr>
                <a:srgbClr val="000000"/>
              </a:buClr>
              <a:buSzPts val="1100"/>
              <a:buFont typeface="Wingdings" panose="05000000000000000000" pitchFamily="2" charset="2"/>
              <a:buChar char="n"/>
            </a:pPr>
            <a:r>
              <a:rPr lang="en-US" altLang="zh-CN" sz="1800" u="none" strike="noStrike" dirty="0">
                <a:solidFill>
                  <a:srgbClr val="1F1F1F"/>
                </a:solidFill>
                <a:effectLst/>
                <a:latin typeface="Arial" panose="020B0604020202090204" pitchFamily="34" charset="0"/>
                <a:ea typeface="Google Sans"/>
                <a:cs typeface="Google Sans"/>
              </a:rPr>
              <a:t>Healing-Oriented Response Planning: </a:t>
            </a:r>
            <a:r>
              <a:rPr lang="zh-CN" altLang="en-US" sz="1800" u="none" strike="noStrike" dirty="0">
                <a:solidFill>
                  <a:srgbClr val="1F1F1F"/>
                </a:solidFill>
                <a:effectLst/>
                <a:latin typeface="Arial" panose="020B0604020202090204" pitchFamily="34" charset="0"/>
                <a:ea typeface="Google Sans"/>
                <a:cs typeface="Google Sans"/>
              </a:rPr>
              <a:t>基于用户的情感倾向生成并反思下一步的引导策略。</a:t>
            </a:r>
            <a:endParaRPr lang="en-US" altLang="zh-CN" sz="1800" u="none" strike="noStrike" dirty="0">
              <a:solidFill>
                <a:srgbClr val="1F1F1F"/>
              </a:solidFill>
              <a:effectLst/>
              <a:latin typeface="Arial" panose="020B0604020202090204" pitchFamily="34" charset="0"/>
              <a:ea typeface="Google Sans"/>
              <a:cs typeface="Google Sans"/>
            </a:endParaRPr>
          </a:p>
          <a:p>
            <a:pPr marL="742950" lvl="1" indent="-285750" fontAlgn="base">
              <a:lnSpc>
                <a:spcPct val="114000"/>
              </a:lnSpc>
              <a:buClr>
                <a:srgbClr val="000000"/>
              </a:buClr>
              <a:buSzPts val="1100"/>
              <a:buFont typeface="Wingdings" panose="05000000000000000000" pitchFamily="2" charset="2"/>
              <a:buChar char="n"/>
            </a:pPr>
            <a:r>
              <a:rPr lang="en-US" altLang="zh-CN" dirty="0">
                <a:solidFill>
                  <a:srgbClr val="1F1F1F"/>
                </a:solidFill>
                <a:effectLst/>
                <a:latin typeface="Arial" panose="020B0604020202090204" pitchFamily="34" charset="0"/>
                <a:ea typeface="Google Sans"/>
                <a:cs typeface="Google Sans"/>
                <a:sym typeface="+mn-ea"/>
              </a:rPr>
              <a:t>Response Generation: </a:t>
            </a:r>
            <a:r>
              <a:rPr lang="zh-CN" altLang="en-US" dirty="0">
                <a:solidFill>
                  <a:srgbClr val="1F1F1F"/>
                </a:solidFill>
                <a:effectLst/>
                <a:latin typeface="Arial" panose="020B0604020202090204" pitchFamily="34" charset="0"/>
                <a:ea typeface="Google Sans"/>
                <a:cs typeface="Google Sans"/>
                <a:sym typeface="+mn-ea"/>
              </a:rPr>
              <a:t>通过文本、语音、虚拟形象行为和游戏引导产生以疗愈为导向的情感回复。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方法框架图</a:t>
            </a:r>
          </a:p>
        </p:txBody>
      </p:sp>
      <p:sp>
        <p:nvSpPr>
          <p:cNvPr id="3" name="灯片编号占位符 2"/>
          <p:cNvSpPr>
            <a:spLocks noGrp="1"/>
          </p:cNvSpPr>
          <p:nvPr>
            <p:ph type="sldNum" sz="quarter" idx="12"/>
          </p:nvPr>
        </p:nvSpPr>
        <p:spPr/>
        <p:txBody>
          <a:bodyPr/>
          <a:lstStyle/>
          <a:p>
            <a:fld id="{5DD3DB80-B894-403A-B48E-6FDC1A72010E}" type="slidenum">
              <a:rPr lang="zh-CN" altLang="en-US" smtClean="0"/>
              <a:t>12</a:t>
            </a:fld>
            <a:endParaRPr lang="zh-CN" altLang="en-US"/>
          </a:p>
        </p:txBody>
      </p:sp>
      <p:pic>
        <p:nvPicPr>
          <p:cNvPr id="4" name="图片 3"/>
          <p:cNvPicPr>
            <a:picLocks noChangeAspect="1"/>
          </p:cNvPicPr>
          <p:nvPr/>
        </p:nvPicPr>
        <p:blipFill>
          <a:blip r:embed="rId2"/>
          <a:stretch>
            <a:fillRect/>
          </a:stretch>
        </p:blipFill>
        <p:spPr>
          <a:xfrm>
            <a:off x="2209482" y="1106170"/>
            <a:ext cx="7773035" cy="57518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3005455" y="6126480"/>
            <a:ext cx="1936750" cy="428625"/>
          </a:xfrm>
          <a:prstGeom prst="roundRect">
            <a:avLst>
              <a:gd name="adj" fmla="val 45333"/>
            </a:avLst>
          </a:prstGeom>
          <a:solidFill>
            <a:srgbClr val="FCDDC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流程图: 终止 161"/>
          <p:cNvSpPr/>
          <p:nvPr/>
        </p:nvSpPr>
        <p:spPr>
          <a:xfrm>
            <a:off x="8953500" y="1508125"/>
            <a:ext cx="2157095" cy="1116330"/>
          </a:xfrm>
          <a:prstGeom prst="flowChartTerminator">
            <a:avLst/>
          </a:prstGeom>
          <a:solidFill>
            <a:srgbClr val="FBF7FE"/>
          </a:solidFill>
          <a:ln w="28575">
            <a:solidFill>
              <a:srgbClr val="3D15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7" name="图片 156"/>
          <p:cNvPicPr>
            <a:picLocks noChangeAspect="1"/>
          </p:cNvPicPr>
          <p:nvPr/>
        </p:nvPicPr>
        <p:blipFill>
          <a:blip r:embed="rId5"/>
          <a:stretch>
            <a:fillRect/>
          </a:stretch>
        </p:blipFill>
        <p:spPr>
          <a:xfrm>
            <a:off x="9059863" y="3094990"/>
            <a:ext cx="1940560" cy="3460115"/>
          </a:xfrm>
          <a:prstGeom prst="rect">
            <a:avLst/>
          </a:prstGeom>
        </p:spPr>
      </p:pic>
      <p:sp>
        <p:nvSpPr>
          <p:cNvPr id="141" name="矩形: 圆角 140"/>
          <p:cNvSpPr/>
          <p:nvPr/>
        </p:nvSpPr>
        <p:spPr>
          <a:xfrm>
            <a:off x="6116320" y="1617980"/>
            <a:ext cx="2423795" cy="4937125"/>
          </a:xfrm>
          <a:prstGeom prst="roundRect">
            <a:avLst>
              <a:gd name="adj" fmla="val 5973"/>
            </a:avLst>
          </a:prstGeom>
          <a:solidFill>
            <a:srgbClr val="F8F4FE"/>
          </a:solidFill>
          <a:ln w="28575">
            <a:solidFill>
              <a:srgbClr val="3D15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p:cNvPicPr>
            <a:picLocks noChangeAspect="1"/>
          </p:cNvPicPr>
          <p:nvPr/>
        </p:nvPicPr>
        <p:blipFill>
          <a:blip r:embed="rId6"/>
          <a:stretch>
            <a:fillRect/>
          </a:stretch>
        </p:blipFill>
        <p:spPr>
          <a:xfrm>
            <a:off x="2963545" y="3804285"/>
            <a:ext cx="2008505" cy="2127885"/>
          </a:xfrm>
          <a:prstGeom prst="rect">
            <a:avLst/>
          </a:prstGeom>
        </p:spPr>
      </p:pic>
      <p:pic>
        <p:nvPicPr>
          <p:cNvPr id="59" name="图片 58"/>
          <p:cNvPicPr>
            <a:picLocks noChangeAspect="1"/>
          </p:cNvPicPr>
          <p:nvPr/>
        </p:nvPicPr>
        <p:blipFill>
          <a:blip r:embed="rId7"/>
          <a:stretch>
            <a:fillRect/>
          </a:stretch>
        </p:blipFill>
        <p:spPr>
          <a:xfrm>
            <a:off x="2895600" y="1555115"/>
            <a:ext cx="2099945" cy="2153285"/>
          </a:xfrm>
          <a:prstGeom prst="rect">
            <a:avLst/>
          </a:prstGeom>
        </p:spPr>
      </p:pic>
      <p:sp>
        <p:nvSpPr>
          <p:cNvPr id="2" name="标题 1"/>
          <p:cNvSpPr>
            <a:spLocks noGrp="1"/>
          </p:cNvSpPr>
          <p:nvPr>
            <p:ph type="title"/>
          </p:nvPr>
        </p:nvSpPr>
        <p:spPr>
          <a:xfrm>
            <a:off x="847724" y="-92942"/>
            <a:ext cx="10850563" cy="1028699"/>
          </a:xfrm>
        </p:spPr>
        <p:txBody>
          <a:bodyPr/>
          <a:lstStyle/>
          <a:p>
            <a:endParaRPr lang="zh-CN" altLang="en-US" dirty="0"/>
          </a:p>
        </p:txBody>
      </p:sp>
      <p:sp>
        <p:nvSpPr>
          <p:cNvPr id="15" name="文本框 14"/>
          <p:cNvSpPr txBox="1"/>
          <p:nvPr/>
        </p:nvSpPr>
        <p:spPr>
          <a:xfrm>
            <a:off x="8954189" y="1526955"/>
            <a:ext cx="2190750" cy="344805"/>
          </a:xfrm>
          <a:prstGeom prst="rect">
            <a:avLst/>
          </a:prstGeom>
          <a:noFill/>
        </p:spPr>
        <p:txBody>
          <a:bodyPr wrap="square" rtlCol="0" anchor="t">
            <a:spAutoFit/>
          </a:bodyPr>
          <a:lstStyle/>
          <a:p>
            <a:pPr algn="ctr"/>
            <a:r>
              <a:rPr lang="en-US" altLang="zh-CN" sz="1650" b="1" dirty="0">
                <a:solidFill>
                  <a:srgbClr val="3D1995"/>
                </a:solidFill>
                <a:latin typeface="Times New Roman" panose="02020503050405090304" charset="0"/>
                <a:cs typeface="Times New Roman" panose="02020503050405090304" charset="0"/>
              </a:rPr>
              <a:t>Affective Response</a:t>
            </a:r>
            <a:endParaRPr lang="zh-CN" altLang="en-US" sz="1650" b="1" dirty="0">
              <a:solidFill>
                <a:srgbClr val="3D1995"/>
              </a:solidFill>
              <a:latin typeface="Times New Roman" panose="02020503050405090304" charset="0"/>
              <a:cs typeface="Times New Roman" panose="02020503050405090304" charset="0"/>
            </a:endParaRPr>
          </a:p>
        </p:txBody>
      </p:sp>
      <p:cxnSp>
        <p:nvCxnSpPr>
          <p:cNvPr id="16" name="肘形连接符 15"/>
          <p:cNvCxnSpPr>
            <a:stCxn id="108" idx="3"/>
            <a:endCxn id="59" idx="1"/>
          </p:cNvCxnSpPr>
          <p:nvPr/>
        </p:nvCxnSpPr>
        <p:spPr>
          <a:xfrm flipV="1">
            <a:off x="1918970" y="2632075"/>
            <a:ext cx="976630" cy="1076325"/>
          </a:xfrm>
          <a:prstGeom prst="bentConnector3">
            <a:avLst>
              <a:gd name="adj1" fmla="val 49349"/>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 name="肘形连接符 16"/>
          <p:cNvCxnSpPr/>
          <p:nvPr/>
        </p:nvCxnSpPr>
        <p:spPr>
          <a:xfrm>
            <a:off x="1844391" y="3708190"/>
            <a:ext cx="1095541" cy="1725938"/>
          </a:xfrm>
          <a:prstGeom prst="bentConnector3">
            <a:avLst>
              <a:gd name="adj1" fmla="val 50742"/>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8" name="肘形连接符 17"/>
          <p:cNvCxnSpPr>
            <a:stCxn id="59" idx="3"/>
            <a:endCxn id="141" idx="1"/>
          </p:cNvCxnSpPr>
          <p:nvPr/>
        </p:nvCxnSpPr>
        <p:spPr>
          <a:xfrm>
            <a:off x="4995545" y="2632075"/>
            <a:ext cx="1120775" cy="1454785"/>
          </a:xfrm>
          <a:prstGeom prst="bentConnector3">
            <a:avLst>
              <a:gd name="adj1" fmla="val 47762"/>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9" name="肘形连接符 18"/>
          <p:cNvCxnSpPr>
            <a:stCxn id="64" idx="3"/>
            <a:endCxn id="141" idx="1"/>
          </p:cNvCxnSpPr>
          <p:nvPr/>
        </p:nvCxnSpPr>
        <p:spPr>
          <a:xfrm flipV="1">
            <a:off x="4972050" y="4086860"/>
            <a:ext cx="1144270" cy="781685"/>
          </a:xfrm>
          <a:prstGeom prst="bentConnector3">
            <a:avLst>
              <a:gd name="adj1" fmla="val 48890"/>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3" name="肘形连接符 22"/>
          <p:cNvCxnSpPr>
            <a:stCxn id="162" idx="0"/>
            <a:endCxn id="108" idx="0"/>
          </p:cNvCxnSpPr>
          <p:nvPr/>
        </p:nvCxnSpPr>
        <p:spPr>
          <a:xfrm rot="16200000" flipH="1" flipV="1">
            <a:off x="4943793" y="-2272982"/>
            <a:ext cx="1307465" cy="8869680"/>
          </a:xfrm>
          <a:prstGeom prst="bentConnector3">
            <a:avLst>
              <a:gd name="adj1" fmla="val -18237"/>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3005455" y="3871595"/>
            <a:ext cx="1986915" cy="337185"/>
          </a:xfrm>
          <a:prstGeom prst="rect">
            <a:avLst/>
          </a:prstGeom>
          <a:noFill/>
        </p:spPr>
        <p:txBody>
          <a:bodyPr wrap="square" rtlCol="0">
            <a:spAutoFit/>
          </a:bodyPr>
          <a:lstStyle/>
          <a:p>
            <a:r>
              <a:rPr lang="en-US" altLang="zh-CN" sz="1600" b="1" dirty="0">
                <a:solidFill>
                  <a:srgbClr val="268208"/>
                </a:solidFill>
                <a:latin typeface="Times New Roman" panose="02020503050405090304" charset="0"/>
                <a:cs typeface="Times New Roman" panose="02020503050405090304" charset="0"/>
              </a:rPr>
              <a:t>Affective Art Game</a:t>
            </a:r>
          </a:p>
        </p:txBody>
      </p:sp>
      <p:sp>
        <p:nvSpPr>
          <p:cNvPr id="25" name="文本框 24"/>
          <p:cNvSpPr txBox="1"/>
          <p:nvPr/>
        </p:nvSpPr>
        <p:spPr>
          <a:xfrm>
            <a:off x="2940050" y="1617345"/>
            <a:ext cx="2001520" cy="337185"/>
          </a:xfrm>
          <a:prstGeom prst="rect">
            <a:avLst/>
          </a:prstGeom>
          <a:noFill/>
        </p:spPr>
        <p:txBody>
          <a:bodyPr wrap="square" rtlCol="0">
            <a:spAutoFit/>
          </a:bodyPr>
          <a:lstStyle/>
          <a:p>
            <a:pPr algn="ctr"/>
            <a:r>
              <a:rPr lang="en-US" altLang="zh-CN" sz="1600" b="1" dirty="0">
                <a:solidFill>
                  <a:srgbClr val="0652C8"/>
                </a:solidFill>
                <a:latin typeface="Times New Roman" panose="02020503050405090304" charset="0"/>
                <a:cs typeface="Times New Roman" panose="02020503050405090304" charset="0"/>
              </a:rPr>
              <a:t>Video Steam</a:t>
            </a:r>
          </a:p>
        </p:txBody>
      </p:sp>
      <p:sp>
        <p:nvSpPr>
          <p:cNvPr id="26" name="文本框 25"/>
          <p:cNvSpPr txBox="1"/>
          <p:nvPr/>
        </p:nvSpPr>
        <p:spPr>
          <a:xfrm>
            <a:off x="709499" y="4601245"/>
            <a:ext cx="1457325" cy="398780"/>
          </a:xfrm>
          <a:prstGeom prst="rect">
            <a:avLst/>
          </a:prstGeom>
          <a:noFill/>
        </p:spPr>
        <p:txBody>
          <a:bodyPr wrap="square" rtlCol="0">
            <a:spAutoFit/>
          </a:bodyPr>
          <a:lstStyle/>
          <a:p>
            <a:r>
              <a:rPr lang="en-US" altLang="zh-CN" sz="2000" b="1" dirty="0">
                <a:latin typeface="Times New Roman" panose="02020503050405090304" charset="0"/>
                <a:cs typeface="Times New Roman" panose="02020503050405090304" charset="0"/>
              </a:rPr>
              <a:t>User</a:t>
            </a:r>
          </a:p>
        </p:txBody>
      </p:sp>
      <p:pic>
        <p:nvPicPr>
          <p:cNvPr id="108" name="图片 107"/>
          <p:cNvPicPr>
            <a:picLocks noChangeAspect="1"/>
          </p:cNvPicPr>
          <p:nvPr/>
        </p:nvPicPr>
        <p:blipFill>
          <a:blip r:embed="rId8"/>
          <a:stretch>
            <a:fillRect/>
          </a:stretch>
        </p:blipFill>
        <p:spPr>
          <a:xfrm>
            <a:off x="406354" y="2815352"/>
            <a:ext cx="1512755" cy="1785675"/>
          </a:xfrm>
          <a:prstGeom prst="rect">
            <a:avLst/>
          </a:prstGeom>
        </p:spPr>
      </p:pic>
      <p:sp>
        <p:nvSpPr>
          <p:cNvPr id="127" name="drawio2pptx:shape:7"/>
          <p:cNvSpPr/>
          <p:nvPr/>
        </p:nvSpPr>
        <p:spPr>
          <a:xfrm>
            <a:off x="6310630" y="2828290"/>
            <a:ext cx="2066290" cy="1037590"/>
          </a:xfrm>
          <a:prstGeom prst="rect">
            <a:avLst/>
          </a:prstGeom>
          <a:solidFill>
            <a:srgbClr val="FDFCFE"/>
          </a:solidFill>
          <a:ln w="19050">
            <a:solidFill>
              <a:srgbClr val="928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drawio2pptx:shape:8"/>
          <p:cNvSpPr/>
          <p:nvPr/>
        </p:nvSpPr>
        <p:spPr>
          <a:xfrm>
            <a:off x="6310630" y="4233545"/>
            <a:ext cx="2051050" cy="828675"/>
          </a:xfrm>
          <a:prstGeom prst="rect">
            <a:avLst/>
          </a:prstGeom>
          <a:solidFill>
            <a:srgbClr val="FEFDFE"/>
          </a:solidFill>
          <a:ln w="19050">
            <a:solidFill>
              <a:srgbClr val="8D8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drawio2pptx:shape:35"/>
          <p:cNvSpPr/>
          <p:nvPr/>
        </p:nvSpPr>
        <p:spPr>
          <a:xfrm>
            <a:off x="6592102" y="2023972"/>
            <a:ext cx="1485900" cy="2476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endParaRPr sz="1650" b="1" i="0" u="none" dirty="0">
              <a:solidFill>
                <a:srgbClr val="3D1595"/>
              </a:solidFill>
              <a:latin typeface="Arial Narrow" panose="020B0606020202030204"/>
            </a:endParaRPr>
          </a:p>
        </p:txBody>
      </p:sp>
      <p:sp>
        <p:nvSpPr>
          <p:cNvPr id="135" name="drawio2pptx:shape:37"/>
          <p:cNvSpPr/>
          <p:nvPr/>
        </p:nvSpPr>
        <p:spPr>
          <a:xfrm>
            <a:off x="6116320" y="1763395"/>
            <a:ext cx="2423160" cy="8858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sz="2000" b="1" i="0" u="none" dirty="0">
                <a:solidFill>
                  <a:srgbClr val="3D1995"/>
                </a:solidFill>
                <a:latin typeface="Times New Roman" panose="02020503050405090304" charset="0"/>
                <a:cs typeface="Times New Roman" panose="02020503050405090304" charset="0"/>
              </a:rPr>
              <a:t>State-Aware</a:t>
            </a:r>
            <a:r>
              <a:rPr lang="en-US" sz="2000" b="1" i="0" u="none" dirty="0">
                <a:solidFill>
                  <a:srgbClr val="3D1995"/>
                </a:solidFill>
                <a:latin typeface="Times New Roman" panose="02020503050405090304" charset="0"/>
                <a:cs typeface="Times New Roman" panose="02020503050405090304" charset="0"/>
              </a:rPr>
              <a:t> </a:t>
            </a:r>
          </a:p>
          <a:p>
            <a:pPr algn="ctr">
              <a:lnSpc>
                <a:spcPct val="100000"/>
              </a:lnSpc>
              <a:spcBef>
                <a:spcPts val="0"/>
              </a:spcBef>
              <a:spcAft>
                <a:spcPts val="0"/>
              </a:spcAft>
            </a:pPr>
            <a:r>
              <a:rPr sz="2000" b="1" dirty="0">
                <a:solidFill>
                  <a:srgbClr val="3D1595"/>
                </a:solidFill>
                <a:latin typeface="Times New Roman" panose="02020503050405090304" charset="0"/>
                <a:cs typeface="Times New Roman" panose="02020503050405090304" charset="0"/>
                <a:sym typeface="+mn-ea"/>
              </a:rPr>
              <a:t>Affective Agent</a:t>
            </a:r>
            <a:endParaRPr sz="2000" b="1" i="0" u="none" dirty="0">
              <a:solidFill>
                <a:srgbClr val="3D1595"/>
              </a:solidFill>
              <a:latin typeface="Times New Roman" panose="02020503050405090304" charset="0"/>
              <a:cs typeface="Times New Roman" panose="02020503050405090304" charset="0"/>
              <a:sym typeface="+mn-ea"/>
            </a:endParaRPr>
          </a:p>
        </p:txBody>
      </p:sp>
      <p:sp>
        <p:nvSpPr>
          <p:cNvPr id="136" name="drawio2pptx:shape:40"/>
          <p:cNvSpPr/>
          <p:nvPr/>
        </p:nvSpPr>
        <p:spPr>
          <a:xfrm>
            <a:off x="6909435" y="4462780"/>
            <a:ext cx="1365885" cy="38544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b="1" i="0" u="none">
                <a:solidFill>
                  <a:srgbClr val="393939"/>
                </a:solidFill>
                <a:latin typeface="Times New Roman" panose="02020503050405090304" charset="0"/>
                <a:cs typeface="Times New Roman" panose="02020503050405090304" charset="0"/>
              </a:rPr>
              <a:t>Response</a:t>
            </a:r>
          </a:p>
          <a:p>
            <a:pPr algn="ctr">
              <a:lnSpc>
                <a:spcPct val="100000"/>
              </a:lnSpc>
              <a:spcBef>
                <a:spcPts val="0"/>
              </a:spcBef>
              <a:spcAft>
                <a:spcPts val="0"/>
              </a:spcAft>
            </a:pPr>
            <a:r>
              <a:rPr b="1" i="0" u="none">
                <a:solidFill>
                  <a:srgbClr val="393939"/>
                </a:solidFill>
                <a:latin typeface="Times New Roman" panose="02020503050405090304" charset="0"/>
                <a:cs typeface="Times New Roman" panose="02020503050405090304" charset="0"/>
              </a:rPr>
              <a:t>Planning</a:t>
            </a:r>
          </a:p>
        </p:txBody>
      </p:sp>
      <p:sp>
        <p:nvSpPr>
          <p:cNvPr id="138" name="drawio2pptx:shape:44"/>
          <p:cNvSpPr/>
          <p:nvPr/>
        </p:nvSpPr>
        <p:spPr>
          <a:xfrm>
            <a:off x="7074535" y="3273425"/>
            <a:ext cx="970280" cy="2025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endParaRPr sz="1125" b="1" i="0" u="none" dirty="0">
              <a:solidFill>
                <a:srgbClr val="313131"/>
              </a:solidFill>
              <a:latin typeface="Arial Narrow" panose="020B0606020202030204"/>
            </a:endParaRPr>
          </a:p>
        </p:txBody>
      </p:sp>
      <p:sp>
        <p:nvSpPr>
          <p:cNvPr id="139" name="drawio2pptx:shape:45"/>
          <p:cNvSpPr/>
          <p:nvPr/>
        </p:nvSpPr>
        <p:spPr>
          <a:xfrm>
            <a:off x="7124700" y="3094990"/>
            <a:ext cx="1021080" cy="5105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lang="en-US" altLang="zh-CN" b="1" i="0" u="none">
                <a:solidFill>
                  <a:srgbClr val="353535"/>
                </a:solidFill>
                <a:latin typeface="Times New Roman" panose="02020503050405090304" charset="0"/>
                <a:cs typeface="Times New Roman" panose="02020503050405090304" charset="0"/>
              </a:rPr>
              <a:t>User Emotion</a:t>
            </a:r>
          </a:p>
          <a:p>
            <a:pPr algn="ctr">
              <a:lnSpc>
                <a:spcPct val="100000"/>
              </a:lnSpc>
              <a:spcBef>
                <a:spcPts val="0"/>
              </a:spcBef>
              <a:spcAft>
                <a:spcPts val="0"/>
              </a:spcAft>
            </a:pPr>
            <a:r>
              <a:rPr lang="en-US" altLang="zh-CN" b="1" i="0" u="none">
                <a:solidFill>
                  <a:srgbClr val="353535"/>
                </a:solidFill>
                <a:latin typeface="Times New Roman" panose="02020503050405090304" charset="0"/>
                <a:cs typeface="Times New Roman" panose="02020503050405090304" charset="0"/>
              </a:rPr>
              <a:t>Perception</a:t>
            </a:r>
          </a:p>
        </p:txBody>
      </p:sp>
      <p:sp>
        <p:nvSpPr>
          <p:cNvPr id="155" name="文本框 154"/>
          <p:cNvSpPr txBox="1"/>
          <p:nvPr/>
        </p:nvSpPr>
        <p:spPr>
          <a:xfrm>
            <a:off x="9090025" y="3339465"/>
            <a:ext cx="1939925" cy="368300"/>
          </a:xfrm>
          <a:prstGeom prst="rect">
            <a:avLst/>
          </a:prstGeom>
          <a:noFill/>
        </p:spPr>
        <p:txBody>
          <a:bodyPr wrap="square" rtlCol="0">
            <a:spAutoFit/>
          </a:bodyPr>
          <a:lstStyle/>
          <a:p>
            <a:pPr algn="ctr"/>
            <a:r>
              <a:rPr lang="en-US" altLang="zh-CN" b="1" dirty="0">
                <a:solidFill>
                  <a:srgbClr val="3F1791"/>
                </a:solidFill>
                <a:latin typeface="Times New Roman" panose="02020503050405090304" charset="0"/>
                <a:cs typeface="Times New Roman" panose="02020503050405090304" charset="0"/>
              </a:rPr>
              <a:t>3D Avatar</a:t>
            </a:r>
          </a:p>
        </p:txBody>
      </p:sp>
      <p:sp>
        <p:nvSpPr>
          <p:cNvPr id="183" name="文本框 182"/>
          <p:cNvSpPr txBox="1"/>
          <p:nvPr/>
        </p:nvSpPr>
        <p:spPr>
          <a:xfrm>
            <a:off x="9108870" y="1786804"/>
            <a:ext cx="2310557" cy="829945"/>
          </a:xfrm>
          <a:prstGeom prst="rect">
            <a:avLst/>
          </a:prstGeom>
          <a:noFill/>
        </p:spPr>
        <p:txBody>
          <a:bodyPr wrap="square" rtlCol="0">
            <a:spAutoFit/>
          </a:bodyPr>
          <a:lstStyle/>
          <a:p>
            <a:pPr marL="171450" indent="-171450">
              <a:buFont typeface="Wingdings" panose="05000000000000000000" charset="0"/>
              <a:buChar char="l"/>
            </a:pPr>
            <a:r>
              <a:rPr lang="en-US" altLang="zh-CN" sz="1200" b="1" dirty="0">
                <a:latin typeface="Times New Roman" panose="02020503050405090304" charset="0"/>
                <a:cs typeface="Times New Roman" panose="02020503050405090304" charset="0"/>
              </a:rPr>
              <a:t>Verbal Content,</a:t>
            </a:r>
          </a:p>
          <a:p>
            <a:pPr marL="171450" indent="-171450">
              <a:buFont typeface="Wingdings" panose="05000000000000000000" charset="0"/>
              <a:buChar char="l"/>
            </a:pPr>
            <a:r>
              <a:rPr lang="en-US" altLang="zh-CN" sz="1200" b="1" dirty="0">
                <a:latin typeface="Times New Roman" panose="02020503050405090304" charset="0"/>
                <a:cs typeface="Times New Roman" panose="02020503050405090304" charset="0"/>
              </a:rPr>
              <a:t>Vocal Delivery, </a:t>
            </a:r>
          </a:p>
          <a:p>
            <a:pPr marL="171450" indent="-171450">
              <a:buFont typeface="Wingdings" panose="05000000000000000000" charset="0"/>
              <a:buChar char="l"/>
            </a:pPr>
            <a:r>
              <a:rPr lang="en-US" altLang="zh-CN" sz="1200" b="1" dirty="0">
                <a:latin typeface="Times New Roman" panose="02020503050405090304" charset="0"/>
                <a:cs typeface="Times New Roman" panose="02020503050405090304" charset="0"/>
              </a:rPr>
              <a:t>Behavioral Expression , </a:t>
            </a:r>
          </a:p>
          <a:p>
            <a:pPr marL="171450" indent="-171450">
              <a:buFont typeface="Wingdings" panose="05000000000000000000" charset="0"/>
              <a:buChar char="l"/>
            </a:pPr>
            <a:r>
              <a:rPr lang="en-US" altLang="zh-CN" sz="1200" b="1" dirty="0">
                <a:latin typeface="Times New Roman" panose="02020503050405090304" charset="0"/>
                <a:cs typeface="Times New Roman" panose="02020503050405090304" charset="0"/>
              </a:rPr>
              <a:t>Games Guidance</a:t>
            </a:r>
            <a:endParaRPr lang="zh-CN" altLang="en-US" sz="1200" b="1" dirty="0">
              <a:latin typeface="Times New Roman" panose="02020503050405090304" charset="0"/>
              <a:cs typeface="Times New Roman" panose="02020503050405090304" charset="0"/>
            </a:endParaRPr>
          </a:p>
        </p:txBody>
      </p:sp>
      <p:cxnSp>
        <p:nvCxnSpPr>
          <p:cNvPr id="186" name="直接箭头连接符 185"/>
          <p:cNvCxnSpPr>
            <a:stCxn id="157" idx="0"/>
            <a:endCxn id="162" idx="2"/>
          </p:cNvCxnSpPr>
          <p:nvPr/>
        </p:nvCxnSpPr>
        <p:spPr>
          <a:xfrm flipV="1">
            <a:off x="10030672" y="2624629"/>
            <a:ext cx="1905" cy="4705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V="1">
            <a:off x="8539720" y="4702210"/>
            <a:ext cx="532130" cy="3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494405" y="6158865"/>
            <a:ext cx="1447800" cy="368300"/>
          </a:xfrm>
          <a:prstGeom prst="rect">
            <a:avLst/>
          </a:prstGeom>
          <a:noFill/>
        </p:spPr>
        <p:txBody>
          <a:bodyPr wrap="square" rtlCol="0">
            <a:spAutoFit/>
          </a:bodyPr>
          <a:lstStyle/>
          <a:p>
            <a:r>
              <a:rPr lang="en-US" altLang="zh-CN" b="1">
                <a:solidFill>
                  <a:schemeClr val="accent1">
                    <a:lumMod val="75000"/>
                  </a:schemeClr>
                </a:solidFill>
                <a:latin typeface="Times New Roman" panose="02020503050405090304" charset="0"/>
                <a:cs typeface="Times New Roman" panose="02020503050405090304" charset="0"/>
              </a:rPr>
              <a:t>Audio / Text</a:t>
            </a:r>
          </a:p>
        </p:txBody>
      </p:sp>
      <p:pic>
        <p:nvPicPr>
          <p:cNvPr id="8" name="图片 7" descr="音频"/>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3136265" y="6188075"/>
            <a:ext cx="311150" cy="311150"/>
          </a:xfrm>
          <a:prstGeom prst="rect">
            <a:avLst/>
          </a:prstGeom>
        </p:spPr>
      </p:pic>
      <p:sp>
        <p:nvSpPr>
          <p:cNvPr id="9" name="drawio2pptx:shape:8"/>
          <p:cNvSpPr/>
          <p:nvPr/>
        </p:nvSpPr>
        <p:spPr>
          <a:xfrm>
            <a:off x="6310630" y="5434330"/>
            <a:ext cx="2066290" cy="828675"/>
          </a:xfrm>
          <a:prstGeom prst="rect">
            <a:avLst/>
          </a:prstGeom>
          <a:solidFill>
            <a:srgbClr val="FEFDFE"/>
          </a:solidFill>
          <a:ln w="19050">
            <a:solidFill>
              <a:srgbClr val="8D8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drawio2pptx:image:13" descr="image.png"/>
          <p:cNvPicPr>
            <a:picLocks noChangeAspect="1"/>
          </p:cNvPicPr>
          <p:nvPr/>
        </p:nvPicPr>
        <p:blipFill>
          <a:blip r:embed="rId10"/>
          <a:stretch>
            <a:fillRect/>
          </a:stretch>
        </p:blipFill>
        <p:spPr>
          <a:xfrm>
            <a:off x="6396505" y="5501012"/>
            <a:ext cx="533400" cy="619125"/>
          </a:xfrm>
          <a:prstGeom prst="rect">
            <a:avLst/>
          </a:prstGeom>
        </p:spPr>
      </p:pic>
      <p:sp>
        <p:nvSpPr>
          <p:cNvPr id="11" name="drawio2pptx:shape:40"/>
          <p:cNvSpPr/>
          <p:nvPr/>
        </p:nvSpPr>
        <p:spPr>
          <a:xfrm>
            <a:off x="7015630" y="5874868"/>
            <a:ext cx="1057275" cy="1714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endParaRPr sz="1200" b="1" i="0" u="none">
              <a:solidFill>
                <a:srgbClr val="393939"/>
              </a:solidFill>
              <a:latin typeface="Arial Narrow" panose="020B0606020202030204"/>
            </a:endParaRPr>
          </a:p>
        </p:txBody>
      </p:sp>
      <p:sp>
        <p:nvSpPr>
          <p:cNvPr id="12" name="drawio2pptx:shape:42"/>
          <p:cNvSpPr/>
          <p:nvPr/>
        </p:nvSpPr>
        <p:spPr>
          <a:xfrm>
            <a:off x="7124700" y="5605780"/>
            <a:ext cx="981075" cy="409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b="1">
                <a:solidFill>
                  <a:srgbClr val="393939"/>
                </a:solidFill>
                <a:latin typeface="Times New Roman" panose="02020503050405090304" charset="0"/>
                <a:cs typeface="Times New Roman" panose="02020503050405090304" charset="0"/>
                <a:sym typeface="+mn-ea"/>
              </a:rPr>
              <a:t>Response</a:t>
            </a:r>
          </a:p>
          <a:p>
            <a:pPr algn="ctr">
              <a:lnSpc>
                <a:spcPct val="100000"/>
              </a:lnSpc>
              <a:spcBef>
                <a:spcPts val="0"/>
              </a:spcBef>
              <a:spcAft>
                <a:spcPts val="0"/>
              </a:spcAft>
            </a:pPr>
            <a:r>
              <a:rPr lang="en-US" b="1">
                <a:solidFill>
                  <a:srgbClr val="393939"/>
                </a:solidFill>
                <a:latin typeface="Times New Roman" panose="02020503050405090304" charset="0"/>
                <a:cs typeface="Times New Roman" panose="02020503050405090304" charset="0"/>
                <a:sym typeface="+mn-ea"/>
              </a:rPr>
              <a:t>Generation</a:t>
            </a:r>
            <a:endParaRPr lang="en-US" b="1" i="0" u="none" dirty="0">
              <a:solidFill>
                <a:srgbClr val="393939"/>
              </a:solidFill>
              <a:latin typeface="Times New Roman" panose="02020503050405090304" charset="0"/>
              <a:cs typeface="Times New Roman" panose="02020503050405090304" charset="0"/>
              <a:sym typeface="+mn-ea"/>
            </a:endParaRPr>
          </a:p>
        </p:txBody>
      </p:sp>
      <p:pic>
        <p:nvPicPr>
          <p:cNvPr id="13" name="图片 12" descr="思考"/>
          <p:cNvPicPr>
            <a:picLocks noChangeAspect="1"/>
          </p:cNvPicPr>
          <p:nvPr>
            <p:custDataLst>
              <p:tags r:id="rId2"/>
            </p:custDataLst>
          </p:nvPr>
        </p:nvPicPr>
        <p:blipFill>
          <a:blip>
            <a:extLst>
              <a:ext uri="{96DAC541-7B7A-43D3-8B79-37D633B846F1}">
                <asvg:svgBlip xmlns:asvg="http://schemas.microsoft.com/office/drawing/2016/SVG/main" r:embed="rId11"/>
              </a:ext>
            </a:extLst>
          </a:blip>
          <a:stretch>
            <a:fillRect/>
          </a:stretch>
        </p:blipFill>
        <p:spPr>
          <a:xfrm>
            <a:off x="6418580" y="4373245"/>
            <a:ext cx="539115" cy="539115"/>
          </a:xfrm>
          <a:prstGeom prst="rect">
            <a:avLst/>
          </a:prstGeom>
        </p:spPr>
      </p:pic>
      <p:pic>
        <p:nvPicPr>
          <p:cNvPr id="14" name="图片 13" descr="思考"/>
          <p:cNvPicPr>
            <a:picLocks noChangeAspect="1"/>
          </p:cNvPicPr>
          <p:nvPr>
            <p:custDataLst>
              <p:tags r:id="rId3"/>
            </p:custDataLst>
          </p:nvPr>
        </p:nvPicPr>
        <p:blipFill>
          <a:blip>
            <a:extLst>
              <a:ext uri="{96DAC541-7B7A-43D3-8B79-37D633B846F1}">
                <asvg:svgBlip xmlns:asvg="http://schemas.microsoft.com/office/drawing/2016/SVG/main" r:embed="rId12"/>
              </a:ext>
            </a:extLst>
          </a:blip>
          <a:stretch>
            <a:fillRect/>
          </a:stretch>
        </p:blipFill>
        <p:spPr>
          <a:xfrm>
            <a:off x="6386830" y="3116580"/>
            <a:ext cx="516890" cy="516890"/>
          </a:xfrm>
          <a:prstGeom prst="rect">
            <a:avLst/>
          </a:prstGeom>
        </p:spPr>
      </p:pic>
      <p:cxnSp>
        <p:nvCxnSpPr>
          <p:cNvPr id="20" name="肘形连接符 19"/>
          <p:cNvCxnSpPr>
            <a:stCxn id="108" idx="3"/>
            <a:endCxn id="4" idx="1"/>
          </p:cNvCxnSpPr>
          <p:nvPr/>
        </p:nvCxnSpPr>
        <p:spPr>
          <a:xfrm>
            <a:off x="1918970" y="3708400"/>
            <a:ext cx="1086485" cy="2632710"/>
          </a:xfrm>
          <a:prstGeom prst="bentConnector3">
            <a:avLst>
              <a:gd name="adj1" fmla="val 43892"/>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 name="肘形连接符 20"/>
          <p:cNvCxnSpPr>
            <a:stCxn id="7" idx="3"/>
            <a:endCxn id="141" idx="1"/>
          </p:cNvCxnSpPr>
          <p:nvPr/>
        </p:nvCxnSpPr>
        <p:spPr>
          <a:xfrm flipV="1">
            <a:off x="4942205" y="4086860"/>
            <a:ext cx="1174115" cy="2256155"/>
          </a:xfrm>
          <a:prstGeom prst="bentConnector3">
            <a:avLst>
              <a:gd name="adj1" fmla="val 50027"/>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8" name="组合 447"/>
          <p:cNvGrpSpPr/>
          <p:nvPr/>
        </p:nvGrpSpPr>
        <p:grpSpPr>
          <a:xfrm>
            <a:off x="1579687" y="11036"/>
            <a:ext cx="9018702" cy="6810367"/>
            <a:chOff x="1101608" y="-59948"/>
            <a:chExt cx="34038921" cy="25704090"/>
          </a:xfrm>
        </p:grpSpPr>
        <p:sp>
          <p:nvSpPr>
            <p:cNvPr id="37" name="箭头: 右 36"/>
            <p:cNvSpPr/>
            <p:nvPr/>
          </p:nvSpPr>
          <p:spPr>
            <a:xfrm>
              <a:off x="7322602" y="11509271"/>
              <a:ext cx="1697119" cy="974679"/>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177" name="箭头: 右 36"/>
            <p:cNvSpPr/>
            <p:nvPr/>
          </p:nvSpPr>
          <p:spPr>
            <a:xfrm>
              <a:off x="17304227" y="11482232"/>
              <a:ext cx="1771784" cy="1017560"/>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55"/>
            </a:p>
          </p:txBody>
        </p:sp>
        <p:sp>
          <p:nvSpPr>
            <p:cNvPr id="440" name="矩形: 圆角 439"/>
            <p:cNvSpPr/>
            <p:nvPr/>
          </p:nvSpPr>
          <p:spPr>
            <a:xfrm>
              <a:off x="9192295" y="4863675"/>
              <a:ext cx="7915950" cy="13935777"/>
            </a:xfrm>
            <a:prstGeom prst="roundRect">
              <a:avLst>
                <a:gd name="adj" fmla="val 3381"/>
              </a:avLst>
            </a:prstGeom>
            <a:solidFill>
              <a:srgbClr val="F4F7FE"/>
            </a:solidFill>
            <a:ln w="76200">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41" name="文本框 440"/>
            <p:cNvSpPr txBox="1"/>
            <p:nvPr/>
          </p:nvSpPr>
          <p:spPr>
            <a:xfrm>
              <a:off x="9008342" y="4947667"/>
              <a:ext cx="8278834" cy="2009616"/>
            </a:xfrm>
            <a:prstGeom prst="rect">
              <a:avLst/>
            </a:prstGeom>
            <a:noFill/>
          </p:spPr>
          <p:txBody>
            <a:bodyPr wrap="square" rtlCol="0">
              <a:spAutoFit/>
            </a:bodyPr>
            <a:lstStyle/>
            <a:p>
              <a:pPr algn="ctr"/>
              <a:r>
                <a:rPr lang="zh-CN" altLang="en-US" sz="1430" b="1" dirty="0">
                  <a:latin typeface="Times New Roman" panose="02020503050405090304" charset="0"/>
                  <a:cs typeface="Times New Roman" panose="02020503050405090304" charset="0"/>
                </a:rPr>
                <a:t>语义引导的视频</a:t>
              </a:r>
              <a:endParaRPr lang="en-US" altLang="zh-CN" sz="1430" b="1" dirty="0">
                <a:latin typeface="Times New Roman" panose="02020503050405090304" charset="0"/>
                <a:cs typeface="Times New Roman" panose="02020503050405090304" charset="0"/>
              </a:endParaRPr>
            </a:p>
            <a:p>
              <a:pPr algn="ctr"/>
              <a:r>
                <a:rPr lang="zh-CN" altLang="en-US" sz="1430" b="1" dirty="0">
                  <a:latin typeface="Times New Roman" panose="02020503050405090304" charset="0"/>
                  <a:cs typeface="Times New Roman" panose="02020503050405090304" charset="0"/>
                </a:rPr>
                <a:t>情感识别</a:t>
              </a:r>
            </a:p>
          </p:txBody>
        </p:sp>
        <p:sp>
          <p:nvSpPr>
            <p:cNvPr id="442" name="矩形: 圆角 441"/>
            <p:cNvSpPr/>
            <p:nvPr/>
          </p:nvSpPr>
          <p:spPr>
            <a:xfrm>
              <a:off x="9546309" y="6872709"/>
              <a:ext cx="7168863" cy="3677632"/>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43" name="文本框 442"/>
            <p:cNvSpPr txBox="1"/>
            <p:nvPr/>
          </p:nvSpPr>
          <p:spPr>
            <a:xfrm>
              <a:off x="9752602" y="6889804"/>
              <a:ext cx="7422439" cy="1020975"/>
            </a:xfrm>
            <a:prstGeom prst="rect">
              <a:avLst/>
            </a:prstGeom>
            <a:noFill/>
          </p:spPr>
          <p:txBody>
            <a:bodyPr wrap="none" rtlCol="0">
              <a:spAutoFit/>
            </a:bodyPr>
            <a:lstStyle/>
            <a:p>
              <a:r>
                <a:rPr lang="en-US" altLang="zh-CN" sz="1165" b="1" dirty="0">
                  <a:solidFill>
                    <a:srgbClr val="5068CF"/>
                  </a:solidFill>
                  <a:latin typeface="Times New Roman" panose="02020503050405090304" charset="0"/>
                  <a:cs typeface="Times New Roman" panose="02020503050405090304" charset="0"/>
                </a:rPr>
                <a:t>Semantic Region Extraction</a:t>
              </a:r>
              <a:endParaRPr lang="zh-CN" altLang="en-US" sz="1165" b="1" dirty="0">
                <a:solidFill>
                  <a:srgbClr val="5068CF"/>
                </a:solidFill>
                <a:latin typeface="Times New Roman" panose="02020503050405090304" charset="0"/>
                <a:cs typeface="Times New Roman" panose="02020503050405090304" charset="0"/>
              </a:endParaRPr>
            </a:p>
          </p:txBody>
        </p:sp>
        <p:grpSp>
          <p:nvGrpSpPr>
            <p:cNvPr id="47" name="组合 46"/>
            <p:cNvGrpSpPr/>
            <p:nvPr/>
          </p:nvGrpSpPr>
          <p:grpSpPr>
            <a:xfrm>
              <a:off x="10439873" y="7860817"/>
              <a:ext cx="1720149" cy="2158150"/>
              <a:chOff x="7758007" y="2512922"/>
              <a:chExt cx="1960310" cy="2459464"/>
            </a:xfrm>
          </p:grpSpPr>
          <p:pic>
            <p:nvPicPr>
              <p:cNvPr id="45" name="图片 44"/>
              <p:cNvPicPr>
                <a:picLocks noChangeAspect="1"/>
              </p:cNvPicPr>
              <p:nvPr/>
            </p:nvPicPr>
            <p:blipFill>
              <a:blip r:embed="rId3"/>
              <a:stretch>
                <a:fillRect/>
              </a:stretch>
            </p:blipFill>
            <p:spPr>
              <a:xfrm>
                <a:off x="7760683" y="2512922"/>
                <a:ext cx="1957634" cy="2459464"/>
              </a:xfrm>
              <a:prstGeom prst="rect">
                <a:avLst/>
              </a:prstGeom>
            </p:spPr>
          </p:pic>
          <p:sp>
            <p:nvSpPr>
              <p:cNvPr id="444" name="矩形 443"/>
              <p:cNvSpPr/>
              <p:nvPr/>
            </p:nvSpPr>
            <p:spPr>
              <a:xfrm>
                <a:off x="8889384" y="3350551"/>
                <a:ext cx="485775" cy="392103"/>
              </a:xfrm>
              <a:prstGeom prst="rect">
                <a:avLst/>
              </a:prstGeom>
              <a:solidFill>
                <a:srgbClr val="7D88AE">
                  <a:alpha val="50196"/>
                </a:srgbClr>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0" name="矩形 449"/>
              <p:cNvSpPr/>
              <p:nvPr/>
            </p:nvSpPr>
            <p:spPr>
              <a:xfrm>
                <a:off x="8178745" y="3269754"/>
                <a:ext cx="603749" cy="472900"/>
              </a:xfrm>
              <a:prstGeom prst="rect">
                <a:avLst/>
              </a:prstGeom>
              <a:solidFill>
                <a:srgbClr val="7D88AE">
                  <a:alpha val="50196"/>
                </a:srgbClr>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1" name="矩形 450"/>
              <p:cNvSpPr/>
              <p:nvPr/>
            </p:nvSpPr>
            <p:spPr>
              <a:xfrm>
                <a:off x="9446088" y="3562971"/>
                <a:ext cx="236268" cy="661388"/>
              </a:xfrm>
              <a:prstGeom prst="rect">
                <a:avLst/>
              </a:prstGeom>
              <a:solidFill>
                <a:srgbClr val="A9C7B0">
                  <a:alpha val="49804"/>
                </a:srgb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3" name="矩形 452"/>
              <p:cNvSpPr/>
              <p:nvPr/>
            </p:nvSpPr>
            <p:spPr>
              <a:xfrm>
                <a:off x="8580827" y="3814375"/>
                <a:ext cx="386889" cy="392103"/>
              </a:xfrm>
              <a:prstGeom prst="rect">
                <a:avLst/>
              </a:prstGeom>
              <a:solidFill>
                <a:srgbClr val="E9ABA7">
                  <a:alpha val="50196"/>
                </a:srgbClr>
              </a:solidFill>
              <a:ln w="19050">
                <a:solidFill>
                  <a:srgbClr val="E9AB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4" name="矩形 453"/>
              <p:cNvSpPr/>
              <p:nvPr/>
            </p:nvSpPr>
            <p:spPr>
              <a:xfrm>
                <a:off x="8424866" y="4278199"/>
                <a:ext cx="655661" cy="392103"/>
              </a:xfrm>
              <a:prstGeom prst="rect">
                <a:avLst/>
              </a:prstGeom>
              <a:solidFill>
                <a:srgbClr val="FFC000">
                  <a:alpha val="50196"/>
                </a:srgb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5" name="矩形 454"/>
              <p:cNvSpPr/>
              <p:nvPr/>
            </p:nvSpPr>
            <p:spPr>
              <a:xfrm>
                <a:off x="7758007" y="3483681"/>
                <a:ext cx="313848" cy="661388"/>
              </a:xfrm>
              <a:prstGeom prst="rect">
                <a:avLst/>
              </a:prstGeom>
              <a:solidFill>
                <a:srgbClr val="A9C7B0">
                  <a:alpha val="49804"/>
                </a:srgb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sp>
          <p:nvSpPr>
            <p:cNvPr id="458" name="箭头: 右 457"/>
            <p:cNvSpPr/>
            <p:nvPr/>
          </p:nvSpPr>
          <p:spPr>
            <a:xfrm>
              <a:off x="12327399" y="8874463"/>
              <a:ext cx="1496682" cy="278551"/>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52" name="组合 51"/>
            <p:cNvGrpSpPr/>
            <p:nvPr/>
          </p:nvGrpSpPr>
          <p:grpSpPr>
            <a:xfrm>
              <a:off x="13949898" y="8117155"/>
              <a:ext cx="2432981" cy="2301461"/>
              <a:chOff x="11008635" y="2435024"/>
              <a:chExt cx="2432981" cy="2301461"/>
            </a:xfrm>
          </p:grpSpPr>
          <p:sp>
            <p:nvSpPr>
              <p:cNvPr id="48" name="文本框 47"/>
              <p:cNvSpPr txBox="1"/>
              <p:nvPr/>
            </p:nvSpPr>
            <p:spPr>
              <a:xfrm>
                <a:off x="11236261" y="2944139"/>
                <a:ext cx="1502702"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Eyes</a:t>
                </a:r>
                <a:endParaRPr lang="zh-CN" altLang="en-US" sz="850" b="1" dirty="0">
                  <a:latin typeface="Times New Roman" panose="02020503050405090304" charset="0"/>
                  <a:cs typeface="Times New Roman" panose="02020503050405090304" charset="0"/>
                </a:endParaRPr>
              </a:p>
            </p:txBody>
          </p:sp>
          <p:grpSp>
            <p:nvGrpSpPr>
              <p:cNvPr id="51" name="组合 50"/>
              <p:cNvGrpSpPr/>
              <p:nvPr/>
            </p:nvGrpSpPr>
            <p:grpSpPr>
              <a:xfrm>
                <a:off x="12383031" y="2555104"/>
                <a:ext cx="1058585" cy="304218"/>
                <a:chOff x="12383031" y="2555104"/>
                <a:chExt cx="1058585" cy="304218"/>
              </a:xfrm>
            </p:grpSpPr>
            <p:sp>
              <p:nvSpPr>
                <p:cNvPr id="459" name="矩形: 圆角 150"/>
                <p:cNvSpPr/>
                <p:nvPr/>
              </p:nvSpPr>
              <p:spPr>
                <a:xfrm>
                  <a:off x="12754401"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3" name="矩形: 圆角 150"/>
                <p:cNvSpPr/>
                <p:nvPr/>
              </p:nvSpPr>
              <p:spPr>
                <a:xfrm>
                  <a:off x="12383031"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4" name="矩形: 圆角 150"/>
                <p:cNvSpPr/>
                <p:nvPr/>
              </p:nvSpPr>
              <p:spPr>
                <a:xfrm>
                  <a:off x="13137397"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sp>
            <p:nvSpPr>
              <p:cNvPr id="466" name="文本框 465"/>
              <p:cNvSpPr txBox="1"/>
              <p:nvPr/>
            </p:nvSpPr>
            <p:spPr>
              <a:xfrm>
                <a:off x="11221834" y="2435024"/>
                <a:ext cx="1526669"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Nose</a:t>
                </a:r>
                <a:endParaRPr lang="zh-CN" altLang="en-US" sz="850" b="1" dirty="0">
                  <a:latin typeface="Times New Roman" panose="02020503050405090304" charset="0"/>
                  <a:cs typeface="Times New Roman" panose="02020503050405090304" charset="0"/>
                </a:endParaRPr>
              </a:p>
            </p:txBody>
          </p:sp>
          <p:grpSp>
            <p:nvGrpSpPr>
              <p:cNvPr id="50" name="组合 49"/>
              <p:cNvGrpSpPr/>
              <p:nvPr/>
            </p:nvGrpSpPr>
            <p:grpSpPr>
              <a:xfrm>
                <a:off x="12383031" y="3070785"/>
                <a:ext cx="1058585" cy="304218"/>
                <a:chOff x="12373585" y="3070785"/>
                <a:chExt cx="1058585" cy="304218"/>
              </a:xfrm>
            </p:grpSpPr>
            <p:sp>
              <p:nvSpPr>
                <p:cNvPr id="467" name="矩形: 圆角 150"/>
                <p:cNvSpPr/>
                <p:nvPr/>
              </p:nvSpPr>
              <p:spPr>
                <a:xfrm>
                  <a:off x="12744955"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8" name="矩形: 圆角 150"/>
                <p:cNvSpPr/>
                <p:nvPr/>
              </p:nvSpPr>
              <p:spPr>
                <a:xfrm>
                  <a:off x="12373585"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9" name="矩形: 圆角 150"/>
                <p:cNvSpPr/>
                <p:nvPr/>
              </p:nvSpPr>
              <p:spPr>
                <a:xfrm>
                  <a:off x="13127951"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grpSp>
            <p:nvGrpSpPr>
              <p:cNvPr id="470" name="组合 469"/>
              <p:cNvGrpSpPr/>
              <p:nvPr/>
            </p:nvGrpSpPr>
            <p:grpSpPr>
              <a:xfrm>
                <a:off x="12383031" y="3543318"/>
                <a:ext cx="1058585" cy="304218"/>
                <a:chOff x="12373585" y="3070785"/>
                <a:chExt cx="1058585" cy="304218"/>
              </a:xfrm>
              <a:solidFill>
                <a:srgbClr val="D3E9D0"/>
              </a:solidFill>
            </p:grpSpPr>
            <p:sp>
              <p:nvSpPr>
                <p:cNvPr id="471" name="矩形: 圆角 150"/>
                <p:cNvSpPr/>
                <p:nvPr/>
              </p:nvSpPr>
              <p:spPr>
                <a:xfrm>
                  <a:off x="12744955"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2" name="矩形: 圆角 150"/>
                <p:cNvSpPr/>
                <p:nvPr/>
              </p:nvSpPr>
              <p:spPr>
                <a:xfrm>
                  <a:off x="12373585"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3" name="矩形: 圆角 150"/>
                <p:cNvSpPr/>
                <p:nvPr/>
              </p:nvSpPr>
              <p:spPr>
                <a:xfrm>
                  <a:off x="13127951"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grpSp>
            <p:nvGrpSpPr>
              <p:cNvPr id="474" name="组合 473"/>
              <p:cNvGrpSpPr/>
              <p:nvPr/>
            </p:nvGrpSpPr>
            <p:grpSpPr>
              <a:xfrm>
                <a:off x="12383031" y="4031913"/>
                <a:ext cx="1058585" cy="304218"/>
                <a:chOff x="12373585" y="3070785"/>
                <a:chExt cx="1058585" cy="304218"/>
              </a:xfrm>
              <a:solidFill>
                <a:srgbClr val="FAEDD9"/>
              </a:solidFill>
            </p:grpSpPr>
            <p:sp>
              <p:nvSpPr>
                <p:cNvPr id="476" name="矩形: 圆角 150"/>
                <p:cNvSpPr/>
                <p:nvPr/>
              </p:nvSpPr>
              <p:spPr>
                <a:xfrm>
                  <a:off x="12744955"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7" name="矩形: 圆角 150"/>
                <p:cNvSpPr/>
                <p:nvPr/>
              </p:nvSpPr>
              <p:spPr>
                <a:xfrm>
                  <a:off x="12373585"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80" name="矩形: 圆角 150"/>
                <p:cNvSpPr/>
                <p:nvPr/>
              </p:nvSpPr>
              <p:spPr>
                <a:xfrm>
                  <a:off x="13127951"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sp>
            <p:nvSpPr>
              <p:cNvPr id="482" name="文本框 481"/>
              <p:cNvSpPr txBox="1"/>
              <p:nvPr/>
            </p:nvSpPr>
            <p:spPr>
              <a:xfrm>
                <a:off x="11236261" y="3443532"/>
                <a:ext cx="1502702"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Ears</a:t>
                </a:r>
                <a:endParaRPr lang="zh-CN" altLang="en-US" sz="850" b="1" dirty="0">
                  <a:latin typeface="Times New Roman" panose="02020503050405090304" charset="0"/>
                  <a:cs typeface="Times New Roman" panose="02020503050405090304" charset="0"/>
                </a:endParaRPr>
              </a:p>
            </p:txBody>
          </p:sp>
          <p:sp>
            <p:nvSpPr>
              <p:cNvPr id="487" name="文本框 486"/>
              <p:cNvSpPr txBox="1"/>
              <p:nvPr/>
            </p:nvSpPr>
            <p:spPr>
              <a:xfrm>
                <a:off x="11008635" y="3900053"/>
                <a:ext cx="1869391"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Mouth</a:t>
                </a:r>
                <a:endParaRPr lang="zh-CN" altLang="en-US" sz="850" b="1" dirty="0">
                  <a:latin typeface="Times New Roman" panose="02020503050405090304" charset="0"/>
                  <a:cs typeface="Times New Roman" panose="02020503050405090304" charset="0"/>
                </a:endParaRPr>
              </a:p>
            </p:txBody>
          </p:sp>
        </p:grpSp>
        <p:sp>
          <p:nvSpPr>
            <p:cNvPr id="99" name="箭头: 右 510"/>
            <p:cNvSpPr/>
            <p:nvPr/>
          </p:nvSpPr>
          <p:spPr>
            <a:xfrm rot="5400000">
              <a:off x="12622092" y="14743780"/>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121" name="组合 120"/>
            <p:cNvGrpSpPr/>
            <p:nvPr/>
          </p:nvGrpSpPr>
          <p:grpSpPr>
            <a:xfrm>
              <a:off x="9537891" y="11153797"/>
              <a:ext cx="7168863" cy="3822311"/>
              <a:chOff x="9314579" y="12052674"/>
              <a:chExt cx="7168863" cy="3822311"/>
            </a:xfrm>
          </p:grpSpPr>
          <p:sp>
            <p:nvSpPr>
              <p:cNvPr id="508" name="矩形: 圆角 507"/>
              <p:cNvSpPr/>
              <p:nvPr/>
            </p:nvSpPr>
            <p:spPr>
              <a:xfrm>
                <a:off x="9314579" y="12168217"/>
                <a:ext cx="7168863" cy="3706768"/>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29" name="组合 28"/>
              <p:cNvGrpSpPr/>
              <p:nvPr/>
            </p:nvGrpSpPr>
            <p:grpSpPr>
              <a:xfrm>
                <a:off x="10530419" y="13515585"/>
                <a:ext cx="4323056" cy="1812896"/>
                <a:chOff x="8933469" y="9440234"/>
                <a:chExt cx="2925587" cy="1226860"/>
              </a:xfrm>
            </p:grpSpPr>
            <p:grpSp>
              <p:nvGrpSpPr>
                <p:cNvPr id="21" name="组合 20"/>
                <p:cNvGrpSpPr/>
                <p:nvPr/>
              </p:nvGrpSpPr>
              <p:grpSpPr>
                <a:xfrm>
                  <a:off x="8933469" y="9442901"/>
                  <a:ext cx="1224193" cy="1224193"/>
                  <a:chOff x="8829746" y="10867490"/>
                  <a:chExt cx="1515414" cy="1515414"/>
                </a:xfrm>
              </p:grpSpPr>
              <p:grpSp>
                <p:nvGrpSpPr>
                  <p:cNvPr id="127" name="组合 126"/>
                  <p:cNvGrpSpPr/>
                  <p:nvPr/>
                </p:nvGrpSpPr>
                <p:grpSpPr>
                  <a:xfrm>
                    <a:off x="9057920" y="11312264"/>
                    <a:ext cx="1059066" cy="909337"/>
                    <a:chOff x="7554444" y="10438641"/>
                    <a:chExt cx="1059066" cy="909337"/>
                  </a:xfrm>
                </p:grpSpPr>
                <p:sp>
                  <p:nvSpPr>
                    <p:cNvPr id="128" name="矩形: 圆角 150"/>
                    <p:cNvSpPr/>
                    <p:nvPr/>
                  </p:nvSpPr>
                  <p:spPr>
                    <a:xfrm>
                      <a:off x="7554444" y="10438641"/>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29" name="矩形: 圆角 150"/>
                    <p:cNvSpPr/>
                    <p:nvPr/>
                  </p:nvSpPr>
                  <p:spPr>
                    <a:xfrm>
                      <a:off x="7911170" y="11043760"/>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30" name="矩形: 圆角 150"/>
                    <p:cNvSpPr/>
                    <p:nvPr/>
                  </p:nvSpPr>
                  <p:spPr>
                    <a:xfrm>
                      <a:off x="8309291" y="10554758"/>
                      <a:ext cx="304219" cy="304218"/>
                    </a:xfrm>
                    <a:prstGeom prst="roundRect">
                      <a:avLst/>
                    </a:prstGeom>
                    <a:solidFill>
                      <a:srgbClr val="D3E9D0"/>
                    </a:solid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cxnSp>
                  <p:nvCxnSpPr>
                    <p:cNvPr id="131" name="曲线连接符 130"/>
                    <p:cNvCxnSpPr>
                      <a:stCxn id="128" idx="0"/>
                      <a:endCxn id="130" idx="0"/>
                    </p:cNvCxnSpPr>
                    <p:nvPr/>
                  </p:nvCxnSpPr>
                  <p:spPr>
                    <a:xfrm rot="16200000" flipH="1">
                      <a:off x="8025918" y="10119276"/>
                      <a:ext cx="116117" cy="754847"/>
                    </a:xfrm>
                    <a:prstGeom prst="curvedConnector3">
                      <a:avLst>
                        <a:gd name="adj1" fmla="val -196870"/>
                      </a:avLst>
                    </a:prstGeom>
                    <a:ln w="12700">
                      <a:prstDash val="dash"/>
                    </a:ln>
                  </p:spPr>
                  <p:style>
                    <a:lnRef idx="1">
                      <a:schemeClr val="dk1"/>
                    </a:lnRef>
                    <a:fillRef idx="0">
                      <a:schemeClr val="dk1"/>
                    </a:fillRef>
                    <a:effectRef idx="0">
                      <a:schemeClr val="dk1"/>
                    </a:effectRef>
                    <a:fontRef idx="minor">
                      <a:schemeClr val="tx1"/>
                    </a:fontRef>
                  </p:style>
                </p:cxnSp>
                <p:cxnSp>
                  <p:nvCxnSpPr>
                    <p:cNvPr id="132" name="曲线连接符 131"/>
                    <p:cNvCxnSpPr>
                      <a:stCxn id="129" idx="3"/>
                    </p:cNvCxnSpPr>
                    <p:nvPr/>
                  </p:nvCxnSpPr>
                  <p:spPr>
                    <a:xfrm flipV="1">
                      <a:off x="8215389" y="10889283"/>
                      <a:ext cx="246013" cy="306586"/>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cxnSp>
                  <p:nvCxnSpPr>
                    <p:cNvPr id="133" name="曲线连接符 132"/>
                    <p:cNvCxnSpPr>
                      <a:stCxn id="129" idx="1"/>
                      <a:endCxn id="128" idx="2"/>
                    </p:cNvCxnSpPr>
                    <p:nvPr/>
                  </p:nvCxnSpPr>
                  <p:spPr>
                    <a:xfrm rot="10800000">
                      <a:off x="7706554" y="10742859"/>
                      <a:ext cx="204616" cy="453010"/>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grpSp>
              <p:sp>
                <p:nvSpPr>
                  <p:cNvPr id="134" name="椭圆 133"/>
                  <p:cNvSpPr/>
                  <p:nvPr/>
                </p:nvSpPr>
                <p:spPr>
                  <a:xfrm>
                    <a:off x="8829746" y="10867490"/>
                    <a:ext cx="1515414" cy="15154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475" dirty="0"/>
                  </a:p>
                </p:txBody>
              </p:sp>
            </p:grpSp>
            <p:grpSp>
              <p:nvGrpSpPr>
                <p:cNvPr id="137" name="组合 136"/>
                <p:cNvGrpSpPr/>
                <p:nvPr/>
              </p:nvGrpSpPr>
              <p:grpSpPr>
                <a:xfrm>
                  <a:off x="10634863" y="9440234"/>
                  <a:ext cx="1224193" cy="1224193"/>
                  <a:chOff x="8829746" y="10867490"/>
                  <a:chExt cx="1515414" cy="1515414"/>
                </a:xfrm>
              </p:grpSpPr>
              <p:grpSp>
                <p:nvGrpSpPr>
                  <p:cNvPr id="138" name="组合 137"/>
                  <p:cNvGrpSpPr/>
                  <p:nvPr/>
                </p:nvGrpSpPr>
                <p:grpSpPr>
                  <a:xfrm>
                    <a:off x="9057920" y="11312264"/>
                    <a:ext cx="1059066" cy="909337"/>
                    <a:chOff x="7554444" y="10438641"/>
                    <a:chExt cx="1059066" cy="909337"/>
                  </a:xfrm>
                </p:grpSpPr>
                <p:sp>
                  <p:nvSpPr>
                    <p:cNvPr id="140" name="矩形: 圆角 150"/>
                    <p:cNvSpPr/>
                    <p:nvPr/>
                  </p:nvSpPr>
                  <p:spPr>
                    <a:xfrm>
                      <a:off x="7554444" y="10438641"/>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41" name="矩形: 圆角 150"/>
                    <p:cNvSpPr/>
                    <p:nvPr/>
                  </p:nvSpPr>
                  <p:spPr>
                    <a:xfrm>
                      <a:off x="7911170" y="11043760"/>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42" name="矩形: 圆角 150"/>
                    <p:cNvSpPr/>
                    <p:nvPr/>
                  </p:nvSpPr>
                  <p:spPr>
                    <a:xfrm>
                      <a:off x="8309291" y="10554758"/>
                      <a:ext cx="304219" cy="304218"/>
                    </a:xfrm>
                    <a:prstGeom prst="roundRect">
                      <a:avLst/>
                    </a:prstGeom>
                    <a:solidFill>
                      <a:srgbClr val="D3E9D0"/>
                    </a:solid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cxnSp>
                  <p:nvCxnSpPr>
                    <p:cNvPr id="143" name="曲线连接符 142"/>
                    <p:cNvCxnSpPr>
                      <a:stCxn id="140" idx="0"/>
                      <a:endCxn id="142" idx="0"/>
                    </p:cNvCxnSpPr>
                    <p:nvPr/>
                  </p:nvCxnSpPr>
                  <p:spPr>
                    <a:xfrm rot="16200000" flipH="1">
                      <a:off x="8025918" y="10119276"/>
                      <a:ext cx="116117" cy="754847"/>
                    </a:xfrm>
                    <a:prstGeom prst="curvedConnector3">
                      <a:avLst>
                        <a:gd name="adj1" fmla="val -196870"/>
                      </a:avLst>
                    </a:prstGeom>
                    <a:ln w="12700">
                      <a:prstDash val="dash"/>
                    </a:ln>
                  </p:spPr>
                  <p:style>
                    <a:lnRef idx="1">
                      <a:schemeClr val="dk1"/>
                    </a:lnRef>
                    <a:fillRef idx="0">
                      <a:schemeClr val="dk1"/>
                    </a:fillRef>
                    <a:effectRef idx="0">
                      <a:schemeClr val="dk1"/>
                    </a:effectRef>
                    <a:fontRef idx="minor">
                      <a:schemeClr val="tx1"/>
                    </a:fontRef>
                  </p:style>
                </p:cxnSp>
                <p:cxnSp>
                  <p:nvCxnSpPr>
                    <p:cNvPr id="144" name="曲线连接符 143"/>
                    <p:cNvCxnSpPr>
                      <a:stCxn id="141" idx="3"/>
                    </p:cNvCxnSpPr>
                    <p:nvPr/>
                  </p:nvCxnSpPr>
                  <p:spPr>
                    <a:xfrm flipV="1">
                      <a:off x="8215389" y="10889283"/>
                      <a:ext cx="246013" cy="306586"/>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cxnSp>
                  <p:nvCxnSpPr>
                    <p:cNvPr id="145" name="曲线连接符 144"/>
                    <p:cNvCxnSpPr>
                      <a:stCxn id="141" idx="1"/>
                      <a:endCxn id="140" idx="2"/>
                    </p:cNvCxnSpPr>
                    <p:nvPr/>
                  </p:nvCxnSpPr>
                  <p:spPr>
                    <a:xfrm rot="10800000">
                      <a:off x="7706554" y="10742859"/>
                      <a:ext cx="204616" cy="453010"/>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grpSp>
              <p:sp>
                <p:nvSpPr>
                  <p:cNvPr id="139" name="椭圆 138"/>
                  <p:cNvSpPr/>
                  <p:nvPr/>
                </p:nvSpPr>
                <p:spPr>
                  <a:xfrm>
                    <a:off x="8829746" y="10867490"/>
                    <a:ext cx="1515414" cy="15154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475" dirty="0"/>
                  </a:p>
                </p:txBody>
              </p:sp>
            </p:grpSp>
            <p:cxnSp>
              <p:nvCxnSpPr>
                <p:cNvPr id="27" name="曲线连接符 26"/>
                <p:cNvCxnSpPr>
                  <a:stCxn id="134" idx="4"/>
                  <a:endCxn id="139" idx="4"/>
                </p:cNvCxnSpPr>
                <p:nvPr/>
              </p:nvCxnSpPr>
              <p:spPr>
                <a:xfrm rot="5400000" flipH="1" flipV="1">
                  <a:off x="10394929" y="9815064"/>
                  <a:ext cx="2667" cy="1701394"/>
                </a:xfrm>
                <a:prstGeom prst="curvedConnector3">
                  <a:avLst>
                    <a:gd name="adj1" fmla="val -8571429"/>
                  </a:avLst>
                </a:prstGeom>
                <a:ln w="57150">
                  <a:prstDash val="dash"/>
                  <a:headEnd type="triangle"/>
                  <a:tailEnd type="triangle"/>
                </a:ln>
              </p:spPr>
              <p:style>
                <a:lnRef idx="1">
                  <a:schemeClr val="dk1"/>
                </a:lnRef>
                <a:fillRef idx="0">
                  <a:schemeClr val="dk1"/>
                </a:fillRef>
                <a:effectRef idx="0">
                  <a:schemeClr val="dk1"/>
                </a:effectRef>
                <a:fontRef idx="minor">
                  <a:schemeClr val="tx1"/>
                </a:fontRef>
              </p:style>
            </p:cxnSp>
          </p:grpSp>
          <p:sp>
            <p:nvSpPr>
              <p:cNvPr id="151" name="文本框 150"/>
              <p:cNvSpPr txBox="1"/>
              <p:nvPr/>
            </p:nvSpPr>
            <p:spPr>
              <a:xfrm>
                <a:off x="9578390" y="12052674"/>
                <a:ext cx="6752705" cy="2377481"/>
              </a:xfrm>
              <a:prstGeom prst="rect">
                <a:avLst/>
              </a:prstGeom>
              <a:noFill/>
            </p:spPr>
            <p:txBody>
              <a:bodyPr wrap="square" rtlCol="0">
                <a:spAutoFit/>
              </a:bodyPr>
              <a:lstStyle/>
              <a:p>
                <a:pPr algn="ctr"/>
                <a:r>
                  <a:rPr lang="en-GB" altLang="zh-CN" sz="1165" b="1" dirty="0">
                    <a:solidFill>
                      <a:srgbClr val="5068CF"/>
                    </a:solidFill>
                    <a:latin typeface="Times New Roman" panose="02020503050405090304" charset="0"/>
                    <a:cs typeface="Times New Roman" panose="02020503050405090304" charset="0"/>
                  </a:rPr>
                  <a:t>Spatiotemporal Primitive </a:t>
                </a:r>
              </a:p>
              <a:p>
                <a:pPr algn="ctr"/>
                <a:r>
                  <a:rPr lang="en-GB" altLang="zh-CN" sz="1165" b="1" dirty="0">
                    <a:solidFill>
                      <a:srgbClr val="5068CF"/>
                    </a:solidFill>
                    <a:latin typeface="Times New Roman" panose="02020503050405090304" charset="0"/>
                    <a:cs typeface="Times New Roman" panose="02020503050405090304" charset="0"/>
                  </a:rPr>
                  <a:t>Representation</a:t>
                </a:r>
                <a:endParaRPr lang="zh-CN" altLang="en-US" sz="1165" b="1" dirty="0">
                  <a:solidFill>
                    <a:srgbClr val="5068CF"/>
                  </a:solidFill>
                  <a:latin typeface="Times New Roman" panose="02020503050405090304" charset="0"/>
                  <a:cs typeface="Times New Roman" panose="02020503050405090304" charset="0"/>
                </a:endParaRPr>
              </a:p>
            </p:txBody>
          </p:sp>
        </p:grpSp>
        <p:grpSp>
          <p:nvGrpSpPr>
            <p:cNvPr id="122" name="组合 121"/>
            <p:cNvGrpSpPr/>
            <p:nvPr/>
          </p:nvGrpSpPr>
          <p:grpSpPr>
            <a:xfrm>
              <a:off x="9537891" y="15573657"/>
              <a:ext cx="7177281" cy="3076431"/>
              <a:chOff x="9329141" y="16583941"/>
              <a:chExt cx="7177281" cy="3076431"/>
            </a:xfrm>
          </p:grpSpPr>
          <p:sp>
            <p:nvSpPr>
              <p:cNvPr id="100" name="矩形: 圆角 507"/>
              <p:cNvSpPr/>
              <p:nvPr/>
            </p:nvSpPr>
            <p:spPr>
              <a:xfrm>
                <a:off x="9329141" y="16610458"/>
                <a:ext cx="7177281" cy="3049914"/>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101" name="文本框 100"/>
              <p:cNvSpPr txBox="1"/>
              <p:nvPr/>
            </p:nvSpPr>
            <p:spPr>
              <a:xfrm>
                <a:off x="9950537" y="16583941"/>
                <a:ext cx="5754368" cy="1020975"/>
              </a:xfrm>
              <a:prstGeom prst="rect">
                <a:avLst/>
              </a:prstGeom>
              <a:noFill/>
            </p:spPr>
            <p:txBody>
              <a:bodyPr wrap="none" rtlCol="0">
                <a:spAutoFit/>
              </a:bodyPr>
              <a:lstStyle/>
              <a:p>
                <a:pPr algn="ctr"/>
                <a:r>
                  <a:rPr lang="en-US" altLang="zh-CN" sz="1165" b="1" dirty="0">
                    <a:solidFill>
                      <a:srgbClr val="5068CF"/>
                    </a:solidFill>
                    <a:latin typeface="Times New Roman" panose="02020503050405090304" charset="0"/>
                    <a:cs typeface="Times New Roman" panose="02020503050405090304" charset="0"/>
                  </a:rPr>
                  <a:t>Emotion Recognition</a:t>
                </a:r>
                <a:endParaRPr lang="zh-CN" altLang="en-US" sz="1165" b="1" dirty="0">
                  <a:solidFill>
                    <a:srgbClr val="5068CF"/>
                  </a:solidFill>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graphicFrame>
                <p:nvGraphicFramePr>
                  <p:cNvPr id="49" name="图表 48"/>
                  <p:cNvGraphicFramePr/>
                  <p:nvPr/>
                </p:nvGraphicFramePr>
                <p:xfrm>
                  <a:off x="10419923" y="16798513"/>
                  <a:ext cx="4668879" cy="2282953"/>
                </p:xfrm>
                <a:graphic>
                  <a:graphicData uri="http://schemas.openxmlformats.org/drawingml/2006/chart">
                    <c:chart xmlns:c="http://schemas.openxmlformats.org/drawingml/2006/chart" xmlns:r="http://schemas.openxmlformats.org/officeDocument/2006/relationships" r:id="rId4"/>
                  </a:graphicData>
                </a:graphic>
              </p:graphicFrame>
            </mc:Choice>
            <mc:Fallback>
              <p:graphicFrame>
                <p:nvGraphicFramePr>
                  <p:cNvPr id="49" name="图表 48"/>
                  <p:cNvGraphicFramePr/>
                  <p:nvPr/>
                </p:nvGraphicFramePr>
                <p:xfrm>
                  <a:off x="10419923" y="16798513"/>
                  <a:ext cx="4668879" cy="2282953"/>
                </p:xfrm>
                <a:graphic>
                  <a:graphicData uri="http://schemas.openxmlformats.org/drawingml/2006/chart">
                    <c:chart xmlns:c="http://schemas.openxmlformats.org/drawingml/2006/chart" xmlns:r="http://schemas.openxmlformats.org/officeDocument/2006/relationships" r:id="rId4"/>
                  </a:graphicData>
                </a:graphic>
              </p:graphicFrame>
            </mc:Fallback>
          </mc:AlternateContent>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0042" y="18881976"/>
                <a:ext cx="600825" cy="600825"/>
              </a:xfrm>
              <a:prstGeom prst="rect">
                <a:avLst/>
              </a:prstGeom>
            </p:spPr>
          </p:pic>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12218" y="18840656"/>
                <a:ext cx="642145" cy="642145"/>
              </a:xfrm>
              <a:prstGeom prst="rect">
                <a:avLst/>
              </a:prstGeom>
            </p:spPr>
          </p:pic>
          <p:pic>
            <p:nvPicPr>
              <p:cNvPr id="10" name="图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863277" y="18905542"/>
                <a:ext cx="577259" cy="577259"/>
              </a:xfrm>
              <a:prstGeom prst="rect">
                <a:avLst/>
              </a:prstGeom>
            </p:spPr>
          </p:pic>
          <p:pic>
            <p:nvPicPr>
              <p:cNvPr id="12" name="图片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80887" y="18895658"/>
                <a:ext cx="568093" cy="568093"/>
              </a:xfrm>
              <a:prstGeom prst="rect">
                <a:avLst/>
              </a:prstGeom>
            </p:spPr>
          </p:pic>
        </p:grpSp>
        <p:sp>
          <p:nvSpPr>
            <p:cNvPr id="169" name="矩形: 圆角 439"/>
            <p:cNvSpPr/>
            <p:nvPr/>
          </p:nvSpPr>
          <p:spPr>
            <a:xfrm>
              <a:off x="19132905" y="4870883"/>
              <a:ext cx="16007624" cy="13928569"/>
            </a:xfrm>
            <a:prstGeom prst="roundRect">
              <a:avLst>
                <a:gd name="adj" fmla="val 3381"/>
              </a:avLst>
            </a:prstGeom>
            <a:solidFill>
              <a:srgbClr val="FAFAFC"/>
            </a:solidFill>
            <a:ln w="76200">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170" name="文本框 169"/>
            <p:cNvSpPr txBox="1"/>
            <p:nvPr/>
          </p:nvSpPr>
          <p:spPr>
            <a:xfrm>
              <a:off x="22311889" y="4777320"/>
              <a:ext cx="9149035" cy="1271982"/>
            </a:xfrm>
            <a:prstGeom prst="rect">
              <a:avLst/>
            </a:prstGeom>
            <a:noFill/>
          </p:spPr>
          <p:txBody>
            <a:bodyPr wrap="none" rtlCol="0">
              <a:spAutoFit/>
            </a:bodyPr>
            <a:lstStyle/>
            <a:p>
              <a:pPr algn="ctr"/>
              <a:r>
                <a:rPr lang="zh-CN" altLang="en-US" sz="1590" b="1" dirty="0">
                  <a:latin typeface="Times New Roman" panose="02020503050405090304" charset="0"/>
                  <a:cs typeface="Times New Roman" panose="02020503050405090304" charset="0"/>
                </a:rPr>
                <a:t>状态感知情感响应智能体</a:t>
              </a:r>
            </a:p>
          </p:txBody>
        </p:sp>
        <p:sp>
          <p:nvSpPr>
            <p:cNvPr id="219" name="矩形: 圆角 439"/>
            <p:cNvSpPr/>
            <p:nvPr/>
          </p:nvSpPr>
          <p:spPr>
            <a:xfrm>
              <a:off x="19545675" y="9409828"/>
              <a:ext cx="6000512" cy="9082501"/>
            </a:xfrm>
            <a:prstGeom prst="roundRect">
              <a:avLst>
                <a:gd name="adj" fmla="val 6610"/>
              </a:avLst>
            </a:prstGeom>
            <a:solidFill>
              <a:srgbClr val="FAF6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0" name="文本框 219"/>
            <p:cNvSpPr txBox="1"/>
            <p:nvPr/>
          </p:nvSpPr>
          <p:spPr>
            <a:xfrm>
              <a:off x="19905331" y="9759716"/>
              <a:ext cx="5184515" cy="2009616"/>
            </a:xfrm>
            <a:prstGeom prst="rect">
              <a:avLst/>
            </a:prstGeom>
            <a:noFill/>
          </p:spPr>
          <p:txBody>
            <a:bodyPr wrap="square" rtlCol="0">
              <a:spAutoFit/>
            </a:bodyPr>
            <a:lstStyle/>
            <a:p>
              <a:pPr algn="ctr"/>
              <a:r>
                <a:rPr lang="zh-CN" altLang="en-US" sz="1430" b="1" dirty="0">
                  <a:solidFill>
                    <a:srgbClr val="8469C5"/>
                  </a:solidFill>
                  <a:latin typeface="Times New Roman" panose="02020503050405090304" charset="0"/>
                  <a:cs typeface="Times New Roman" panose="02020503050405090304" charset="0"/>
                </a:rPr>
                <a:t>用户状态理解与响应规划</a:t>
              </a:r>
            </a:p>
          </p:txBody>
        </p:sp>
        <p:grpSp>
          <p:nvGrpSpPr>
            <p:cNvPr id="36" name="组合 35"/>
            <p:cNvGrpSpPr/>
            <p:nvPr/>
          </p:nvGrpSpPr>
          <p:grpSpPr>
            <a:xfrm>
              <a:off x="19694765" y="12110863"/>
              <a:ext cx="5824950" cy="1701788"/>
              <a:chOff x="19385154" y="9292561"/>
              <a:chExt cx="5824950" cy="1701788"/>
            </a:xfrm>
          </p:grpSpPr>
          <p:sp>
            <p:nvSpPr>
              <p:cNvPr id="227" name="矩形: 圆角 439"/>
              <p:cNvSpPr/>
              <p:nvPr/>
            </p:nvSpPr>
            <p:spPr>
              <a:xfrm>
                <a:off x="19385154" y="9313950"/>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26" name="图片 25"/>
              <p:cNvPicPr>
                <a:picLocks noChangeAspect="1"/>
              </p:cNvPicPr>
              <p:nvPr/>
            </p:nvPicPr>
            <p:blipFill>
              <a:blip r:embed="rId9"/>
              <a:stretch>
                <a:fillRect/>
              </a:stretch>
            </p:blipFill>
            <p:spPr>
              <a:xfrm>
                <a:off x="19490528" y="9411171"/>
                <a:ext cx="1278607" cy="1306403"/>
              </a:xfrm>
              <a:prstGeom prst="rect">
                <a:avLst/>
              </a:prstGeom>
            </p:spPr>
          </p:pic>
          <p:sp>
            <p:nvSpPr>
              <p:cNvPr id="31" name="文本框 30"/>
              <p:cNvSpPr txBox="1"/>
              <p:nvPr/>
            </p:nvSpPr>
            <p:spPr>
              <a:xfrm>
                <a:off x="20329896" y="9292561"/>
                <a:ext cx="4880208" cy="1701788"/>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Affective </a:t>
                </a:r>
              </a:p>
              <a:p>
                <a:pPr algn="ctr"/>
                <a:r>
                  <a:rPr lang="en-US" altLang="zh-CN" sz="1165" b="1" dirty="0">
                    <a:latin typeface="Times New Roman" panose="02020503050405090304" charset="0"/>
                    <a:cs typeface="Times New Roman" panose="02020503050405090304" charset="0"/>
                  </a:rPr>
                  <a:t>Understanding</a:t>
                </a:r>
                <a:endParaRPr lang="zh-CN" altLang="en-US" sz="1165" b="1" dirty="0">
                  <a:latin typeface="Times New Roman" panose="02020503050405090304" charset="0"/>
                  <a:cs typeface="Times New Roman" panose="02020503050405090304" charset="0"/>
                </a:endParaRPr>
              </a:p>
            </p:txBody>
          </p:sp>
        </p:grpSp>
        <p:grpSp>
          <p:nvGrpSpPr>
            <p:cNvPr id="32" name="组合 31"/>
            <p:cNvGrpSpPr/>
            <p:nvPr/>
          </p:nvGrpSpPr>
          <p:grpSpPr>
            <a:xfrm>
              <a:off x="19691714" y="14119773"/>
              <a:ext cx="5773156" cy="1773235"/>
              <a:chOff x="19909693" y="12405320"/>
              <a:chExt cx="5773156" cy="1773235"/>
            </a:xfrm>
          </p:grpSpPr>
          <p:sp>
            <p:nvSpPr>
              <p:cNvPr id="237" name="矩形: 圆角 439"/>
              <p:cNvSpPr/>
              <p:nvPr/>
            </p:nvSpPr>
            <p:spPr>
              <a:xfrm>
                <a:off x="19909693" y="12542616"/>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0" name="图片 39"/>
              <p:cNvPicPr>
                <a:picLocks noChangeAspect="1"/>
              </p:cNvPicPr>
              <p:nvPr/>
            </p:nvPicPr>
            <p:blipFill>
              <a:blip r:embed="rId10"/>
              <a:stretch>
                <a:fillRect/>
              </a:stretch>
            </p:blipFill>
            <p:spPr>
              <a:xfrm>
                <a:off x="20076354" y="12692245"/>
                <a:ext cx="1057086" cy="1302920"/>
              </a:xfrm>
              <a:prstGeom prst="rect">
                <a:avLst/>
              </a:prstGeom>
            </p:spPr>
          </p:pic>
          <p:sp>
            <p:nvSpPr>
              <p:cNvPr id="250" name="文本框 249"/>
              <p:cNvSpPr txBox="1"/>
              <p:nvPr/>
            </p:nvSpPr>
            <p:spPr>
              <a:xfrm>
                <a:off x="20633000" y="12405320"/>
                <a:ext cx="5049849" cy="1701787"/>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Support Strategy</a:t>
                </a:r>
              </a:p>
              <a:p>
                <a:pPr algn="ctr"/>
                <a:r>
                  <a:rPr lang="en-US" altLang="zh-CN" sz="1165" b="1" dirty="0">
                    <a:latin typeface="Times New Roman" panose="02020503050405090304" charset="0"/>
                    <a:cs typeface="Times New Roman" panose="02020503050405090304" charset="0"/>
                  </a:rPr>
                  <a:t>Planning</a:t>
                </a:r>
                <a:endParaRPr lang="zh-CN" altLang="en-US" sz="1165" b="1" dirty="0">
                  <a:latin typeface="Times New Roman" panose="02020503050405090304" charset="0"/>
                  <a:cs typeface="Times New Roman" panose="02020503050405090304" charset="0"/>
                </a:endParaRPr>
              </a:p>
            </p:txBody>
          </p:sp>
        </p:grpSp>
        <p:grpSp>
          <p:nvGrpSpPr>
            <p:cNvPr id="43" name="组合 42"/>
            <p:cNvGrpSpPr/>
            <p:nvPr/>
          </p:nvGrpSpPr>
          <p:grpSpPr>
            <a:xfrm>
              <a:off x="19711815" y="16355874"/>
              <a:ext cx="5574987" cy="1802712"/>
              <a:chOff x="16014058" y="10173347"/>
              <a:chExt cx="5574987" cy="1802712"/>
            </a:xfrm>
          </p:grpSpPr>
          <p:sp>
            <p:nvSpPr>
              <p:cNvPr id="241" name="矩形: 圆角 439"/>
              <p:cNvSpPr/>
              <p:nvPr/>
            </p:nvSpPr>
            <p:spPr>
              <a:xfrm>
                <a:off x="16014058" y="10173347"/>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52" name="文本框 251"/>
              <p:cNvSpPr txBox="1"/>
              <p:nvPr/>
            </p:nvSpPr>
            <p:spPr>
              <a:xfrm>
                <a:off x="17160121" y="10276831"/>
                <a:ext cx="4363961" cy="1699228"/>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Response Generation</a:t>
                </a:r>
                <a:endParaRPr lang="zh-CN" altLang="en-US" sz="1165" b="1" dirty="0">
                  <a:latin typeface="Times New Roman" panose="02020503050405090304" charset="0"/>
                  <a:cs typeface="Times New Roman" panose="02020503050405090304" charset="0"/>
                </a:endParaRPr>
              </a:p>
            </p:txBody>
          </p:sp>
          <p:pic>
            <p:nvPicPr>
              <p:cNvPr id="42" name="图片 41"/>
              <p:cNvPicPr>
                <a:picLocks noChangeAspect="1"/>
              </p:cNvPicPr>
              <p:nvPr/>
            </p:nvPicPr>
            <p:blipFill>
              <a:blip r:embed="rId11"/>
              <a:stretch>
                <a:fillRect/>
              </a:stretch>
            </p:blipFill>
            <p:spPr>
              <a:xfrm>
                <a:off x="16196935" y="10399733"/>
                <a:ext cx="1075602" cy="1183165"/>
              </a:xfrm>
              <a:prstGeom prst="rect">
                <a:avLst/>
              </a:prstGeom>
            </p:spPr>
          </p:pic>
        </p:grpSp>
        <p:grpSp>
          <p:nvGrpSpPr>
            <p:cNvPr id="30" name="组合 29"/>
            <p:cNvGrpSpPr/>
            <p:nvPr/>
          </p:nvGrpSpPr>
          <p:grpSpPr>
            <a:xfrm>
              <a:off x="25651561" y="10265619"/>
              <a:ext cx="8891492" cy="8315765"/>
              <a:chOff x="25833554" y="6746283"/>
              <a:chExt cx="8891492" cy="8915660"/>
            </a:xfrm>
          </p:grpSpPr>
          <p:sp>
            <p:nvSpPr>
              <p:cNvPr id="271" name="矩形: 圆角 439"/>
              <p:cNvSpPr/>
              <p:nvPr/>
            </p:nvSpPr>
            <p:spPr>
              <a:xfrm>
                <a:off x="25840107" y="6746283"/>
                <a:ext cx="8884939" cy="8915660"/>
              </a:xfrm>
              <a:prstGeom prst="roundRect">
                <a:avLst>
                  <a:gd name="adj" fmla="val 3381"/>
                </a:avLst>
              </a:prstGeom>
              <a:solidFill>
                <a:srgbClr val="FAFAFC"/>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61" name="组合 60"/>
              <p:cNvGrpSpPr/>
              <p:nvPr/>
            </p:nvGrpSpPr>
            <p:grpSpPr>
              <a:xfrm>
                <a:off x="25833554" y="7156746"/>
                <a:ext cx="8443650" cy="8367922"/>
                <a:chOff x="24070974" y="4513323"/>
                <a:chExt cx="8443650" cy="8367922"/>
              </a:xfrm>
            </p:grpSpPr>
            <p:pic>
              <p:nvPicPr>
                <p:cNvPr id="475" name="图片 474"/>
                <p:cNvPicPr>
                  <a:picLocks noChangeAspect="1"/>
                </p:cNvPicPr>
                <p:nvPr/>
              </p:nvPicPr>
              <p:blipFill>
                <a:blip r:embed="rId12"/>
                <a:stretch>
                  <a:fillRect/>
                </a:stretch>
              </p:blipFill>
              <p:spPr>
                <a:xfrm>
                  <a:off x="24070974" y="4571430"/>
                  <a:ext cx="3259239" cy="8309815"/>
                </a:xfrm>
                <a:prstGeom prst="rect">
                  <a:avLst/>
                </a:prstGeom>
              </p:spPr>
            </p:pic>
            <p:sp>
              <p:nvSpPr>
                <p:cNvPr id="253" name="对话气泡: 圆角矩形 17"/>
                <p:cNvSpPr/>
                <p:nvPr/>
              </p:nvSpPr>
              <p:spPr>
                <a:xfrm>
                  <a:off x="27486313" y="4513323"/>
                  <a:ext cx="5028311" cy="1504314"/>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I’m here with you</a:t>
                  </a:r>
                  <a:endParaRPr lang="zh-CN" altLang="en-US" sz="1060" b="1" dirty="0">
                    <a:solidFill>
                      <a:schemeClr val="tx1"/>
                    </a:solidFill>
                    <a:latin typeface="Times New Roman" panose="02020503050405090304" charset="0"/>
                    <a:cs typeface="Times New Roman" panose="02020503050405090304" charset="0"/>
                  </a:endParaRPr>
                </a:p>
              </p:txBody>
            </p:sp>
            <p:sp>
              <p:nvSpPr>
                <p:cNvPr id="256" name="对话气泡: 圆角矩形 17"/>
                <p:cNvSpPr/>
                <p:nvPr/>
              </p:nvSpPr>
              <p:spPr>
                <a:xfrm>
                  <a:off x="27448711" y="6936387"/>
                  <a:ext cx="5028311" cy="1504314"/>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Let’s take a deep breath together.</a:t>
                  </a:r>
                  <a:endParaRPr lang="zh-CN" altLang="en-US" sz="1060" b="1" dirty="0">
                    <a:solidFill>
                      <a:schemeClr val="tx1"/>
                    </a:solidFill>
                    <a:latin typeface="Times New Roman" panose="02020503050405090304" charset="0"/>
                    <a:cs typeface="Times New Roman" panose="02020503050405090304" charset="0"/>
                  </a:endParaRPr>
                </a:p>
              </p:txBody>
            </p:sp>
            <p:sp>
              <p:nvSpPr>
                <p:cNvPr id="258" name="对话气泡: 圆角矩形 17"/>
                <p:cNvSpPr/>
                <p:nvPr/>
              </p:nvSpPr>
              <p:spPr>
                <a:xfrm>
                  <a:off x="27448711" y="9465943"/>
                  <a:ext cx="5028311" cy="2759478"/>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Would you like to express how you feel through shapes and colors?</a:t>
                  </a:r>
                  <a:endParaRPr lang="zh-CN" altLang="en-US" sz="1060" b="1" dirty="0">
                    <a:solidFill>
                      <a:schemeClr val="tx1"/>
                    </a:solidFill>
                    <a:latin typeface="Times New Roman" panose="02020503050405090304" charset="0"/>
                    <a:cs typeface="Times New Roman" panose="02020503050405090304" charset="0"/>
                  </a:endParaRPr>
                </a:p>
              </p:txBody>
            </p:sp>
          </p:grpSp>
        </p:grpSp>
        <p:sp>
          <p:nvSpPr>
            <p:cNvPr id="275" name="箭头: 右 510"/>
            <p:cNvSpPr/>
            <p:nvPr/>
          </p:nvSpPr>
          <p:spPr>
            <a:xfrm rot="5400000">
              <a:off x="12696970" y="10355324"/>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cxnSp>
          <p:nvCxnSpPr>
            <p:cNvPr id="102" name="连接符: 曲线 101"/>
            <p:cNvCxnSpPr/>
            <p:nvPr/>
          </p:nvCxnSpPr>
          <p:spPr>
            <a:xfrm rot="16200000" flipH="1">
              <a:off x="5131643" y="19438869"/>
              <a:ext cx="2877954" cy="6243035"/>
            </a:xfrm>
            <a:prstGeom prst="curvedConnector2">
              <a:avLst/>
            </a:prstGeom>
            <a:ln w="317500">
              <a:solidFill>
                <a:srgbClr val="DCDCDD"/>
              </a:solidFill>
              <a:tailEnd type="triangle"/>
            </a:ln>
          </p:spPr>
          <p:style>
            <a:lnRef idx="1">
              <a:schemeClr val="accent1"/>
            </a:lnRef>
            <a:fillRef idx="0">
              <a:schemeClr val="accent1"/>
            </a:fillRef>
            <a:effectRef idx="0">
              <a:schemeClr val="accent1"/>
            </a:effectRef>
            <a:fontRef idx="minor">
              <a:schemeClr val="tx1"/>
            </a:fontRef>
          </p:style>
        </p:cxnSp>
        <p:cxnSp>
          <p:nvCxnSpPr>
            <p:cNvPr id="344" name="连接符: 曲线 343"/>
            <p:cNvCxnSpPr/>
            <p:nvPr/>
          </p:nvCxnSpPr>
          <p:spPr>
            <a:xfrm flipV="1">
              <a:off x="30779006" y="19377908"/>
              <a:ext cx="2188316" cy="4129458"/>
            </a:xfrm>
            <a:prstGeom prst="curvedConnector2">
              <a:avLst/>
            </a:prstGeom>
            <a:ln w="317500">
              <a:solidFill>
                <a:srgbClr val="A9CED2"/>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连接符: 曲线 346"/>
            <p:cNvCxnSpPr/>
            <p:nvPr/>
          </p:nvCxnSpPr>
          <p:spPr>
            <a:xfrm rot="16200000" flipV="1">
              <a:off x="29244551" y="1351587"/>
              <a:ext cx="2918486" cy="3132025"/>
            </a:xfrm>
            <a:prstGeom prst="curvedConnector2">
              <a:avLst/>
            </a:prstGeom>
            <a:ln w="317500">
              <a:solidFill>
                <a:srgbClr val="7D5DB7"/>
              </a:solidFill>
              <a:tailEnd type="triangle"/>
            </a:ln>
          </p:spPr>
          <p:style>
            <a:lnRef idx="1">
              <a:schemeClr val="accent1"/>
            </a:lnRef>
            <a:fillRef idx="0">
              <a:schemeClr val="accent1"/>
            </a:fillRef>
            <a:effectRef idx="0">
              <a:schemeClr val="accent1"/>
            </a:effectRef>
            <a:fontRef idx="minor">
              <a:schemeClr val="tx1"/>
            </a:fontRef>
          </p:style>
        </p:cxnSp>
        <p:cxnSp>
          <p:nvCxnSpPr>
            <p:cNvPr id="350" name="连接符: 曲线 349"/>
            <p:cNvCxnSpPr/>
            <p:nvPr/>
          </p:nvCxnSpPr>
          <p:spPr>
            <a:xfrm rot="10800000" flipV="1">
              <a:off x="3326062" y="913715"/>
              <a:ext cx="8441963" cy="2537757"/>
            </a:xfrm>
            <a:prstGeom prst="curvedConnector2">
              <a:avLst/>
            </a:prstGeom>
            <a:ln w="317500">
              <a:solidFill>
                <a:srgbClr val="E9CC95"/>
              </a:solidFill>
              <a:tailEnd type="triangle"/>
            </a:ln>
          </p:spPr>
          <p:style>
            <a:lnRef idx="1">
              <a:schemeClr val="accent1"/>
            </a:lnRef>
            <a:fillRef idx="0">
              <a:schemeClr val="accent1"/>
            </a:fillRef>
            <a:effectRef idx="0">
              <a:schemeClr val="accent1"/>
            </a:effectRef>
            <a:fontRef idx="minor">
              <a:schemeClr val="tx1"/>
            </a:fontRef>
          </p:style>
        </p:cxnSp>
        <p:sp>
          <p:nvSpPr>
            <p:cNvPr id="366" name="文本框 365"/>
            <p:cNvSpPr txBox="1"/>
            <p:nvPr/>
          </p:nvSpPr>
          <p:spPr>
            <a:xfrm>
              <a:off x="9693901" y="9994651"/>
              <a:ext cx="4071916" cy="836432"/>
            </a:xfrm>
            <a:prstGeom prst="rect">
              <a:avLst/>
            </a:prstGeom>
            <a:noFill/>
          </p:spPr>
          <p:txBody>
            <a:bodyPr wrap="none" rtlCol="0">
              <a:spAutoFit/>
            </a:bodyPr>
            <a:lstStyle/>
            <a:p>
              <a:r>
                <a:rPr lang="en-GB" altLang="zh-CN" sz="850" b="1" dirty="0">
                  <a:latin typeface="Times New Roman" panose="02020503050405090304" charset="0"/>
                  <a:cs typeface="Times New Roman" panose="02020503050405090304" charset="0"/>
                </a:rPr>
                <a:t>Primitive </a:t>
              </a:r>
              <a:r>
                <a:rPr lang="en-US" altLang="zh-CN" sz="850" b="1" dirty="0">
                  <a:latin typeface="Times New Roman" panose="02020503050405090304" charset="0"/>
                  <a:cs typeface="Times New Roman" panose="02020503050405090304" charset="0"/>
                </a:rPr>
                <a:t>Detection</a:t>
              </a:r>
              <a:endParaRPr lang="zh-CN" altLang="en-US" sz="850" b="1" dirty="0">
                <a:latin typeface="Times New Roman" panose="02020503050405090304" charset="0"/>
                <a:cs typeface="Times New Roman" panose="02020503050405090304" charset="0"/>
              </a:endParaRPr>
            </a:p>
          </p:txBody>
        </p:sp>
        <p:sp>
          <p:nvSpPr>
            <p:cNvPr id="367" name="文本框 366"/>
            <p:cNvSpPr txBox="1"/>
            <p:nvPr/>
          </p:nvSpPr>
          <p:spPr>
            <a:xfrm>
              <a:off x="12107927" y="8406337"/>
              <a:ext cx="2442191" cy="771723"/>
            </a:xfrm>
            <a:prstGeom prst="rect">
              <a:avLst/>
            </a:prstGeom>
            <a:noFill/>
          </p:spPr>
          <p:txBody>
            <a:bodyPr wrap="none" rtlCol="0">
              <a:spAutoFit/>
            </a:bodyPr>
            <a:lstStyle/>
            <a:p>
              <a:r>
                <a:rPr lang="en-US" altLang="zh-CN" sz="740" b="1" dirty="0">
                  <a:latin typeface="Times New Roman" panose="02020503050405090304" charset="0"/>
                  <a:cs typeface="Times New Roman" panose="02020503050405090304" charset="0"/>
                </a:rPr>
                <a:t>Embedding</a:t>
              </a:r>
              <a:endParaRPr lang="zh-CN" altLang="en-US" sz="740" b="1" dirty="0">
                <a:latin typeface="Times New Roman" panose="02020503050405090304" charset="0"/>
                <a:cs typeface="Times New Roman" panose="02020503050405090304" charset="0"/>
              </a:endParaRPr>
            </a:p>
          </p:txBody>
        </p:sp>
        <p:sp>
          <p:nvSpPr>
            <p:cNvPr id="2" name="文本框 1"/>
            <p:cNvSpPr txBox="1"/>
            <p:nvPr/>
          </p:nvSpPr>
          <p:spPr>
            <a:xfrm>
              <a:off x="10466372" y="14083541"/>
              <a:ext cx="1167171"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t-1</a:t>
              </a:r>
              <a:endParaRPr lang="zh-CN" altLang="en-US" sz="850" b="1" dirty="0">
                <a:latin typeface="Times New Roman" panose="02020503050405090304" charset="0"/>
                <a:cs typeface="Times New Roman" panose="02020503050405090304" charset="0"/>
              </a:endParaRPr>
            </a:p>
          </p:txBody>
        </p:sp>
        <p:sp>
          <p:nvSpPr>
            <p:cNvPr id="193" name="文本框 192"/>
            <p:cNvSpPr txBox="1"/>
            <p:nvPr/>
          </p:nvSpPr>
          <p:spPr>
            <a:xfrm>
              <a:off x="14755858" y="14090119"/>
              <a:ext cx="826846"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t</a:t>
              </a:r>
              <a:endParaRPr lang="zh-CN" altLang="en-US" sz="850" b="1" dirty="0">
                <a:latin typeface="Times New Roman" panose="02020503050405090304" charset="0"/>
                <a:cs typeface="Times New Roman" panose="02020503050405090304" charset="0"/>
              </a:endParaRPr>
            </a:p>
          </p:txBody>
        </p:sp>
        <p:sp>
          <p:nvSpPr>
            <p:cNvPr id="6" name="矩形: 圆角 5"/>
            <p:cNvSpPr/>
            <p:nvPr/>
          </p:nvSpPr>
          <p:spPr>
            <a:xfrm>
              <a:off x="1101608" y="3932015"/>
              <a:ext cx="6220285" cy="16118001"/>
            </a:xfrm>
            <a:prstGeom prst="roundRect">
              <a:avLst>
                <a:gd name="adj" fmla="val 6937"/>
              </a:avLst>
            </a:prstGeom>
            <a:solidFill>
              <a:srgbClr val="F9F9F9"/>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7" name="文本框 6"/>
            <p:cNvSpPr txBox="1"/>
            <p:nvPr/>
          </p:nvSpPr>
          <p:spPr>
            <a:xfrm>
              <a:off x="2340950" y="4022612"/>
              <a:ext cx="3770451" cy="1271982"/>
            </a:xfrm>
            <a:prstGeom prst="rect">
              <a:avLst/>
            </a:prstGeom>
            <a:noFill/>
          </p:spPr>
          <p:txBody>
            <a:bodyPr wrap="none" rtlCol="0">
              <a:spAutoFit/>
            </a:bodyPr>
            <a:lstStyle/>
            <a:p>
              <a:r>
                <a:rPr lang="zh-CN" altLang="en-US" sz="1590" b="1" dirty="0">
                  <a:latin typeface="Times New Roman" panose="02020503050405090304" charset="0"/>
                  <a:cs typeface="Times New Roman" panose="02020503050405090304" charset="0"/>
                </a:rPr>
                <a:t>用户输入</a:t>
              </a:r>
            </a:p>
          </p:txBody>
        </p:sp>
        <p:grpSp>
          <p:nvGrpSpPr>
            <p:cNvPr id="17" name="组合 16"/>
            <p:cNvGrpSpPr/>
            <p:nvPr/>
          </p:nvGrpSpPr>
          <p:grpSpPr>
            <a:xfrm>
              <a:off x="1465825" y="5155441"/>
              <a:ext cx="5545166" cy="3215147"/>
              <a:chOff x="468177" y="1622323"/>
              <a:chExt cx="5468164" cy="3215147"/>
            </a:xfrm>
          </p:grpSpPr>
          <p:sp>
            <p:nvSpPr>
              <p:cNvPr id="397" name="矩形: 圆角 396"/>
              <p:cNvSpPr/>
              <p:nvPr/>
            </p:nvSpPr>
            <p:spPr>
              <a:xfrm>
                <a:off x="468177" y="1622323"/>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398" name="文本框 397"/>
              <p:cNvSpPr txBox="1"/>
              <p:nvPr/>
            </p:nvSpPr>
            <p:spPr>
              <a:xfrm>
                <a:off x="1263604" y="1722443"/>
                <a:ext cx="4202079" cy="1078495"/>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Video Stream</a:t>
                </a:r>
                <a:endParaRPr lang="zh-CN" altLang="en-US" sz="1270" b="1" dirty="0">
                  <a:latin typeface="Times New Roman" panose="02020503050405090304" charset="0"/>
                  <a:cs typeface="Times New Roman" panose="02020503050405090304" charset="0"/>
                </a:endParaRPr>
              </a:p>
            </p:txBody>
          </p:sp>
        </p:grpSp>
        <p:grpSp>
          <p:nvGrpSpPr>
            <p:cNvPr id="423" name="组合 422"/>
            <p:cNvGrpSpPr/>
            <p:nvPr/>
          </p:nvGrpSpPr>
          <p:grpSpPr>
            <a:xfrm>
              <a:off x="1465824" y="16585943"/>
              <a:ext cx="5545166" cy="3303820"/>
              <a:chOff x="468177" y="11089703"/>
              <a:chExt cx="5468164" cy="3141629"/>
            </a:xfrm>
          </p:grpSpPr>
          <p:sp>
            <p:nvSpPr>
              <p:cNvPr id="424" name="矩形: 圆角 423"/>
              <p:cNvSpPr/>
              <p:nvPr/>
            </p:nvSpPr>
            <p:spPr>
              <a:xfrm>
                <a:off x="468177" y="11089703"/>
                <a:ext cx="5468164" cy="3141629"/>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25" name="文本框 424"/>
              <p:cNvSpPr txBox="1"/>
              <p:nvPr/>
            </p:nvSpPr>
            <p:spPr>
              <a:xfrm>
                <a:off x="1614238" y="11198392"/>
                <a:ext cx="3769581" cy="1025549"/>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User Profile</a:t>
                </a:r>
                <a:endParaRPr lang="zh-CN" altLang="en-US" sz="1270" b="1" dirty="0">
                  <a:latin typeface="Times New Roman" panose="02020503050405090304" charset="0"/>
                  <a:cs typeface="Times New Roman" panose="02020503050405090304" charset="0"/>
                </a:endParaRPr>
              </a:p>
            </p:txBody>
          </p:sp>
        </p:grpSp>
        <p:grpSp>
          <p:nvGrpSpPr>
            <p:cNvPr id="25" name="组合 24"/>
            <p:cNvGrpSpPr/>
            <p:nvPr/>
          </p:nvGrpSpPr>
          <p:grpSpPr>
            <a:xfrm>
              <a:off x="1662835" y="6315038"/>
              <a:ext cx="4082216" cy="1507843"/>
              <a:chOff x="7776404" y="5544661"/>
              <a:chExt cx="4758378" cy="1744455"/>
            </a:xfrm>
          </p:grpSpPr>
          <p:pic>
            <p:nvPicPr>
              <p:cNvPr id="20" name="图片 19"/>
              <p:cNvPicPr>
                <a:picLocks noChangeAspect="1"/>
              </p:cNvPicPr>
              <p:nvPr/>
            </p:nvPicPr>
            <p:blipFill>
              <a:blip r:embed="rId13"/>
              <a:stretch>
                <a:fillRect/>
              </a:stretch>
            </p:blipFill>
            <p:spPr>
              <a:xfrm>
                <a:off x="11043768" y="5544661"/>
                <a:ext cx="1491014" cy="1744453"/>
              </a:xfrm>
              <a:prstGeom prst="rect">
                <a:avLst/>
              </a:prstGeom>
            </p:spPr>
          </p:pic>
          <p:pic>
            <p:nvPicPr>
              <p:cNvPr id="22" name="图片 21"/>
              <p:cNvPicPr>
                <a:picLocks noChangeAspect="1"/>
              </p:cNvPicPr>
              <p:nvPr/>
            </p:nvPicPr>
            <p:blipFill>
              <a:blip r:embed="rId14"/>
              <a:stretch>
                <a:fillRect/>
              </a:stretch>
            </p:blipFill>
            <p:spPr>
              <a:xfrm>
                <a:off x="7776404" y="5544663"/>
                <a:ext cx="1526396" cy="1744453"/>
              </a:xfrm>
              <a:prstGeom prst="rect">
                <a:avLst/>
              </a:prstGeom>
            </p:spPr>
          </p:pic>
          <p:pic>
            <p:nvPicPr>
              <p:cNvPr id="24" name="图片 23"/>
              <p:cNvPicPr>
                <a:picLocks noChangeAspect="1"/>
              </p:cNvPicPr>
              <p:nvPr/>
            </p:nvPicPr>
            <p:blipFill>
              <a:blip r:embed="rId15"/>
              <a:stretch>
                <a:fillRect/>
              </a:stretch>
            </p:blipFill>
            <p:spPr>
              <a:xfrm>
                <a:off x="9382396" y="5544662"/>
                <a:ext cx="1522782" cy="1744453"/>
              </a:xfrm>
              <a:prstGeom prst="rect">
                <a:avLst/>
              </a:prstGeom>
            </p:spPr>
          </p:pic>
        </p:grpSp>
        <p:sp>
          <p:nvSpPr>
            <p:cNvPr id="429" name="文本框 428"/>
            <p:cNvSpPr txBox="1"/>
            <p:nvPr/>
          </p:nvSpPr>
          <p:spPr>
            <a:xfrm>
              <a:off x="5989512" y="6840830"/>
              <a:ext cx="934754" cy="1078495"/>
            </a:xfrm>
            <a:prstGeom prst="rect">
              <a:avLst/>
            </a:prstGeom>
            <a:noFill/>
          </p:spPr>
          <p:txBody>
            <a:bodyPr wrap="square">
              <a:spAutoFit/>
            </a:bodyPr>
            <a:lstStyle/>
            <a:p>
              <a:r>
                <a:rPr lang="en-US" altLang="zh-CN" sz="1270" b="1" dirty="0">
                  <a:latin typeface="Times New Roman" panose="02020503050405090304" charset="0"/>
                  <a:cs typeface="Times New Roman" panose="02020503050405090304" charset="0"/>
                </a:rPr>
                <a:t>…</a:t>
              </a:r>
              <a:endParaRPr lang="zh-CN" altLang="en-US" sz="1270" dirty="0"/>
            </a:p>
          </p:txBody>
        </p:sp>
        <p:grpSp>
          <p:nvGrpSpPr>
            <p:cNvPr id="15" name="组合 14"/>
            <p:cNvGrpSpPr/>
            <p:nvPr/>
          </p:nvGrpSpPr>
          <p:grpSpPr>
            <a:xfrm>
              <a:off x="1335206" y="11910899"/>
              <a:ext cx="5792007" cy="4348077"/>
              <a:chOff x="468177" y="9917384"/>
              <a:chExt cx="5468164" cy="3215147"/>
            </a:xfrm>
          </p:grpSpPr>
          <p:sp>
            <p:nvSpPr>
              <p:cNvPr id="419" name="矩形: 圆角 418"/>
              <p:cNvSpPr/>
              <p:nvPr/>
            </p:nvSpPr>
            <p:spPr>
              <a:xfrm>
                <a:off x="468177" y="9917384"/>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22" name="文本框 421"/>
              <p:cNvSpPr txBox="1"/>
              <p:nvPr/>
            </p:nvSpPr>
            <p:spPr>
              <a:xfrm>
                <a:off x="490877" y="9933604"/>
                <a:ext cx="5367012" cy="1341544"/>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Emotion Geometry</a:t>
                </a:r>
              </a:p>
              <a:p>
                <a:pPr algn="ctr"/>
                <a:r>
                  <a:rPr lang="en-US" altLang="zh-CN" sz="1270" b="1" dirty="0">
                    <a:latin typeface="Times New Roman" panose="02020503050405090304" charset="0"/>
                    <a:cs typeface="Times New Roman" panose="02020503050405090304" charset="0"/>
                  </a:rPr>
                  <a:t>Game State </a:t>
                </a:r>
                <a:endParaRPr lang="zh-CN" altLang="en-US" sz="1270" b="1" dirty="0">
                  <a:latin typeface="Times New Roman" panose="02020503050405090304" charset="0"/>
                  <a:cs typeface="Times New Roman" panose="02020503050405090304" charset="0"/>
                </a:endParaRPr>
              </a:p>
            </p:txBody>
          </p:sp>
        </p:grpSp>
        <p:grpSp>
          <p:nvGrpSpPr>
            <p:cNvPr id="63" name="组合 62"/>
            <p:cNvGrpSpPr/>
            <p:nvPr/>
          </p:nvGrpSpPr>
          <p:grpSpPr>
            <a:xfrm>
              <a:off x="1509368" y="8490578"/>
              <a:ext cx="5545166" cy="3215147"/>
              <a:chOff x="1066002" y="9445456"/>
              <a:chExt cx="5545166" cy="3215147"/>
            </a:xfrm>
          </p:grpSpPr>
          <p:grpSp>
            <p:nvGrpSpPr>
              <p:cNvPr id="33" name="组合 32"/>
              <p:cNvGrpSpPr/>
              <p:nvPr/>
            </p:nvGrpSpPr>
            <p:grpSpPr>
              <a:xfrm>
                <a:off x="1066002" y="9445456"/>
                <a:ext cx="5545166" cy="3215147"/>
                <a:chOff x="466315" y="5088195"/>
                <a:chExt cx="5468164" cy="3215147"/>
              </a:xfrm>
            </p:grpSpPr>
            <p:grpSp>
              <p:nvGrpSpPr>
                <p:cNvPr id="16" name="组合 15"/>
                <p:cNvGrpSpPr/>
                <p:nvPr/>
              </p:nvGrpSpPr>
              <p:grpSpPr>
                <a:xfrm>
                  <a:off x="466315" y="5088195"/>
                  <a:ext cx="5468164" cy="3215147"/>
                  <a:chOff x="468177" y="5579807"/>
                  <a:chExt cx="5468164" cy="3215147"/>
                </a:xfrm>
              </p:grpSpPr>
              <p:sp>
                <p:nvSpPr>
                  <p:cNvPr id="401" name="矩形: 圆角 400"/>
                  <p:cNvSpPr/>
                  <p:nvPr/>
                </p:nvSpPr>
                <p:spPr>
                  <a:xfrm>
                    <a:off x="468177" y="5579807"/>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02" name="文本框 401"/>
                  <p:cNvSpPr txBox="1"/>
                  <p:nvPr/>
                </p:nvSpPr>
                <p:spPr>
                  <a:xfrm>
                    <a:off x="1329276" y="5620776"/>
                    <a:ext cx="3885387" cy="1078495"/>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Audio / Text</a:t>
                    </a:r>
                    <a:endParaRPr lang="zh-CN" altLang="en-US" sz="1270" b="1" dirty="0">
                      <a:latin typeface="Times New Roman" panose="02020503050405090304" charset="0"/>
                      <a:cs typeface="Times New Roman" panose="02020503050405090304" charset="0"/>
                    </a:endParaRPr>
                  </a:p>
                </p:txBody>
              </p:sp>
            </p:grpSp>
            <p:sp>
              <p:nvSpPr>
                <p:cNvPr id="18" name="对话气泡: 圆角矩形 17"/>
                <p:cNvSpPr/>
                <p:nvPr/>
              </p:nvSpPr>
              <p:spPr>
                <a:xfrm>
                  <a:off x="1920103" y="6153160"/>
                  <a:ext cx="3641938" cy="1382373"/>
                </a:xfrm>
                <a:prstGeom prst="wedgeRoundRectCallout">
                  <a:avLst>
                    <a:gd name="adj1" fmla="val -35203"/>
                    <a:gd name="adj2" fmla="val 83738"/>
                    <a:gd name="adj3" fmla="val 16667"/>
                  </a:avLst>
                </a:prstGeom>
                <a:solidFill>
                  <a:srgbClr val="F9F9F9"/>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I feel stressed these days…</a:t>
                  </a:r>
                  <a:endParaRPr lang="zh-CN" altLang="en-US" sz="1060" b="1" dirty="0">
                    <a:solidFill>
                      <a:schemeClr val="tx1"/>
                    </a:solidFill>
                    <a:latin typeface="Times New Roman" panose="02020503050405090304" charset="0"/>
                    <a:cs typeface="Times New Roman" panose="02020503050405090304" charset="0"/>
                  </a:endParaRPr>
                </a:p>
              </p:txBody>
            </p:sp>
          </p:grpSp>
          <p:pic>
            <p:nvPicPr>
              <p:cNvPr id="5" name="图片 4"/>
              <p:cNvPicPr>
                <a:picLocks noChangeAspect="1"/>
              </p:cNvPicPr>
              <p:nvPr/>
            </p:nvPicPr>
            <p:blipFill>
              <a:blip r:embed="rId16"/>
              <a:stretch>
                <a:fillRect/>
              </a:stretch>
            </p:blipFill>
            <p:spPr>
              <a:xfrm>
                <a:off x="1217802" y="10465333"/>
                <a:ext cx="1097260" cy="1418871"/>
              </a:xfrm>
              <a:prstGeom prst="rect">
                <a:avLst/>
              </a:prstGeom>
            </p:spPr>
          </p:pic>
        </p:grpSp>
        <p:pic>
          <p:nvPicPr>
            <p:cNvPr id="9" name="图片 8"/>
            <p:cNvPicPr>
              <a:picLocks noChangeAspect="1"/>
            </p:cNvPicPr>
            <p:nvPr/>
          </p:nvPicPr>
          <p:blipFill>
            <a:blip r:embed="rId17"/>
            <a:stretch>
              <a:fillRect/>
            </a:stretch>
          </p:blipFill>
          <p:spPr>
            <a:xfrm>
              <a:off x="2269088" y="17573375"/>
              <a:ext cx="3952797" cy="2057622"/>
            </a:xfrm>
            <a:prstGeom prst="rect">
              <a:avLst/>
            </a:prstGeom>
          </p:spPr>
        </p:pic>
        <p:pic>
          <p:nvPicPr>
            <p:cNvPr id="13" name="图片 12"/>
            <p:cNvPicPr>
              <a:picLocks noChangeAspect="1"/>
            </p:cNvPicPr>
            <p:nvPr/>
          </p:nvPicPr>
          <p:blipFill>
            <a:blip r:embed="rId18"/>
            <a:stretch>
              <a:fillRect/>
            </a:stretch>
          </p:blipFill>
          <p:spPr>
            <a:xfrm>
              <a:off x="1822187" y="13362553"/>
              <a:ext cx="4698400" cy="2800969"/>
            </a:xfrm>
            <a:prstGeom prst="rect">
              <a:avLst/>
            </a:prstGeom>
          </p:spPr>
        </p:pic>
        <p:grpSp>
          <p:nvGrpSpPr>
            <p:cNvPr id="23" name="组合 22"/>
            <p:cNvGrpSpPr/>
            <p:nvPr/>
          </p:nvGrpSpPr>
          <p:grpSpPr>
            <a:xfrm>
              <a:off x="12514323" y="-59948"/>
              <a:ext cx="15886899" cy="4001788"/>
              <a:chOff x="12254161" y="531628"/>
              <a:chExt cx="15886899" cy="4001788"/>
            </a:xfrm>
          </p:grpSpPr>
          <p:grpSp>
            <p:nvGrpSpPr>
              <p:cNvPr id="492" name="组合 491"/>
              <p:cNvGrpSpPr/>
              <p:nvPr/>
            </p:nvGrpSpPr>
            <p:grpSpPr>
              <a:xfrm>
                <a:off x="12254161" y="531628"/>
                <a:ext cx="15696249" cy="3697102"/>
                <a:chOff x="16473281" y="717593"/>
                <a:chExt cx="13163989" cy="3697102"/>
              </a:xfrm>
            </p:grpSpPr>
            <p:sp>
              <p:nvSpPr>
                <p:cNvPr id="322" name="矩形: 圆角 439"/>
                <p:cNvSpPr/>
                <p:nvPr/>
              </p:nvSpPr>
              <p:spPr>
                <a:xfrm>
                  <a:off x="16473281" y="829289"/>
                  <a:ext cx="13163989" cy="3585406"/>
                </a:xfrm>
                <a:prstGeom prst="roundRect">
                  <a:avLst>
                    <a:gd name="adj" fmla="val 9427"/>
                  </a:avLst>
                </a:prstGeom>
                <a:solidFill>
                  <a:srgbClr val="FFFDF2"/>
                </a:solidFill>
                <a:ln w="28575">
                  <a:solidFill>
                    <a:srgbClr val="E9CC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323" name="文本框 322"/>
                <p:cNvSpPr txBox="1"/>
                <p:nvPr/>
              </p:nvSpPr>
              <p:spPr>
                <a:xfrm>
                  <a:off x="21425562" y="717593"/>
                  <a:ext cx="3162168" cy="1271982"/>
                </a:xfrm>
                <a:prstGeom prst="rect">
                  <a:avLst/>
                </a:prstGeom>
                <a:noFill/>
              </p:spPr>
              <p:txBody>
                <a:bodyPr wrap="none" rtlCol="0">
                  <a:spAutoFit/>
                </a:bodyPr>
                <a:lstStyle/>
                <a:p>
                  <a:pPr algn="ctr"/>
                  <a:r>
                    <a:rPr lang="zh-CN" altLang="en-US" sz="1590" b="1" dirty="0">
                      <a:latin typeface="Times New Roman" panose="02020503050405090304" charset="0"/>
                      <a:cs typeface="Times New Roman" panose="02020503050405090304" charset="0"/>
                    </a:rPr>
                    <a:t>系统响应</a:t>
                  </a:r>
                </a:p>
              </p:txBody>
            </p:sp>
          </p:grpSp>
          <p:grpSp>
            <p:nvGrpSpPr>
              <p:cNvPr id="58" name="组合 57"/>
              <p:cNvGrpSpPr/>
              <p:nvPr/>
            </p:nvGrpSpPr>
            <p:grpSpPr>
              <a:xfrm>
                <a:off x="12269803" y="1690230"/>
                <a:ext cx="15871257" cy="2843186"/>
                <a:chOff x="19321853" y="17176372"/>
                <a:chExt cx="15871257" cy="2843186"/>
              </a:xfrm>
            </p:grpSpPr>
            <p:grpSp>
              <p:nvGrpSpPr>
                <p:cNvPr id="35" name="组合 34"/>
                <p:cNvGrpSpPr/>
                <p:nvPr/>
              </p:nvGrpSpPr>
              <p:grpSpPr>
                <a:xfrm>
                  <a:off x="19321853" y="17196833"/>
                  <a:ext cx="4363961" cy="2462837"/>
                  <a:chOff x="19935425" y="17194439"/>
                  <a:chExt cx="4363961" cy="2462837"/>
                </a:xfrm>
              </p:grpSpPr>
              <p:sp>
                <p:nvSpPr>
                  <p:cNvPr id="202" name="矩形: 圆角 439"/>
                  <p:cNvSpPr/>
                  <p:nvPr/>
                </p:nvSpPr>
                <p:spPr>
                  <a:xfrm>
                    <a:off x="20229435" y="17194439"/>
                    <a:ext cx="3728994" cy="2191290"/>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28" name="图片 27"/>
                  <p:cNvPicPr>
                    <a:picLocks noChangeAspect="1"/>
                  </p:cNvPicPr>
                  <p:nvPr/>
                </p:nvPicPr>
                <p:blipFill>
                  <a:blip r:embed="rId19"/>
                  <a:stretch>
                    <a:fillRect/>
                  </a:stretch>
                </p:blipFill>
                <p:spPr>
                  <a:xfrm>
                    <a:off x="21738584" y="17331797"/>
                    <a:ext cx="828800" cy="752296"/>
                  </a:xfrm>
                  <a:prstGeom prst="rect">
                    <a:avLst/>
                  </a:prstGeom>
                </p:spPr>
              </p:pic>
              <p:sp>
                <p:nvSpPr>
                  <p:cNvPr id="205" name="文本框 204"/>
                  <p:cNvSpPr txBox="1"/>
                  <p:nvPr/>
                </p:nvSpPr>
                <p:spPr>
                  <a:xfrm>
                    <a:off x="19935425" y="18085071"/>
                    <a:ext cx="4363961" cy="1572205"/>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Healing</a:t>
                    </a:r>
                  </a:p>
                  <a:p>
                    <a:pPr algn="ctr"/>
                    <a:r>
                      <a:rPr lang="en-US" altLang="zh-CN" sz="1060" b="1" dirty="0">
                        <a:latin typeface="Times New Roman" panose="02020503050405090304" charset="0"/>
                        <a:cs typeface="Times New Roman" panose="02020503050405090304" charset="0"/>
                      </a:rPr>
                      <a:t>Verbal response</a:t>
                    </a:r>
                    <a:endParaRPr lang="zh-CN" altLang="en-US" sz="1060" b="1" dirty="0">
                      <a:latin typeface="Times New Roman" panose="02020503050405090304" charset="0"/>
                      <a:cs typeface="Times New Roman" panose="02020503050405090304" charset="0"/>
                    </a:endParaRPr>
                  </a:p>
                </p:txBody>
              </p:sp>
            </p:grpSp>
            <p:grpSp>
              <p:nvGrpSpPr>
                <p:cNvPr id="46" name="组合 45"/>
                <p:cNvGrpSpPr/>
                <p:nvPr/>
              </p:nvGrpSpPr>
              <p:grpSpPr>
                <a:xfrm>
                  <a:off x="23322805" y="17198173"/>
                  <a:ext cx="4363961" cy="2634406"/>
                  <a:chOff x="24354060" y="17199276"/>
                  <a:chExt cx="4363961" cy="2634406"/>
                </a:xfrm>
              </p:grpSpPr>
              <p:grpSp>
                <p:nvGrpSpPr>
                  <p:cNvPr id="207" name="组合 206"/>
                  <p:cNvGrpSpPr/>
                  <p:nvPr/>
                </p:nvGrpSpPr>
                <p:grpSpPr>
                  <a:xfrm>
                    <a:off x="24354060" y="17199276"/>
                    <a:ext cx="4363961" cy="2634406"/>
                    <a:chOff x="20327268" y="17194438"/>
                    <a:chExt cx="4363961" cy="2634406"/>
                  </a:xfrm>
                </p:grpSpPr>
                <p:sp>
                  <p:nvSpPr>
                    <p:cNvPr id="208" name="矩形: 圆角 439"/>
                    <p:cNvSpPr/>
                    <p:nvPr/>
                  </p:nvSpPr>
                  <p:spPr>
                    <a:xfrm>
                      <a:off x="20639238" y="17194438"/>
                      <a:ext cx="3629863" cy="218994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10" name="文本框 209"/>
                    <p:cNvSpPr txBox="1"/>
                    <p:nvPr/>
                  </p:nvSpPr>
                  <p:spPr>
                    <a:xfrm>
                      <a:off x="20327268" y="18082751"/>
                      <a:ext cx="4363961" cy="1746093"/>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Speech-delivery</a:t>
                      </a:r>
                    </a:p>
                    <a:p>
                      <a:pPr algn="ctr"/>
                      <a:r>
                        <a:rPr lang="en-US" altLang="zh-CN" sz="1060" b="1" dirty="0">
                          <a:latin typeface="Times New Roman" panose="02020503050405090304" charset="0"/>
                          <a:cs typeface="Times New Roman" panose="02020503050405090304" charset="0"/>
                        </a:rPr>
                        <a:t>control</a:t>
                      </a:r>
                      <a:endParaRPr lang="zh-CN" altLang="en-US" sz="1060" b="1" dirty="0">
                        <a:latin typeface="Times New Roman" panose="02020503050405090304" charset="0"/>
                        <a:cs typeface="Times New Roman" panose="02020503050405090304" charset="0"/>
                      </a:endParaRPr>
                    </a:p>
                  </p:txBody>
                </p:sp>
              </p:grpSp>
              <p:pic>
                <p:nvPicPr>
                  <p:cNvPr id="41" name="图片 40"/>
                  <p:cNvPicPr>
                    <a:picLocks noChangeAspect="1"/>
                  </p:cNvPicPr>
                  <p:nvPr/>
                </p:nvPicPr>
                <p:blipFill>
                  <a:blip r:embed="rId20"/>
                  <a:stretch>
                    <a:fillRect/>
                  </a:stretch>
                </p:blipFill>
                <p:spPr>
                  <a:xfrm>
                    <a:off x="25928437" y="17305896"/>
                    <a:ext cx="1088766" cy="890858"/>
                  </a:xfrm>
                  <a:prstGeom prst="rect">
                    <a:avLst/>
                  </a:prstGeom>
                </p:spPr>
              </p:pic>
            </p:grpSp>
            <p:grpSp>
              <p:nvGrpSpPr>
                <p:cNvPr id="55" name="组合 54"/>
                <p:cNvGrpSpPr/>
                <p:nvPr/>
              </p:nvGrpSpPr>
              <p:grpSpPr>
                <a:xfrm>
                  <a:off x="27049828" y="17200616"/>
                  <a:ext cx="4363961" cy="2755983"/>
                  <a:chOff x="27049828" y="17200616"/>
                  <a:chExt cx="4363961" cy="2755983"/>
                </a:xfrm>
              </p:grpSpPr>
              <p:grpSp>
                <p:nvGrpSpPr>
                  <p:cNvPr id="215" name="组合 214"/>
                  <p:cNvGrpSpPr/>
                  <p:nvPr/>
                </p:nvGrpSpPr>
                <p:grpSpPr>
                  <a:xfrm>
                    <a:off x="27049828" y="17200616"/>
                    <a:ext cx="4363961" cy="2755983"/>
                    <a:chOff x="20592738" y="17194439"/>
                    <a:chExt cx="4363961" cy="2755983"/>
                  </a:xfrm>
                </p:grpSpPr>
                <p:sp>
                  <p:nvSpPr>
                    <p:cNvPr id="221" name="矩形: 圆角 439"/>
                    <p:cNvSpPr/>
                    <p:nvPr/>
                  </p:nvSpPr>
                  <p:spPr>
                    <a:xfrm>
                      <a:off x="21052193" y="17194439"/>
                      <a:ext cx="3360491" cy="2150590"/>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2" name="文本框 221"/>
                    <p:cNvSpPr txBox="1"/>
                    <p:nvPr/>
                  </p:nvSpPr>
                  <p:spPr>
                    <a:xfrm>
                      <a:off x="20592738" y="18082751"/>
                      <a:ext cx="4363961" cy="1867671"/>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3D behavioral</a:t>
                      </a:r>
                    </a:p>
                    <a:p>
                      <a:pPr algn="ctr"/>
                      <a:r>
                        <a:rPr lang="en-US" altLang="zh-CN" sz="1060" b="1" dirty="0">
                          <a:latin typeface="Times New Roman" panose="02020503050405090304" charset="0"/>
                          <a:cs typeface="Times New Roman" panose="02020503050405090304" charset="0"/>
                        </a:rPr>
                        <a:t>expression</a:t>
                      </a:r>
                      <a:endParaRPr lang="zh-CN" altLang="en-US" sz="1060" b="1" dirty="0">
                        <a:latin typeface="Times New Roman" panose="02020503050405090304" charset="0"/>
                        <a:cs typeface="Times New Roman" panose="02020503050405090304" charset="0"/>
                      </a:endParaRPr>
                    </a:p>
                  </p:txBody>
                </p:sp>
              </p:grpSp>
              <p:pic>
                <p:nvPicPr>
                  <p:cNvPr id="54" name="图片 53"/>
                  <p:cNvPicPr>
                    <a:picLocks noChangeAspect="1"/>
                  </p:cNvPicPr>
                  <p:nvPr/>
                </p:nvPicPr>
                <p:blipFill>
                  <a:blip r:embed="rId21"/>
                  <a:stretch>
                    <a:fillRect/>
                  </a:stretch>
                </p:blipFill>
                <p:spPr>
                  <a:xfrm>
                    <a:off x="28773637" y="17235305"/>
                    <a:ext cx="739992" cy="1021190"/>
                  </a:xfrm>
                  <a:prstGeom prst="rect">
                    <a:avLst/>
                  </a:prstGeom>
                </p:spPr>
              </p:pic>
            </p:grpSp>
            <p:grpSp>
              <p:nvGrpSpPr>
                <p:cNvPr id="223" name="组合 222"/>
                <p:cNvGrpSpPr/>
                <p:nvPr/>
              </p:nvGrpSpPr>
              <p:grpSpPr>
                <a:xfrm>
                  <a:off x="30829149" y="17176372"/>
                  <a:ext cx="4363961" cy="2843186"/>
                  <a:chOff x="20710728" y="17194439"/>
                  <a:chExt cx="4363961" cy="2843186"/>
                </a:xfrm>
              </p:grpSpPr>
              <p:sp>
                <p:nvSpPr>
                  <p:cNvPr id="224" name="矩形: 圆角 439"/>
                  <p:cNvSpPr/>
                  <p:nvPr/>
                </p:nvSpPr>
                <p:spPr>
                  <a:xfrm>
                    <a:off x="20963704" y="17194439"/>
                    <a:ext cx="3704728" cy="2139408"/>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5" name="文本框 224"/>
                  <p:cNvSpPr txBox="1"/>
                  <p:nvPr/>
                </p:nvSpPr>
                <p:spPr>
                  <a:xfrm>
                    <a:off x="20710728" y="18082751"/>
                    <a:ext cx="4363961" cy="1954874"/>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Game-guidance</a:t>
                    </a:r>
                  </a:p>
                  <a:p>
                    <a:pPr algn="ctr"/>
                    <a:r>
                      <a:rPr lang="en-US" altLang="zh-CN" sz="1060" b="1" dirty="0">
                        <a:latin typeface="Times New Roman" panose="02020503050405090304" charset="0"/>
                        <a:cs typeface="Times New Roman" panose="02020503050405090304" charset="0"/>
                      </a:rPr>
                      <a:t>signal</a:t>
                    </a:r>
                    <a:endParaRPr lang="zh-CN" altLang="en-US" sz="1060" b="1" dirty="0">
                      <a:latin typeface="Times New Roman" panose="02020503050405090304" charset="0"/>
                      <a:cs typeface="Times New Roman" panose="02020503050405090304" charset="0"/>
                    </a:endParaRPr>
                  </a:p>
                </p:txBody>
              </p:sp>
            </p:grpSp>
            <p:pic>
              <p:nvPicPr>
                <p:cNvPr id="57" name="图片 56"/>
                <p:cNvPicPr>
                  <a:picLocks noChangeAspect="1"/>
                </p:cNvPicPr>
                <p:nvPr/>
              </p:nvPicPr>
              <p:blipFill>
                <a:blip r:embed="rId22"/>
                <a:stretch>
                  <a:fillRect/>
                </a:stretch>
              </p:blipFill>
              <p:spPr>
                <a:xfrm>
                  <a:off x="32398313" y="17207621"/>
                  <a:ext cx="1060474" cy="965505"/>
                </a:xfrm>
                <a:prstGeom prst="rect">
                  <a:avLst/>
                </a:prstGeom>
              </p:spPr>
            </p:pic>
          </p:grpSp>
        </p:grpSp>
        <p:grpSp>
          <p:nvGrpSpPr>
            <p:cNvPr id="59" name="组合 58"/>
            <p:cNvGrpSpPr/>
            <p:nvPr/>
          </p:nvGrpSpPr>
          <p:grpSpPr>
            <a:xfrm>
              <a:off x="10357568" y="19983625"/>
              <a:ext cx="19756013" cy="5660517"/>
              <a:chOff x="10044828" y="20938503"/>
              <a:chExt cx="19756013" cy="5660517"/>
            </a:xfrm>
          </p:grpSpPr>
          <p:sp>
            <p:nvSpPr>
              <p:cNvPr id="216" name="矩形: 圆角 439"/>
              <p:cNvSpPr/>
              <p:nvPr/>
            </p:nvSpPr>
            <p:spPr>
              <a:xfrm>
                <a:off x="10044828" y="20938503"/>
                <a:ext cx="19756013" cy="5660517"/>
              </a:xfrm>
              <a:prstGeom prst="roundRect">
                <a:avLst>
                  <a:gd name="adj" fmla="val 3381"/>
                </a:avLst>
              </a:prstGeom>
              <a:solidFill>
                <a:srgbClr val="F6FAFA"/>
              </a:solidFill>
              <a:ln w="28575">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18" name="文本框 217"/>
              <p:cNvSpPr txBox="1"/>
              <p:nvPr/>
            </p:nvSpPr>
            <p:spPr>
              <a:xfrm>
                <a:off x="14597736" y="21128948"/>
                <a:ext cx="10685770" cy="1271982"/>
              </a:xfrm>
              <a:prstGeom prst="rect">
                <a:avLst/>
              </a:prstGeom>
              <a:noFill/>
            </p:spPr>
            <p:txBody>
              <a:bodyPr wrap="none" rtlCol="0">
                <a:spAutoFit/>
              </a:bodyPr>
              <a:lstStyle/>
              <a:p>
                <a:pPr algn="ctr"/>
                <a:r>
                  <a:rPr lang="zh-CN" altLang="en-US" sz="1590" b="1" dirty="0">
                    <a:latin typeface="Times New Roman" panose="02020503050405090304" charset="0"/>
                    <a:cs typeface="Times New Roman" panose="02020503050405090304" charset="0"/>
                  </a:rPr>
                  <a:t>基于情感艺术游戏的状态感知</a:t>
                </a:r>
              </a:p>
            </p:txBody>
          </p:sp>
          <p:grpSp>
            <p:nvGrpSpPr>
              <p:cNvPr id="481" name="组合 480"/>
              <p:cNvGrpSpPr/>
              <p:nvPr/>
            </p:nvGrpSpPr>
            <p:grpSpPr>
              <a:xfrm>
                <a:off x="10248031" y="22462186"/>
                <a:ext cx="3079701" cy="3489727"/>
                <a:chOff x="12990482" y="21155883"/>
                <a:chExt cx="3079701" cy="3489727"/>
              </a:xfrm>
            </p:grpSpPr>
            <p:sp>
              <p:nvSpPr>
                <p:cNvPr id="276" name="矩形: 圆角 275"/>
                <p:cNvSpPr/>
                <p:nvPr/>
              </p:nvSpPr>
              <p:spPr>
                <a:xfrm>
                  <a:off x="13017330" y="21286078"/>
                  <a:ext cx="2738162"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38" name="文本框 237"/>
                <p:cNvSpPr txBox="1"/>
                <p:nvPr/>
              </p:nvSpPr>
              <p:spPr>
                <a:xfrm>
                  <a:off x="12990482" y="21155883"/>
                  <a:ext cx="3079701"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Emotion </a:t>
                  </a:r>
                </a:p>
                <a:p>
                  <a:pPr algn="ctr"/>
                  <a:r>
                    <a:rPr lang="en-US" altLang="zh-CN" sz="1270" b="1" dirty="0">
                      <a:latin typeface="Times New Roman" panose="02020503050405090304" charset="0"/>
                      <a:cs typeface="Times New Roman" panose="02020503050405090304" charset="0"/>
                    </a:rPr>
                    <a:t>selection </a:t>
                  </a:r>
                </a:p>
              </p:txBody>
            </p:sp>
            <p:pic>
              <p:nvPicPr>
                <p:cNvPr id="479" name="图片 478"/>
                <p:cNvPicPr>
                  <a:picLocks noChangeAspect="1"/>
                </p:cNvPicPr>
                <p:nvPr/>
              </p:nvPicPr>
              <p:blipFill>
                <a:blip r:embed="rId23"/>
                <a:stretch>
                  <a:fillRect/>
                </a:stretch>
              </p:blipFill>
              <p:spPr>
                <a:xfrm>
                  <a:off x="13540695" y="22775553"/>
                  <a:ext cx="1680359" cy="1770378"/>
                </a:xfrm>
                <a:prstGeom prst="rect">
                  <a:avLst/>
                </a:prstGeom>
              </p:spPr>
            </p:pic>
          </p:grpSp>
          <p:grpSp>
            <p:nvGrpSpPr>
              <p:cNvPr id="486" name="组合 485"/>
              <p:cNvGrpSpPr/>
              <p:nvPr/>
            </p:nvGrpSpPr>
            <p:grpSpPr>
              <a:xfrm>
                <a:off x="13514700" y="22523026"/>
                <a:ext cx="3417630" cy="3422246"/>
                <a:chOff x="17932145" y="21302033"/>
                <a:chExt cx="3417631" cy="3422246"/>
              </a:xfrm>
            </p:grpSpPr>
            <p:sp>
              <p:nvSpPr>
                <p:cNvPr id="286" name="矩形: 圆角 285"/>
                <p:cNvSpPr/>
                <p:nvPr/>
              </p:nvSpPr>
              <p:spPr>
                <a:xfrm>
                  <a:off x="18172450" y="21373090"/>
                  <a:ext cx="2937022" cy="3351189"/>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42" name="文本框 241"/>
                <p:cNvSpPr txBox="1"/>
                <p:nvPr/>
              </p:nvSpPr>
              <p:spPr>
                <a:xfrm>
                  <a:off x="17932145" y="21302033"/>
                  <a:ext cx="3417631"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First draft</a:t>
                  </a:r>
                </a:p>
                <a:p>
                  <a:pPr algn="ctr"/>
                  <a:r>
                    <a:rPr lang="en-US" altLang="zh-CN" sz="1270" b="1" dirty="0">
                      <a:latin typeface="Times New Roman" panose="02020503050405090304" charset="0"/>
                      <a:cs typeface="Times New Roman" panose="02020503050405090304" charset="0"/>
                    </a:rPr>
                    <a:t>creation</a:t>
                  </a:r>
                </a:p>
              </p:txBody>
            </p:sp>
            <p:pic>
              <p:nvPicPr>
                <p:cNvPr id="485" name="图片 484"/>
                <p:cNvPicPr>
                  <a:picLocks noChangeAspect="1"/>
                </p:cNvPicPr>
                <p:nvPr/>
              </p:nvPicPr>
              <p:blipFill>
                <a:blip r:embed="rId24"/>
                <a:stretch>
                  <a:fillRect/>
                </a:stretch>
              </p:blipFill>
              <p:spPr>
                <a:xfrm>
                  <a:off x="18835147" y="22732862"/>
                  <a:ext cx="1504357" cy="1888123"/>
                </a:xfrm>
                <a:prstGeom prst="rect">
                  <a:avLst/>
                </a:prstGeom>
              </p:spPr>
            </p:pic>
          </p:grpSp>
          <p:sp>
            <p:nvSpPr>
              <p:cNvPr id="280" name="箭头: 右 36"/>
              <p:cNvSpPr/>
              <p:nvPr/>
            </p:nvSpPr>
            <p:spPr>
              <a:xfrm>
                <a:off x="13151649" y="24118880"/>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248" name="箭头: 右 36"/>
              <p:cNvSpPr/>
              <p:nvPr/>
            </p:nvSpPr>
            <p:spPr>
              <a:xfrm>
                <a:off x="16808731" y="24075336"/>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nvGrpSpPr>
              <p:cNvPr id="499" name="组合 498"/>
              <p:cNvGrpSpPr/>
              <p:nvPr/>
            </p:nvGrpSpPr>
            <p:grpSpPr>
              <a:xfrm>
                <a:off x="17273860" y="22480108"/>
                <a:ext cx="4512932" cy="3471805"/>
                <a:chOff x="17066631" y="21173805"/>
                <a:chExt cx="4512932" cy="3471805"/>
              </a:xfrm>
            </p:grpSpPr>
            <p:sp>
              <p:nvSpPr>
                <p:cNvPr id="247" name="矩形: 圆角 246"/>
                <p:cNvSpPr/>
                <p:nvPr/>
              </p:nvSpPr>
              <p:spPr>
                <a:xfrm>
                  <a:off x="17277775" y="21286078"/>
                  <a:ext cx="3534834"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49" name="文本框 248"/>
                <p:cNvSpPr txBox="1"/>
                <p:nvPr/>
              </p:nvSpPr>
              <p:spPr>
                <a:xfrm>
                  <a:off x="17066631" y="21173805"/>
                  <a:ext cx="4007207"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Composition</a:t>
                  </a:r>
                </a:p>
                <a:p>
                  <a:pPr algn="ctr"/>
                  <a:r>
                    <a:rPr lang="en-US" altLang="zh-CN" sz="1270" b="1" dirty="0">
                      <a:latin typeface="Times New Roman" panose="02020503050405090304" charset="0"/>
                      <a:cs typeface="Times New Roman" panose="02020503050405090304" charset="0"/>
                    </a:rPr>
                    <a:t>analysis</a:t>
                  </a:r>
                </a:p>
              </p:txBody>
            </p:sp>
            <p:pic>
              <p:nvPicPr>
                <p:cNvPr id="491" name="图片 490"/>
                <p:cNvPicPr>
                  <a:picLocks noChangeAspect="1"/>
                </p:cNvPicPr>
                <p:nvPr/>
              </p:nvPicPr>
              <p:blipFill>
                <a:blip r:embed="rId25"/>
                <a:stretch>
                  <a:fillRect/>
                </a:stretch>
              </p:blipFill>
              <p:spPr>
                <a:xfrm>
                  <a:off x="17976663" y="22654144"/>
                  <a:ext cx="2443495" cy="1866835"/>
                </a:xfrm>
                <a:prstGeom prst="rect">
                  <a:avLst/>
                </a:prstGeom>
              </p:spPr>
            </p:pic>
            <p:sp>
              <p:nvSpPr>
                <p:cNvPr id="259" name="箭头: 右 36"/>
                <p:cNvSpPr/>
                <p:nvPr/>
              </p:nvSpPr>
              <p:spPr>
                <a:xfrm>
                  <a:off x="20917544" y="22812579"/>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grpSp>
            <p:nvGrpSpPr>
              <p:cNvPr id="501" name="组合 500"/>
              <p:cNvGrpSpPr/>
              <p:nvPr/>
            </p:nvGrpSpPr>
            <p:grpSpPr>
              <a:xfrm>
                <a:off x="21526722" y="22465048"/>
                <a:ext cx="4481744" cy="3461439"/>
                <a:chOff x="20884060" y="21158746"/>
                <a:chExt cx="4481744" cy="3461439"/>
              </a:xfrm>
            </p:grpSpPr>
            <p:sp>
              <p:nvSpPr>
                <p:cNvPr id="254" name="矩形: 圆角 253"/>
                <p:cNvSpPr/>
                <p:nvPr/>
              </p:nvSpPr>
              <p:spPr>
                <a:xfrm>
                  <a:off x="21192079" y="21260653"/>
                  <a:ext cx="3845968"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96" name="图片 495"/>
                <p:cNvPicPr>
                  <a:picLocks noChangeAspect="1"/>
                </p:cNvPicPr>
                <p:nvPr/>
              </p:nvPicPr>
              <p:blipFill>
                <a:blip r:embed="rId26"/>
                <a:stretch>
                  <a:fillRect/>
                </a:stretch>
              </p:blipFill>
              <p:spPr>
                <a:xfrm>
                  <a:off x="22116387" y="22647554"/>
                  <a:ext cx="1878932" cy="1964677"/>
                </a:xfrm>
                <a:prstGeom prst="rect">
                  <a:avLst/>
                </a:prstGeom>
              </p:spPr>
            </p:pic>
            <p:sp>
              <p:nvSpPr>
                <p:cNvPr id="260" name="文本框 259"/>
                <p:cNvSpPr txBox="1"/>
                <p:nvPr/>
              </p:nvSpPr>
              <p:spPr>
                <a:xfrm>
                  <a:off x="20884060" y="21158746"/>
                  <a:ext cx="4481744"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Conscious</a:t>
                  </a:r>
                </a:p>
                <a:p>
                  <a:pPr algn="ctr"/>
                  <a:r>
                    <a:rPr lang="en-US" altLang="zh-CN" sz="1270" b="1" dirty="0">
                      <a:latin typeface="Times New Roman" panose="02020503050405090304" charset="0"/>
                      <a:cs typeface="Times New Roman" panose="02020503050405090304" charset="0"/>
                    </a:rPr>
                    <a:t>reconstruction</a:t>
                  </a:r>
                </a:p>
              </p:txBody>
            </p:sp>
          </p:grpSp>
          <p:grpSp>
            <p:nvGrpSpPr>
              <p:cNvPr id="500" name="组合 499"/>
              <p:cNvGrpSpPr/>
              <p:nvPr/>
            </p:nvGrpSpPr>
            <p:grpSpPr>
              <a:xfrm>
                <a:off x="26347508" y="22480106"/>
                <a:ext cx="3264244" cy="3446380"/>
                <a:chOff x="25709670" y="21173805"/>
                <a:chExt cx="3264244" cy="3446380"/>
              </a:xfrm>
            </p:grpSpPr>
            <p:sp>
              <p:nvSpPr>
                <p:cNvPr id="261" name="矩形: 圆角 260"/>
                <p:cNvSpPr/>
                <p:nvPr/>
              </p:nvSpPr>
              <p:spPr>
                <a:xfrm>
                  <a:off x="25879672" y="21260653"/>
                  <a:ext cx="2894679"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98" name="图片 497"/>
                <p:cNvPicPr>
                  <a:picLocks noChangeAspect="1"/>
                </p:cNvPicPr>
                <p:nvPr/>
              </p:nvPicPr>
              <p:blipFill>
                <a:blip r:embed="rId27"/>
                <a:stretch>
                  <a:fillRect/>
                </a:stretch>
              </p:blipFill>
              <p:spPr>
                <a:xfrm>
                  <a:off x="26696529" y="22707995"/>
                  <a:ext cx="1239892" cy="1769284"/>
                </a:xfrm>
                <a:prstGeom prst="rect">
                  <a:avLst/>
                </a:prstGeom>
              </p:spPr>
            </p:pic>
            <p:sp>
              <p:nvSpPr>
                <p:cNvPr id="263" name="文本框 262"/>
                <p:cNvSpPr txBox="1"/>
                <p:nvPr/>
              </p:nvSpPr>
              <p:spPr>
                <a:xfrm>
                  <a:off x="25709670" y="21173805"/>
                  <a:ext cx="3264244"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Reflective</a:t>
                  </a:r>
                </a:p>
                <a:p>
                  <a:pPr algn="ctr"/>
                  <a:r>
                    <a:rPr lang="en-US" altLang="zh-CN" sz="1270" b="1" dirty="0">
                      <a:latin typeface="Times New Roman" panose="02020503050405090304" charset="0"/>
                      <a:cs typeface="Times New Roman" panose="02020503050405090304" charset="0"/>
                    </a:rPr>
                    <a:t>report</a:t>
                  </a:r>
                </a:p>
              </p:txBody>
            </p:sp>
          </p:grpSp>
          <p:sp>
            <p:nvSpPr>
              <p:cNvPr id="264" name="箭头: 右 36"/>
              <p:cNvSpPr/>
              <p:nvPr/>
            </p:nvSpPr>
            <p:spPr>
              <a:xfrm>
                <a:off x="25784406" y="24118880"/>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sp>
          <p:nvSpPr>
            <p:cNvPr id="212" name="矩形: 圆角 439"/>
            <p:cNvSpPr/>
            <p:nvPr/>
          </p:nvSpPr>
          <p:spPr>
            <a:xfrm>
              <a:off x="19545675" y="5928266"/>
              <a:ext cx="14996498" cy="2755717"/>
            </a:xfrm>
            <a:prstGeom prst="roundRect">
              <a:avLst>
                <a:gd name="adj" fmla="val 6610"/>
              </a:avLst>
            </a:prstGeom>
            <a:solidFill>
              <a:srgbClr val="FAF6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53" name="图片 52"/>
            <p:cNvPicPr>
              <a:picLocks noChangeAspect="1"/>
            </p:cNvPicPr>
            <p:nvPr/>
          </p:nvPicPr>
          <p:blipFill>
            <a:blip r:embed="rId28"/>
            <a:stretch>
              <a:fillRect/>
            </a:stretch>
          </p:blipFill>
          <p:spPr>
            <a:xfrm>
              <a:off x="29769905" y="6034940"/>
              <a:ext cx="2975024" cy="2555021"/>
            </a:xfrm>
            <a:prstGeom prst="rect">
              <a:avLst/>
            </a:prstGeom>
          </p:spPr>
        </p:pic>
        <p:sp>
          <p:nvSpPr>
            <p:cNvPr id="217" name="箭头: 右 510"/>
            <p:cNvSpPr/>
            <p:nvPr/>
          </p:nvSpPr>
          <p:spPr>
            <a:xfrm rot="5400000">
              <a:off x="22253196" y="8526005"/>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6" name="文本框 225"/>
            <p:cNvSpPr txBox="1"/>
            <p:nvPr/>
          </p:nvSpPr>
          <p:spPr>
            <a:xfrm>
              <a:off x="20415022" y="5957693"/>
              <a:ext cx="9086454" cy="1265434"/>
            </a:xfrm>
            <a:prstGeom prst="rect">
              <a:avLst/>
            </a:prstGeom>
            <a:noFill/>
          </p:spPr>
          <p:txBody>
            <a:bodyPr wrap="square" rtlCol="0">
              <a:spAutoFit/>
            </a:bodyPr>
            <a:lstStyle/>
            <a:p>
              <a:pPr algn="ctr"/>
              <a:r>
                <a:rPr lang="zh-CN" altLang="en-US" sz="1590" b="1" dirty="0">
                  <a:solidFill>
                    <a:srgbClr val="8469C5"/>
                  </a:solidFill>
                  <a:latin typeface="Times New Roman" panose="02020503050405090304" charset="0"/>
                  <a:cs typeface="Times New Roman" panose="02020503050405090304" charset="0"/>
                </a:rPr>
                <a:t>多模态状态融合</a:t>
              </a:r>
            </a:p>
          </p:txBody>
        </p:sp>
        <mc:AlternateContent xmlns:mc="http://schemas.openxmlformats.org/markup-compatibility/2006" xmlns:a14="http://schemas.microsoft.com/office/drawing/2010/main">
          <mc:Choice Requires="a14">
            <p:sp>
              <p:nvSpPr>
                <p:cNvPr id="56" name="文本框 55"/>
                <p:cNvSpPr txBox="1"/>
                <p:nvPr/>
              </p:nvSpPr>
              <p:spPr>
                <a:xfrm>
                  <a:off x="21209284" y="7123368"/>
                  <a:ext cx="7701519" cy="11911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𝒉</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r>
                          <a:rPr lang="zh-CN" altLang="en-US" sz="1750" b="1" i="1">
                            <a:latin typeface="Cambria Math" panose="02040503050406030204" pitchFamily="18" charset="0"/>
                          </a:rPr>
                          <m:t>𝝍</m:t>
                        </m:r>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𝒖</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𝒗</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𝒘</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𝒑</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oMath>
                    </m:oMathPara>
                  </a14:m>
                  <a:endParaRPr lang="zh-CN" altLang="en-US" sz="740" b="1" dirty="0"/>
                </a:p>
              </p:txBody>
            </p:sp>
          </mc:Choice>
          <mc:Fallback xmlns="">
            <p:sp>
              <p:nvSpPr>
                <p:cNvPr id="56" name="文本框 55"/>
                <p:cNvSpPr txBox="1">
                  <a:spLocks noRot="1" noChangeAspect="1" noMove="1" noResize="1" noEditPoints="1" noAdjustHandles="1" noChangeArrowheads="1" noChangeShapeType="1" noTextEdit="1"/>
                </p:cNvSpPr>
                <p:nvPr/>
              </p:nvSpPr>
              <p:spPr>
                <a:xfrm>
                  <a:off x="21209284" y="7123368"/>
                  <a:ext cx="7701519" cy="1191137"/>
                </a:xfrm>
                <a:prstGeom prst="rect">
                  <a:avLst/>
                </a:prstGeom>
                <a:blipFill rotWithShape="1">
                  <a:blip r:embed="rId29"/>
                </a:blipFill>
              </p:spPr>
              <p:txBody>
                <a:bodyPr/>
                <a:lstStyle/>
                <a:p>
                  <a:r>
                    <a:rPr lang="zh-CN" altLang="en-US">
                      <a:noFill/>
                    </a:rPr>
                    <a:t> </a:t>
                  </a:r>
                </a:p>
              </p:txBody>
            </p:sp>
          </mc:Fallback>
        </mc:AlternateContent>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EBE4A-5D1F-B635-4192-6A30F5CE6BF5}"/>
            </a:ext>
          </a:extLst>
        </p:cNvPr>
        <p:cNvGrpSpPr/>
        <p:nvPr/>
      </p:nvGrpSpPr>
      <p:grpSpPr>
        <a:xfrm>
          <a:off x="0" y="0"/>
          <a:ext cx="0" cy="0"/>
          <a:chOff x="0" y="0"/>
          <a:chExt cx="0" cy="0"/>
        </a:xfrm>
      </p:grpSpPr>
      <p:grpSp>
        <p:nvGrpSpPr>
          <p:cNvPr id="448" name="组合 447">
            <a:extLst>
              <a:ext uri="{FF2B5EF4-FFF2-40B4-BE49-F238E27FC236}">
                <a16:creationId xmlns:a16="http://schemas.microsoft.com/office/drawing/2014/main" id="{4CA45A54-8A7E-F22F-6317-7F6092E18C24}"/>
              </a:ext>
            </a:extLst>
          </p:cNvPr>
          <p:cNvGrpSpPr/>
          <p:nvPr/>
        </p:nvGrpSpPr>
        <p:grpSpPr>
          <a:xfrm>
            <a:off x="1579687" y="11036"/>
            <a:ext cx="9018702" cy="6810367"/>
            <a:chOff x="1101608" y="-59948"/>
            <a:chExt cx="34038921" cy="25704090"/>
          </a:xfrm>
        </p:grpSpPr>
        <p:sp>
          <p:nvSpPr>
            <p:cNvPr id="37" name="箭头: 右 36">
              <a:extLst>
                <a:ext uri="{FF2B5EF4-FFF2-40B4-BE49-F238E27FC236}">
                  <a16:creationId xmlns:a16="http://schemas.microsoft.com/office/drawing/2014/main" id="{72F775DC-AF26-8577-6066-E4C89BC1D9D0}"/>
                </a:ext>
              </a:extLst>
            </p:cNvPr>
            <p:cNvSpPr/>
            <p:nvPr/>
          </p:nvSpPr>
          <p:spPr>
            <a:xfrm>
              <a:off x="7322602" y="11509271"/>
              <a:ext cx="1697119" cy="974679"/>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177" name="箭头: 右 36">
              <a:extLst>
                <a:ext uri="{FF2B5EF4-FFF2-40B4-BE49-F238E27FC236}">
                  <a16:creationId xmlns:a16="http://schemas.microsoft.com/office/drawing/2014/main" id="{8937AFDE-A264-C2A2-13FD-FAA440A0D04A}"/>
                </a:ext>
              </a:extLst>
            </p:cNvPr>
            <p:cNvSpPr/>
            <p:nvPr/>
          </p:nvSpPr>
          <p:spPr>
            <a:xfrm>
              <a:off x="17304227" y="11482232"/>
              <a:ext cx="1771784" cy="1017560"/>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55"/>
            </a:p>
          </p:txBody>
        </p:sp>
        <p:sp>
          <p:nvSpPr>
            <p:cNvPr id="440" name="矩形: 圆角 439">
              <a:extLst>
                <a:ext uri="{FF2B5EF4-FFF2-40B4-BE49-F238E27FC236}">
                  <a16:creationId xmlns:a16="http://schemas.microsoft.com/office/drawing/2014/main" id="{306E5F4B-B7D2-0184-0305-CA96EFFFC37D}"/>
                </a:ext>
              </a:extLst>
            </p:cNvPr>
            <p:cNvSpPr/>
            <p:nvPr/>
          </p:nvSpPr>
          <p:spPr>
            <a:xfrm>
              <a:off x="9192295" y="4863675"/>
              <a:ext cx="7915950" cy="13935777"/>
            </a:xfrm>
            <a:prstGeom prst="roundRect">
              <a:avLst>
                <a:gd name="adj" fmla="val 3381"/>
              </a:avLst>
            </a:prstGeom>
            <a:solidFill>
              <a:srgbClr val="F4F7FE"/>
            </a:solidFill>
            <a:ln w="76200">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41" name="文本框 440">
              <a:extLst>
                <a:ext uri="{FF2B5EF4-FFF2-40B4-BE49-F238E27FC236}">
                  <a16:creationId xmlns:a16="http://schemas.microsoft.com/office/drawing/2014/main" id="{BC79FB04-6A32-29C0-0678-26F20B9B9F49}"/>
                </a:ext>
              </a:extLst>
            </p:cNvPr>
            <p:cNvSpPr txBox="1"/>
            <p:nvPr/>
          </p:nvSpPr>
          <p:spPr>
            <a:xfrm>
              <a:off x="9321615" y="4947669"/>
              <a:ext cx="7657312" cy="2003603"/>
            </a:xfrm>
            <a:prstGeom prst="rect">
              <a:avLst/>
            </a:prstGeom>
            <a:noFill/>
          </p:spPr>
          <p:txBody>
            <a:bodyPr wrap="none" rtlCol="0">
              <a:spAutoFit/>
            </a:bodyPr>
            <a:lstStyle/>
            <a:p>
              <a:pPr algn="ctr"/>
              <a:r>
                <a:rPr lang="en-US" altLang="zh-CN" sz="1430" b="1" dirty="0">
                  <a:latin typeface="Times New Roman" panose="02020503050405090304" charset="0"/>
                  <a:cs typeface="Times New Roman" panose="02020503050405090304" charset="0"/>
                </a:rPr>
                <a:t>Semantic-guided Video </a:t>
              </a:r>
            </a:p>
            <a:p>
              <a:pPr algn="ctr"/>
              <a:r>
                <a:rPr lang="en-US" altLang="zh-CN" sz="1430" b="1" dirty="0">
                  <a:latin typeface="Times New Roman" panose="02020503050405090304" charset="0"/>
                  <a:cs typeface="Times New Roman" panose="02020503050405090304" charset="0"/>
                </a:rPr>
                <a:t>Emotion Recognition</a:t>
              </a:r>
              <a:endParaRPr lang="zh-CN" altLang="en-US" sz="1430" b="1" dirty="0">
                <a:latin typeface="Times New Roman" panose="02020503050405090304" charset="0"/>
                <a:cs typeface="Times New Roman" panose="02020503050405090304" charset="0"/>
              </a:endParaRPr>
            </a:p>
          </p:txBody>
        </p:sp>
        <p:sp>
          <p:nvSpPr>
            <p:cNvPr id="442" name="矩形: 圆角 441">
              <a:extLst>
                <a:ext uri="{FF2B5EF4-FFF2-40B4-BE49-F238E27FC236}">
                  <a16:creationId xmlns:a16="http://schemas.microsoft.com/office/drawing/2014/main" id="{E9C14500-B3B3-AA24-25A8-AB3C609A677F}"/>
                </a:ext>
              </a:extLst>
            </p:cNvPr>
            <p:cNvSpPr/>
            <p:nvPr/>
          </p:nvSpPr>
          <p:spPr>
            <a:xfrm>
              <a:off x="9546309" y="6872709"/>
              <a:ext cx="7168863" cy="3677632"/>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43" name="文本框 442">
              <a:extLst>
                <a:ext uri="{FF2B5EF4-FFF2-40B4-BE49-F238E27FC236}">
                  <a16:creationId xmlns:a16="http://schemas.microsoft.com/office/drawing/2014/main" id="{07AFAA8C-B41C-8882-8593-EF41ABFF761C}"/>
                </a:ext>
              </a:extLst>
            </p:cNvPr>
            <p:cNvSpPr txBox="1"/>
            <p:nvPr/>
          </p:nvSpPr>
          <p:spPr>
            <a:xfrm>
              <a:off x="9752602" y="6889804"/>
              <a:ext cx="7422439" cy="1020975"/>
            </a:xfrm>
            <a:prstGeom prst="rect">
              <a:avLst/>
            </a:prstGeom>
            <a:noFill/>
          </p:spPr>
          <p:txBody>
            <a:bodyPr wrap="none" rtlCol="0">
              <a:spAutoFit/>
            </a:bodyPr>
            <a:lstStyle/>
            <a:p>
              <a:r>
                <a:rPr lang="en-US" altLang="zh-CN" sz="1165" b="1" dirty="0">
                  <a:solidFill>
                    <a:srgbClr val="5068CF"/>
                  </a:solidFill>
                  <a:latin typeface="Times New Roman" panose="02020503050405090304" charset="0"/>
                  <a:cs typeface="Times New Roman" panose="02020503050405090304" charset="0"/>
                </a:rPr>
                <a:t>Semantic Region Extraction</a:t>
              </a:r>
              <a:endParaRPr lang="zh-CN" altLang="en-US" sz="1165" b="1" dirty="0">
                <a:solidFill>
                  <a:srgbClr val="5068CF"/>
                </a:solidFill>
                <a:latin typeface="Times New Roman" panose="02020503050405090304" charset="0"/>
                <a:cs typeface="Times New Roman" panose="02020503050405090304" charset="0"/>
              </a:endParaRPr>
            </a:p>
          </p:txBody>
        </p:sp>
        <p:grpSp>
          <p:nvGrpSpPr>
            <p:cNvPr id="47" name="组合 46">
              <a:extLst>
                <a:ext uri="{FF2B5EF4-FFF2-40B4-BE49-F238E27FC236}">
                  <a16:creationId xmlns:a16="http://schemas.microsoft.com/office/drawing/2014/main" id="{0A9C93DF-5FCC-9C8E-3F29-9BA97184EF0D}"/>
                </a:ext>
              </a:extLst>
            </p:cNvPr>
            <p:cNvGrpSpPr/>
            <p:nvPr/>
          </p:nvGrpSpPr>
          <p:grpSpPr>
            <a:xfrm>
              <a:off x="10439873" y="7860817"/>
              <a:ext cx="1720149" cy="2158150"/>
              <a:chOff x="7758007" y="2512922"/>
              <a:chExt cx="1960310" cy="2459464"/>
            </a:xfrm>
          </p:grpSpPr>
          <p:pic>
            <p:nvPicPr>
              <p:cNvPr id="45" name="图片 44">
                <a:extLst>
                  <a:ext uri="{FF2B5EF4-FFF2-40B4-BE49-F238E27FC236}">
                    <a16:creationId xmlns:a16="http://schemas.microsoft.com/office/drawing/2014/main" id="{2548DDA8-FB18-B9F7-DC4B-4FCC4C4BC749}"/>
                  </a:ext>
                </a:extLst>
              </p:cNvPr>
              <p:cNvPicPr>
                <a:picLocks noChangeAspect="1"/>
              </p:cNvPicPr>
              <p:nvPr/>
            </p:nvPicPr>
            <p:blipFill>
              <a:blip r:embed="rId3"/>
              <a:stretch>
                <a:fillRect/>
              </a:stretch>
            </p:blipFill>
            <p:spPr>
              <a:xfrm>
                <a:off x="7760683" y="2512922"/>
                <a:ext cx="1957634" cy="2459464"/>
              </a:xfrm>
              <a:prstGeom prst="rect">
                <a:avLst/>
              </a:prstGeom>
            </p:spPr>
          </p:pic>
          <p:sp>
            <p:nvSpPr>
              <p:cNvPr id="444" name="矩形 443">
                <a:extLst>
                  <a:ext uri="{FF2B5EF4-FFF2-40B4-BE49-F238E27FC236}">
                    <a16:creationId xmlns:a16="http://schemas.microsoft.com/office/drawing/2014/main" id="{1FB4A49F-EE18-044B-0C8D-79D82EA722C9}"/>
                  </a:ext>
                </a:extLst>
              </p:cNvPr>
              <p:cNvSpPr/>
              <p:nvPr/>
            </p:nvSpPr>
            <p:spPr>
              <a:xfrm>
                <a:off x="8889384" y="3350551"/>
                <a:ext cx="485775" cy="392103"/>
              </a:xfrm>
              <a:prstGeom prst="rect">
                <a:avLst/>
              </a:prstGeom>
              <a:solidFill>
                <a:srgbClr val="7D88AE">
                  <a:alpha val="50196"/>
                </a:srgbClr>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0" name="矩形 449">
                <a:extLst>
                  <a:ext uri="{FF2B5EF4-FFF2-40B4-BE49-F238E27FC236}">
                    <a16:creationId xmlns:a16="http://schemas.microsoft.com/office/drawing/2014/main" id="{D7DFED73-9EF9-6EB5-B08F-C6251139E693}"/>
                  </a:ext>
                </a:extLst>
              </p:cNvPr>
              <p:cNvSpPr/>
              <p:nvPr/>
            </p:nvSpPr>
            <p:spPr>
              <a:xfrm>
                <a:off x="8178745" y="3269754"/>
                <a:ext cx="603749" cy="472900"/>
              </a:xfrm>
              <a:prstGeom prst="rect">
                <a:avLst/>
              </a:prstGeom>
              <a:solidFill>
                <a:srgbClr val="7D88AE">
                  <a:alpha val="50196"/>
                </a:srgbClr>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1" name="矩形 450">
                <a:extLst>
                  <a:ext uri="{FF2B5EF4-FFF2-40B4-BE49-F238E27FC236}">
                    <a16:creationId xmlns:a16="http://schemas.microsoft.com/office/drawing/2014/main" id="{D7568C89-01F2-3244-C1B8-EE6159771C26}"/>
                  </a:ext>
                </a:extLst>
              </p:cNvPr>
              <p:cNvSpPr/>
              <p:nvPr/>
            </p:nvSpPr>
            <p:spPr>
              <a:xfrm>
                <a:off x="9446088" y="3562971"/>
                <a:ext cx="236268" cy="661388"/>
              </a:xfrm>
              <a:prstGeom prst="rect">
                <a:avLst/>
              </a:prstGeom>
              <a:solidFill>
                <a:srgbClr val="A9C7B0">
                  <a:alpha val="49804"/>
                </a:srgb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3" name="矩形 452">
                <a:extLst>
                  <a:ext uri="{FF2B5EF4-FFF2-40B4-BE49-F238E27FC236}">
                    <a16:creationId xmlns:a16="http://schemas.microsoft.com/office/drawing/2014/main" id="{DDFFADF9-FD2E-3E27-8217-465FD72B985E}"/>
                  </a:ext>
                </a:extLst>
              </p:cNvPr>
              <p:cNvSpPr/>
              <p:nvPr/>
            </p:nvSpPr>
            <p:spPr>
              <a:xfrm>
                <a:off x="8580827" y="3814375"/>
                <a:ext cx="386889" cy="392103"/>
              </a:xfrm>
              <a:prstGeom prst="rect">
                <a:avLst/>
              </a:prstGeom>
              <a:solidFill>
                <a:srgbClr val="E9ABA7">
                  <a:alpha val="50196"/>
                </a:srgbClr>
              </a:solidFill>
              <a:ln w="19050">
                <a:solidFill>
                  <a:srgbClr val="E9AB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4" name="矩形 453">
                <a:extLst>
                  <a:ext uri="{FF2B5EF4-FFF2-40B4-BE49-F238E27FC236}">
                    <a16:creationId xmlns:a16="http://schemas.microsoft.com/office/drawing/2014/main" id="{26BEB005-0915-7F61-FD63-192182287966}"/>
                  </a:ext>
                </a:extLst>
              </p:cNvPr>
              <p:cNvSpPr/>
              <p:nvPr/>
            </p:nvSpPr>
            <p:spPr>
              <a:xfrm>
                <a:off x="8424866" y="4278199"/>
                <a:ext cx="655661" cy="392103"/>
              </a:xfrm>
              <a:prstGeom prst="rect">
                <a:avLst/>
              </a:prstGeom>
              <a:solidFill>
                <a:srgbClr val="FFC000">
                  <a:alpha val="50196"/>
                </a:srgb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55" name="矩形 454">
                <a:extLst>
                  <a:ext uri="{FF2B5EF4-FFF2-40B4-BE49-F238E27FC236}">
                    <a16:creationId xmlns:a16="http://schemas.microsoft.com/office/drawing/2014/main" id="{6104A212-610B-A349-FA35-FC97F4C0DE1B}"/>
                  </a:ext>
                </a:extLst>
              </p:cNvPr>
              <p:cNvSpPr/>
              <p:nvPr/>
            </p:nvSpPr>
            <p:spPr>
              <a:xfrm>
                <a:off x="7758007" y="3483681"/>
                <a:ext cx="313848" cy="661388"/>
              </a:xfrm>
              <a:prstGeom prst="rect">
                <a:avLst/>
              </a:prstGeom>
              <a:solidFill>
                <a:srgbClr val="A9C7B0">
                  <a:alpha val="49804"/>
                </a:srgb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sp>
          <p:nvSpPr>
            <p:cNvPr id="458" name="箭头: 右 457">
              <a:extLst>
                <a:ext uri="{FF2B5EF4-FFF2-40B4-BE49-F238E27FC236}">
                  <a16:creationId xmlns:a16="http://schemas.microsoft.com/office/drawing/2014/main" id="{87FB643C-FC7E-7BDA-CE29-FEEFC6B2AE95}"/>
                </a:ext>
              </a:extLst>
            </p:cNvPr>
            <p:cNvSpPr/>
            <p:nvPr/>
          </p:nvSpPr>
          <p:spPr>
            <a:xfrm>
              <a:off x="12327399" y="8874463"/>
              <a:ext cx="1496682" cy="278551"/>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52" name="组合 51">
              <a:extLst>
                <a:ext uri="{FF2B5EF4-FFF2-40B4-BE49-F238E27FC236}">
                  <a16:creationId xmlns:a16="http://schemas.microsoft.com/office/drawing/2014/main" id="{39E6D6E4-D248-D9D6-BC33-BF3587FD552A}"/>
                </a:ext>
              </a:extLst>
            </p:cNvPr>
            <p:cNvGrpSpPr/>
            <p:nvPr/>
          </p:nvGrpSpPr>
          <p:grpSpPr>
            <a:xfrm>
              <a:off x="13949898" y="8117155"/>
              <a:ext cx="2432981" cy="2301461"/>
              <a:chOff x="11008635" y="2435024"/>
              <a:chExt cx="2432981" cy="2301461"/>
            </a:xfrm>
          </p:grpSpPr>
          <p:sp>
            <p:nvSpPr>
              <p:cNvPr id="48" name="文本框 47">
                <a:extLst>
                  <a:ext uri="{FF2B5EF4-FFF2-40B4-BE49-F238E27FC236}">
                    <a16:creationId xmlns:a16="http://schemas.microsoft.com/office/drawing/2014/main" id="{C4913383-ABA2-4387-41F6-24647BB784CE}"/>
                  </a:ext>
                </a:extLst>
              </p:cNvPr>
              <p:cNvSpPr txBox="1"/>
              <p:nvPr/>
            </p:nvSpPr>
            <p:spPr>
              <a:xfrm>
                <a:off x="11236261" y="2944139"/>
                <a:ext cx="1502702"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Eyes</a:t>
                </a:r>
                <a:endParaRPr lang="zh-CN" altLang="en-US" sz="850" b="1" dirty="0">
                  <a:latin typeface="Times New Roman" panose="02020503050405090304" charset="0"/>
                  <a:cs typeface="Times New Roman" panose="02020503050405090304" charset="0"/>
                </a:endParaRPr>
              </a:p>
            </p:txBody>
          </p:sp>
          <p:grpSp>
            <p:nvGrpSpPr>
              <p:cNvPr id="51" name="组合 50">
                <a:extLst>
                  <a:ext uri="{FF2B5EF4-FFF2-40B4-BE49-F238E27FC236}">
                    <a16:creationId xmlns:a16="http://schemas.microsoft.com/office/drawing/2014/main" id="{9B670A5A-0BB8-598F-761C-7A9BE0CD0BF7}"/>
                  </a:ext>
                </a:extLst>
              </p:cNvPr>
              <p:cNvGrpSpPr/>
              <p:nvPr/>
            </p:nvGrpSpPr>
            <p:grpSpPr>
              <a:xfrm>
                <a:off x="12383031" y="2555104"/>
                <a:ext cx="1058585" cy="304218"/>
                <a:chOff x="12383031" y="2555104"/>
                <a:chExt cx="1058585" cy="304218"/>
              </a:xfrm>
            </p:grpSpPr>
            <p:sp>
              <p:nvSpPr>
                <p:cNvPr id="459" name="矩形: 圆角 150">
                  <a:extLst>
                    <a:ext uri="{FF2B5EF4-FFF2-40B4-BE49-F238E27FC236}">
                      <a16:creationId xmlns:a16="http://schemas.microsoft.com/office/drawing/2014/main" id="{C70BA12C-5B90-7389-8C93-37CF5F0B77AD}"/>
                    </a:ext>
                  </a:extLst>
                </p:cNvPr>
                <p:cNvSpPr/>
                <p:nvPr/>
              </p:nvSpPr>
              <p:spPr>
                <a:xfrm>
                  <a:off x="12754401"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3" name="矩形: 圆角 150">
                  <a:extLst>
                    <a:ext uri="{FF2B5EF4-FFF2-40B4-BE49-F238E27FC236}">
                      <a16:creationId xmlns:a16="http://schemas.microsoft.com/office/drawing/2014/main" id="{FB45B98A-CB03-445B-B127-5169E48E2F80}"/>
                    </a:ext>
                  </a:extLst>
                </p:cNvPr>
                <p:cNvSpPr/>
                <p:nvPr/>
              </p:nvSpPr>
              <p:spPr>
                <a:xfrm>
                  <a:off x="12383031"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4" name="矩形: 圆角 150">
                  <a:extLst>
                    <a:ext uri="{FF2B5EF4-FFF2-40B4-BE49-F238E27FC236}">
                      <a16:creationId xmlns:a16="http://schemas.microsoft.com/office/drawing/2014/main" id="{25D43F69-6826-957D-1E56-D219C7EDE9B5}"/>
                    </a:ext>
                  </a:extLst>
                </p:cNvPr>
                <p:cNvSpPr/>
                <p:nvPr/>
              </p:nvSpPr>
              <p:spPr>
                <a:xfrm>
                  <a:off x="13137397" y="2555104"/>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sp>
            <p:nvSpPr>
              <p:cNvPr id="466" name="文本框 465">
                <a:extLst>
                  <a:ext uri="{FF2B5EF4-FFF2-40B4-BE49-F238E27FC236}">
                    <a16:creationId xmlns:a16="http://schemas.microsoft.com/office/drawing/2014/main" id="{6CD571C6-FD9A-FF52-27E0-0F38D0DB703D}"/>
                  </a:ext>
                </a:extLst>
              </p:cNvPr>
              <p:cNvSpPr txBox="1"/>
              <p:nvPr/>
            </p:nvSpPr>
            <p:spPr>
              <a:xfrm>
                <a:off x="11221834" y="2435024"/>
                <a:ext cx="1526669"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Nose</a:t>
                </a:r>
                <a:endParaRPr lang="zh-CN" altLang="en-US" sz="850" b="1" dirty="0">
                  <a:latin typeface="Times New Roman" panose="02020503050405090304" charset="0"/>
                  <a:cs typeface="Times New Roman" panose="02020503050405090304" charset="0"/>
                </a:endParaRPr>
              </a:p>
            </p:txBody>
          </p:sp>
          <p:grpSp>
            <p:nvGrpSpPr>
              <p:cNvPr id="50" name="组合 49">
                <a:extLst>
                  <a:ext uri="{FF2B5EF4-FFF2-40B4-BE49-F238E27FC236}">
                    <a16:creationId xmlns:a16="http://schemas.microsoft.com/office/drawing/2014/main" id="{B95884D7-779E-D4C0-F04C-FAC583517C4F}"/>
                  </a:ext>
                </a:extLst>
              </p:cNvPr>
              <p:cNvGrpSpPr/>
              <p:nvPr/>
            </p:nvGrpSpPr>
            <p:grpSpPr>
              <a:xfrm>
                <a:off x="12383031" y="3070785"/>
                <a:ext cx="1058585" cy="304218"/>
                <a:chOff x="12373585" y="3070785"/>
                <a:chExt cx="1058585" cy="304218"/>
              </a:xfrm>
            </p:grpSpPr>
            <p:sp>
              <p:nvSpPr>
                <p:cNvPr id="467" name="矩形: 圆角 150">
                  <a:extLst>
                    <a:ext uri="{FF2B5EF4-FFF2-40B4-BE49-F238E27FC236}">
                      <a16:creationId xmlns:a16="http://schemas.microsoft.com/office/drawing/2014/main" id="{3182BBB8-B9B2-C3A6-8B15-38DD7E83F25E}"/>
                    </a:ext>
                  </a:extLst>
                </p:cNvPr>
                <p:cNvSpPr/>
                <p:nvPr/>
              </p:nvSpPr>
              <p:spPr>
                <a:xfrm>
                  <a:off x="12744955"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8" name="矩形: 圆角 150">
                  <a:extLst>
                    <a:ext uri="{FF2B5EF4-FFF2-40B4-BE49-F238E27FC236}">
                      <a16:creationId xmlns:a16="http://schemas.microsoft.com/office/drawing/2014/main" id="{0D0DB867-72EA-CBB1-E312-D7F3970642A8}"/>
                    </a:ext>
                  </a:extLst>
                </p:cNvPr>
                <p:cNvSpPr/>
                <p:nvPr/>
              </p:nvSpPr>
              <p:spPr>
                <a:xfrm>
                  <a:off x="12373585"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69" name="矩形: 圆角 150">
                  <a:extLst>
                    <a:ext uri="{FF2B5EF4-FFF2-40B4-BE49-F238E27FC236}">
                      <a16:creationId xmlns:a16="http://schemas.microsoft.com/office/drawing/2014/main" id="{3689463C-3F37-8E5D-31B1-739245A34C53}"/>
                    </a:ext>
                  </a:extLst>
                </p:cNvPr>
                <p:cNvSpPr/>
                <p:nvPr/>
              </p:nvSpPr>
              <p:spPr>
                <a:xfrm>
                  <a:off x="13127951" y="3070785"/>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grpSp>
            <p:nvGrpSpPr>
              <p:cNvPr id="470" name="组合 469">
                <a:extLst>
                  <a:ext uri="{FF2B5EF4-FFF2-40B4-BE49-F238E27FC236}">
                    <a16:creationId xmlns:a16="http://schemas.microsoft.com/office/drawing/2014/main" id="{C0A76B54-CED8-0865-375B-4F7F3F89A404}"/>
                  </a:ext>
                </a:extLst>
              </p:cNvPr>
              <p:cNvGrpSpPr/>
              <p:nvPr/>
            </p:nvGrpSpPr>
            <p:grpSpPr>
              <a:xfrm>
                <a:off x="12383031" y="3543318"/>
                <a:ext cx="1058585" cy="304218"/>
                <a:chOff x="12373585" y="3070785"/>
                <a:chExt cx="1058585" cy="304218"/>
              </a:xfrm>
              <a:solidFill>
                <a:srgbClr val="D3E9D0"/>
              </a:solidFill>
            </p:grpSpPr>
            <p:sp>
              <p:nvSpPr>
                <p:cNvPr id="471" name="矩形: 圆角 150">
                  <a:extLst>
                    <a:ext uri="{FF2B5EF4-FFF2-40B4-BE49-F238E27FC236}">
                      <a16:creationId xmlns:a16="http://schemas.microsoft.com/office/drawing/2014/main" id="{0BA1EEE0-5C5E-0170-A2B5-E79045D3569E}"/>
                    </a:ext>
                  </a:extLst>
                </p:cNvPr>
                <p:cNvSpPr/>
                <p:nvPr/>
              </p:nvSpPr>
              <p:spPr>
                <a:xfrm>
                  <a:off x="12744955"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2" name="矩形: 圆角 150">
                  <a:extLst>
                    <a:ext uri="{FF2B5EF4-FFF2-40B4-BE49-F238E27FC236}">
                      <a16:creationId xmlns:a16="http://schemas.microsoft.com/office/drawing/2014/main" id="{BDE2D694-2D42-474F-E3EE-5CEEB85F09D4}"/>
                    </a:ext>
                  </a:extLst>
                </p:cNvPr>
                <p:cNvSpPr/>
                <p:nvPr/>
              </p:nvSpPr>
              <p:spPr>
                <a:xfrm>
                  <a:off x="12373585"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3" name="矩形: 圆角 150">
                  <a:extLst>
                    <a:ext uri="{FF2B5EF4-FFF2-40B4-BE49-F238E27FC236}">
                      <a16:creationId xmlns:a16="http://schemas.microsoft.com/office/drawing/2014/main" id="{F0E10C97-73EE-3286-7C27-194E53D81966}"/>
                    </a:ext>
                  </a:extLst>
                </p:cNvPr>
                <p:cNvSpPr/>
                <p:nvPr/>
              </p:nvSpPr>
              <p:spPr>
                <a:xfrm>
                  <a:off x="13127951" y="3070785"/>
                  <a:ext cx="304219" cy="304218"/>
                </a:xfrm>
                <a:prstGeom prst="roundRect">
                  <a:avLst/>
                </a:prstGeom>
                <a:grp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grpSp>
            <p:nvGrpSpPr>
              <p:cNvPr id="474" name="组合 473">
                <a:extLst>
                  <a:ext uri="{FF2B5EF4-FFF2-40B4-BE49-F238E27FC236}">
                    <a16:creationId xmlns:a16="http://schemas.microsoft.com/office/drawing/2014/main" id="{751BE6A8-F39E-E0E6-56DE-4F669B495A0A}"/>
                  </a:ext>
                </a:extLst>
              </p:cNvPr>
              <p:cNvGrpSpPr/>
              <p:nvPr/>
            </p:nvGrpSpPr>
            <p:grpSpPr>
              <a:xfrm>
                <a:off x="12383031" y="4031913"/>
                <a:ext cx="1058585" cy="304218"/>
                <a:chOff x="12373585" y="3070785"/>
                <a:chExt cx="1058585" cy="304218"/>
              </a:xfrm>
              <a:solidFill>
                <a:srgbClr val="FAEDD9"/>
              </a:solidFill>
            </p:grpSpPr>
            <p:sp>
              <p:nvSpPr>
                <p:cNvPr id="476" name="矩形: 圆角 150">
                  <a:extLst>
                    <a:ext uri="{FF2B5EF4-FFF2-40B4-BE49-F238E27FC236}">
                      <a16:creationId xmlns:a16="http://schemas.microsoft.com/office/drawing/2014/main" id="{99711820-6E53-0EDB-1BE0-0C5B74B92743}"/>
                    </a:ext>
                  </a:extLst>
                </p:cNvPr>
                <p:cNvSpPr/>
                <p:nvPr/>
              </p:nvSpPr>
              <p:spPr>
                <a:xfrm>
                  <a:off x="12744955"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77" name="矩形: 圆角 150">
                  <a:extLst>
                    <a:ext uri="{FF2B5EF4-FFF2-40B4-BE49-F238E27FC236}">
                      <a16:creationId xmlns:a16="http://schemas.microsoft.com/office/drawing/2014/main" id="{6B45E3D8-BAD7-0DE0-0485-7B747D2A0E2A}"/>
                    </a:ext>
                  </a:extLst>
                </p:cNvPr>
                <p:cNvSpPr/>
                <p:nvPr/>
              </p:nvSpPr>
              <p:spPr>
                <a:xfrm>
                  <a:off x="12373585"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sp>
              <p:nvSpPr>
                <p:cNvPr id="480" name="矩形: 圆角 150">
                  <a:extLst>
                    <a:ext uri="{FF2B5EF4-FFF2-40B4-BE49-F238E27FC236}">
                      <a16:creationId xmlns:a16="http://schemas.microsoft.com/office/drawing/2014/main" id="{CB789BC8-7A3F-69BF-F2CC-9198E62D79EF}"/>
                    </a:ext>
                  </a:extLst>
                </p:cNvPr>
                <p:cNvSpPr/>
                <p:nvPr/>
              </p:nvSpPr>
              <p:spPr>
                <a:xfrm>
                  <a:off x="13127951" y="3070785"/>
                  <a:ext cx="304219" cy="304218"/>
                </a:xfrm>
                <a:prstGeom prst="roundRect">
                  <a:avLst/>
                </a:prstGeom>
                <a:grpFill/>
                <a:ln w="19050">
                  <a:solidFill>
                    <a:srgbClr val="F7E3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90" b="1" dirty="0">
                    <a:latin typeface="Times New Roman" panose="02020503050405090304" charset="0"/>
                    <a:cs typeface="Times New Roman" panose="02020503050405090304" charset="0"/>
                  </a:endParaRPr>
                </a:p>
              </p:txBody>
            </p:sp>
          </p:grpSp>
          <p:sp>
            <p:nvSpPr>
              <p:cNvPr id="482" name="文本框 481">
                <a:extLst>
                  <a:ext uri="{FF2B5EF4-FFF2-40B4-BE49-F238E27FC236}">
                    <a16:creationId xmlns:a16="http://schemas.microsoft.com/office/drawing/2014/main" id="{C52C030A-8BA9-09C7-F05B-17DB820C5335}"/>
                  </a:ext>
                </a:extLst>
              </p:cNvPr>
              <p:cNvSpPr txBox="1"/>
              <p:nvPr/>
            </p:nvSpPr>
            <p:spPr>
              <a:xfrm>
                <a:off x="11236261" y="3443532"/>
                <a:ext cx="1502702"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Ears</a:t>
                </a:r>
                <a:endParaRPr lang="zh-CN" altLang="en-US" sz="850" b="1" dirty="0">
                  <a:latin typeface="Times New Roman" panose="02020503050405090304" charset="0"/>
                  <a:cs typeface="Times New Roman" panose="02020503050405090304" charset="0"/>
                </a:endParaRPr>
              </a:p>
            </p:txBody>
          </p:sp>
          <p:sp>
            <p:nvSpPr>
              <p:cNvPr id="487" name="文本框 486">
                <a:extLst>
                  <a:ext uri="{FF2B5EF4-FFF2-40B4-BE49-F238E27FC236}">
                    <a16:creationId xmlns:a16="http://schemas.microsoft.com/office/drawing/2014/main" id="{75BD4596-33AF-D816-F61D-B3D8DFBCD1F4}"/>
                  </a:ext>
                </a:extLst>
              </p:cNvPr>
              <p:cNvSpPr txBox="1"/>
              <p:nvPr/>
            </p:nvSpPr>
            <p:spPr>
              <a:xfrm>
                <a:off x="11008635" y="3900053"/>
                <a:ext cx="1869391"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Mouth</a:t>
                </a:r>
                <a:endParaRPr lang="zh-CN" altLang="en-US" sz="850" b="1" dirty="0">
                  <a:latin typeface="Times New Roman" panose="02020503050405090304" charset="0"/>
                  <a:cs typeface="Times New Roman" panose="02020503050405090304" charset="0"/>
                </a:endParaRPr>
              </a:p>
            </p:txBody>
          </p:sp>
        </p:grpSp>
        <p:sp>
          <p:nvSpPr>
            <p:cNvPr id="99" name="箭头: 右 510">
              <a:extLst>
                <a:ext uri="{FF2B5EF4-FFF2-40B4-BE49-F238E27FC236}">
                  <a16:creationId xmlns:a16="http://schemas.microsoft.com/office/drawing/2014/main" id="{62CB8FB7-F909-46A9-FDA3-DD1C2981E499}"/>
                </a:ext>
              </a:extLst>
            </p:cNvPr>
            <p:cNvSpPr/>
            <p:nvPr/>
          </p:nvSpPr>
          <p:spPr>
            <a:xfrm rot="5400000">
              <a:off x="12622092" y="14743780"/>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121" name="组合 120">
              <a:extLst>
                <a:ext uri="{FF2B5EF4-FFF2-40B4-BE49-F238E27FC236}">
                  <a16:creationId xmlns:a16="http://schemas.microsoft.com/office/drawing/2014/main" id="{6D00B2E4-4CE2-1D23-1C4A-8A05A6910FC2}"/>
                </a:ext>
              </a:extLst>
            </p:cNvPr>
            <p:cNvGrpSpPr/>
            <p:nvPr/>
          </p:nvGrpSpPr>
          <p:grpSpPr>
            <a:xfrm>
              <a:off x="9537891" y="11153797"/>
              <a:ext cx="7168863" cy="3822311"/>
              <a:chOff x="9314579" y="12052674"/>
              <a:chExt cx="7168863" cy="3822311"/>
            </a:xfrm>
          </p:grpSpPr>
          <p:sp>
            <p:nvSpPr>
              <p:cNvPr id="508" name="矩形: 圆角 507">
                <a:extLst>
                  <a:ext uri="{FF2B5EF4-FFF2-40B4-BE49-F238E27FC236}">
                    <a16:creationId xmlns:a16="http://schemas.microsoft.com/office/drawing/2014/main" id="{1BAE83E4-C33F-F6E0-5010-0A82B2A0CC25}"/>
                  </a:ext>
                </a:extLst>
              </p:cNvPr>
              <p:cNvSpPr/>
              <p:nvPr/>
            </p:nvSpPr>
            <p:spPr>
              <a:xfrm>
                <a:off x="9314579" y="12168217"/>
                <a:ext cx="7168863" cy="3706768"/>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29" name="组合 28">
                <a:extLst>
                  <a:ext uri="{FF2B5EF4-FFF2-40B4-BE49-F238E27FC236}">
                    <a16:creationId xmlns:a16="http://schemas.microsoft.com/office/drawing/2014/main" id="{BCC8BA99-F511-F605-1303-7B83E7E991DE}"/>
                  </a:ext>
                </a:extLst>
              </p:cNvPr>
              <p:cNvGrpSpPr/>
              <p:nvPr/>
            </p:nvGrpSpPr>
            <p:grpSpPr>
              <a:xfrm>
                <a:off x="10530419" y="13515585"/>
                <a:ext cx="4323056" cy="1812896"/>
                <a:chOff x="8933469" y="9440234"/>
                <a:chExt cx="2925587" cy="1226860"/>
              </a:xfrm>
            </p:grpSpPr>
            <p:grpSp>
              <p:nvGrpSpPr>
                <p:cNvPr id="21" name="组合 20">
                  <a:extLst>
                    <a:ext uri="{FF2B5EF4-FFF2-40B4-BE49-F238E27FC236}">
                      <a16:creationId xmlns:a16="http://schemas.microsoft.com/office/drawing/2014/main" id="{6EAC93F0-3A46-9CBB-0C77-FAE071C95188}"/>
                    </a:ext>
                  </a:extLst>
                </p:cNvPr>
                <p:cNvGrpSpPr/>
                <p:nvPr/>
              </p:nvGrpSpPr>
              <p:grpSpPr>
                <a:xfrm>
                  <a:off x="8933469" y="9442901"/>
                  <a:ext cx="1224193" cy="1224193"/>
                  <a:chOff x="8829746" y="10867490"/>
                  <a:chExt cx="1515414" cy="1515414"/>
                </a:xfrm>
              </p:grpSpPr>
              <p:grpSp>
                <p:nvGrpSpPr>
                  <p:cNvPr id="127" name="组合 126">
                    <a:extLst>
                      <a:ext uri="{FF2B5EF4-FFF2-40B4-BE49-F238E27FC236}">
                        <a16:creationId xmlns:a16="http://schemas.microsoft.com/office/drawing/2014/main" id="{F08F5AAD-EA71-D6BE-E9BE-C99CD1A7BD07}"/>
                      </a:ext>
                    </a:extLst>
                  </p:cNvPr>
                  <p:cNvGrpSpPr/>
                  <p:nvPr/>
                </p:nvGrpSpPr>
                <p:grpSpPr>
                  <a:xfrm>
                    <a:off x="9057920" y="11312264"/>
                    <a:ext cx="1059066" cy="909337"/>
                    <a:chOff x="7554444" y="10438641"/>
                    <a:chExt cx="1059066" cy="909337"/>
                  </a:xfrm>
                </p:grpSpPr>
                <p:sp>
                  <p:nvSpPr>
                    <p:cNvPr id="128" name="矩形: 圆角 150">
                      <a:extLst>
                        <a:ext uri="{FF2B5EF4-FFF2-40B4-BE49-F238E27FC236}">
                          <a16:creationId xmlns:a16="http://schemas.microsoft.com/office/drawing/2014/main" id="{C436A726-25FA-01DA-B3DB-5D018EB28CCB}"/>
                        </a:ext>
                      </a:extLst>
                    </p:cNvPr>
                    <p:cNvSpPr/>
                    <p:nvPr/>
                  </p:nvSpPr>
                  <p:spPr>
                    <a:xfrm>
                      <a:off x="7554444" y="10438641"/>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29" name="矩形: 圆角 150">
                      <a:extLst>
                        <a:ext uri="{FF2B5EF4-FFF2-40B4-BE49-F238E27FC236}">
                          <a16:creationId xmlns:a16="http://schemas.microsoft.com/office/drawing/2014/main" id="{41FF4A12-5057-8F9C-B233-5F6CB616332F}"/>
                        </a:ext>
                      </a:extLst>
                    </p:cNvPr>
                    <p:cNvSpPr/>
                    <p:nvPr/>
                  </p:nvSpPr>
                  <p:spPr>
                    <a:xfrm>
                      <a:off x="7911170" y="11043760"/>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30" name="矩形: 圆角 150">
                      <a:extLst>
                        <a:ext uri="{FF2B5EF4-FFF2-40B4-BE49-F238E27FC236}">
                          <a16:creationId xmlns:a16="http://schemas.microsoft.com/office/drawing/2014/main" id="{CE9B96B3-A601-91A8-D575-9C5407F363C7}"/>
                        </a:ext>
                      </a:extLst>
                    </p:cNvPr>
                    <p:cNvSpPr/>
                    <p:nvPr/>
                  </p:nvSpPr>
                  <p:spPr>
                    <a:xfrm>
                      <a:off x="8309291" y="10554758"/>
                      <a:ext cx="304219" cy="304218"/>
                    </a:xfrm>
                    <a:prstGeom prst="roundRect">
                      <a:avLst/>
                    </a:prstGeom>
                    <a:solidFill>
                      <a:srgbClr val="D3E9D0"/>
                    </a:solid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cxnSp>
                  <p:nvCxnSpPr>
                    <p:cNvPr id="131" name="曲线连接符 130">
                      <a:extLst>
                        <a:ext uri="{FF2B5EF4-FFF2-40B4-BE49-F238E27FC236}">
                          <a16:creationId xmlns:a16="http://schemas.microsoft.com/office/drawing/2014/main" id="{77C6A606-191F-23E9-5A65-80304E748A6B}"/>
                        </a:ext>
                      </a:extLst>
                    </p:cNvPr>
                    <p:cNvCxnSpPr>
                      <a:stCxn id="128" idx="0"/>
                      <a:endCxn id="130" idx="0"/>
                    </p:cNvCxnSpPr>
                    <p:nvPr/>
                  </p:nvCxnSpPr>
                  <p:spPr>
                    <a:xfrm rot="16200000" flipH="1">
                      <a:off x="8025918" y="10119276"/>
                      <a:ext cx="116117" cy="754847"/>
                    </a:xfrm>
                    <a:prstGeom prst="curvedConnector3">
                      <a:avLst>
                        <a:gd name="adj1" fmla="val -196870"/>
                      </a:avLst>
                    </a:prstGeom>
                    <a:ln w="12700">
                      <a:prstDash val="dash"/>
                    </a:ln>
                  </p:spPr>
                  <p:style>
                    <a:lnRef idx="1">
                      <a:schemeClr val="dk1"/>
                    </a:lnRef>
                    <a:fillRef idx="0">
                      <a:schemeClr val="dk1"/>
                    </a:fillRef>
                    <a:effectRef idx="0">
                      <a:schemeClr val="dk1"/>
                    </a:effectRef>
                    <a:fontRef idx="minor">
                      <a:schemeClr val="tx1"/>
                    </a:fontRef>
                  </p:style>
                </p:cxnSp>
                <p:cxnSp>
                  <p:nvCxnSpPr>
                    <p:cNvPr id="132" name="曲线连接符 131">
                      <a:extLst>
                        <a:ext uri="{FF2B5EF4-FFF2-40B4-BE49-F238E27FC236}">
                          <a16:creationId xmlns:a16="http://schemas.microsoft.com/office/drawing/2014/main" id="{40AFBC10-48CE-7AD2-DD32-02C0BBE32B8E}"/>
                        </a:ext>
                      </a:extLst>
                    </p:cNvPr>
                    <p:cNvCxnSpPr>
                      <a:stCxn id="129" idx="3"/>
                    </p:cNvCxnSpPr>
                    <p:nvPr/>
                  </p:nvCxnSpPr>
                  <p:spPr>
                    <a:xfrm flipV="1">
                      <a:off x="8215389" y="10889283"/>
                      <a:ext cx="246013" cy="306586"/>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cxnSp>
                  <p:nvCxnSpPr>
                    <p:cNvPr id="133" name="曲线连接符 132">
                      <a:extLst>
                        <a:ext uri="{FF2B5EF4-FFF2-40B4-BE49-F238E27FC236}">
                          <a16:creationId xmlns:a16="http://schemas.microsoft.com/office/drawing/2014/main" id="{7EA6463B-0C5B-51DF-D01C-7E60EC183AD9}"/>
                        </a:ext>
                      </a:extLst>
                    </p:cNvPr>
                    <p:cNvCxnSpPr>
                      <a:stCxn id="129" idx="1"/>
                      <a:endCxn id="128" idx="2"/>
                    </p:cNvCxnSpPr>
                    <p:nvPr/>
                  </p:nvCxnSpPr>
                  <p:spPr>
                    <a:xfrm rot="10800000">
                      <a:off x="7706554" y="10742859"/>
                      <a:ext cx="204616" cy="453010"/>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grpSp>
              <p:sp>
                <p:nvSpPr>
                  <p:cNvPr id="134" name="椭圆 133">
                    <a:extLst>
                      <a:ext uri="{FF2B5EF4-FFF2-40B4-BE49-F238E27FC236}">
                        <a16:creationId xmlns:a16="http://schemas.microsoft.com/office/drawing/2014/main" id="{A955A956-F191-ED03-E228-639ED7F0FD5F}"/>
                      </a:ext>
                    </a:extLst>
                  </p:cNvPr>
                  <p:cNvSpPr/>
                  <p:nvPr/>
                </p:nvSpPr>
                <p:spPr>
                  <a:xfrm>
                    <a:off x="8829746" y="10867490"/>
                    <a:ext cx="1515414" cy="15154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475" dirty="0"/>
                  </a:p>
                </p:txBody>
              </p:sp>
            </p:grpSp>
            <p:grpSp>
              <p:nvGrpSpPr>
                <p:cNvPr id="137" name="组合 136">
                  <a:extLst>
                    <a:ext uri="{FF2B5EF4-FFF2-40B4-BE49-F238E27FC236}">
                      <a16:creationId xmlns:a16="http://schemas.microsoft.com/office/drawing/2014/main" id="{70399745-4845-E737-C204-4905491A39E6}"/>
                    </a:ext>
                  </a:extLst>
                </p:cNvPr>
                <p:cNvGrpSpPr/>
                <p:nvPr/>
              </p:nvGrpSpPr>
              <p:grpSpPr>
                <a:xfrm>
                  <a:off x="10634863" y="9440234"/>
                  <a:ext cx="1224193" cy="1224193"/>
                  <a:chOff x="8829746" y="10867490"/>
                  <a:chExt cx="1515414" cy="1515414"/>
                </a:xfrm>
              </p:grpSpPr>
              <p:grpSp>
                <p:nvGrpSpPr>
                  <p:cNvPr id="138" name="组合 137">
                    <a:extLst>
                      <a:ext uri="{FF2B5EF4-FFF2-40B4-BE49-F238E27FC236}">
                        <a16:creationId xmlns:a16="http://schemas.microsoft.com/office/drawing/2014/main" id="{1455E63A-491A-0B75-8CDE-C7858958000E}"/>
                      </a:ext>
                    </a:extLst>
                  </p:cNvPr>
                  <p:cNvGrpSpPr/>
                  <p:nvPr/>
                </p:nvGrpSpPr>
                <p:grpSpPr>
                  <a:xfrm>
                    <a:off x="9057920" y="11312264"/>
                    <a:ext cx="1059066" cy="909337"/>
                    <a:chOff x="7554444" y="10438641"/>
                    <a:chExt cx="1059066" cy="909337"/>
                  </a:xfrm>
                </p:grpSpPr>
                <p:sp>
                  <p:nvSpPr>
                    <p:cNvPr id="140" name="矩形: 圆角 150">
                      <a:extLst>
                        <a:ext uri="{FF2B5EF4-FFF2-40B4-BE49-F238E27FC236}">
                          <a16:creationId xmlns:a16="http://schemas.microsoft.com/office/drawing/2014/main" id="{0F5B69B3-E6E0-D962-6A9F-5635B0AE9D32}"/>
                        </a:ext>
                      </a:extLst>
                    </p:cNvPr>
                    <p:cNvSpPr/>
                    <p:nvPr/>
                  </p:nvSpPr>
                  <p:spPr>
                    <a:xfrm>
                      <a:off x="7554444" y="10438641"/>
                      <a:ext cx="304219" cy="304218"/>
                    </a:xfrm>
                    <a:prstGeom prst="roundRect">
                      <a:avLst/>
                    </a:prstGeom>
                    <a:solidFill>
                      <a:srgbClr val="FFCCCC"/>
                    </a:solidFill>
                    <a:ln w="19050">
                      <a:solidFill>
                        <a:srgbClr val="FF41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41" name="矩形: 圆角 150">
                      <a:extLst>
                        <a:ext uri="{FF2B5EF4-FFF2-40B4-BE49-F238E27FC236}">
                          <a16:creationId xmlns:a16="http://schemas.microsoft.com/office/drawing/2014/main" id="{AD9964A8-B772-C301-5622-25CE672E2871}"/>
                        </a:ext>
                      </a:extLst>
                    </p:cNvPr>
                    <p:cNvSpPr/>
                    <p:nvPr/>
                  </p:nvSpPr>
                  <p:spPr>
                    <a:xfrm>
                      <a:off x="7911170" y="11043760"/>
                      <a:ext cx="304219" cy="304218"/>
                    </a:xfrm>
                    <a:prstGeom prst="roundRect">
                      <a:avLst/>
                    </a:prstGeom>
                    <a:solidFill>
                      <a:srgbClr val="D7DDEF"/>
                    </a:solidFill>
                    <a:ln w="19050">
                      <a:solidFill>
                        <a:srgbClr val="5068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sp>
                  <p:nvSpPr>
                    <p:cNvPr id="142" name="矩形: 圆角 150">
                      <a:extLst>
                        <a:ext uri="{FF2B5EF4-FFF2-40B4-BE49-F238E27FC236}">
                          <a16:creationId xmlns:a16="http://schemas.microsoft.com/office/drawing/2014/main" id="{DE8340C2-0E66-7AB8-7812-0E523EAB52F5}"/>
                        </a:ext>
                      </a:extLst>
                    </p:cNvPr>
                    <p:cNvSpPr/>
                    <p:nvPr/>
                  </p:nvSpPr>
                  <p:spPr>
                    <a:xfrm>
                      <a:off x="8309291" y="10554758"/>
                      <a:ext cx="304219" cy="304218"/>
                    </a:xfrm>
                    <a:prstGeom prst="roundRect">
                      <a:avLst/>
                    </a:prstGeom>
                    <a:solidFill>
                      <a:srgbClr val="D3E9D0"/>
                    </a:solidFill>
                    <a:ln w="19050">
                      <a:solidFill>
                        <a:srgbClr val="AAC9B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70" b="1" dirty="0">
                        <a:latin typeface="Times New Roman" panose="02020503050405090304" charset="0"/>
                        <a:cs typeface="Times New Roman" panose="02020503050405090304" charset="0"/>
                      </a:endParaRPr>
                    </a:p>
                  </p:txBody>
                </p:sp>
                <p:cxnSp>
                  <p:nvCxnSpPr>
                    <p:cNvPr id="143" name="曲线连接符 142">
                      <a:extLst>
                        <a:ext uri="{FF2B5EF4-FFF2-40B4-BE49-F238E27FC236}">
                          <a16:creationId xmlns:a16="http://schemas.microsoft.com/office/drawing/2014/main" id="{28DFEFD4-8AF3-3712-60AC-6F70A4B84DBD}"/>
                        </a:ext>
                      </a:extLst>
                    </p:cNvPr>
                    <p:cNvCxnSpPr>
                      <a:stCxn id="140" idx="0"/>
                      <a:endCxn id="142" idx="0"/>
                    </p:cNvCxnSpPr>
                    <p:nvPr/>
                  </p:nvCxnSpPr>
                  <p:spPr>
                    <a:xfrm rot="16200000" flipH="1">
                      <a:off x="8025918" y="10119276"/>
                      <a:ext cx="116117" cy="754847"/>
                    </a:xfrm>
                    <a:prstGeom prst="curvedConnector3">
                      <a:avLst>
                        <a:gd name="adj1" fmla="val -196870"/>
                      </a:avLst>
                    </a:prstGeom>
                    <a:ln w="12700">
                      <a:prstDash val="dash"/>
                    </a:ln>
                  </p:spPr>
                  <p:style>
                    <a:lnRef idx="1">
                      <a:schemeClr val="dk1"/>
                    </a:lnRef>
                    <a:fillRef idx="0">
                      <a:schemeClr val="dk1"/>
                    </a:fillRef>
                    <a:effectRef idx="0">
                      <a:schemeClr val="dk1"/>
                    </a:effectRef>
                    <a:fontRef idx="minor">
                      <a:schemeClr val="tx1"/>
                    </a:fontRef>
                  </p:style>
                </p:cxnSp>
                <p:cxnSp>
                  <p:nvCxnSpPr>
                    <p:cNvPr id="144" name="曲线连接符 143">
                      <a:extLst>
                        <a:ext uri="{FF2B5EF4-FFF2-40B4-BE49-F238E27FC236}">
                          <a16:creationId xmlns:a16="http://schemas.microsoft.com/office/drawing/2014/main" id="{CA530662-5B86-E8F8-263B-2D20C5833AF9}"/>
                        </a:ext>
                      </a:extLst>
                    </p:cNvPr>
                    <p:cNvCxnSpPr>
                      <a:stCxn id="141" idx="3"/>
                    </p:cNvCxnSpPr>
                    <p:nvPr/>
                  </p:nvCxnSpPr>
                  <p:spPr>
                    <a:xfrm flipV="1">
                      <a:off x="8215389" y="10889283"/>
                      <a:ext cx="246013" cy="306586"/>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cxnSp>
                  <p:nvCxnSpPr>
                    <p:cNvPr id="145" name="曲线连接符 144">
                      <a:extLst>
                        <a:ext uri="{FF2B5EF4-FFF2-40B4-BE49-F238E27FC236}">
                          <a16:creationId xmlns:a16="http://schemas.microsoft.com/office/drawing/2014/main" id="{E4706E86-8E8F-493B-E889-BE7683688A87}"/>
                        </a:ext>
                      </a:extLst>
                    </p:cNvPr>
                    <p:cNvCxnSpPr>
                      <a:stCxn id="141" idx="1"/>
                      <a:endCxn id="140" idx="2"/>
                    </p:cNvCxnSpPr>
                    <p:nvPr/>
                  </p:nvCxnSpPr>
                  <p:spPr>
                    <a:xfrm rot="10800000">
                      <a:off x="7706554" y="10742859"/>
                      <a:ext cx="204616" cy="453010"/>
                    </a:xfrm>
                    <a:prstGeom prst="curvedConnector2">
                      <a:avLst/>
                    </a:prstGeom>
                    <a:ln w="12700">
                      <a:prstDash val="dash"/>
                    </a:ln>
                  </p:spPr>
                  <p:style>
                    <a:lnRef idx="1">
                      <a:schemeClr val="dk1"/>
                    </a:lnRef>
                    <a:fillRef idx="0">
                      <a:schemeClr val="dk1"/>
                    </a:fillRef>
                    <a:effectRef idx="0">
                      <a:schemeClr val="dk1"/>
                    </a:effectRef>
                    <a:fontRef idx="minor">
                      <a:schemeClr val="tx1"/>
                    </a:fontRef>
                  </p:style>
                </p:cxnSp>
              </p:grpSp>
              <p:sp>
                <p:nvSpPr>
                  <p:cNvPr id="139" name="椭圆 138">
                    <a:extLst>
                      <a:ext uri="{FF2B5EF4-FFF2-40B4-BE49-F238E27FC236}">
                        <a16:creationId xmlns:a16="http://schemas.microsoft.com/office/drawing/2014/main" id="{D8FC3EF3-FB36-5F04-7835-C83556FA1A8F}"/>
                      </a:ext>
                    </a:extLst>
                  </p:cNvPr>
                  <p:cNvSpPr/>
                  <p:nvPr/>
                </p:nvSpPr>
                <p:spPr>
                  <a:xfrm>
                    <a:off x="8829746" y="10867490"/>
                    <a:ext cx="1515414" cy="15154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475" dirty="0"/>
                  </a:p>
                </p:txBody>
              </p:sp>
            </p:grpSp>
            <p:cxnSp>
              <p:nvCxnSpPr>
                <p:cNvPr id="27" name="曲线连接符 26">
                  <a:extLst>
                    <a:ext uri="{FF2B5EF4-FFF2-40B4-BE49-F238E27FC236}">
                      <a16:creationId xmlns:a16="http://schemas.microsoft.com/office/drawing/2014/main" id="{2FBCC6AD-5309-B9EB-DB35-0979FC90C980}"/>
                    </a:ext>
                  </a:extLst>
                </p:cNvPr>
                <p:cNvCxnSpPr>
                  <a:stCxn id="134" idx="4"/>
                  <a:endCxn id="139" idx="4"/>
                </p:cNvCxnSpPr>
                <p:nvPr/>
              </p:nvCxnSpPr>
              <p:spPr>
                <a:xfrm rot="5400000" flipH="1" flipV="1">
                  <a:off x="10394929" y="9815064"/>
                  <a:ext cx="2667" cy="1701394"/>
                </a:xfrm>
                <a:prstGeom prst="curvedConnector3">
                  <a:avLst>
                    <a:gd name="adj1" fmla="val -8571429"/>
                  </a:avLst>
                </a:prstGeom>
                <a:ln w="57150">
                  <a:prstDash val="dash"/>
                  <a:headEnd type="triangle"/>
                  <a:tailEnd type="triangle"/>
                </a:ln>
              </p:spPr>
              <p:style>
                <a:lnRef idx="1">
                  <a:schemeClr val="dk1"/>
                </a:lnRef>
                <a:fillRef idx="0">
                  <a:schemeClr val="dk1"/>
                </a:fillRef>
                <a:effectRef idx="0">
                  <a:schemeClr val="dk1"/>
                </a:effectRef>
                <a:fontRef idx="minor">
                  <a:schemeClr val="tx1"/>
                </a:fontRef>
              </p:style>
            </p:cxnSp>
          </p:grpSp>
          <p:sp>
            <p:nvSpPr>
              <p:cNvPr id="151" name="文本框 150">
                <a:extLst>
                  <a:ext uri="{FF2B5EF4-FFF2-40B4-BE49-F238E27FC236}">
                    <a16:creationId xmlns:a16="http://schemas.microsoft.com/office/drawing/2014/main" id="{C0A30B64-8F78-7CF6-6EB6-C008A3FE4AD8}"/>
                  </a:ext>
                </a:extLst>
              </p:cNvPr>
              <p:cNvSpPr txBox="1"/>
              <p:nvPr/>
            </p:nvSpPr>
            <p:spPr>
              <a:xfrm>
                <a:off x="9578390" y="12052674"/>
                <a:ext cx="6752705" cy="2377481"/>
              </a:xfrm>
              <a:prstGeom prst="rect">
                <a:avLst/>
              </a:prstGeom>
              <a:noFill/>
            </p:spPr>
            <p:txBody>
              <a:bodyPr wrap="square" rtlCol="0">
                <a:spAutoFit/>
              </a:bodyPr>
              <a:lstStyle/>
              <a:p>
                <a:pPr algn="ctr"/>
                <a:r>
                  <a:rPr lang="en-GB" altLang="zh-CN" sz="1165" b="1" dirty="0">
                    <a:solidFill>
                      <a:srgbClr val="5068CF"/>
                    </a:solidFill>
                    <a:latin typeface="Times New Roman" panose="02020503050405090304" charset="0"/>
                    <a:cs typeface="Times New Roman" panose="02020503050405090304" charset="0"/>
                  </a:rPr>
                  <a:t>Spatiotemporal Primitive </a:t>
                </a:r>
              </a:p>
              <a:p>
                <a:pPr algn="ctr"/>
                <a:r>
                  <a:rPr lang="en-GB" altLang="zh-CN" sz="1165" b="1" dirty="0">
                    <a:solidFill>
                      <a:srgbClr val="5068CF"/>
                    </a:solidFill>
                    <a:latin typeface="Times New Roman" panose="02020503050405090304" charset="0"/>
                    <a:cs typeface="Times New Roman" panose="02020503050405090304" charset="0"/>
                  </a:rPr>
                  <a:t>Representation</a:t>
                </a:r>
                <a:endParaRPr lang="zh-CN" altLang="en-US" sz="1165" b="1" dirty="0">
                  <a:solidFill>
                    <a:srgbClr val="5068CF"/>
                  </a:solidFill>
                  <a:latin typeface="Times New Roman" panose="02020503050405090304" charset="0"/>
                  <a:cs typeface="Times New Roman" panose="02020503050405090304" charset="0"/>
                </a:endParaRPr>
              </a:p>
            </p:txBody>
          </p:sp>
        </p:grpSp>
        <p:grpSp>
          <p:nvGrpSpPr>
            <p:cNvPr id="122" name="组合 121">
              <a:extLst>
                <a:ext uri="{FF2B5EF4-FFF2-40B4-BE49-F238E27FC236}">
                  <a16:creationId xmlns:a16="http://schemas.microsoft.com/office/drawing/2014/main" id="{DCA0D2A9-61F6-310D-2183-01768CF8A5E7}"/>
                </a:ext>
              </a:extLst>
            </p:cNvPr>
            <p:cNvGrpSpPr/>
            <p:nvPr/>
          </p:nvGrpSpPr>
          <p:grpSpPr>
            <a:xfrm>
              <a:off x="9537891" y="15573657"/>
              <a:ext cx="7177281" cy="3076431"/>
              <a:chOff x="9329141" y="16583941"/>
              <a:chExt cx="7177281" cy="3076431"/>
            </a:xfrm>
          </p:grpSpPr>
          <p:sp>
            <p:nvSpPr>
              <p:cNvPr id="100" name="矩形: 圆角 507">
                <a:extLst>
                  <a:ext uri="{FF2B5EF4-FFF2-40B4-BE49-F238E27FC236}">
                    <a16:creationId xmlns:a16="http://schemas.microsoft.com/office/drawing/2014/main" id="{2B3AA67B-224F-BF2C-0375-E46CB13BCA64}"/>
                  </a:ext>
                </a:extLst>
              </p:cNvPr>
              <p:cNvSpPr/>
              <p:nvPr/>
            </p:nvSpPr>
            <p:spPr>
              <a:xfrm>
                <a:off x="9329141" y="16610458"/>
                <a:ext cx="7177281" cy="3049914"/>
              </a:xfrm>
              <a:prstGeom prst="roundRect">
                <a:avLst>
                  <a:gd name="adj" fmla="val 6937"/>
                </a:avLst>
              </a:prstGeom>
              <a:solidFill>
                <a:srgbClr val="FDFDFE"/>
              </a:solidFill>
              <a:ln>
                <a:solidFill>
                  <a:srgbClr val="849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101" name="文本框 100">
                <a:extLst>
                  <a:ext uri="{FF2B5EF4-FFF2-40B4-BE49-F238E27FC236}">
                    <a16:creationId xmlns:a16="http://schemas.microsoft.com/office/drawing/2014/main" id="{4F544812-2DF5-FA44-306E-8C177CB972A6}"/>
                  </a:ext>
                </a:extLst>
              </p:cNvPr>
              <p:cNvSpPr txBox="1"/>
              <p:nvPr/>
            </p:nvSpPr>
            <p:spPr>
              <a:xfrm>
                <a:off x="9950537" y="16583941"/>
                <a:ext cx="5754368" cy="1020975"/>
              </a:xfrm>
              <a:prstGeom prst="rect">
                <a:avLst/>
              </a:prstGeom>
              <a:noFill/>
            </p:spPr>
            <p:txBody>
              <a:bodyPr wrap="none" rtlCol="0">
                <a:spAutoFit/>
              </a:bodyPr>
              <a:lstStyle/>
              <a:p>
                <a:pPr algn="ctr"/>
                <a:r>
                  <a:rPr lang="en-US" altLang="zh-CN" sz="1165" b="1" dirty="0">
                    <a:solidFill>
                      <a:srgbClr val="5068CF"/>
                    </a:solidFill>
                    <a:latin typeface="Times New Roman" panose="02020503050405090304" charset="0"/>
                    <a:cs typeface="Times New Roman" panose="02020503050405090304" charset="0"/>
                  </a:rPr>
                  <a:t>Emotion Recognition</a:t>
                </a:r>
                <a:endParaRPr lang="zh-CN" altLang="en-US" sz="1165" b="1" dirty="0">
                  <a:solidFill>
                    <a:srgbClr val="5068CF"/>
                  </a:solidFill>
                  <a:latin typeface="Times New Roman" panose="02020503050405090304" charset="0"/>
                  <a:cs typeface="Times New Roman" panose="02020503050405090304" charset="0"/>
                </a:endParaRPr>
              </a:p>
            </p:txBody>
          </p:sp>
          <mc:AlternateContent xmlns:mc="http://schemas.openxmlformats.org/markup-compatibility/2006">
            <mc:Choice xmlns:a14="http://schemas.microsoft.com/office/drawing/2010/main" Requires="a14">
              <p:graphicFrame>
                <p:nvGraphicFramePr>
                  <p:cNvPr id="49" name="图表 48">
                    <a:extLst>
                      <a:ext uri="{FF2B5EF4-FFF2-40B4-BE49-F238E27FC236}">
                        <a16:creationId xmlns:a16="http://schemas.microsoft.com/office/drawing/2014/main" id="{2F8B87E6-1300-5320-48AE-258E03219324}"/>
                      </a:ext>
                    </a:extLst>
                  </p:cNvPr>
                  <p:cNvGraphicFramePr/>
                  <p:nvPr/>
                </p:nvGraphicFramePr>
                <p:xfrm>
                  <a:off x="10419923" y="16798513"/>
                  <a:ext cx="4668879" cy="2282953"/>
                </p:xfrm>
                <a:graphic>
                  <a:graphicData uri="http://schemas.openxmlformats.org/drawingml/2006/chart">
                    <c:chart xmlns:c="http://schemas.openxmlformats.org/drawingml/2006/chart" xmlns:r="http://schemas.openxmlformats.org/officeDocument/2006/relationships" r:id="rId4"/>
                  </a:graphicData>
                </a:graphic>
              </p:graphicFrame>
            </mc:Choice>
            <mc:Fallback>
              <p:graphicFrame>
                <p:nvGraphicFramePr>
                  <p:cNvPr id="49" name="图表 48">
                    <a:extLst>
                      <a:ext uri="{FF2B5EF4-FFF2-40B4-BE49-F238E27FC236}">
                        <a16:creationId xmlns:a16="http://schemas.microsoft.com/office/drawing/2014/main" id="{2F8B87E6-1300-5320-48AE-258E03219324}"/>
                      </a:ext>
                    </a:extLst>
                  </p:cNvPr>
                  <p:cNvGraphicFramePr/>
                  <p:nvPr/>
                </p:nvGraphicFramePr>
                <p:xfrm>
                  <a:off x="10419923" y="16798513"/>
                  <a:ext cx="4668879" cy="2282953"/>
                </p:xfrm>
                <a:graphic>
                  <a:graphicData uri="http://schemas.openxmlformats.org/drawingml/2006/chart">
                    <c:chart xmlns:c="http://schemas.openxmlformats.org/drawingml/2006/chart" xmlns:r="http://schemas.openxmlformats.org/officeDocument/2006/relationships" r:id="rId4"/>
                  </a:graphicData>
                </a:graphic>
              </p:graphicFrame>
            </mc:Fallback>
          </mc:AlternateContent>
          <p:pic>
            <p:nvPicPr>
              <p:cNvPr id="4" name="图片 3">
                <a:extLst>
                  <a:ext uri="{FF2B5EF4-FFF2-40B4-BE49-F238E27FC236}">
                    <a16:creationId xmlns:a16="http://schemas.microsoft.com/office/drawing/2014/main" id="{41BDCFA7-BF4A-36F5-3DAA-54AC70EFD1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0042" y="18881976"/>
                <a:ext cx="600825" cy="600825"/>
              </a:xfrm>
              <a:prstGeom prst="rect">
                <a:avLst/>
              </a:prstGeom>
            </p:spPr>
          </p:pic>
          <p:pic>
            <p:nvPicPr>
              <p:cNvPr id="8" name="图片 7">
                <a:extLst>
                  <a:ext uri="{FF2B5EF4-FFF2-40B4-BE49-F238E27FC236}">
                    <a16:creationId xmlns:a16="http://schemas.microsoft.com/office/drawing/2014/main" id="{B1C7C298-AAEC-19B6-05BA-8B2659B561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12218" y="18840656"/>
                <a:ext cx="642145" cy="642145"/>
              </a:xfrm>
              <a:prstGeom prst="rect">
                <a:avLst/>
              </a:prstGeom>
            </p:spPr>
          </p:pic>
          <p:pic>
            <p:nvPicPr>
              <p:cNvPr id="10" name="图片 9">
                <a:extLst>
                  <a:ext uri="{FF2B5EF4-FFF2-40B4-BE49-F238E27FC236}">
                    <a16:creationId xmlns:a16="http://schemas.microsoft.com/office/drawing/2014/main" id="{9ADE6E53-A7C5-AC27-6BD7-0F0A980ADC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863277" y="18905542"/>
                <a:ext cx="577259" cy="577259"/>
              </a:xfrm>
              <a:prstGeom prst="rect">
                <a:avLst/>
              </a:prstGeom>
            </p:spPr>
          </p:pic>
          <p:pic>
            <p:nvPicPr>
              <p:cNvPr id="12" name="图片 11">
                <a:extLst>
                  <a:ext uri="{FF2B5EF4-FFF2-40B4-BE49-F238E27FC236}">
                    <a16:creationId xmlns:a16="http://schemas.microsoft.com/office/drawing/2014/main" id="{BA7FC596-716D-DF33-C34D-5DC2D127C7C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80887" y="18895658"/>
                <a:ext cx="568093" cy="568093"/>
              </a:xfrm>
              <a:prstGeom prst="rect">
                <a:avLst/>
              </a:prstGeom>
            </p:spPr>
          </p:pic>
        </p:grpSp>
        <p:sp>
          <p:nvSpPr>
            <p:cNvPr id="169" name="矩形: 圆角 439">
              <a:extLst>
                <a:ext uri="{FF2B5EF4-FFF2-40B4-BE49-F238E27FC236}">
                  <a16:creationId xmlns:a16="http://schemas.microsoft.com/office/drawing/2014/main" id="{F8C46061-D6D5-D583-FD7B-415B94042D16}"/>
                </a:ext>
              </a:extLst>
            </p:cNvPr>
            <p:cNvSpPr/>
            <p:nvPr/>
          </p:nvSpPr>
          <p:spPr>
            <a:xfrm>
              <a:off x="19132905" y="4870883"/>
              <a:ext cx="16007624" cy="13928569"/>
            </a:xfrm>
            <a:prstGeom prst="roundRect">
              <a:avLst>
                <a:gd name="adj" fmla="val 3381"/>
              </a:avLst>
            </a:prstGeom>
            <a:solidFill>
              <a:srgbClr val="FAFAFC"/>
            </a:solidFill>
            <a:ln w="76200">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170" name="文本框 169">
              <a:extLst>
                <a:ext uri="{FF2B5EF4-FFF2-40B4-BE49-F238E27FC236}">
                  <a16:creationId xmlns:a16="http://schemas.microsoft.com/office/drawing/2014/main" id="{59BCE9B9-959A-43F4-3C6D-EA40CD58BA65}"/>
                </a:ext>
              </a:extLst>
            </p:cNvPr>
            <p:cNvSpPr txBox="1"/>
            <p:nvPr/>
          </p:nvSpPr>
          <p:spPr>
            <a:xfrm>
              <a:off x="20262055" y="4777319"/>
              <a:ext cx="13248707" cy="1265434"/>
            </a:xfrm>
            <a:prstGeom prst="rect">
              <a:avLst/>
            </a:prstGeom>
            <a:noFill/>
          </p:spPr>
          <p:txBody>
            <a:bodyPr wrap="none" rtlCol="0">
              <a:spAutoFit/>
            </a:bodyPr>
            <a:lstStyle/>
            <a:p>
              <a:pPr algn="ctr"/>
              <a:r>
                <a:rPr lang="en-US" altLang="zh-CN" sz="1590" b="1" dirty="0">
                  <a:latin typeface="Times New Roman" panose="02020503050405090304" charset="0"/>
                  <a:cs typeface="Times New Roman" panose="02020503050405090304" charset="0"/>
                </a:rPr>
                <a:t>State-Aware Affective Response Agent</a:t>
              </a:r>
              <a:endParaRPr lang="zh-CN" altLang="en-US" sz="1590" b="1" dirty="0">
                <a:latin typeface="Times New Roman" panose="02020503050405090304" charset="0"/>
                <a:cs typeface="Times New Roman" panose="02020503050405090304" charset="0"/>
              </a:endParaRPr>
            </a:p>
          </p:txBody>
        </p:sp>
        <p:sp>
          <p:nvSpPr>
            <p:cNvPr id="219" name="矩形: 圆角 439">
              <a:extLst>
                <a:ext uri="{FF2B5EF4-FFF2-40B4-BE49-F238E27FC236}">
                  <a16:creationId xmlns:a16="http://schemas.microsoft.com/office/drawing/2014/main" id="{B94B8EB5-CC6B-82CB-3A66-339FA7E9C9B0}"/>
                </a:ext>
              </a:extLst>
            </p:cNvPr>
            <p:cNvSpPr/>
            <p:nvPr/>
          </p:nvSpPr>
          <p:spPr>
            <a:xfrm>
              <a:off x="19545675" y="9409828"/>
              <a:ext cx="6000512" cy="9082501"/>
            </a:xfrm>
            <a:prstGeom prst="roundRect">
              <a:avLst>
                <a:gd name="adj" fmla="val 6610"/>
              </a:avLst>
            </a:prstGeom>
            <a:solidFill>
              <a:srgbClr val="FAF6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0" name="文本框 219">
              <a:extLst>
                <a:ext uri="{FF2B5EF4-FFF2-40B4-BE49-F238E27FC236}">
                  <a16:creationId xmlns:a16="http://schemas.microsoft.com/office/drawing/2014/main" id="{F6FC1B8C-50D7-531A-7CB9-84A830DD85C0}"/>
                </a:ext>
              </a:extLst>
            </p:cNvPr>
            <p:cNvSpPr txBox="1"/>
            <p:nvPr/>
          </p:nvSpPr>
          <p:spPr>
            <a:xfrm>
              <a:off x="19590260" y="9345988"/>
              <a:ext cx="6001223" cy="2835242"/>
            </a:xfrm>
            <a:prstGeom prst="rect">
              <a:avLst/>
            </a:prstGeom>
            <a:noFill/>
          </p:spPr>
          <p:txBody>
            <a:bodyPr wrap="none" rtlCol="0">
              <a:spAutoFit/>
            </a:bodyPr>
            <a:lstStyle/>
            <a:p>
              <a:pPr algn="ctr"/>
              <a:r>
                <a:rPr lang="en-US" altLang="zh-CN" sz="1430" b="1" dirty="0">
                  <a:solidFill>
                    <a:srgbClr val="8469C5"/>
                  </a:solidFill>
                  <a:latin typeface="Times New Roman" panose="02020503050405090304" charset="0"/>
                  <a:cs typeface="Times New Roman" panose="02020503050405090304" charset="0"/>
                </a:rPr>
                <a:t>User-state </a:t>
              </a:r>
            </a:p>
            <a:p>
              <a:pPr algn="ctr"/>
              <a:r>
                <a:rPr lang="en-US" altLang="zh-CN" sz="1430" b="1" dirty="0">
                  <a:solidFill>
                    <a:srgbClr val="8469C5"/>
                  </a:solidFill>
                  <a:latin typeface="Times New Roman" panose="02020503050405090304" charset="0"/>
                  <a:cs typeface="Times New Roman" panose="02020503050405090304" charset="0"/>
                </a:rPr>
                <a:t>Understanding &amp; </a:t>
              </a:r>
            </a:p>
            <a:p>
              <a:pPr algn="ctr"/>
              <a:r>
                <a:rPr lang="en-US" altLang="zh-CN" sz="1430" b="1" dirty="0">
                  <a:solidFill>
                    <a:srgbClr val="8469C5"/>
                  </a:solidFill>
                  <a:latin typeface="Times New Roman" panose="02020503050405090304" charset="0"/>
                  <a:cs typeface="Times New Roman" panose="02020503050405090304" charset="0"/>
                </a:rPr>
                <a:t>response planning</a:t>
              </a:r>
              <a:endParaRPr lang="zh-CN" altLang="en-US" sz="1430" b="1" dirty="0">
                <a:solidFill>
                  <a:srgbClr val="8469C5"/>
                </a:solidFill>
                <a:latin typeface="Times New Roman" panose="02020503050405090304" charset="0"/>
                <a:cs typeface="Times New Roman" panose="02020503050405090304" charset="0"/>
              </a:endParaRPr>
            </a:p>
          </p:txBody>
        </p:sp>
        <p:grpSp>
          <p:nvGrpSpPr>
            <p:cNvPr id="36" name="组合 35">
              <a:extLst>
                <a:ext uri="{FF2B5EF4-FFF2-40B4-BE49-F238E27FC236}">
                  <a16:creationId xmlns:a16="http://schemas.microsoft.com/office/drawing/2014/main" id="{C80C0113-A27B-E0D8-FE9B-1E128D1881D3}"/>
                </a:ext>
              </a:extLst>
            </p:cNvPr>
            <p:cNvGrpSpPr/>
            <p:nvPr/>
          </p:nvGrpSpPr>
          <p:grpSpPr>
            <a:xfrm>
              <a:off x="19694765" y="12132252"/>
              <a:ext cx="5609085" cy="2488200"/>
              <a:chOff x="19385154" y="9313950"/>
              <a:chExt cx="5609085" cy="2488200"/>
            </a:xfrm>
          </p:grpSpPr>
          <p:sp>
            <p:nvSpPr>
              <p:cNvPr id="227" name="矩形: 圆角 439">
                <a:extLst>
                  <a:ext uri="{FF2B5EF4-FFF2-40B4-BE49-F238E27FC236}">
                    <a16:creationId xmlns:a16="http://schemas.microsoft.com/office/drawing/2014/main" id="{0E2E0BA3-488C-5A79-5AE4-07F16A3A6DCD}"/>
                  </a:ext>
                </a:extLst>
              </p:cNvPr>
              <p:cNvSpPr/>
              <p:nvPr/>
            </p:nvSpPr>
            <p:spPr>
              <a:xfrm>
                <a:off x="19385154" y="9313950"/>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26" name="图片 25">
                <a:extLst>
                  <a:ext uri="{FF2B5EF4-FFF2-40B4-BE49-F238E27FC236}">
                    <a16:creationId xmlns:a16="http://schemas.microsoft.com/office/drawing/2014/main" id="{B96FED7B-C287-46B7-266C-6ADE98803453}"/>
                  </a:ext>
                </a:extLst>
              </p:cNvPr>
              <p:cNvPicPr>
                <a:picLocks noChangeAspect="1"/>
              </p:cNvPicPr>
              <p:nvPr/>
            </p:nvPicPr>
            <p:blipFill>
              <a:blip r:embed="rId9"/>
              <a:stretch>
                <a:fillRect/>
              </a:stretch>
            </p:blipFill>
            <p:spPr>
              <a:xfrm>
                <a:off x="19490528" y="9411171"/>
                <a:ext cx="1278607" cy="1306403"/>
              </a:xfrm>
              <a:prstGeom prst="rect">
                <a:avLst/>
              </a:prstGeom>
            </p:spPr>
          </p:pic>
          <p:sp>
            <p:nvSpPr>
              <p:cNvPr id="31" name="文本框 30">
                <a:extLst>
                  <a:ext uri="{FF2B5EF4-FFF2-40B4-BE49-F238E27FC236}">
                    <a16:creationId xmlns:a16="http://schemas.microsoft.com/office/drawing/2014/main" id="{52C98A2C-6F93-D3C3-EAED-8BDE1B40CFF9}"/>
                  </a:ext>
                </a:extLst>
              </p:cNvPr>
              <p:cNvSpPr txBox="1"/>
              <p:nvPr/>
            </p:nvSpPr>
            <p:spPr>
              <a:xfrm>
                <a:off x="20769135" y="9424669"/>
                <a:ext cx="4225104" cy="2377481"/>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Affective </a:t>
                </a:r>
              </a:p>
              <a:p>
                <a:pPr algn="ctr"/>
                <a:r>
                  <a:rPr lang="en-US" altLang="zh-CN" sz="1165" b="1" dirty="0">
                    <a:latin typeface="Times New Roman" panose="02020503050405090304" charset="0"/>
                    <a:cs typeface="Times New Roman" panose="02020503050405090304" charset="0"/>
                  </a:rPr>
                  <a:t>Understanding</a:t>
                </a:r>
                <a:endParaRPr lang="zh-CN" altLang="en-US" sz="1165" b="1" dirty="0">
                  <a:latin typeface="Times New Roman" panose="02020503050405090304" charset="0"/>
                  <a:cs typeface="Times New Roman" panose="02020503050405090304" charset="0"/>
                </a:endParaRPr>
              </a:p>
            </p:txBody>
          </p:sp>
        </p:grpSp>
        <p:grpSp>
          <p:nvGrpSpPr>
            <p:cNvPr id="32" name="组合 31">
              <a:extLst>
                <a:ext uri="{FF2B5EF4-FFF2-40B4-BE49-F238E27FC236}">
                  <a16:creationId xmlns:a16="http://schemas.microsoft.com/office/drawing/2014/main" id="{C666D0BA-BADC-C3D7-7A03-E9393C99B453}"/>
                </a:ext>
              </a:extLst>
            </p:cNvPr>
            <p:cNvGrpSpPr/>
            <p:nvPr/>
          </p:nvGrpSpPr>
          <p:grpSpPr>
            <a:xfrm>
              <a:off x="19691714" y="14257069"/>
              <a:ext cx="5581348" cy="2443991"/>
              <a:chOff x="19909693" y="12542616"/>
              <a:chExt cx="5581348" cy="2443991"/>
            </a:xfrm>
          </p:grpSpPr>
          <p:sp>
            <p:nvSpPr>
              <p:cNvPr id="237" name="矩形: 圆角 439">
                <a:extLst>
                  <a:ext uri="{FF2B5EF4-FFF2-40B4-BE49-F238E27FC236}">
                    <a16:creationId xmlns:a16="http://schemas.microsoft.com/office/drawing/2014/main" id="{3AE78D66-4ED4-4551-4607-FDFB6FEE4FF9}"/>
                  </a:ext>
                </a:extLst>
              </p:cNvPr>
              <p:cNvSpPr/>
              <p:nvPr/>
            </p:nvSpPr>
            <p:spPr>
              <a:xfrm>
                <a:off x="19909693" y="12542616"/>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0" name="图片 39">
                <a:extLst>
                  <a:ext uri="{FF2B5EF4-FFF2-40B4-BE49-F238E27FC236}">
                    <a16:creationId xmlns:a16="http://schemas.microsoft.com/office/drawing/2014/main" id="{E871CE97-3685-F806-D65F-C3E2B4280CF3}"/>
                  </a:ext>
                </a:extLst>
              </p:cNvPr>
              <p:cNvPicPr>
                <a:picLocks noChangeAspect="1"/>
              </p:cNvPicPr>
              <p:nvPr/>
            </p:nvPicPr>
            <p:blipFill>
              <a:blip r:embed="rId10"/>
              <a:stretch>
                <a:fillRect/>
              </a:stretch>
            </p:blipFill>
            <p:spPr>
              <a:xfrm>
                <a:off x="20076354" y="12692245"/>
                <a:ext cx="1057086" cy="1302920"/>
              </a:xfrm>
              <a:prstGeom prst="rect">
                <a:avLst/>
              </a:prstGeom>
            </p:spPr>
          </p:pic>
          <p:sp>
            <p:nvSpPr>
              <p:cNvPr id="250" name="文本框 249">
                <a:extLst>
                  <a:ext uri="{FF2B5EF4-FFF2-40B4-BE49-F238E27FC236}">
                    <a16:creationId xmlns:a16="http://schemas.microsoft.com/office/drawing/2014/main" id="{24BDA60D-23FC-361A-075D-8904B7E30F87}"/>
                  </a:ext>
                </a:extLst>
              </p:cNvPr>
              <p:cNvSpPr txBox="1"/>
              <p:nvPr/>
            </p:nvSpPr>
            <p:spPr>
              <a:xfrm>
                <a:off x="21127080" y="12609126"/>
                <a:ext cx="4363961" cy="2377481"/>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Support Strategy</a:t>
                </a:r>
              </a:p>
              <a:p>
                <a:pPr algn="ctr"/>
                <a:r>
                  <a:rPr lang="en-US" altLang="zh-CN" sz="1165" b="1" dirty="0">
                    <a:latin typeface="Times New Roman" panose="02020503050405090304" charset="0"/>
                    <a:cs typeface="Times New Roman" panose="02020503050405090304" charset="0"/>
                  </a:rPr>
                  <a:t>Planning</a:t>
                </a:r>
                <a:endParaRPr lang="zh-CN" altLang="en-US" sz="1165" b="1" dirty="0">
                  <a:latin typeface="Times New Roman" panose="02020503050405090304" charset="0"/>
                  <a:cs typeface="Times New Roman" panose="02020503050405090304" charset="0"/>
                </a:endParaRPr>
              </a:p>
            </p:txBody>
          </p:sp>
        </p:grpSp>
        <p:grpSp>
          <p:nvGrpSpPr>
            <p:cNvPr id="43" name="组合 42">
              <a:extLst>
                <a:ext uri="{FF2B5EF4-FFF2-40B4-BE49-F238E27FC236}">
                  <a16:creationId xmlns:a16="http://schemas.microsoft.com/office/drawing/2014/main" id="{E7BE2871-CA4E-EBEA-605E-2AE5E4EB5E85}"/>
                </a:ext>
              </a:extLst>
            </p:cNvPr>
            <p:cNvGrpSpPr/>
            <p:nvPr/>
          </p:nvGrpSpPr>
          <p:grpSpPr>
            <a:xfrm>
              <a:off x="19711815" y="16355874"/>
              <a:ext cx="5574987" cy="1802712"/>
              <a:chOff x="16014058" y="10173347"/>
              <a:chExt cx="5574987" cy="1802712"/>
            </a:xfrm>
          </p:grpSpPr>
          <p:sp>
            <p:nvSpPr>
              <p:cNvPr id="241" name="矩形: 圆角 439">
                <a:extLst>
                  <a:ext uri="{FF2B5EF4-FFF2-40B4-BE49-F238E27FC236}">
                    <a16:creationId xmlns:a16="http://schemas.microsoft.com/office/drawing/2014/main" id="{FC95A20E-B5D9-05D1-70E5-1889193838F5}"/>
                  </a:ext>
                </a:extLst>
              </p:cNvPr>
              <p:cNvSpPr/>
              <p:nvPr/>
            </p:nvSpPr>
            <p:spPr>
              <a:xfrm>
                <a:off x="16014058" y="10173347"/>
                <a:ext cx="5574987" cy="163593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52" name="文本框 251">
                <a:extLst>
                  <a:ext uri="{FF2B5EF4-FFF2-40B4-BE49-F238E27FC236}">
                    <a16:creationId xmlns:a16="http://schemas.microsoft.com/office/drawing/2014/main" id="{63615A5C-FBEE-21C9-5582-6D915C621724}"/>
                  </a:ext>
                </a:extLst>
              </p:cNvPr>
              <p:cNvSpPr txBox="1"/>
              <p:nvPr/>
            </p:nvSpPr>
            <p:spPr>
              <a:xfrm>
                <a:off x="17160121" y="10276831"/>
                <a:ext cx="4363961" cy="1699228"/>
              </a:xfrm>
              <a:prstGeom prst="rect">
                <a:avLst/>
              </a:prstGeom>
              <a:noFill/>
            </p:spPr>
            <p:txBody>
              <a:bodyPr wrap="square" rtlCol="0">
                <a:spAutoFit/>
              </a:bodyPr>
              <a:lstStyle/>
              <a:p>
                <a:pPr algn="ctr"/>
                <a:r>
                  <a:rPr lang="en-US" altLang="zh-CN" sz="1165" b="1" dirty="0">
                    <a:latin typeface="Times New Roman" panose="02020503050405090304" charset="0"/>
                    <a:cs typeface="Times New Roman" panose="02020503050405090304" charset="0"/>
                  </a:rPr>
                  <a:t>Response Generation</a:t>
                </a:r>
                <a:endParaRPr lang="zh-CN" altLang="en-US" sz="1165" b="1" dirty="0">
                  <a:latin typeface="Times New Roman" panose="02020503050405090304" charset="0"/>
                  <a:cs typeface="Times New Roman" panose="02020503050405090304" charset="0"/>
                </a:endParaRPr>
              </a:p>
            </p:txBody>
          </p:sp>
          <p:pic>
            <p:nvPicPr>
              <p:cNvPr id="42" name="图片 41">
                <a:extLst>
                  <a:ext uri="{FF2B5EF4-FFF2-40B4-BE49-F238E27FC236}">
                    <a16:creationId xmlns:a16="http://schemas.microsoft.com/office/drawing/2014/main" id="{5514137D-F352-89C0-71DE-E4847609CDDF}"/>
                  </a:ext>
                </a:extLst>
              </p:cNvPr>
              <p:cNvPicPr>
                <a:picLocks noChangeAspect="1"/>
              </p:cNvPicPr>
              <p:nvPr/>
            </p:nvPicPr>
            <p:blipFill>
              <a:blip r:embed="rId11"/>
              <a:stretch>
                <a:fillRect/>
              </a:stretch>
            </p:blipFill>
            <p:spPr>
              <a:xfrm>
                <a:off x="16196935" y="10399733"/>
                <a:ext cx="1075602" cy="1183165"/>
              </a:xfrm>
              <a:prstGeom prst="rect">
                <a:avLst/>
              </a:prstGeom>
            </p:spPr>
          </p:pic>
        </p:grpSp>
        <p:grpSp>
          <p:nvGrpSpPr>
            <p:cNvPr id="30" name="组合 29">
              <a:extLst>
                <a:ext uri="{FF2B5EF4-FFF2-40B4-BE49-F238E27FC236}">
                  <a16:creationId xmlns:a16="http://schemas.microsoft.com/office/drawing/2014/main" id="{28DC0065-97C4-1483-1D40-E26CDAFA0CDF}"/>
                </a:ext>
              </a:extLst>
            </p:cNvPr>
            <p:cNvGrpSpPr/>
            <p:nvPr/>
          </p:nvGrpSpPr>
          <p:grpSpPr>
            <a:xfrm>
              <a:off x="25651561" y="10265619"/>
              <a:ext cx="8891492" cy="8315765"/>
              <a:chOff x="25833554" y="6746283"/>
              <a:chExt cx="8891492" cy="8915660"/>
            </a:xfrm>
          </p:grpSpPr>
          <p:sp>
            <p:nvSpPr>
              <p:cNvPr id="271" name="矩形: 圆角 439">
                <a:extLst>
                  <a:ext uri="{FF2B5EF4-FFF2-40B4-BE49-F238E27FC236}">
                    <a16:creationId xmlns:a16="http://schemas.microsoft.com/office/drawing/2014/main" id="{9058DAE1-8642-AE1C-CD81-151A1D473C0B}"/>
                  </a:ext>
                </a:extLst>
              </p:cNvPr>
              <p:cNvSpPr/>
              <p:nvPr/>
            </p:nvSpPr>
            <p:spPr>
              <a:xfrm>
                <a:off x="25840107" y="6746283"/>
                <a:ext cx="8884939" cy="8915660"/>
              </a:xfrm>
              <a:prstGeom prst="roundRect">
                <a:avLst>
                  <a:gd name="adj" fmla="val 3381"/>
                </a:avLst>
              </a:prstGeom>
              <a:solidFill>
                <a:srgbClr val="FAFAFC"/>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grpSp>
            <p:nvGrpSpPr>
              <p:cNvPr id="61" name="组合 60">
                <a:extLst>
                  <a:ext uri="{FF2B5EF4-FFF2-40B4-BE49-F238E27FC236}">
                    <a16:creationId xmlns:a16="http://schemas.microsoft.com/office/drawing/2014/main" id="{8C714D31-AAA4-E964-AF12-B12C40C951DB}"/>
                  </a:ext>
                </a:extLst>
              </p:cNvPr>
              <p:cNvGrpSpPr/>
              <p:nvPr/>
            </p:nvGrpSpPr>
            <p:grpSpPr>
              <a:xfrm>
                <a:off x="25833554" y="7156746"/>
                <a:ext cx="8443650" cy="8367922"/>
                <a:chOff x="24070974" y="4513323"/>
                <a:chExt cx="8443650" cy="8367922"/>
              </a:xfrm>
            </p:grpSpPr>
            <p:pic>
              <p:nvPicPr>
                <p:cNvPr id="475" name="图片 474">
                  <a:extLst>
                    <a:ext uri="{FF2B5EF4-FFF2-40B4-BE49-F238E27FC236}">
                      <a16:creationId xmlns:a16="http://schemas.microsoft.com/office/drawing/2014/main" id="{63617E86-CB24-100D-E992-72B9CD05F808}"/>
                    </a:ext>
                  </a:extLst>
                </p:cNvPr>
                <p:cNvPicPr>
                  <a:picLocks noChangeAspect="1"/>
                </p:cNvPicPr>
                <p:nvPr/>
              </p:nvPicPr>
              <p:blipFill>
                <a:blip r:embed="rId12"/>
                <a:stretch>
                  <a:fillRect/>
                </a:stretch>
              </p:blipFill>
              <p:spPr>
                <a:xfrm>
                  <a:off x="24070974" y="4571430"/>
                  <a:ext cx="3259239" cy="8309815"/>
                </a:xfrm>
                <a:prstGeom prst="rect">
                  <a:avLst/>
                </a:prstGeom>
              </p:spPr>
            </p:pic>
            <p:sp>
              <p:nvSpPr>
                <p:cNvPr id="253" name="对话气泡: 圆角矩形 17">
                  <a:extLst>
                    <a:ext uri="{FF2B5EF4-FFF2-40B4-BE49-F238E27FC236}">
                      <a16:creationId xmlns:a16="http://schemas.microsoft.com/office/drawing/2014/main" id="{290DA09D-D4E2-1E8A-1154-ED80ED42F8A6}"/>
                    </a:ext>
                  </a:extLst>
                </p:cNvPr>
                <p:cNvSpPr/>
                <p:nvPr/>
              </p:nvSpPr>
              <p:spPr>
                <a:xfrm>
                  <a:off x="27486313" y="4513323"/>
                  <a:ext cx="5028311" cy="1504314"/>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I’m here with you</a:t>
                  </a:r>
                  <a:endParaRPr lang="zh-CN" altLang="en-US" sz="1060" b="1" dirty="0">
                    <a:solidFill>
                      <a:schemeClr val="tx1"/>
                    </a:solidFill>
                    <a:latin typeface="Times New Roman" panose="02020503050405090304" charset="0"/>
                    <a:cs typeface="Times New Roman" panose="02020503050405090304" charset="0"/>
                  </a:endParaRPr>
                </a:p>
              </p:txBody>
            </p:sp>
            <p:sp>
              <p:nvSpPr>
                <p:cNvPr id="256" name="对话气泡: 圆角矩形 17">
                  <a:extLst>
                    <a:ext uri="{FF2B5EF4-FFF2-40B4-BE49-F238E27FC236}">
                      <a16:creationId xmlns:a16="http://schemas.microsoft.com/office/drawing/2014/main" id="{13BAC6BA-5125-3913-BBEB-BFF066C1ACC0}"/>
                    </a:ext>
                  </a:extLst>
                </p:cNvPr>
                <p:cNvSpPr/>
                <p:nvPr/>
              </p:nvSpPr>
              <p:spPr>
                <a:xfrm>
                  <a:off x="27448711" y="6936387"/>
                  <a:ext cx="5028311" cy="1504314"/>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Let’s take a deep breath together.</a:t>
                  </a:r>
                  <a:endParaRPr lang="zh-CN" altLang="en-US" sz="1060" b="1" dirty="0">
                    <a:solidFill>
                      <a:schemeClr val="tx1"/>
                    </a:solidFill>
                    <a:latin typeface="Times New Roman" panose="02020503050405090304" charset="0"/>
                    <a:cs typeface="Times New Roman" panose="02020503050405090304" charset="0"/>
                  </a:endParaRPr>
                </a:p>
              </p:txBody>
            </p:sp>
            <p:sp>
              <p:nvSpPr>
                <p:cNvPr id="258" name="对话气泡: 圆角矩形 17">
                  <a:extLst>
                    <a:ext uri="{FF2B5EF4-FFF2-40B4-BE49-F238E27FC236}">
                      <a16:creationId xmlns:a16="http://schemas.microsoft.com/office/drawing/2014/main" id="{B54C8463-F631-5338-F182-AD67A4211C46}"/>
                    </a:ext>
                  </a:extLst>
                </p:cNvPr>
                <p:cNvSpPr/>
                <p:nvPr/>
              </p:nvSpPr>
              <p:spPr>
                <a:xfrm>
                  <a:off x="27448711" y="9465943"/>
                  <a:ext cx="5028311" cy="2759478"/>
                </a:xfrm>
                <a:prstGeom prst="wedgeRoundRectCallout">
                  <a:avLst>
                    <a:gd name="adj1" fmla="val -40981"/>
                    <a:gd name="adj2" fmla="val 73037"/>
                    <a:gd name="adj3" fmla="val 16667"/>
                  </a:avLst>
                </a:prstGeom>
                <a:solidFill>
                  <a:srgbClr val="F7F5F5"/>
                </a:solidFill>
                <a:ln>
                  <a:solidFill>
                    <a:srgbClr val="B2B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Would you like to express how you feel through shapes and colors?</a:t>
                  </a:r>
                  <a:endParaRPr lang="zh-CN" altLang="en-US" sz="1060" b="1" dirty="0">
                    <a:solidFill>
                      <a:schemeClr val="tx1"/>
                    </a:solidFill>
                    <a:latin typeface="Times New Roman" panose="02020503050405090304" charset="0"/>
                    <a:cs typeface="Times New Roman" panose="02020503050405090304" charset="0"/>
                  </a:endParaRPr>
                </a:p>
              </p:txBody>
            </p:sp>
          </p:grpSp>
        </p:grpSp>
        <p:sp>
          <p:nvSpPr>
            <p:cNvPr id="275" name="箭头: 右 510">
              <a:extLst>
                <a:ext uri="{FF2B5EF4-FFF2-40B4-BE49-F238E27FC236}">
                  <a16:creationId xmlns:a16="http://schemas.microsoft.com/office/drawing/2014/main" id="{B20106E3-7E48-FFBB-F9FF-68BEE4FD16B3}"/>
                </a:ext>
              </a:extLst>
            </p:cNvPr>
            <p:cNvSpPr/>
            <p:nvPr/>
          </p:nvSpPr>
          <p:spPr>
            <a:xfrm rot="5400000">
              <a:off x="12696970" y="10355324"/>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cxnSp>
          <p:nvCxnSpPr>
            <p:cNvPr id="102" name="连接符: 曲线 101">
              <a:extLst>
                <a:ext uri="{FF2B5EF4-FFF2-40B4-BE49-F238E27FC236}">
                  <a16:creationId xmlns:a16="http://schemas.microsoft.com/office/drawing/2014/main" id="{3222774E-1A71-AD85-0140-233736AC5AC9}"/>
                </a:ext>
              </a:extLst>
            </p:cNvPr>
            <p:cNvCxnSpPr/>
            <p:nvPr/>
          </p:nvCxnSpPr>
          <p:spPr>
            <a:xfrm rot="16200000" flipH="1">
              <a:off x="5131643" y="19438869"/>
              <a:ext cx="2877954" cy="6243035"/>
            </a:xfrm>
            <a:prstGeom prst="curvedConnector2">
              <a:avLst/>
            </a:prstGeom>
            <a:ln w="317500">
              <a:solidFill>
                <a:srgbClr val="DCDCDD"/>
              </a:solidFill>
              <a:tailEnd type="triangle"/>
            </a:ln>
          </p:spPr>
          <p:style>
            <a:lnRef idx="1">
              <a:schemeClr val="accent1"/>
            </a:lnRef>
            <a:fillRef idx="0">
              <a:schemeClr val="accent1"/>
            </a:fillRef>
            <a:effectRef idx="0">
              <a:schemeClr val="accent1"/>
            </a:effectRef>
            <a:fontRef idx="minor">
              <a:schemeClr val="tx1"/>
            </a:fontRef>
          </p:style>
        </p:cxnSp>
        <p:cxnSp>
          <p:nvCxnSpPr>
            <p:cNvPr id="344" name="连接符: 曲线 343">
              <a:extLst>
                <a:ext uri="{FF2B5EF4-FFF2-40B4-BE49-F238E27FC236}">
                  <a16:creationId xmlns:a16="http://schemas.microsoft.com/office/drawing/2014/main" id="{32B80090-E73F-EFAD-A377-DFDBC51967C4}"/>
                </a:ext>
              </a:extLst>
            </p:cNvPr>
            <p:cNvCxnSpPr/>
            <p:nvPr/>
          </p:nvCxnSpPr>
          <p:spPr>
            <a:xfrm flipV="1">
              <a:off x="30779006" y="19377908"/>
              <a:ext cx="2188316" cy="4129458"/>
            </a:xfrm>
            <a:prstGeom prst="curvedConnector2">
              <a:avLst/>
            </a:prstGeom>
            <a:ln w="317500">
              <a:solidFill>
                <a:srgbClr val="A9CED2"/>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连接符: 曲线 346">
              <a:extLst>
                <a:ext uri="{FF2B5EF4-FFF2-40B4-BE49-F238E27FC236}">
                  <a16:creationId xmlns:a16="http://schemas.microsoft.com/office/drawing/2014/main" id="{FD0DE080-8F7C-B935-F9EC-F55920FA10A6}"/>
                </a:ext>
              </a:extLst>
            </p:cNvPr>
            <p:cNvCxnSpPr/>
            <p:nvPr/>
          </p:nvCxnSpPr>
          <p:spPr>
            <a:xfrm rot="16200000" flipV="1">
              <a:off x="29244551" y="1351587"/>
              <a:ext cx="2918486" cy="3132025"/>
            </a:xfrm>
            <a:prstGeom prst="curvedConnector2">
              <a:avLst/>
            </a:prstGeom>
            <a:ln w="317500">
              <a:solidFill>
                <a:srgbClr val="7D5DB7"/>
              </a:solidFill>
              <a:tailEnd type="triangle"/>
            </a:ln>
          </p:spPr>
          <p:style>
            <a:lnRef idx="1">
              <a:schemeClr val="accent1"/>
            </a:lnRef>
            <a:fillRef idx="0">
              <a:schemeClr val="accent1"/>
            </a:fillRef>
            <a:effectRef idx="0">
              <a:schemeClr val="accent1"/>
            </a:effectRef>
            <a:fontRef idx="minor">
              <a:schemeClr val="tx1"/>
            </a:fontRef>
          </p:style>
        </p:cxnSp>
        <p:cxnSp>
          <p:nvCxnSpPr>
            <p:cNvPr id="350" name="连接符: 曲线 349">
              <a:extLst>
                <a:ext uri="{FF2B5EF4-FFF2-40B4-BE49-F238E27FC236}">
                  <a16:creationId xmlns:a16="http://schemas.microsoft.com/office/drawing/2014/main" id="{994AB577-D380-3CB5-4366-87C3009EC9A2}"/>
                </a:ext>
              </a:extLst>
            </p:cNvPr>
            <p:cNvCxnSpPr/>
            <p:nvPr/>
          </p:nvCxnSpPr>
          <p:spPr>
            <a:xfrm rot="10800000" flipV="1">
              <a:off x="3326062" y="913715"/>
              <a:ext cx="8441963" cy="2537757"/>
            </a:xfrm>
            <a:prstGeom prst="curvedConnector2">
              <a:avLst/>
            </a:prstGeom>
            <a:ln w="317500">
              <a:solidFill>
                <a:srgbClr val="E9CC95"/>
              </a:solidFill>
              <a:tailEnd type="triangle"/>
            </a:ln>
          </p:spPr>
          <p:style>
            <a:lnRef idx="1">
              <a:schemeClr val="accent1"/>
            </a:lnRef>
            <a:fillRef idx="0">
              <a:schemeClr val="accent1"/>
            </a:fillRef>
            <a:effectRef idx="0">
              <a:schemeClr val="accent1"/>
            </a:effectRef>
            <a:fontRef idx="minor">
              <a:schemeClr val="tx1"/>
            </a:fontRef>
          </p:style>
        </p:cxnSp>
        <p:sp>
          <p:nvSpPr>
            <p:cNvPr id="366" name="文本框 365">
              <a:extLst>
                <a:ext uri="{FF2B5EF4-FFF2-40B4-BE49-F238E27FC236}">
                  <a16:creationId xmlns:a16="http://schemas.microsoft.com/office/drawing/2014/main" id="{C5800981-58F0-ABB5-D41E-C41854C90E11}"/>
                </a:ext>
              </a:extLst>
            </p:cNvPr>
            <p:cNvSpPr txBox="1"/>
            <p:nvPr/>
          </p:nvSpPr>
          <p:spPr>
            <a:xfrm>
              <a:off x="9693901" y="9994651"/>
              <a:ext cx="4071916" cy="836432"/>
            </a:xfrm>
            <a:prstGeom prst="rect">
              <a:avLst/>
            </a:prstGeom>
            <a:noFill/>
          </p:spPr>
          <p:txBody>
            <a:bodyPr wrap="none" rtlCol="0">
              <a:spAutoFit/>
            </a:bodyPr>
            <a:lstStyle/>
            <a:p>
              <a:r>
                <a:rPr lang="en-GB" altLang="zh-CN" sz="850" b="1" dirty="0">
                  <a:latin typeface="Times New Roman" panose="02020503050405090304" charset="0"/>
                  <a:cs typeface="Times New Roman" panose="02020503050405090304" charset="0"/>
                </a:rPr>
                <a:t>Primitive </a:t>
              </a:r>
              <a:r>
                <a:rPr lang="en-US" altLang="zh-CN" sz="850" b="1" dirty="0">
                  <a:latin typeface="Times New Roman" panose="02020503050405090304" charset="0"/>
                  <a:cs typeface="Times New Roman" panose="02020503050405090304" charset="0"/>
                </a:rPr>
                <a:t>Detection</a:t>
              </a:r>
              <a:endParaRPr lang="zh-CN" altLang="en-US" sz="850" b="1" dirty="0">
                <a:latin typeface="Times New Roman" panose="02020503050405090304" charset="0"/>
                <a:cs typeface="Times New Roman" panose="02020503050405090304" charset="0"/>
              </a:endParaRPr>
            </a:p>
          </p:txBody>
        </p:sp>
        <p:sp>
          <p:nvSpPr>
            <p:cNvPr id="367" name="文本框 366">
              <a:extLst>
                <a:ext uri="{FF2B5EF4-FFF2-40B4-BE49-F238E27FC236}">
                  <a16:creationId xmlns:a16="http://schemas.microsoft.com/office/drawing/2014/main" id="{52C0A2A5-44E7-DEBB-5A23-9E73FEA9B945}"/>
                </a:ext>
              </a:extLst>
            </p:cNvPr>
            <p:cNvSpPr txBox="1"/>
            <p:nvPr/>
          </p:nvSpPr>
          <p:spPr>
            <a:xfrm>
              <a:off x="12107927" y="8406337"/>
              <a:ext cx="2442191" cy="771723"/>
            </a:xfrm>
            <a:prstGeom prst="rect">
              <a:avLst/>
            </a:prstGeom>
            <a:noFill/>
          </p:spPr>
          <p:txBody>
            <a:bodyPr wrap="none" rtlCol="0">
              <a:spAutoFit/>
            </a:bodyPr>
            <a:lstStyle/>
            <a:p>
              <a:r>
                <a:rPr lang="en-US" altLang="zh-CN" sz="740" b="1" dirty="0">
                  <a:latin typeface="Times New Roman" panose="02020503050405090304" charset="0"/>
                  <a:cs typeface="Times New Roman" panose="02020503050405090304" charset="0"/>
                </a:rPr>
                <a:t>Embedding</a:t>
              </a:r>
              <a:endParaRPr lang="zh-CN" altLang="en-US" sz="740" b="1" dirty="0">
                <a:latin typeface="Times New Roman" panose="02020503050405090304" charset="0"/>
                <a:cs typeface="Times New Roman" panose="02020503050405090304" charset="0"/>
              </a:endParaRPr>
            </a:p>
          </p:txBody>
        </p:sp>
        <p:sp>
          <p:nvSpPr>
            <p:cNvPr id="2" name="文本框 1">
              <a:extLst>
                <a:ext uri="{FF2B5EF4-FFF2-40B4-BE49-F238E27FC236}">
                  <a16:creationId xmlns:a16="http://schemas.microsoft.com/office/drawing/2014/main" id="{4DFE6AD3-9AB0-2BD5-F6D5-6FE976987DFF}"/>
                </a:ext>
              </a:extLst>
            </p:cNvPr>
            <p:cNvSpPr txBox="1"/>
            <p:nvPr/>
          </p:nvSpPr>
          <p:spPr>
            <a:xfrm>
              <a:off x="10466372" y="14083541"/>
              <a:ext cx="1167171"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t-1</a:t>
              </a:r>
              <a:endParaRPr lang="zh-CN" altLang="en-US" sz="850" b="1" dirty="0">
                <a:latin typeface="Times New Roman" panose="02020503050405090304" charset="0"/>
                <a:cs typeface="Times New Roman" panose="02020503050405090304" charset="0"/>
              </a:endParaRPr>
            </a:p>
          </p:txBody>
        </p:sp>
        <p:sp>
          <p:nvSpPr>
            <p:cNvPr id="193" name="文本框 192">
              <a:extLst>
                <a:ext uri="{FF2B5EF4-FFF2-40B4-BE49-F238E27FC236}">
                  <a16:creationId xmlns:a16="http://schemas.microsoft.com/office/drawing/2014/main" id="{F6D23FED-EB16-5B1F-32D5-63D623D2A712}"/>
                </a:ext>
              </a:extLst>
            </p:cNvPr>
            <p:cNvSpPr txBox="1"/>
            <p:nvPr/>
          </p:nvSpPr>
          <p:spPr>
            <a:xfrm>
              <a:off x="14755858" y="14090119"/>
              <a:ext cx="826846" cy="836432"/>
            </a:xfrm>
            <a:prstGeom prst="rect">
              <a:avLst/>
            </a:prstGeom>
            <a:noFill/>
          </p:spPr>
          <p:txBody>
            <a:bodyPr wrap="none" rtlCol="0">
              <a:spAutoFit/>
            </a:bodyPr>
            <a:lstStyle/>
            <a:p>
              <a:r>
                <a:rPr lang="en-US" altLang="zh-CN" sz="850" b="1" dirty="0">
                  <a:latin typeface="Times New Roman" panose="02020503050405090304" charset="0"/>
                  <a:cs typeface="Times New Roman" panose="02020503050405090304" charset="0"/>
                </a:rPr>
                <a:t>t</a:t>
              </a:r>
              <a:endParaRPr lang="zh-CN" altLang="en-US" sz="850" b="1" dirty="0">
                <a:latin typeface="Times New Roman" panose="02020503050405090304" charset="0"/>
                <a:cs typeface="Times New Roman" panose="02020503050405090304" charset="0"/>
              </a:endParaRPr>
            </a:p>
          </p:txBody>
        </p:sp>
        <p:sp>
          <p:nvSpPr>
            <p:cNvPr id="6" name="矩形: 圆角 5">
              <a:extLst>
                <a:ext uri="{FF2B5EF4-FFF2-40B4-BE49-F238E27FC236}">
                  <a16:creationId xmlns:a16="http://schemas.microsoft.com/office/drawing/2014/main" id="{7FC4CB21-80F1-0D24-DA59-0EFD9912BD41}"/>
                </a:ext>
              </a:extLst>
            </p:cNvPr>
            <p:cNvSpPr/>
            <p:nvPr/>
          </p:nvSpPr>
          <p:spPr>
            <a:xfrm>
              <a:off x="1101608" y="3932015"/>
              <a:ext cx="6220285" cy="16118001"/>
            </a:xfrm>
            <a:prstGeom prst="roundRect">
              <a:avLst>
                <a:gd name="adj" fmla="val 6937"/>
              </a:avLst>
            </a:prstGeom>
            <a:solidFill>
              <a:srgbClr val="F9F9F9"/>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7" name="文本框 6">
              <a:extLst>
                <a:ext uri="{FF2B5EF4-FFF2-40B4-BE49-F238E27FC236}">
                  <a16:creationId xmlns:a16="http://schemas.microsoft.com/office/drawing/2014/main" id="{F991628F-3F85-4495-893C-B371ED0953E9}"/>
                </a:ext>
              </a:extLst>
            </p:cNvPr>
            <p:cNvSpPr txBox="1"/>
            <p:nvPr/>
          </p:nvSpPr>
          <p:spPr>
            <a:xfrm>
              <a:off x="2340949" y="4022613"/>
              <a:ext cx="4230095" cy="1265434"/>
            </a:xfrm>
            <a:prstGeom prst="rect">
              <a:avLst/>
            </a:prstGeom>
            <a:noFill/>
          </p:spPr>
          <p:txBody>
            <a:bodyPr wrap="none" rtlCol="0">
              <a:spAutoFit/>
            </a:bodyPr>
            <a:lstStyle/>
            <a:p>
              <a:r>
                <a:rPr lang="en-US" altLang="zh-CN" sz="1590" b="1" dirty="0">
                  <a:latin typeface="Times New Roman" panose="02020503050405090304" charset="0"/>
                  <a:cs typeface="Times New Roman" panose="02020503050405090304" charset="0"/>
                </a:rPr>
                <a:t>User Input</a:t>
              </a:r>
              <a:endParaRPr lang="zh-CN" altLang="en-US" sz="1590" b="1" dirty="0">
                <a:latin typeface="Times New Roman" panose="02020503050405090304" charset="0"/>
                <a:cs typeface="Times New Roman" panose="02020503050405090304" charset="0"/>
              </a:endParaRPr>
            </a:p>
          </p:txBody>
        </p:sp>
        <p:grpSp>
          <p:nvGrpSpPr>
            <p:cNvPr id="17" name="组合 16">
              <a:extLst>
                <a:ext uri="{FF2B5EF4-FFF2-40B4-BE49-F238E27FC236}">
                  <a16:creationId xmlns:a16="http://schemas.microsoft.com/office/drawing/2014/main" id="{DC1F2E52-6D27-CA2A-3F57-FFAD13AFBB8A}"/>
                </a:ext>
              </a:extLst>
            </p:cNvPr>
            <p:cNvGrpSpPr/>
            <p:nvPr/>
          </p:nvGrpSpPr>
          <p:grpSpPr>
            <a:xfrm>
              <a:off x="1465825" y="5155441"/>
              <a:ext cx="5545166" cy="3215147"/>
              <a:chOff x="468177" y="1622323"/>
              <a:chExt cx="5468164" cy="3215147"/>
            </a:xfrm>
          </p:grpSpPr>
          <p:sp>
            <p:nvSpPr>
              <p:cNvPr id="397" name="矩形: 圆角 396">
                <a:extLst>
                  <a:ext uri="{FF2B5EF4-FFF2-40B4-BE49-F238E27FC236}">
                    <a16:creationId xmlns:a16="http://schemas.microsoft.com/office/drawing/2014/main" id="{A64D496D-3707-286E-DA3F-57CA3A8EFEA6}"/>
                  </a:ext>
                </a:extLst>
              </p:cNvPr>
              <p:cNvSpPr/>
              <p:nvPr/>
            </p:nvSpPr>
            <p:spPr>
              <a:xfrm>
                <a:off x="468177" y="1622323"/>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398" name="文本框 397">
                <a:extLst>
                  <a:ext uri="{FF2B5EF4-FFF2-40B4-BE49-F238E27FC236}">
                    <a16:creationId xmlns:a16="http://schemas.microsoft.com/office/drawing/2014/main" id="{C05C4ECD-C23D-C62D-A08F-77C9537A7160}"/>
                  </a:ext>
                </a:extLst>
              </p:cNvPr>
              <p:cNvSpPr txBox="1"/>
              <p:nvPr/>
            </p:nvSpPr>
            <p:spPr>
              <a:xfrm>
                <a:off x="1263604" y="1722443"/>
                <a:ext cx="4202079" cy="1078495"/>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Video Stream</a:t>
                </a:r>
                <a:endParaRPr lang="zh-CN" altLang="en-US" sz="1270" b="1" dirty="0">
                  <a:latin typeface="Times New Roman" panose="02020503050405090304" charset="0"/>
                  <a:cs typeface="Times New Roman" panose="02020503050405090304" charset="0"/>
                </a:endParaRPr>
              </a:p>
            </p:txBody>
          </p:sp>
        </p:grpSp>
        <p:grpSp>
          <p:nvGrpSpPr>
            <p:cNvPr id="423" name="组合 422">
              <a:extLst>
                <a:ext uri="{FF2B5EF4-FFF2-40B4-BE49-F238E27FC236}">
                  <a16:creationId xmlns:a16="http://schemas.microsoft.com/office/drawing/2014/main" id="{100B3F14-588D-4D9D-DC78-573C6D77C0E3}"/>
                </a:ext>
              </a:extLst>
            </p:cNvPr>
            <p:cNvGrpSpPr/>
            <p:nvPr/>
          </p:nvGrpSpPr>
          <p:grpSpPr>
            <a:xfrm>
              <a:off x="1465824" y="16585943"/>
              <a:ext cx="5545166" cy="3303820"/>
              <a:chOff x="468177" y="11089703"/>
              <a:chExt cx="5468164" cy="3141629"/>
            </a:xfrm>
          </p:grpSpPr>
          <p:sp>
            <p:nvSpPr>
              <p:cNvPr id="424" name="矩形: 圆角 423">
                <a:extLst>
                  <a:ext uri="{FF2B5EF4-FFF2-40B4-BE49-F238E27FC236}">
                    <a16:creationId xmlns:a16="http://schemas.microsoft.com/office/drawing/2014/main" id="{E2FCEAF0-02E3-664B-763B-D9B091C10F4C}"/>
                  </a:ext>
                </a:extLst>
              </p:cNvPr>
              <p:cNvSpPr/>
              <p:nvPr/>
            </p:nvSpPr>
            <p:spPr>
              <a:xfrm>
                <a:off x="468177" y="11089703"/>
                <a:ext cx="5468164" cy="3141629"/>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425" name="文本框 424">
                <a:extLst>
                  <a:ext uri="{FF2B5EF4-FFF2-40B4-BE49-F238E27FC236}">
                    <a16:creationId xmlns:a16="http://schemas.microsoft.com/office/drawing/2014/main" id="{933098BE-4173-2A8D-B56A-21AD944470CC}"/>
                  </a:ext>
                </a:extLst>
              </p:cNvPr>
              <p:cNvSpPr txBox="1"/>
              <p:nvPr/>
            </p:nvSpPr>
            <p:spPr>
              <a:xfrm>
                <a:off x="1614238" y="11198392"/>
                <a:ext cx="3769581" cy="1025549"/>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User Profile</a:t>
                </a:r>
                <a:endParaRPr lang="zh-CN" altLang="en-US" sz="1270" b="1" dirty="0">
                  <a:latin typeface="Times New Roman" panose="02020503050405090304" charset="0"/>
                  <a:cs typeface="Times New Roman" panose="02020503050405090304" charset="0"/>
                </a:endParaRPr>
              </a:p>
            </p:txBody>
          </p:sp>
        </p:grpSp>
        <p:grpSp>
          <p:nvGrpSpPr>
            <p:cNvPr id="25" name="组合 24">
              <a:extLst>
                <a:ext uri="{FF2B5EF4-FFF2-40B4-BE49-F238E27FC236}">
                  <a16:creationId xmlns:a16="http://schemas.microsoft.com/office/drawing/2014/main" id="{A02C2C39-FCA7-53B6-CC71-14977B18067C}"/>
                </a:ext>
              </a:extLst>
            </p:cNvPr>
            <p:cNvGrpSpPr/>
            <p:nvPr/>
          </p:nvGrpSpPr>
          <p:grpSpPr>
            <a:xfrm>
              <a:off x="1662835" y="6315038"/>
              <a:ext cx="4082216" cy="1507843"/>
              <a:chOff x="7776404" y="5544661"/>
              <a:chExt cx="4758378" cy="1744455"/>
            </a:xfrm>
          </p:grpSpPr>
          <p:pic>
            <p:nvPicPr>
              <p:cNvPr id="20" name="图片 19">
                <a:extLst>
                  <a:ext uri="{FF2B5EF4-FFF2-40B4-BE49-F238E27FC236}">
                    <a16:creationId xmlns:a16="http://schemas.microsoft.com/office/drawing/2014/main" id="{D01DC290-97CE-4CC5-1D6B-5D7CFF25E098}"/>
                  </a:ext>
                </a:extLst>
              </p:cNvPr>
              <p:cNvPicPr>
                <a:picLocks noChangeAspect="1"/>
              </p:cNvPicPr>
              <p:nvPr/>
            </p:nvPicPr>
            <p:blipFill>
              <a:blip r:embed="rId13"/>
              <a:stretch>
                <a:fillRect/>
              </a:stretch>
            </p:blipFill>
            <p:spPr>
              <a:xfrm>
                <a:off x="11043768" y="5544661"/>
                <a:ext cx="1491014" cy="1744453"/>
              </a:xfrm>
              <a:prstGeom prst="rect">
                <a:avLst/>
              </a:prstGeom>
            </p:spPr>
          </p:pic>
          <p:pic>
            <p:nvPicPr>
              <p:cNvPr id="22" name="图片 21">
                <a:extLst>
                  <a:ext uri="{FF2B5EF4-FFF2-40B4-BE49-F238E27FC236}">
                    <a16:creationId xmlns:a16="http://schemas.microsoft.com/office/drawing/2014/main" id="{90F19363-0238-068C-C9B5-95E3DBBB9612}"/>
                  </a:ext>
                </a:extLst>
              </p:cNvPr>
              <p:cNvPicPr>
                <a:picLocks noChangeAspect="1"/>
              </p:cNvPicPr>
              <p:nvPr/>
            </p:nvPicPr>
            <p:blipFill>
              <a:blip r:embed="rId14"/>
              <a:stretch>
                <a:fillRect/>
              </a:stretch>
            </p:blipFill>
            <p:spPr>
              <a:xfrm>
                <a:off x="7776404" y="5544663"/>
                <a:ext cx="1526396" cy="1744453"/>
              </a:xfrm>
              <a:prstGeom prst="rect">
                <a:avLst/>
              </a:prstGeom>
            </p:spPr>
          </p:pic>
          <p:pic>
            <p:nvPicPr>
              <p:cNvPr id="24" name="图片 23">
                <a:extLst>
                  <a:ext uri="{FF2B5EF4-FFF2-40B4-BE49-F238E27FC236}">
                    <a16:creationId xmlns:a16="http://schemas.microsoft.com/office/drawing/2014/main" id="{96B67BD2-4428-8782-13E8-DCB28F5C2DA7}"/>
                  </a:ext>
                </a:extLst>
              </p:cNvPr>
              <p:cNvPicPr>
                <a:picLocks noChangeAspect="1"/>
              </p:cNvPicPr>
              <p:nvPr/>
            </p:nvPicPr>
            <p:blipFill>
              <a:blip r:embed="rId15"/>
              <a:stretch>
                <a:fillRect/>
              </a:stretch>
            </p:blipFill>
            <p:spPr>
              <a:xfrm>
                <a:off x="9382396" y="5544662"/>
                <a:ext cx="1522782" cy="1744453"/>
              </a:xfrm>
              <a:prstGeom prst="rect">
                <a:avLst/>
              </a:prstGeom>
            </p:spPr>
          </p:pic>
        </p:grpSp>
        <p:sp>
          <p:nvSpPr>
            <p:cNvPr id="429" name="文本框 428">
              <a:extLst>
                <a:ext uri="{FF2B5EF4-FFF2-40B4-BE49-F238E27FC236}">
                  <a16:creationId xmlns:a16="http://schemas.microsoft.com/office/drawing/2014/main" id="{852EFCA2-31CD-A2C5-4A65-905AD588CB04}"/>
                </a:ext>
              </a:extLst>
            </p:cNvPr>
            <p:cNvSpPr txBox="1"/>
            <p:nvPr/>
          </p:nvSpPr>
          <p:spPr>
            <a:xfrm>
              <a:off x="5989512" y="6840830"/>
              <a:ext cx="934754" cy="1078495"/>
            </a:xfrm>
            <a:prstGeom prst="rect">
              <a:avLst/>
            </a:prstGeom>
            <a:noFill/>
          </p:spPr>
          <p:txBody>
            <a:bodyPr wrap="square">
              <a:spAutoFit/>
            </a:bodyPr>
            <a:lstStyle/>
            <a:p>
              <a:r>
                <a:rPr lang="en-US" altLang="zh-CN" sz="1270" b="1" dirty="0">
                  <a:latin typeface="Times New Roman" panose="02020503050405090304" charset="0"/>
                  <a:cs typeface="Times New Roman" panose="02020503050405090304" charset="0"/>
                </a:rPr>
                <a:t>…</a:t>
              </a:r>
              <a:endParaRPr lang="zh-CN" altLang="en-US" sz="1270" dirty="0"/>
            </a:p>
          </p:txBody>
        </p:sp>
        <p:grpSp>
          <p:nvGrpSpPr>
            <p:cNvPr id="15" name="组合 14">
              <a:extLst>
                <a:ext uri="{FF2B5EF4-FFF2-40B4-BE49-F238E27FC236}">
                  <a16:creationId xmlns:a16="http://schemas.microsoft.com/office/drawing/2014/main" id="{63E03F32-F543-FE10-EE82-7D83CA19B0E5}"/>
                </a:ext>
              </a:extLst>
            </p:cNvPr>
            <p:cNvGrpSpPr/>
            <p:nvPr/>
          </p:nvGrpSpPr>
          <p:grpSpPr>
            <a:xfrm>
              <a:off x="1335206" y="11910899"/>
              <a:ext cx="5792007" cy="4348077"/>
              <a:chOff x="468177" y="9917384"/>
              <a:chExt cx="5468164" cy="3215147"/>
            </a:xfrm>
          </p:grpSpPr>
          <p:sp>
            <p:nvSpPr>
              <p:cNvPr id="419" name="矩形: 圆角 418">
                <a:extLst>
                  <a:ext uri="{FF2B5EF4-FFF2-40B4-BE49-F238E27FC236}">
                    <a16:creationId xmlns:a16="http://schemas.microsoft.com/office/drawing/2014/main" id="{D54BA7B2-113E-214F-29D8-E179DA6C303D}"/>
                  </a:ext>
                </a:extLst>
              </p:cNvPr>
              <p:cNvSpPr/>
              <p:nvPr/>
            </p:nvSpPr>
            <p:spPr>
              <a:xfrm>
                <a:off x="468177" y="9917384"/>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22" name="文本框 421">
                <a:extLst>
                  <a:ext uri="{FF2B5EF4-FFF2-40B4-BE49-F238E27FC236}">
                    <a16:creationId xmlns:a16="http://schemas.microsoft.com/office/drawing/2014/main" id="{40C865D6-F488-1FAC-0FD2-08A458636A82}"/>
                  </a:ext>
                </a:extLst>
              </p:cNvPr>
              <p:cNvSpPr txBox="1"/>
              <p:nvPr/>
            </p:nvSpPr>
            <p:spPr>
              <a:xfrm>
                <a:off x="490877" y="9933604"/>
                <a:ext cx="5367012" cy="1341544"/>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Emotion Geometry</a:t>
                </a:r>
              </a:p>
              <a:p>
                <a:pPr algn="ctr"/>
                <a:r>
                  <a:rPr lang="en-US" altLang="zh-CN" sz="1270" b="1" dirty="0">
                    <a:latin typeface="Times New Roman" panose="02020503050405090304" charset="0"/>
                    <a:cs typeface="Times New Roman" panose="02020503050405090304" charset="0"/>
                  </a:rPr>
                  <a:t>Game State </a:t>
                </a:r>
                <a:endParaRPr lang="zh-CN" altLang="en-US" sz="1270" b="1" dirty="0">
                  <a:latin typeface="Times New Roman" panose="02020503050405090304" charset="0"/>
                  <a:cs typeface="Times New Roman" panose="02020503050405090304" charset="0"/>
                </a:endParaRPr>
              </a:p>
            </p:txBody>
          </p:sp>
        </p:grpSp>
        <p:grpSp>
          <p:nvGrpSpPr>
            <p:cNvPr id="63" name="组合 62">
              <a:extLst>
                <a:ext uri="{FF2B5EF4-FFF2-40B4-BE49-F238E27FC236}">
                  <a16:creationId xmlns:a16="http://schemas.microsoft.com/office/drawing/2014/main" id="{1B5636EF-E836-F987-30E6-C61362855DEC}"/>
                </a:ext>
              </a:extLst>
            </p:cNvPr>
            <p:cNvGrpSpPr/>
            <p:nvPr/>
          </p:nvGrpSpPr>
          <p:grpSpPr>
            <a:xfrm>
              <a:off x="1509368" y="8490578"/>
              <a:ext cx="5545166" cy="3215147"/>
              <a:chOff x="1066002" y="9445456"/>
              <a:chExt cx="5545166" cy="3215147"/>
            </a:xfrm>
          </p:grpSpPr>
          <p:grpSp>
            <p:nvGrpSpPr>
              <p:cNvPr id="33" name="组合 32">
                <a:extLst>
                  <a:ext uri="{FF2B5EF4-FFF2-40B4-BE49-F238E27FC236}">
                    <a16:creationId xmlns:a16="http://schemas.microsoft.com/office/drawing/2014/main" id="{D4417AB4-266F-DF15-13D2-9CEC30342143}"/>
                  </a:ext>
                </a:extLst>
              </p:cNvPr>
              <p:cNvGrpSpPr/>
              <p:nvPr/>
            </p:nvGrpSpPr>
            <p:grpSpPr>
              <a:xfrm>
                <a:off x="1066002" y="9445456"/>
                <a:ext cx="5545166" cy="3215147"/>
                <a:chOff x="466315" y="5088195"/>
                <a:chExt cx="5468164" cy="3215147"/>
              </a:xfrm>
            </p:grpSpPr>
            <p:grpSp>
              <p:nvGrpSpPr>
                <p:cNvPr id="16" name="组合 15">
                  <a:extLst>
                    <a:ext uri="{FF2B5EF4-FFF2-40B4-BE49-F238E27FC236}">
                      <a16:creationId xmlns:a16="http://schemas.microsoft.com/office/drawing/2014/main" id="{B9D80854-1D9E-A210-E45D-93C351E0609B}"/>
                    </a:ext>
                  </a:extLst>
                </p:cNvPr>
                <p:cNvGrpSpPr/>
                <p:nvPr/>
              </p:nvGrpSpPr>
              <p:grpSpPr>
                <a:xfrm>
                  <a:off x="466315" y="5088195"/>
                  <a:ext cx="5468164" cy="3215147"/>
                  <a:chOff x="468177" y="5579807"/>
                  <a:chExt cx="5468164" cy="3215147"/>
                </a:xfrm>
              </p:grpSpPr>
              <p:sp>
                <p:nvSpPr>
                  <p:cNvPr id="401" name="矩形: 圆角 400">
                    <a:extLst>
                      <a:ext uri="{FF2B5EF4-FFF2-40B4-BE49-F238E27FC236}">
                        <a16:creationId xmlns:a16="http://schemas.microsoft.com/office/drawing/2014/main" id="{30D41426-6123-3077-C87F-4B49D383D101}"/>
                      </a:ext>
                    </a:extLst>
                  </p:cNvPr>
                  <p:cNvSpPr/>
                  <p:nvPr/>
                </p:nvSpPr>
                <p:spPr>
                  <a:xfrm>
                    <a:off x="468177" y="5579807"/>
                    <a:ext cx="5468164" cy="3215147"/>
                  </a:xfrm>
                  <a:prstGeom prst="roundRect">
                    <a:avLst>
                      <a:gd name="adj" fmla="val 6937"/>
                    </a:avLst>
                  </a:prstGeom>
                  <a:solidFill>
                    <a:srgbClr val="FEFEFE"/>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402" name="文本框 401">
                    <a:extLst>
                      <a:ext uri="{FF2B5EF4-FFF2-40B4-BE49-F238E27FC236}">
                        <a16:creationId xmlns:a16="http://schemas.microsoft.com/office/drawing/2014/main" id="{A00C9E81-BA27-824B-0AAB-9B025F9EDA58}"/>
                      </a:ext>
                    </a:extLst>
                  </p:cNvPr>
                  <p:cNvSpPr txBox="1"/>
                  <p:nvPr/>
                </p:nvSpPr>
                <p:spPr>
                  <a:xfrm>
                    <a:off x="1329276" y="5620776"/>
                    <a:ext cx="3885387" cy="1078495"/>
                  </a:xfrm>
                  <a:prstGeom prst="rect">
                    <a:avLst/>
                  </a:prstGeom>
                  <a:noFill/>
                </p:spPr>
                <p:txBody>
                  <a:bodyPr wrap="none" rtlCol="0">
                    <a:spAutoFit/>
                  </a:bodyPr>
                  <a:lstStyle/>
                  <a:p>
                    <a:r>
                      <a:rPr lang="en-US" altLang="zh-CN" sz="1270" b="1" dirty="0">
                        <a:latin typeface="Times New Roman" panose="02020503050405090304" charset="0"/>
                        <a:cs typeface="Times New Roman" panose="02020503050405090304" charset="0"/>
                      </a:rPr>
                      <a:t>Audio / Text</a:t>
                    </a:r>
                    <a:endParaRPr lang="zh-CN" altLang="en-US" sz="1270" b="1" dirty="0">
                      <a:latin typeface="Times New Roman" panose="02020503050405090304" charset="0"/>
                      <a:cs typeface="Times New Roman" panose="02020503050405090304" charset="0"/>
                    </a:endParaRPr>
                  </a:p>
                </p:txBody>
              </p:sp>
            </p:grpSp>
            <p:sp>
              <p:nvSpPr>
                <p:cNvPr id="18" name="对话气泡: 圆角矩形 17">
                  <a:extLst>
                    <a:ext uri="{FF2B5EF4-FFF2-40B4-BE49-F238E27FC236}">
                      <a16:creationId xmlns:a16="http://schemas.microsoft.com/office/drawing/2014/main" id="{F6E8F489-CCCC-2CE6-C0F6-5FC6C8A5B1D9}"/>
                    </a:ext>
                  </a:extLst>
                </p:cNvPr>
                <p:cNvSpPr/>
                <p:nvPr/>
              </p:nvSpPr>
              <p:spPr>
                <a:xfrm>
                  <a:off x="1920103" y="6153160"/>
                  <a:ext cx="3641938" cy="1382373"/>
                </a:xfrm>
                <a:prstGeom prst="wedgeRoundRectCallout">
                  <a:avLst>
                    <a:gd name="adj1" fmla="val -35203"/>
                    <a:gd name="adj2" fmla="val 83738"/>
                    <a:gd name="adj3" fmla="val 16667"/>
                  </a:avLst>
                </a:prstGeom>
                <a:solidFill>
                  <a:srgbClr val="F9F9F9"/>
                </a:solidFill>
                <a:ln>
                  <a:solidFill>
                    <a:srgbClr val="DCDC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60" b="1" dirty="0">
                      <a:solidFill>
                        <a:schemeClr val="tx1"/>
                      </a:solidFill>
                      <a:latin typeface="Times New Roman" panose="02020503050405090304" charset="0"/>
                      <a:cs typeface="Times New Roman" panose="02020503050405090304" charset="0"/>
                    </a:rPr>
                    <a:t>I feel stressed these days…</a:t>
                  </a:r>
                  <a:endParaRPr lang="zh-CN" altLang="en-US" sz="1060" b="1" dirty="0">
                    <a:solidFill>
                      <a:schemeClr val="tx1"/>
                    </a:solidFill>
                    <a:latin typeface="Times New Roman" panose="02020503050405090304" charset="0"/>
                    <a:cs typeface="Times New Roman" panose="02020503050405090304" charset="0"/>
                  </a:endParaRPr>
                </a:p>
              </p:txBody>
            </p:sp>
          </p:grpSp>
          <p:pic>
            <p:nvPicPr>
              <p:cNvPr id="5" name="图片 4">
                <a:extLst>
                  <a:ext uri="{FF2B5EF4-FFF2-40B4-BE49-F238E27FC236}">
                    <a16:creationId xmlns:a16="http://schemas.microsoft.com/office/drawing/2014/main" id="{15FF914B-1393-7131-5A2D-B0FC75D76D50}"/>
                  </a:ext>
                </a:extLst>
              </p:cNvPr>
              <p:cNvPicPr>
                <a:picLocks noChangeAspect="1"/>
              </p:cNvPicPr>
              <p:nvPr/>
            </p:nvPicPr>
            <p:blipFill>
              <a:blip r:embed="rId16"/>
              <a:stretch>
                <a:fillRect/>
              </a:stretch>
            </p:blipFill>
            <p:spPr>
              <a:xfrm>
                <a:off x="1217802" y="10465333"/>
                <a:ext cx="1097260" cy="1418871"/>
              </a:xfrm>
              <a:prstGeom prst="rect">
                <a:avLst/>
              </a:prstGeom>
            </p:spPr>
          </p:pic>
        </p:grpSp>
        <p:pic>
          <p:nvPicPr>
            <p:cNvPr id="9" name="图片 8">
              <a:extLst>
                <a:ext uri="{FF2B5EF4-FFF2-40B4-BE49-F238E27FC236}">
                  <a16:creationId xmlns:a16="http://schemas.microsoft.com/office/drawing/2014/main" id="{6B86E906-AD38-FAF3-885E-936083E03AC1}"/>
                </a:ext>
              </a:extLst>
            </p:cNvPr>
            <p:cNvPicPr>
              <a:picLocks noChangeAspect="1"/>
            </p:cNvPicPr>
            <p:nvPr/>
          </p:nvPicPr>
          <p:blipFill>
            <a:blip r:embed="rId17"/>
            <a:stretch>
              <a:fillRect/>
            </a:stretch>
          </p:blipFill>
          <p:spPr>
            <a:xfrm>
              <a:off x="2269088" y="17573375"/>
              <a:ext cx="3952797" cy="2057622"/>
            </a:xfrm>
            <a:prstGeom prst="rect">
              <a:avLst/>
            </a:prstGeom>
          </p:spPr>
        </p:pic>
        <p:pic>
          <p:nvPicPr>
            <p:cNvPr id="13" name="图片 12">
              <a:extLst>
                <a:ext uri="{FF2B5EF4-FFF2-40B4-BE49-F238E27FC236}">
                  <a16:creationId xmlns:a16="http://schemas.microsoft.com/office/drawing/2014/main" id="{9B468A68-C99F-A8A4-57A1-E99023C5806B}"/>
                </a:ext>
              </a:extLst>
            </p:cNvPr>
            <p:cNvPicPr>
              <a:picLocks noChangeAspect="1"/>
            </p:cNvPicPr>
            <p:nvPr/>
          </p:nvPicPr>
          <p:blipFill>
            <a:blip r:embed="rId18"/>
            <a:stretch>
              <a:fillRect/>
            </a:stretch>
          </p:blipFill>
          <p:spPr>
            <a:xfrm>
              <a:off x="1822187" y="13362553"/>
              <a:ext cx="4698400" cy="2800969"/>
            </a:xfrm>
            <a:prstGeom prst="rect">
              <a:avLst/>
            </a:prstGeom>
          </p:spPr>
        </p:pic>
        <p:grpSp>
          <p:nvGrpSpPr>
            <p:cNvPr id="23" name="组合 22">
              <a:extLst>
                <a:ext uri="{FF2B5EF4-FFF2-40B4-BE49-F238E27FC236}">
                  <a16:creationId xmlns:a16="http://schemas.microsoft.com/office/drawing/2014/main" id="{360AB3DD-008D-34CA-F43F-5D85D5F04320}"/>
                </a:ext>
              </a:extLst>
            </p:cNvPr>
            <p:cNvGrpSpPr/>
            <p:nvPr/>
          </p:nvGrpSpPr>
          <p:grpSpPr>
            <a:xfrm>
              <a:off x="12514323" y="-59948"/>
              <a:ext cx="15886899" cy="4001788"/>
              <a:chOff x="12254161" y="531628"/>
              <a:chExt cx="15886899" cy="4001788"/>
            </a:xfrm>
          </p:grpSpPr>
          <p:grpSp>
            <p:nvGrpSpPr>
              <p:cNvPr id="492" name="组合 491">
                <a:extLst>
                  <a:ext uri="{FF2B5EF4-FFF2-40B4-BE49-F238E27FC236}">
                    <a16:creationId xmlns:a16="http://schemas.microsoft.com/office/drawing/2014/main" id="{319F662A-7BDC-0500-3A1F-E735EB4F49EB}"/>
                  </a:ext>
                </a:extLst>
              </p:cNvPr>
              <p:cNvGrpSpPr/>
              <p:nvPr/>
            </p:nvGrpSpPr>
            <p:grpSpPr>
              <a:xfrm>
                <a:off x="12254161" y="531628"/>
                <a:ext cx="15696249" cy="3697102"/>
                <a:chOff x="16473281" y="717593"/>
                <a:chExt cx="13163989" cy="3697102"/>
              </a:xfrm>
            </p:grpSpPr>
            <p:sp>
              <p:nvSpPr>
                <p:cNvPr id="322" name="矩形: 圆角 439">
                  <a:extLst>
                    <a:ext uri="{FF2B5EF4-FFF2-40B4-BE49-F238E27FC236}">
                      <a16:creationId xmlns:a16="http://schemas.microsoft.com/office/drawing/2014/main" id="{40775E0B-B2F4-A4FA-9534-D6D7504866B5}"/>
                    </a:ext>
                  </a:extLst>
                </p:cNvPr>
                <p:cNvSpPr/>
                <p:nvPr/>
              </p:nvSpPr>
              <p:spPr>
                <a:xfrm>
                  <a:off x="16473281" y="829289"/>
                  <a:ext cx="13163989" cy="3585406"/>
                </a:xfrm>
                <a:prstGeom prst="roundRect">
                  <a:avLst>
                    <a:gd name="adj" fmla="val 9427"/>
                  </a:avLst>
                </a:prstGeom>
                <a:solidFill>
                  <a:srgbClr val="FFFDF2"/>
                </a:solidFill>
                <a:ln w="28575">
                  <a:solidFill>
                    <a:srgbClr val="E9CC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323" name="文本框 322">
                  <a:extLst>
                    <a:ext uri="{FF2B5EF4-FFF2-40B4-BE49-F238E27FC236}">
                      <a16:creationId xmlns:a16="http://schemas.microsoft.com/office/drawing/2014/main" id="{276ECA98-8848-0D34-7090-9681EEEC88F3}"/>
                    </a:ext>
                  </a:extLst>
                </p:cNvPr>
                <p:cNvSpPr txBox="1"/>
                <p:nvPr/>
              </p:nvSpPr>
              <p:spPr>
                <a:xfrm>
                  <a:off x="20344375" y="717593"/>
                  <a:ext cx="5324503" cy="1265434"/>
                </a:xfrm>
                <a:prstGeom prst="rect">
                  <a:avLst/>
                </a:prstGeom>
                <a:noFill/>
              </p:spPr>
              <p:txBody>
                <a:bodyPr wrap="none" rtlCol="0">
                  <a:spAutoFit/>
                </a:bodyPr>
                <a:lstStyle/>
                <a:p>
                  <a:pPr algn="ctr"/>
                  <a:r>
                    <a:rPr lang="en-US" altLang="zh-CN" sz="1590" b="1" dirty="0">
                      <a:latin typeface="Times New Roman" panose="02020503050405090304" charset="0"/>
                      <a:cs typeface="Times New Roman" panose="02020503050405090304" charset="0"/>
                    </a:rPr>
                    <a:t>System Responds</a:t>
                  </a:r>
                  <a:endParaRPr lang="zh-CN" altLang="en-US" sz="1590" b="1" dirty="0">
                    <a:latin typeface="Times New Roman" panose="02020503050405090304" charset="0"/>
                    <a:cs typeface="Times New Roman" panose="02020503050405090304" charset="0"/>
                  </a:endParaRPr>
                </a:p>
              </p:txBody>
            </p:sp>
          </p:grpSp>
          <p:grpSp>
            <p:nvGrpSpPr>
              <p:cNvPr id="58" name="组合 57">
                <a:extLst>
                  <a:ext uri="{FF2B5EF4-FFF2-40B4-BE49-F238E27FC236}">
                    <a16:creationId xmlns:a16="http://schemas.microsoft.com/office/drawing/2014/main" id="{453A5823-8A9F-4CFA-68D1-251632492290}"/>
                  </a:ext>
                </a:extLst>
              </p:cNvPr>
              <p:cNvGrpSpPr/>
              <p:nvPr/>
            </p:nvGrpSpPr>
            <p:grpSpPr>
              <a:xfrm>
                <a:off x="12269803" y="1690230"/>
                <a:ext cx="15871257" cy="2843186"/>
                <a:chOff x="19321853" y="17176372"/>
                <a:chExt cx="15871257" cy="2843186"/>
              </a:xfrm>
            </p:grpSpPr>
            <p:grpSp>
              <p:nvGrpSpPr>
                <p:cNvPr id="35" name="组合 34">
                  <a:extLst>
                    <a:ext uri="{FF2B5EF4-FFF2-40B4-BE49-F238E27FC236}">
                      <a16:creationId xmlns:a16="http://schemas.microsoft.com/office/drawing/2014/main" id="{D391F867-6572-2E68-84BB-1CA54801929D}"/>
                    </a:ext>
                  </a:extLst>
                </p:cNvPr>
                <p:cNvGrpSpPr/>
                <p:nvPr/>
              </p:nvGrpSpPr>
              <p:grpSpPr>
                <a:xfrm>
                  <a:off x="19321853" y="17196833"/>
                  <a:ext cx="4363961" cy="2462837"/>
                  <a:chOff x="19935425" y="17194439"/>
                  <a:chExt cx="4363961" cy="2462837"/>
                </a:xfrm>
              </p:grpSpPr>
              <p:sp>
                <p:nvSpPr>
                  <p:cNvPr id="202" name="矩形: 圆角 439">
                    <a:extLst>
                      <a:ext uri="{FF2B5EF4-FFF2-40B4-BE49-F238E27FC236}">
                        <a16:creationId xmlns:a16="http://schemas.microsoft.com/office/drawing/2014/main" id="{005A3813-BEEA-5BBC-6822-5EA31890EA5B}"/>
                      </a:ext>
                    </a:extLst>
                  </p:cNvPr>
                  <p:cNvSpPr/>
                  <p:nvPr/>
                </p:nvSpPr>
                <p:spPr>
                  <a:xfrm>
                    <a:off x="20229435" y="17194439"/>
                    <a:ext cx="3728994" cy="2191290"/>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28" name="图片 27">
                    <a:extLst>
                      <a:ext uri="{FF2B5EF4-FFF2-40B4-BE49-F238E27FC236}">
                        <a16:creationId xmlns:a16="http://schemas.microsoft.com/office/drawing/2014/main" id="{B1EEC118-2F98-F278-97C1-FFB5467C65A4}"/>
                      </a:ext>
                    </a:extLst>
                  </p:cNvPr>
                  <p:cNvPicPr>
                    <a:picLocks noChangeAspect="1"/>
                  </p:cNvPicPr>
                  <p:nvPr/>
                </p:nvPicPr>
                <p:blipFill>
                  <a:blip r:embed="rId19"/>
                  <a:stretch>
                    <a:fillRect/>
                  </a:stretch>
                </p:blipFill>
                <p:spPr>
                  <a:xfrm>
                    <a:off x="21738584" y="17331797"/>
                    <a:ext cx="828800" cy="752296"/>
                  </a:xfrm>
                  <a:prstGeom prst="rect">
                    <a:avLst/>
                  </a:prstGeom>
                </p:spPr>
              </p:pic>
              <p:sp>
                <p:nvSpPr>
                  <p:cNvPr id="205" name="文本框 204">
                    <a:extLst>
                      <a:ext uri="{FF2B5EF4-FFF2-40B4-BE49-F238E27FC236}">
                        <a16:creationId xmlns:a16="http://schemas.microsoft.com/office/drawing/2014/main" id="{25E70C77-C1E3-81C6-C81C-ADFE47D86CE2}"/>
                      </a:ext>
                    </a:extLst>
                  </p:cNvPr>
                  <p:cNvSpPr txBox="1"/>
                  <p:nvPr/>
                </p:nvSpPr>
                <p:spPr>
                  <a:xfrm>
                    <a:off x="19935425" y="18085071"/>
                    <a:ext cx="4363961" cy="1572205"/>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Healing</a:t>
                    </a:r>
                  </a:p>
                  <a:p>
                    <a:pPr algn="ctr"/>
                    <a:r>
                      <a:rPr lang="en-US" altLang="zh-CN" sz="1060" b="1" dirty="0">
                        <a:latin typeface="Times New Roman" panose="02020503050405090304" charset="0"/>
                        <a:cs typeface="Times New Roman" panose="02020503050405090304" charset="0"/>
                      </a:rPr>
                      <a:t>Verbal response</a:t>
                    </a:r>
                    <a:endParaRPr lang="zh-CN" altLang="en-US" sz="1060" b="1" dirty="0">
                      <a:latin typeface="Times New Roman" panose="02020503050405090304" charset="0"/>
                      <a:cs typeface="Times New Roman" panose="02020503050405090304" charset="0"/>
                    </a:endParaRPr>
                  </a:p>
                </p:txBody>
              </p:sp>
            </p:grpSp>
            <p:grpSp>
              <p:nvGrpSpPr>
                <p:cNvPr id="46" name="组合 45">
                  <a:extLst>
                    <a:ext uri="{FF2B5EF4-FFF2-40B4-BE49-F238E27FC236}">
                      <a16:creationId xmlns:a16="http://schemas.microsoft.com/office/drawing/2014/main" id="{69103216-5BEF-7433-2095-E119EC398BBE}"/>
                    </a:ext>
                  </a:extLst>
                </p:cNvPr>
                <p:cNvGrpSpPr/>
                <p:nvPr/>
              </p:nvGrpSpPr>
              <p:grpSpPr>
                <a:xfrm>
                  <a:off x="23322805" y="17198173"/>
                  <a:ext cx="4363961" cy="2634406"/>
                  <a:chOff x="24354060" y="17199276"/>
                  <a:chExt cx="4363961" cy="2634406"/>
                </a:xfrm>
              </p:grpSpPr>
              <p:grpSp>
                <p:nvGrpSpPr>
                  <p:cNvPr id="207" name="组合 206">
                    <a:extLst>
                      <a:ext uri="{FF2B5EF4-FFF2-40B4-BE49-F238E27FC236}">
                        <a16:creationId xmlns:a16="http://schemas.microsoft.com/office/drawing/2014/main" id="{CDA9B250-8073-28DD-5011-95FA2369540A}"/>
                      </a:ext>
                    </a:extLst>
                  </p:cNvPr>
                  <p:cNvGrpSpPr/>
                  <p:nvPr/>
                </p:nvGrpSpPr>
                <p:grpSpPr>
                  <a:xfrm>
                    <a:off x="24354060" y="17199276"/>
                    <a:ext cx="4363961" cy="2634406"/>
                    <a:chOff x="20327268" y="17194438"/>
                    <a:chExt cx="4363961" cy="2634406"/>
                  </a:xfrm>
                </p:grpSpPr>
                <p:sp>
                  <p:nvSpPr>
                    <p:cNvPr id="208" name="矩形: 圆角 439">
                      <a:extLst>
                        <a:ext uri="{FF2B5EF4-FFF2-40B4-BE49-F238E27FC236}">
                          <a16:creationId xmlns:a16="http://schemas.microsoft.com/office/drawing/2014/main" id="{754EF743-DBCD-D9A5-1408-9DD7C810BC9C}"/>
                        </a:ext>
                      </a:extLst>
                    </p:cNvPr>
                    <p:cNvSpPr/>
                    <p:nvPr/>
                  </p:nvSpPr>
                  <p:spPr>
                    <a:xfrm>
                      <a:off x="20639238" y="17194438"/>
                      <a:ext cx="3629863" cy="2189949"/>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10" name="文本框 209">
                      <a:extLst>
                        <a:ext uri="{FF2B5EF4-FFF2-40B4-BE49-F238E27FC236}">
                          <a16:creationId xmlns:a16="http://schemas.microsoft.com/office/drawing/2014/main" id="{FEEFD767-095D-C262-16DA-EC219C0A7B32}"/>
                        </a:ext>
                      </a:extLst>
                    </p:cNvPr>
                    <p:cNvSpPr txBox="1"/>
                    <p:nvPr/>
                  </p:nvSpPr>
                  <p:spPr>
                    <a:xfrm>
                      <a:off x="20327268" y="18082751"/>
                      <a:ext cx="4363961" cy="1746093"/>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Speech-delivery</a:t>
                      </a:r>
                    </a:p>
                    <a:p>
                      <a:pPr algn="ctr"/>
                      <a:r>
                        <a:rPr lang="en-US" altLang="zh-CN" sz="1060" b="1" dirty="0">
                          <a:latin typeface="Times New Roman" panose="02020503050405090304" charset="0"/>
                          <a:cs typeface="Times New Roman" panose="02020503050405090304" charset="0"/>
                        </a:rPr>
                        <a:t>control</a:t>
                      </a:r>
                      <a:endParaRPr lang="zh-CN" altLang="en-US" sz="1060" b="1" dirty="0">
                        <a:latin typeface="Times New Roman" panose="02020503050405090304" charset="0"/>
                        <a:cs typeface="Times New Roman" panose="02020503050405090304" charset="0"/>
                      </a:endParaRPr>
                    </a:p>
                  </p:txBody>
                </p:sp>
              </p:grpSp>
              <p:pic>
                <p:nvPicPr>
                  <p:cNvPr id="41" name="图片 40">
                    <a:extLst>
                      <a:ext uri="{FF2B5EF4-FFF2-40B4-BE49-F238E27FC236}">
                        <a16:creationId xmlns:a16="http://schemas.microsoft.com/office/drawing/2014/main" id="{708B56B4-C8B6-E89B-AEEE-B27D1BC0D47A}"/>
                      </a:ext>
                    </a:extLst>
                  </p:cNvPr>
                  <p:cNvPicPr>
                    <a:picLocks noChangeAspect="1"/>
                  </p:cNvPicPr>
                  <p:nvPr/>
                </p:nvPicPr>
                <p:blipFill>
                  <a:blip r:embed="rId20"/>
                  <a:stretch>
                    <a:fillRect/>
                  </a:stretch>
                </p:blipFill>
                <p:spPr>
                  <a:xfrm>
                    <a:off x="25928437" y="17305896"/>
                    <a:ext cx="1088766" cy="890858"/>
                  </a:xfrm>
                  <a:prstGeom prst="rect">
                    <a:avLst/>
                  </a:prstGeom>
                </p:spPr>
              </p:pic>
            </p:grpSp>
            <p:grpSp>
              <p:nvGrpSpPr>
                <p:cNvPr id="55" name="组合 54">
                  <a:extLst>
                    <a:ext uri="{FF2B5EF4-FFF2-40B4-BE49-F238E27FC236}">
                      <a16:creationId xmlns:a16="http://schemas.microsoft.com/office/drawing/2014/main" id="{F1BA6043-209F-AE83-5853-2E1DE6579812}"/>
                    </a:ext>
                  </a:extLst>
                </p:cNvPr>
                <p:cNvGrpSpPr/>
                <p:nvPr/>
              </p:nvGrpSpPr>
              <p:grpSpPr>
                <a:xfrm>
                  <a:off x="27049828" y="17200616"/>
                  <a:ext cx="4363961" cy="2755983"/>
                  <a:chOff x="27049828" y="17200616"/>
                  <a:chExt cx="4363961" cy="2755983"/>
                </a:xfrm>
              </p:grpSpPr>
              <p:grpSp>
                <p:nvGrpSpPr>
                  <p:cNvPr id="215" name="组合 214">
                    <a:extLst>
                      <a:ext uri="{FF2B5EF4-FFF2-40B4-BE49-F238E27FC236}">
                        <a16:creationId xmlns:a16="http://schemas.microsoft.com/office/drawing/2014/main" id="{EECD0A72-AB26-224A-3DE0-930EC990B6BB}"/>
                      </a:ext>
                    </a:extLst>
                  </p:cNvPr>
                  <p:cNvGrpSpPr/>
                  <p:nvPr/>
                </p:nvGrpSpPr>
                <p:grpSpPr>
                  <a:xfrm>
                    <a:off x="27049828" y="17200616"/>
                    <a:ext cx="4363961" cy="2755983"/>
                    <a:chOff x="20592738" y="17194439"/>
                    <a:chExt cx="4363961" cy="2755983"/>
                  </a:xfrm>
                </p:grpSpPr>
                <p:sp>
                  <p:nvSpPr>
                    <p:cNvPr id="221" name="矩形: 圆角 439">
                      <a:extLst>
                        <a:ext uri="{FF2B5EF4-FFF2-40B4-BE49-F238E27FC236}">
                          <a16:creationId xmlns:a16="http://schemas.microsoft.com/office/drawing/2014/main" id="{C714DE94-5452-4245-5AE0-7E338FAAE695}"/>
                        </a:ext>
                      </a:extLst>
                    </p:cNvPr>
                    <p:cNvSpPr/>
                    <p:nvPr/>
                  </p:nvSpPr>
                  <p:spPr>
                    <a:xfrm>
                      <a:off x="21052193" y="17194439"/>
                      <a:ext cx="3360491" cy="2150590"/>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2" name="文本框 221">
                      <a:extLst>
                        <a:ext uri="{FF2B5EF4-FFF2-40B4-BE49-F238E27FC236}">
                          <a16:creationId xmlns:a16="http://schemas.microsoft.com/office/drawing/2014/main" id="{60CE0354-1AF5-76ED-1873-EB9AE770C53E}"/>
                        </a:ext>
                      </a:extLst>
                    </p:cNvPr>
                    <p:cNvSpPr txBox="1"/>
                    <p:nvPr/>
                  </p:nvSpPr>
                  <p:spPr>
                    <a:xfrm>
                      <a:off x="20592738" y="18082751"/>
                      <a:ext cx="4363961" cy="1867671"/>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3D behavioral</a:t>
                      </a:r>
                    </a:p>
                    <a:p>
                      <a:pPr algn="ctr"/>
                      <a:r>
                        <a:rPr lang="en-US" altLang="zh-CN" sz="1060" b="1" dirty="0">
                          <a:latin typeface="Times New Roman" panose="02020503050405090304" charset="0"/>
                          <a:cs typeface="Times New Roman" panose="02020503050405090304" charset="0"/>
                        </a:rPr>
                        <a:t>expression</a:t>
                      </a:r>
                      <a:endParaRPr lang="zh-CN" altLang="en-US" sz="1060" b="1" dirty="0">
                        <a:latin typeface="Times New Roman" panose="02020503050405090304" charset="0"/>
                        <a:cs typeface="Times New Roman" panose="02020503050405090304" charset="0"/>
                      </a:endParaRPr>
                    </a:p>
                  </p:txBody>
                </p:sp>
              </p:grpSp>
              <p:pic>
                <p:nvPicPr>
                  <p:cNvPr id="54" name="图片 53">
                    <a:extLst>
                      <a:ext uri="{FF2B5EF4-FFF2-40B4-BE49-F238E27FC236}">
                        <a16:creationId xmlns:a16="http://schemas.microsoft.com/office/drawing/2014/main" id="{4FBA5EB2-D69C-C422-764D-6556EF010D48}"/>
                      </a:ext>
                    </a:extLst>
                  </p:cNvPr>
                  <p:cNvPicPr>
                    <a:picLocks noChangeAspect="1"/>
                  </p:cNvPicPr>
                  <p:nvPr/>
                </p:nvPicPr>
                <p:blipFill>
                  <a:blip r:embed="rId21"/>
                  <a:stretch>
                    <a:fillRect/>
                  </a:stretch>
                </p:blipFill>
                <p:spPr>
                  <a:xfrm>
                    <a:off x="28773637" y="17235305"/>
                    <a:ext cx="739992" cy="1021190"/>
                  </a:xfrm>
                  <a:prstGeom prst="rect">
                    <a:avLst/>
                  </a:prstGeom>
                </p:spPr>
              </p:pic>
            </p:grpSp>
            <p:grpSp>
              <p:nvGrpSpPr>
                <p:cNvPr id="223" name="组合 222">
                  <a:extLst>
                    <a:ext uri="{FF2B5EF4-FFF2-40B4-BE49-F238E27FC236}">
                      <a16:creationId xmlns:a16="http://schemas.microsoft.com/office/drawing/2014/main" id="{00823AB6-D3DA-2D0E-F52F-2A5F970AD9D7}"/>
                    </a:ext>
                  </a:extLst>
                </p:cNvPr>
                <p:cNvGrpSpPr/>
                <p:nvPr/>
              </p:nvGrpSpPr>
              <p:grpSpPr>
                <a:xfrm>
                  <a:off x="30829149" y="17176372"/>
                  <a:ext cx="4363961" cy="2843186"/>
                  <a:chOff x="20710728" y="17194439"/>
                  <a:chExt cx="4363961" cy="2843186"/>
                </a:xfrm>
              </p:grpSpPr>
              <p:sp>
                <p:nvSpPr>
                  <p:cNvPr id="224" name="矩形: 圆角 439">
                    <a:extLst>
                      <a:ext uri="{FF2B5EF4-FFF2-40B4-BE49-F238E27FC236}">
                        <a16:creationId xmlns:a16="http://schemas.microsoft.com/office/drawing/2014/main" id="{CB8F46CB-B6A2-CBE5-FDA6-98B1E252B012}"/>
                      </a:ext>
                    </a:extLst>
                  </p:cNvPr>
                  <p:cNvSpPr/>
                  <p:nvPr/>
                </p:nvSpPr>
                <p:spPr>
                  <a:xfrm>
                    <a:off x="20963704" y="17194439"/>
                    <a:ext cx="3704728" cy="2139408"/>
                  </a:xfrm>
                  <a:prstGeom prst="roundRect">
                    <a:avLst>
                      <a:gd name="adj" fmla="val 15026"/>
                    </a:avLst>
                  </a:prstGeom>
                  <a:solidFill>
                    <a:srgbClr val="FEFE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5" name="文本框 224">
                    <a:extLst>
                      <a:ext uri="{FF2B5EF4-FFF2-40B4-BE49-F238E27FC236}">
                        <a16:creationId xmlns:a16="http://schemas.microsoft.com/office/drawing/2014/main" id="{557AD57F-B63B-7EEA-E896-EC9E2EECB154}"/>
                      </a:ext>
                    </a:extLst>
                  </p:cNvPr>
                  <p:cNvSpPr txBox="1"/>
                  <p:nvPr/>
                </p:nvSpPr>
                <p:spPr>
                  <a:xfrm>
                    <a:off x="20710728" y="18082751"/>
                    <a:ext cx="4363961" cy="1954874"/>
                  </a:xfrm>
                  <a:prstGeom prst="rect">
                    <a:avLst/>
                  </a:prstGeom>
                  <a:noFill/>
                </p:spPr>
                <p:txBody>
                  <a:bodyPr wrap="square" rtlCol="0">
                    <a:spAutoFit/>
                  </a:bodyPr>
                  <a:lstStyle/>
                  <a:p>
                    <a:pPr algn="ctr"/>
                    <a:r>
                      <a:rPr lang="en-US" altLang="zh-CN" sz="1060" b="1" dirty="0">
                        <a:latin typeface="Times New Roman" panose="02020503050405090304" charset="0"/>
                        <a:cs typeface="Times New Roman" panose="02020503050405090304" charset="0"/>
                      </a:rPr>
                      <a:t>Game-guidance</a:t>
                    </a:r>
                  </a:p>
                  <a:p>
                    <a:pPr algn="ctr"/>
                    <a:r>
                      <a:rPr lang="en-US" altLang="zh-CN" sz="1060" b="1" dirty="0">
                        <a:latin typeface="Times New Roman" panose="02020503050405090304" charset="0"/>
                        <a:cs typeface="Times New Roman" panose="02020503050405090304" charset="0"/>
                      </a:rPr>
                      <a:t>signal</a:t>
                    </a:r>
                    <a:endParaRPr lang="zh-CN" altLang="en-US" sz="1060" b="1" dirty="0">
                      <a:latin typeface="Times New Roman" panose="02020503050405090304" charset="0"/>
                      <a:cs typeface="Times New Roman" panose="02020503050405090304" charset="0"/>
                    </a:endParaRPr>
                  </a:p>
                </p:txBody>
              </p:sp>
            </p:grpSp>
            <p:pic>
              <p:nvPicPr>
                <p:cNvPr id="57" name="图片 56">
                  <a:extLst>
                    <a:ext uri="{FF2B5EF4-FFF2-40B4-BE49-F238E27FC236}">
                      <a16:creationId xmlns:a16="http://schemas.microsoft.com/office/drawing/2014/main" id="{CF52855B-A2F2-D0CE-C6DA-F806713BE646}"/>
                    </a:ext>
                  </a:extLst>
                </p:cNvPr>
                <p:cNvPicPr>
                  <a:picLocks noChangeAspect="1"/>
                </p:cNvPicPr>
                <p:nvPr/>
              </p:nvPicPr>
              <p:blipFill>
                <a:blip r:embed="rId22"/>
                <a:stretch>
                  <a:fillRect/>
                </a:stretch>
              </p:blipFill>
              <p:spPr>
                <a:xfrm>
                  <a:off x="32398313" y="17207621"/>
                  <a:ext cx="1060474" cy="965505"/>
                </a:xfrm>
                <a:prstGeom prst="rect">
                  <a:avLst/>
                </a:prstGeom>
              </p:spPr>
            </p:pic>
          </p:grpSp>
        </p:grpSp>
        <p:grpSp>
          <p:nvGrpSpPr>
            <p:cNvPr id="59" name="组合 58">
              <a:extLst>
                <a:ext uri="{FF2B5EF4-FFF2-40B4-BE49-F238E27FC236}">
                  <a16:creationId xmlns:a16="http://schemas.microsoft.com/office/drawing/2014/main" id="{F400F972-2AF3-2DB3-BACE-FE4A7EADE6AD}"/>
                </a:ext>
              </a:extLst>
            </p:cNvPr>
            <p:cNvGrpSpPr/>
            <p:nvPr/>
          </p:nvGrpSpPr>
          <p:grpSpPr>
            <a:xfrm>
              <a:off x="10357568" y="19983625"/>
              <a:ext cx="19756013" cy="5660517"/>
              <a:chOff x="10044828" y="20938503"/>
              <a:chExt cx="19756013" cy="5660517"/>
            </a:xfrm>
          </p:grpSpPr>
          <p:sp>
            <p:nvSpPr>
              <p:cNvPr id="216" name="矩形: 圆角 439">
                <a:extLst>
                  <a:ext uri="{FF2B5EF4-FFF2-40B4-BE49-F238E27FC236}">
                    <a16:creationId xmlns:a16="http://schemas.microsoft.com/office/drawing/2014/main" id="{B4ABE463-C725-94E0-E35E-D6C640C8762B}"/>
                  </a:ext>
                </a:extLst>
              </p:cNvPr>
              <p:cNvSpPr/>
              <p:nvPr/>
            </p:nvSpPr>
            <p:spPr>
              <a:xfrm>
                <a:off x="10044828" y="20938503"/>
                <a:ext cx="19756013" cy="5660517"/>
              </a:xfrm>
              <a:prstGeom prst="roundRect">
                <a:avLst>
                  <a:gd name="adj" fmla="val 3381"/>
                </a:avLst>
              </a:prstGeom>
              <a:solidFill>
                <a:srgbClr val="F6FAFA"/>
              </a:solidFill>
              <a:ln w="28575">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18" name="文本框 217">
                <a:extLst>
                  <a:ext uri="{FF2B5EF4-FFF2-40B4-BE49-F238E27FC236}">
                    <a16:creationId xmlns:a16="http://schemas.microsoft.com/office/drawing/2014/main" id="{6F617A26-88A6-A60F-59FE-61891308901B}"/>
                  </a:ext>
                </a:extLst>
              </p:cNvPr>
              <p:cNvSpPr txBox="1"/>
              <p:nvPr/>
            </p:nvSpPr>
            <p:spPr>
              <a:xfrm>
                <a:off x="12463057" y="21128950"/>
                <a:ext cx="14955125" cy="1265434"/>
              </a:xfrm>
              <a:prstGeom prst="rect">
                <a:avLst/>
              </a:prstGeom>
              <a:noFill/>
            </p:spPr>
            <p:txBody>
              <a:bodyPr wrap="none" rtlCol="0">
                <a:spAutoFit/>
              </a:bodyPr>
              <a:lstStyle/>
              <a:p>
                <a:pPr algn="ctr"/>
                <a:r>
                  <a:rPr lang="en-US" altLang="zh-CN" sz="1590" b="1" dirty="0">
                    <a:latin typeface="Times New Roman" panose="02020503050405090304" charset="0"/>
                    <a:cs typeface="Times New Roman" panose="02020503050405090304" charset="0"/>
                  </a:rPr>
                  <a:t>Affective-Art-Game-Based State Perception</a:t>
                </a:r>
                <a:endParaRPr lang="zh-CN" altLang="en-US" sz="1590" b="1" dirty="0">
                  <a:latin typeface="Times New Roman" panose="02020503050405090304" charset="0"/>
                  <a:cs typeface="Times New Roman" panose="02020503050405090304" charset="0"/>
                </a:endParaRPr>
              </a:p>
            </p:txBody>
          </p:sp>
          <p:grpSp>
            <p:nvGrpSpPr>
              <p:cNvPr id="481" name="组合 480">
                <a:extLst>
                  <a:ext uri="{FF2B5EF4-FFF2-40B4-BE49-F238E27FC236}">
                    <a16:creationId xmlns:a16="http://schemas.microsoft.com/office/drawing/2014/main" id="{04BA99AF-C410-87E2-9F14-1276E2C95553}"/>
                  </a:ext>
                </a:extLst>
              </p:cNvPr>
              <p:cNvGrpSpPr/>
              <p:nvPr/>
            </p:nvGrpSpPr>
            <p:grpSpPr>
              <a:xfrm>
                <a:off x="10248031" y="22462186"/>
                <a:ext cx="3079701" cy="3489727"/>
                <a:chOff x="12990482" y="21155883"/>
                <a:chExt cx="3079701" cy="3489727"/>
              </a:xfrm>
            </p:grpSpPr>
            <p:sp>
              <p:nvSpPr>
                <p:cNvPr id="276" name="矩形: 圆角 275">
                  <a:extLst>
                    <a:ext uri="{FF2B5EF4-FFF2-40B4-BE49-F238E27FC236}">
                      <a16:creationId xmlns:a16="http://schemas.microsoft.com/office/drawing/2014/main" id="{4C4270C8-99AE-E35E-701F-1EA78257FB17}"/>
                    </a:ext>
                  </a:extLst>
                </p:cNvPr>
                <p:cNvSpPr/>
                <p:nvPr/>
              </p:nvSpPr>
              <p:spPr>
                <a:xfrm>
                  <a:off x="13017330" y="21286078"/>
                  <a:ext cx="2738162"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38" name="文本框 237">
                  <a:extLst>
                    <a:ext uri="{FF2B5EF4-FFF2-40B4-BE49-F238E27FC236}">
                      <a16:creationId xmlns:a16="http://schemas.microsoft.com/office/drawing/2014/main" id="{C00964B8-4C7C-9315-9D23-B33CF2711649}"/>
                    </a:ext>
                  </a:extLst>
                </p:cNvPr>
                <p:cNvSpPr txBox="1"/>
                <p:nvPr/>
              </p:nvSpPr>
              <p:spPr>
                <a:xfrm>
                  <a:off x="12990482" y="21155883"/>
                  <a:ext cx="3079701"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Emotion </a:t>
                  </a:r>
                </a:p>
                <a:p>
                  <a:pPr algn="ctr"/>
                  <a:r>
                    <a:rPr lang="en-US" altLang="zh-CN" sz="1270" b="1" dirty="0">
                      <a:latin typeface="Times New Roman" panose="02020503050405090304" charset="0"/>
                      <a:cs typeface="Times New Roman" panose="02020503050405090304" charset="0"/>
                    </a:rPr>
                    <a:t>selection </a:t>
                  </a:r>
                </a:p>
              </p:txBody>
            </p:sp>
            <p:pic>
              <p:nvPicPr>
                <p:cNvPr id="479" name="图片 478">
                  <a:extLst>
                    <a:ext uri="{FF2B5EF4-FFF2-40B4-BE49-F238E27FC236}">
                      <a16:creationId xmlns:a16="http://schemas.microsoft.com/office/drawing/2014/main" id="{4F240AAD-67BB-676B-1020-EDA5BBF0EA0E}"/>
                    </a:ext>
                  </a:extLst>
                </p:cNvPr>
                <p:cNvPicPr>
                  <a:picLocks noChangeAspect="1"/>
                </p:cNvPicPr>
                <p:nvPr/>
              </p:nvPicPr>
              <p:blipFill>
                <a:blip r:embed="rId23"/>
                <a:stretch>
                  <a:fillRect/>
                </a:stretch>
              </p:blipFill>
              <p:spPr>
                <a:xfrm>
                  <a:off x="13540695" y="22775553"/>
                  <a:ext cx="1680359" cy="1770378"/>
                </a:xfrm>
                <a:prstGeom prst="rect">
                  <a:avLst/>
                </a:prstGeom>
              </p:spPr>
            </p:pic>
          </p:grpSp>
          <p:grpSp>
            <p:nvGrpSpPr>
              <p:cNvPr id="486" name="组合 485">
                <a:extLst>
                  <a:ext uri="{FF2B5EF4-FFF2-40B4-BE49-F238E27FC236}">
                    <a16:creationId xmlns:a16="http://schemas.microsoft.com/office/drawing/2014/main" id="{887C2F0D-98AE-48D4-952E-608FF51B6C75}"/>
                  </a:ext>
                </a:extLst>
              </p:cNvPr>
              <p:cNvGrpSpPr/>
              <p:nvPr/>
            </p:nvGrpSpPr>
            <p:grpSpPr>
              <a:xfrm>
                <a:off x="13514700" y="22523026"/>
                <a:ext cx="3417630" cy="3422246"/>
                <a:chOff x="17932145" y="21302033"/>
                <a:chExt cx="3417631" cy="3422246"/>
              </a:xfrm>
            </p:grpSpPr>
            <p:sp>
              <p:nvSpPr>
                <p:cNvPr id="286" name="矩形: 圆角 285">
                  <a:extLst>
                    <a:ext uri="{FF2B5EF4-FFF2-40B4-BE49-F238E27FC236}">
                      <a16:creationId xmlns:a16="http://schemas.microsoft.com/office/drawing/2014/main" id="{150AD4CA-CCD5-D5DF-03AC-A395D2632AE7}"/>
                    </a:ext>
                  </a:extLst>
                </p:cNvPr>
                <p:cNvSpPr/>
                <p:nvPr/>
              </p:nvSpPr>
              <p:spPr>
                <a:xfrm>
                  <a:off x="18172450" y="21373090"/>
                  <a:ext cx="2937022" cy="3351189"/>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42" name="文本框 241">
                  <a:extLst>
                    <a:ext uri="{FF2B5EF4-FFF2-40B4-BE49-F238E27FC236}">
                      <a16:creationId xmlns:a16="http://schemas.microsoft.com/office/drawing/2014/main" id="{0C6DA6B6-C7E6-4FAB-041E-0C140BE7A6E7}"/>
                    </a:ext>
                  </a:extLst>
                </p:cNvPr>
                <p:cNvSpPr txBox="1"/>
                <p:nvPr/>
              </p:nvSpPr>
              <p:spPr>
                <a:xfrm>
                  <a:off x="17932145" y="21302033"/>
                  <a:ext cx="3417631"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First draft</a:t>
                  </a:r>
                </a:p>
                <a:p>
                  <a:pPr algn="ctr"/>
                  <a:r>
                    <a:rPr lang="en-US" altLang="zh-CN" sz="1270" b="1" dirty="0">
                      <a:latin typeface="Times New Roman" panose="02020503050405090304" charset="0"/>
                      <a:cs typeface="Times New Roman" panose="02020503050405090304" charset="0"/>
                    </a:rPr>
                    <a:t>creation</a:t>
                  </a:r>
                </a:p>
              </p:txBody>
            </p:sp>
            <p:pic>
              <p:nvPicPr>
                <p:cNvPr id="485" name="图片 484">
                  <a:extLst>
                    <a:ext uri="{FF2B5EF4-FFF2-40B4-BE49-F238E27FC236}">
                      <a16:creationId xmlns:a16="http://schemas.microsoft.com/office/drawing/2014/main" id="{00286166-80D1-4D40-33FA-F5B03C141C83}"/>
                    </a:ext>
                  </a:extLst>
                </p:cNvPr>
                <p:cNvPicPr>
                  <a:picLocks noChangeAspect="1"/>
                </p:cNvPicPr>
                <p:nvPr/>
              </p:nvPicPr>
              <p:blipFill>
                <a:blip r:embed="rId24"/>
                <a:stretch>
                  <a:fillRect/>
                </a:stretch>
              </p:blipFill>
              <p:spPr>
                <a:xfrm>
                  <a:off x="18835147" y="22732862"/>
                  <a:ext cx="1504357" cy="1888123"/>
                </a:xfrm>
                <a:prstGeom prst="rect">
                  <a:avLst/>
                </a:prstGeom>
              </p:spPr>
            </p:pic>
          </p:grpSp>
          <p:sp>
            <p:nvSpPr>
              <p:cNvPr id="280" name="箭头: 右 36">
                <a:extLst>
                  <a:ext uri="{FF2B5EF4-FFF2-40B4-BE49-F238E27FC236}">
                    <a16:creationId xmlns:a16="http://schemas.microsoft.com/office/drawing/2014/main" id="{D02A9E36-0A12-96B1-EFDA-0954BE4A43C6}"/>
                  </a:ext>
                </a:extLst>
              </p:cNvPr>
              <p:cNvSpPr/>
              <p:nvPr/>
            </p:nvSpPr>
            <p:spPr>
              <a:xfrm>
                <a:off x="13151649" y="24118880"/>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sp>
            <p:nvSpPr>
              <p:cNvPr id="248" name="箭头: 右 36">
                <a:extLst>
                  <a:ext uri="{FF2B5EF4-FFF2-40B4-BE49-F238E27FC236}">
                    <a16:creationId xmlns:a16="http://schemas.microsoft.com/office/drawing/2014/main" id="{6018C650-B8F8-CB06-C7F0-6D9B21C45648}"/>
                  </a:ext>
                </a:extLst>
              </p:cNvPr>
              <p:cNvSpPr/>
              <p:nvPr/>
            </p:nvSpPr>
            <p:spPr>
              <a:xfrm>
                <a:off x="16808731" y="24075336"/>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nvGrpSpPr>
              <p:cNvPr id="499" name="组合 498">
                <a:extLst>
                  <a:ext uri="{FF2B5EF4-FFF2-40B4-BE49-F238E27FC236}">
                    <a16:creationId xmlns:a16="http://schemas.microsoft.com/office/drawing/2014/main" id="{635DD334-B780-A266-390F-297CD8597A54}"/>
                  </a:ext>
                </a:extLst>
              </p:cNvPr>
              <p:cNvGrpSpPr/>
              <p:nvPr/>
            </p:nvGrpSpPr>
            <p:grpSpPr>
              <a:xfrm>
                <a:off x="17273860" y="22480108"/>
                <a:ext cx="4512932" cy="3471805"/>
                <a:chOff x="17066631" y="21173805"/>
                <a:chExt cx="4512932" cy="3471805"/>
              </a:xfrm>
            </p:grpSpPr>
            <p:sp>
              <p:nvSpPr>
                <p:cNvPr id="247" name="矩形: 圆角 246">
                  <a:extLst>
                    <a:ext uri="{FF2B5EF4-FFF2-40B4-BE49-F238E27FC236}">
                      <a16:creationId xmlns:a16="http://schemas.microsoft.com/office/drawing/2014/main" id="{15CB1E43-E2A5-65F8-8B3D-7946B1BFA697}"/>
                    </a:ext>
                  </a:extLst>
                </p:cNvPr>
                <p:cNvSpPr/>
                <p:nvPr/>
              </p:nvSpPr>
              <p:spPr>
                <a:xfrm>
                  <a:off x="17277775" y="21286078"/>
                  <a:ext cx="3534834"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49" name="文本框 248">
                  <a:extLst>
                    <a:ext uri="{FF2B5EF4-FFF2-40B4-BE49-F238E27FC236}">
                      <a16:creationId xmlns:a16="http://schemas.microsoft.com/office/drawing/2014/main" id="{C1921B8A-BF1C-5169-3E79-7003E946E426}"/>
                    </a:ext>
                  </a:extLst>
                </p:cNvPr>
                <p:cNvSpPr txBox="1"/>
                <p:nvPr/>
              </p:nvSpPr>
              <p:spPr>
                <a:xfrm>
                  <a:off x="17066631" y="21173805"/>
                  <a:ext cx="4007207"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Composition</a:t>
                  </a:r>
                </a:p>
                <a:p>
                  <a:pPr algn="ctr"/>
                  <a:r>
                    <a:rPr lang="en-US" altLang="zh-CN" sz="1270" b="1" dirty="0">
                      <a:latin typeface="Times New Roman" panose="02020503050405090304" charset="0"/>
                      <a:cs typeface="Times New Roman" panose="02020503050405090304" charset="0"/>
                    </a:rPr>
                    <a:t>analysis</a:t>
                  </a:r>
                </a:p>
              </p:txBody>
            </p:sp>
            <p:pic>
              <p:nvPicPr>
                <p:cNvPr id="491" name="图片 490">
                  <a:extLst>
                    <a:ext uri="{FF2B5EF4-FFF2-40B4-BE49-F238E27FC236}">
                      <a16:creationId xmlns:a16="http://schemas.microsoft.com/office/drawing/2014/main" id="{C12D0773-F596-6CA1-9B2A-51AFF8FF2DB4}"/>
                    </a:ext>
                  </a:extLst>
                </p:cNvPr>
                <p:cNvPicPr>
                  <a:picLocks noChangeAspect="1"/>
                </p:cNvPicPr>
                <p:nvPr/>
              </p:nvPicPr>
              <p:blipFill>
                <a:blip r:embed="rId25"/>
                <a:stretch>
                  <a:fillRect/>
                </a:stretch>
              </p:blipFill>
              <p:spPr>
                <a:xfrm>
                  <a:off x="17976663" y="22654144"/>
                  <a:ext cx="2443495" cy="1866835"/>
                </a:xfrm>
                <a:prstGeom prst="rect">
                  <a:avLst/>
                </a:prstGeom>
              </p:spPr>
            </p:pic>
            <p:sp>
              <p:nvSpPr>
                <p:cNvPr id="259" name="箭头: 右 36">
                  <a:extLst>
                    <a:ext uri="{FF2B5EF4-FFF2-40B4-BE49-F238E27FC236}">
                      <a16:creationId xmlns:a16="http://schemas.microsoft.com/office/drawing/2014/main" id="{3BD6BCE3-4E98-EAAD-EBD9-9BA5955666B5}"/>
                    </a:ext>
                  </a:extLst>
                </p:cNvPr>
                <p:cNvSpPr/>
                <p:nvPr/>
              </p:nvSpPr>
              <p:spPr>
                <a:xfrm>
                  <a:off x="20917544" y="22812579"/>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grpSp>
            <p:nvGrpSpPr>
              <p:cNvPr id="501" name="组合 500">
                <a:extLst>
                  <a:ext uri="{FF2B5EF4-FFF2-40B4-BE49-F238E27FC236}">
                    <a16:creationId xmlns:a16="http://schemas.microsoft.com/office/drawing/2014/main" id="{7E8BC92F-640A-60D1-6403-D3738952320F}"/>
                  </a:ext>
                </a:extLst>
              </p:cNvPr>
              <p:cNvGrpSpPr/>
              <p:nvPr/>
            </p:nvGrpSpPr>
            <p:grpSpPr>
              <a:xfrm>
                <a:off x="21526722" y="22465048"/>
                <a:ext cx="4481744" cy="3461439"/>
                <a:chOff x="20884060" y="21158746"/>
                <a:chExt cx="4481744" cy="3461439"/>
              </a:xfrm>
            </p:grpSpPr>
            <p:sp>
              <p:nvSpPr>
                <p:cNvPr id="254" name="矩形: 圆角 253">
                  <a:extLst>
                    <a:ext uri="{FF2B5EF4-FFF2-40B4-BE49-F238E27FC236}">
                      <a16:creationId xmlns:a16="http://schemas.microsoft.com/office/drawing/2014/main" id="{6679A4AE-6C53-E2CF-1A32-FCEF87FE514D}"/>
                    </a:ext>
                  </a:extLst>
                </p:cNvPr>
                <p:cNvSpPr/>
                <p:nvPr/>
              </p:nvSpPr>
              <p:spPr>
                <a:xfrm>
                  <a:off x="21192079" y="21260653"/>
                  <a:ext cx="3845968"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96" name="图片 495">
                  <a:extLst>
                    <a:ext uri="{FF2B5EF4-FFF2-40B4-BE49-F238E27FC236}">
                      <a16:creationId xmlns:a16="http://schemas.microsoft.com/office/drawing/2014/main" id="{7EC79871-D0E1-6EBA-5890-FAC210BF4564}"/>
                    </a:ext>
                  </a:extLst>
                </p:cNvPr>
                <p:cNvPicPr>
                  <a:picLocks noChangeAspect="1"/>
                </p:cNvPicPr>
                <p:nvPr/>
              </p:nvPicPr>
              <p:blipFill>
                <a:blip r:embed="rId26"/>
                <a:stretch>
                  <a:fillRect/>
                </a:stretch>
              </p:blipFill>
              <p:spPr>
                <a:xfrm>
                  <a:off x="22116387" y="22647554"/>
                  <a:ext cx="1878932" cy="1964677"/>
                </a:xfrm>
                <a:prstGeom prst="rect">
                  <a:avLst/>
                </a:prstGeom>
              </p:spPr>
            </p:pic>
            <p:sp>
              <p:nvSpPr>
                <p:cNvPr id="260" name="文本框 259">
                  <a:extLst>
                    <a:ext uri="{FF2B5EF4-FFF2-40B4-BE49-F238E27FC236}">
                      <a16:creationId xmlns:a16="http://schemas.microsoft.com/office/drawing/2014/main" id="{12C68907-1082-5AAF-15E8-F37CC1AA5A1D}"/>
                    </a:ext>
                  </a:extLst>
                </p:cNvPr>
                <p:cNvSpPr txBox="1"/>
                <p:nvPr/>
              </p:nvSpPr>
              <p:spPr>
                <a:xfrm>
                  <a:off x="20884060" y="21158746"/>
                  <a:ext cx="4481744"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Conscious</a:t>
                  </a:r>
                </a:p>
                <a:p>
                  <a:pPr algn="ctr"/>
                  <a:r>
                    <a:rPr lang="en-US" altLang="zh-CN" sz="1270" b="1" dirty="0">
                      <a:latin typeface="Times New Roman" panose="02020503050405090304" charset="0"/>
                      <a:cs typeface="Times New Roman" panose="02020503050405090304" charset="0"/>
                    </a:rPr>
                    <a:t>reconstruction</a:t>
                  </a:r>
                </a:p>
              </p:txBody>
            </p:sp>
          </p:grpSp>
          <p:grpSp>
            <p:nvGrpSpPr>
              <p:cNvPr id="500" name="组合 499">
                <a:extLst>
                  <a:ext uri="{FF2B5EF4-FFF2-40B4-BE49-F238E27FC236}">
                    <a16:creationId xmlns:a16="http://schemas.microsoft.com/office/drawing/2014/main" id="{BD87415E-052B-FE47-D17A-DF5A507B068A}"/>
                  </a:ext>
                </a:extLst>
              </p:cNvPr>
              <p:cNvGrpSpPr/>
              <p:nvPr/>
            </p:nvGrpSpPr>
            <p:grpSpPr>
              <a:xfrm>
                <a:off x="26347508" y="22480106"/>
                <a:ext cx="3264244" cy="3446380"/>
                <a:chOff x="25709670" y="21173805"/>
                <a:chExt cx="3264244" cy="3446380"/>
              </a:xfrm>
            </p:grpSpPr>
            <p:sp>
              <p:nvSpPr>
                <p:cNvPr id="261" name="矩形: 圆角 260">
                  <a:extLst>
                    <a:ext uri="{FF2B5EF4-FFF2-40B4-BE49-F238E27FC236}">
                      <a16:creationId xmlns:a16="http://schemas.microsoft.com/office/drawing/2014/main" id="{3B2676AF-0E8D-0201-6326-BE64B2DFB986}"/>
                    </a:ext>
                  </a:extLst>
                </p:cNvPr>
                <p:cNvSpPr/>
                <p:nvPr/>
              </p:nvSpPr>
              <p:spPr>
                <a:xfrm>
                  <a:off x="25879672" y="21260653"/>
                  <a:ext cx="2894679" cy="3359532"/>
                </a:xfrm>
                <a:prstGeom prst="roundRect">
                  <a:avLst>
                    <a:gd name="adj" fmla="val 8879"/>
                  </a:avLst>
                </a:prstGeom>
                <a:solidFill>
                  <a:srgbClr val="FEFEFE"/>
                </a:solidFill>
                <a:ln>
                  <a:solidFill>
                    <a:srgbClr val="A9CE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498" name="图片 497">
                  <a:extLst>
                    <a:ext uri="{FF2B5EF4-FFF2-40B4-BE49-F238E27FC236}">
                      <a16:creationId xmlns:a16="http://schemas.microsoft.com/office/drawing/2014/main" id="{C8D86BDE-08F2-58E2-1299-54F179BE3B16}"/>
                    </a:ext>
                  </a:extLst>
                </p:cNvPr>
                <p:cNvPicPr>
                  <a:picLocks noChangeAspect="1"/>
                </p:cNvPicPr>
                <p:nvPr/>
              </p:nvPicPr>
              <p:blipFill>
                <a:blip r:embed="rId27"/>
                <a:stretch>
                  <a:fillRect/>
                </a:stretch>
              </p:blipFill>
              <p:spPr>
                <a:xfrm>
                  <a:off x="26696529" y="22707995"/>
                  <a:ext cx="1239892" cy="1769284"/>
                </a:xfrm>
                <a:prstGeom prst="rect">
                  <a:avLst/>
                </a:prstGeom>
              </p:spPr>
            </p:pic>
            <p:sp>
              <p:nvSpPr>
                <p:cNvPr id="263" name="文本框 262">
                  <a:extLst>
                    <a:ext uri="{FF2B5EF4-FFF2-40B4-BE49-F238E27FC236}">
                      <a16:creationId xmlns:a16="http://schemas.microsoft.com/office/drawing/2014/main" id="{A3D5D977-D966-E37F-FD7D-C1DE01A32A89}"/>
                    </a:ext>
                  </a:extLst>
                </p:cNvPr>
                <p:cNvSpPr txBox="1"/>
                <p:nvPr/>
              </p:nvSpPr>
              <p:spPr>
                <a:xfrm>
                  <a:off x="25709670" y="21173805"/>
                  <a:ext cx="3264244" cy="1814268"/>
                </a:xfrm>
                <a:prstGeom prst="rect">
                  <a:avLst/>
                </a:prstGeom>
                <a:noFill/>
              </p:spPr>
              <p:txBody>
                <a:bodyPr wrap="none" rtlCol="0">
                  <a:spAutoFit/>
                </a:bodyPr>
                <a:lstStyle/>
                <a:p>
                  <a:pPr algn="ctr"/>
                  <a:r>
                    <a:rPr lang="en-US" altLang="zh-CN" sz="1270" b="1" dirty="0">
                      <a:latin typeface="Times New Roman" panose="02020503050405090304" charset="0"/>
                      <a:cs typeface="Times New Roman" panose="02020503050405090304" charset="0"/>
                    </a:rPr>
                    <a:t>Reflective</a:t>
                  </a:r>
                </a:p>
                <a:p>
                  <a:pPr algn="ctr"/>
                  <a:r>
                    <a:rPr lang="en-US" altLang="zh-CN" sz="1270" b="1" dirty="0">
                      <a:latin typeface="Times New Roman" panose="02020503050405090304" charset="0"/>
                      <a:cs typeface="Times New Roman" panose="02020503050405090304" charset="0"/>
                    </a:rPr>
                    <a:t>report</a:t>
                  </a:r>
                </a:p>
              </p:txBody>
            </p:sp>
          </p:grpSp>
          <p:sp>
            <p:nvSpPr>
              <p:cNvPr id="264" name="箭头: 右 36">
                <a:extLst>
                  <a:ext uri="{FF2B5EF4-FFF2-40B4-BE49-F238E27FC236}">
                    <a16:creationId xmlns:a16="http://schemas.microsoft.com/office/drawing/2014/main" id="{A72383CA-ED24-DF8F-0ED5-DDA86F03DCEC}"/>
                  </a:ext>
                </a:extLst>
              </p:cNvPr>
              <p:cNvSpPr/>
              <p:nvPr/>
            </p:nvSpPr>
            <p:spPr>
              <a:xfrm>
                <a:off x="25784406" y="24118880"/>
                <a:ext cx="662019" cy="571052"/>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a:p>
            </p:txBody>
          </p:sp>
        </p:grpSp>
        <p:sp>
          <p:nvSpPr>
            <p:cNvPr id="212" name="矩形: 圆角 439">
              <a:extLst>
                <a:ext uri="{FF2B5EF4-FFF2-40B4-BE49-F238E27FC236}">
                  <a16:creationId xmlns:a16="http://schemas.microsoft.com/office/drawing/2014/main" id="{0308F827-1375-907D-F348-27AA7CD36154}"/>
                </a:ext>
              </a:extLst>
            </p:cNvPr>
            <p:cNvSpPr/>
            <p:nvPr/>
          </p:nvSpPr>
          <p:spPr>
            <a:xfrm>
              <a:off x="19545675" y="5928266"/>
              <a:ext cx="14996498" cy="2755717"/>
            </a:xfrm>
            <a:prstGeom prst="roundRect">
              <a:avLst>
                <a:gd name="adj" fmla="val 6610"/>
              </a:avLst>
            </a:prstGeom>
            <a:solidFill>
              <a:srgbClr val="FAF6FE"/>
            </a:solidFill>
            <a:ln w="28575">
              <a:solidFill>
                <a:srgbClr val="AE99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pic>
          <p:nvPicPr>
            <p:cNvPr id="53" name="图片 52">
              <a:extLst>
                <a:ext uri="{FF2B5EF4-FFF2-40B4-BE49-F238E27FC236}">
                  <a16:creationId xmlns:a16="http://schemas.microsoft.com/office/drawing/2014/main" id="{47CD1341-9A43-4E4B-4307-15C1461DB424}"/>
                </a:ext>
              </a:extLst>
            </p:cNvPr>
            <p:cNvPicPr>
              <a:picLocks noChangeAspect="1"/>
            </p:cNvPicPr>
            <p:nvPr/>
          </p:nvPicPr>
          <p:blipFill>
            <a:blip r:embed="rId28"/>
            <a:stretch>
              <a:fillRect/>
            </a:stretch>
          </p:blipFill>
          <p:spPr>
            <a:xfrm>
              <a:off x="29769905" y="6034940"/>
              <a:ext cx="2975024" cy="2555021"/>
            </a:xfrm>
            <a:prstGeom prst="rect">
              <a:avLst/>
            </a:prstGeom>
          </p:spPr>
        </p:pic>
        <p:sp>
          <p:nvSpPr>
            <p:cNvPr id="217" name="箭头: 右 510">
              <a:extLst>
                <a:ext uri="{FF2B5EF4-FFF2-40B4-BE49-F238E27FC236}">
                  <a16:creationId xmlns:a16="http://schemas.microsoft.com/office/drawing/2014/main" id="{390CF920-116E-5002-5391-20F90D33CEE9}"/>
                </a:ext>
              </a:extLst>
            </p:cNvPr>
            <p:cNvSpPr/>
            <p:nvPr/>
          </p:nvSpPr>
          <p:spPr>
            <a:xfrm rot="5400000">
              <a:off x="22253196" y="8526005"/>
              <a:ext cx="543201" cy="1132574"/>
            </a:xfrm>
            <a:prstGeom prst="rightArrow">
              <a:avLst/>
            </a:prstGeom>
            <a:solidFill>
              <a:srgbClr val="4D4E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75" dirty="0"/>
            </a:p>
          </p:txBody>
        </p:sp>
        <p:sp>
          <p:nvSpPr>
            <p:cNvPr id="226" name="文本框 225">
              <a:extLst>
                <a:ext uri="{FF2B5EF4-FFF2-40B4-BE49-F238E27FC236}">
                  <a16:creationId xmlns:a16="http://schemas.microsoft.com/office/drawing/2014/main" id="{903EDF7E-A2CF-9DE1-867F-B518636B01E5}"/>
                </a:ext>
              </a:extLst>
            </p:cNvPr>
            <p:cNvSpPr txBox="1"/>
            <p:nvPr/>
          </p:nvSpPr>
          <p:spPr>
            <a:xfrm>
              <a:off x="20415022" y="5957694"/>
              <a:ext cx="9086455" cy="1265434"/>
            </a:xfrm>
            <a:prstGeom prst="rect">
              <a:avLst/>
            </a:prstGeom>
            <a:noFill/>
          </p:spPr>
          <p:txBody>
            <a:bodyPr wrap="square" rtlCol="0">
              <a:spAutoFit/>
            </a:bodyPr>
            <a:lstStyle/>
            <a:p>
              <a:pPr algn="ctr"/>
              <a:r>
                <a:rPr lang="en-US" altLang="zh-CN" sz="1590" b="1" dirty="0">
                  <a:solidFill>
                    <a:srgbClr val="8469C5"/>
                  </a:solidFill>
                  <a:latin typeface="Times New Roman" panose="02020503050405090304" charset="0"/>
                  <a:cs typeface="Times New Roman" panose="02020503050405090304" charset="0"/>
                </a:rPr>
                <a:t>Multimodal state fusion</a:t>
              </a:r>
              <a:endParaRPr lang="zh-CN" altLang="en-US" sz="1590" b="1" dirty="0">
                <a:solidFill>
                  <a:srgbClr val="8469C5"/>
                </a:solidFill>
                <a:latin typeface="Times New Roman" panose="02020503050405090304" charset="0"/>
                <a:cs typeface="Times New Roman" panose="02020503050405090304" charset="0"/>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8D243CA8-FEB8-1694-0C2A-1C3D78422411}"/>
                    </a:ext>
                  </a:extLst>
                </p:cNvPr>
                <p:cNvSpPr txBox="1"/>
                <p:nvPr/>
              </p:nvSpPr>
              <p:spPr>
                <a:xfrm>
                  <a:off x="21209284" y="7123368"/>
                  <a:ext cx="7701519" cy="11911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𝒉</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r>
                          <a:rPr lang="zh-CN" altLang="en-US" sz="1750" b="1" i="1">
                            <a:latin typeface="Cambria Math" panose="02040503050406030204" pitchFamily="18" charset="0"/>
                          </a:rPr>
                          <m:t>𝝍</m:t>
                        </m:r>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𝒖</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𝒗</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𝒘</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sSub>
                          <m:sSubPr>
                            <m:ctrlPr>
                              <a:rPr lang="en-US" altLang="zh-CN" sz="1750" b="1" i="1">
                                <a:latin typeface="Cambria Math" panose="02040503050406030204" pitchFamily="18" charset="0"/>
                              </a:rPr>
                            </m:ctrlPr>
                          </m:sSubPr>
                          <m:e>
                            <m:r>
                              <a:rPr lang="en-US" altLang="zh-CN" sz="1750" b="1" i="1">
                                <a:latin typeface="Cambria Math" panose="02040503050406030204" pitchFamily="18" charset="0"/>
                              </a:rPr>
                              <m:t>𝒑</m:t>
                            </m:r>
                          </m:e>
                          <m:sub>
                            <m:r>
                              <a:rPr lang="en-US" altLang="zh-CN" sz="1750" b="1" i="1">
                                <a:latin typeface="Cambria Math" panose="02040503050406030204" pitchFamily="18" charset="0"/>
                              </a:rPr>
                              <m:t>𝒕</m:t>
                            </m:r>
                          </m:sub>
                        </m:sSub>
                        <m:r>
                          <a:rPr lang="en-US" altLang="zh-CN" sz="1750" b="1" i="1">
                            <a:latin typeface="Cambria Math" panose="02040503050406030204" pitchFamily="18" charset="0"/>
                          </a:rPr>
                          <m:t>)</m:t>
                        </m:r>
                      </m:oMath>
                    </m:oMathPara>
                  </a14:m>
                  <a:endParaRPr lang="zh-CN" altLang="en-US" sz="740" b="1" dirty="0"/>
                </a:p>
              </p:txBody>
            </p:sp>
          </mc:Choice>
          <mc:Fallback xmlns="">
            <p:sp>
              <p:nvSpPr>
                <p:cNvPr id="56" name="文本框 55"/>
                <p:cNvSpPr txBox="1">
                  <a:spLocks noRot="1" noChangeAspect="1" noMove="1" noResize="1" noEditPoints="1" noAdjustHandles="1" noChangeArrowheads="1" noChangeShapeType="1" noTextEdit="1"/>
                </p:cNvSpPr>
                <p:nvPr/>
              </p:nvSpPr>
              <p:spPr>
                <a:xfrm>
                  <a:off x="21209284" y="7123368"/>
                  <a:ext cx="7701519" cy="1191137"/>
                </a:xfrm>
                <a:prstGeom prst="rect">
                  <a:avLst/>
                </a:prstGeom>
                <a:blipFill rotWithShape="1">
                  <a:blip r:embed="rId29"/>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61893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16</a:t>
            </a:fld>
            <a:endParaRPr lang="zh-CN" altLang="en-US"/>
          </a:p>
        </p:txBody>
      </p:sp>
      <p:pic>
        <p:nvPicPr>
          <p:cNvPr id="64" name="图片 63"/>
          <p:cNvPicPr>
            <a:picLocks noChangeAspect="1"/>
          </p:cNvPicPr>
          <p:nvPr/>
        </p:nvPicPr>
        <p:blipFill>
          <a:blip r:embed="rId4"/>
          <a:stretch>
            <a:fillRect/>
          </a:stretch>
        </p:blipFill>
        <p:spPr>
          <a:xfrm>
            <a:off x="7177405" y="4272280"/>
            <a:ext cx="2519680" cy="2324100"/>
          </a:xfrm>
          <a:prstGeom prst="rect">
            <a:avLst/>
          </a:prstGeom>
        </p:spPr>
      </p:pic>
      <p:sp>
        <p:nvSpPr>
          <p:cNvPr id="24" name="文本框 23"/>
          <p:cNvSpPr txBox="1"/>
          <p:nvPr/>
        </p:nvSpPr>
        <p:spPr>
          <a:xfrm>
            <a:off x="6976745" y="4314825"/>
            <a:ext cx="2921000" cy="533400"/>
          </a:xfrm>
          <a:prstGeom prst="rect">
            <a:avLst/>
          </a:prstGeom>
          <a:noFill/>
        </p:spPr>
        <p:txBody>
          <a:bodyPr wrap="square" rtlCol="0">
            <a:noAutofit/>
          </a:bodyPr>
          <a:lstStyle/>
          <a:p>
            <a:pPr algn="ctr">
              <a:lnSpc>
                <a:spcPct val="90000"/>
              </a:lnSpc>
            </a:pPr>
            <a:r>
              <a:rPr lang="en-US" altLang="zh-CN" sz="1600" b="1" dirty="0">
                <a:solidFill>
                  <a:srgbClr val="268208"/>
                </a:solidFill>
                <a:latin typeface="Times New Roman" panose="02020503050405090304" charset="0"/>
                <a:cs typeface="Times New Roman" panose="02020503050405090304" charset="0"/>
              </a:rPr>
              <a:t>Affective Art </a:t>
            </a:r>
          </a:p>
          <a:p>
            <a:pPr algn="ctr">
              <a:lnSpc>
                <a:spcPct val="90000"/>
              </a:lnSpc>
            </a:pPr>
            <a:r>
              <a:rPr lang="en-US" altLang="zh-CN" sz="1600" b="1" dirty="0">
                <a:solidFill>
                  <a:srgbClr val="268208"/>
                </a:solidFill>
                <a:latin typeface="Times New Roman" panose="02020503050405090304" charset="0"/>
                <a:cs typeface="Times New Roman" panose="02020503050405090304" charset="0"/>
              </a:rPr>
              <a:t>Composition Game</a:t>
            </a:r>
          </a:p>
        </p:txBody>
      </p:sp>
      <p:sp>
        <p:nvSpPr>
          <p:cNvPr id="143" name="圆角矩形 142"/>
          <p:cNvSpPr/>
          <p:nvPr/>
        </p:nvSpPr>
        <p:spPr>
          <a:xfrm>
            <a:off x="3418840" y="1305560"/>
            <a:ext cx="6278245" cy="2430145"/>
          </a:xfrm>
          <a:prstGeom prst="roundRect">
            <a:avLst>
              <a:gd name="adj" fmla="val 9942"/>
            </a:avLst>
          </a:prstGeom>
          <a:solidFill>
            <a:srgbClr val="F2F6FB"/>
          </a:solidFill>
          <a:ln>
            <a:solidFill>
              <a:srgbClr val="84A9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4" name="图片 143"/>
          <p:cNvPicPr>
            <a:picLocks noChangeAspect="1"/>
          </p:cNvPicPr>
          <p:nvPr/>
        </p:nvPicPr>
        <p:blipFill>
          <a:blip r:embed="rId5"/>
          <a:stretch>
            <a:fillRect/>
          </a:stretch>
        </p:blipFill>
        <p:spPr>
          <a:xfrm>
            <a:off x="3402330" y="4404678"/>
            <a:ext cx="2722880" cy="2059305"/>
          </a:xfrm>
          <a:prstGeom prst="rect">
            <a:avLst/>
          </a:prstGeom>
        </p:spPr>
      </p:pic>
      <p:sp>
        <p:nvSpPr>
          <p:cNvPr id="145" name="圆角矩形 144"/>
          <p:cNvSpPr/>
          <p:nvPr/>
        </p:nvSpPr>
        <p:spPr>
          <a:xfrm>
            <a:off x="3546475" y="1722755"/>
            <a:ext cx="2698115" cy="1905000"/>
          </a:xfrm>
          <a:prstGeom prst="roundRect">
            <a:avLst>
              <a:gd name="adj" fmla="val 9259"/>
            </a:avLst>
          </a:prstGeom>
          <a:solidFill>
            <a:srgbClr val="F0F6FB"/>
          </a:solidFill>
          <a:ln>
            <a:solidFill>
              <a:srgbClr val="84A9D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圆角矩形 146"/>
          <p:cNvSpPr/>
          <p:nvPr/>
        </p:nvSpPr>
        <p:spPr>
          <a:xfrm>
            <a:off x="6823710" y="1722755"/>
            <a:ext cx="2754630" cy="1905000"/>
          </a:xfrm>
          <a:prstGeom prst="roundRect">
            <a:avLst>
              <a:gd name="adj" fmla="val 9259"/>
            </a:avLst>
          </a:prstGeom>
          <a:solidFill>
            <a:srgbClr val="F2F7F6"/>
          </a:solidFill>
          <a:ln>
            <a:solidFill>
              <a:srgbClr val="A0C6A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文本框 147"/>
          <p:cNvSpPr txBox="1"/>
          <p:nvPr/>
        </p:nvSpPr>
        <p:spPr>
          <a:xfrm>
            <a:off x="3600450" y="1305560"/>
            <a:ext cx="6096000" cy="368300"/>
          </a:xfrm>
          <a:prstGeom prst="rect">
            <a:avLst/>
          </a:prstGeom>
          <a:noFill/>
        </p:spPr>
        <p:txBody>
          <a:bodyPr wrap="square" rtlCol="0" anchor="t">
            <a:spAutoFit/>
          </a:bodyPr>
          <a:lstStyle/>
          <a:p>
            <a:pPr algn="ctr"/>
            <a:r>
              <a:rPr lang="en-US" altLang="zh-CN" b="1">
                <a:solidFill>
                  <a:schemeClr val="tx1"/>
                </a:solidFill>
                <a:latin typeface="Times New Roman" panose="02020503050405090304" charset="0"/>
                <a:cs typeface="Times New Roman" panose="02020503050405090304" charset="0"/>
              </a:rPr>
              <a:t>Affective </a:t>
            </a:r>
            <a:r>
              <a:rPr lang="en-US" altLang="zh-CN" b="1">
                <a:latin typeface="Times New Roman" panose="02020503050405090304" charset="0"/>
                <a:cs typeface="Times New Roman" panose="02020503050405090304" charset="0"/>
                <a:sym typeface="+mn-ea"/>
              </a:rPr>
              <a:t>Conversational </a:t>
            </a:r>
            <a:r>
              <a:rPr lang="en-US" altLang="zh-CN" b="1">
                <a:solidFill>
                  <a:schemeClr val="tx1"/>
                </a:solidFill>
                <a:latin typeface="Times New Roman" panose="02020503050405090304" charset="0"/>
                <a:cs typeface="Times New Roman" panose="02020503050405090304" charset="0"/>
              </a:rPr>
              <a:t>Agent with 3D Avatar</a:t>
            </a:r>
          </a:p>
        </p:txBody>
      </p:sp>
      <p:sp>
        <p:nvSpPr>
          <p:cNvPr id="149" name="文本框 148"/>
          <p:cNvSpPr txBox="1"/>
          <p:nvPr/>
        </p:nvSpPr>
        <p:spPr>
          <a:xfrm>
            <a:off x="3701415" y="1722755"/>
            <a:ext cx="2272030" cy="368300"/>
          </a:xfrm>
          <a:prstGeom prst="rect">
            <a:avLst/>
          </a:prstGeom>
          <a:noFill/>
        </p:spPr>
        <p:txBody>
          <a:bodyPr wrap="square" rtlCol="0" anchor="t">
            <a:spAutoFit/>
          </a:bodyPr>
          <a:lstStyle/>
          <a:p>
            <a:pPr algn="ctr"/>
            <a:r>
              <a:rPr lang="en-US" altLang="zh-CN" b="1">
                <a:solidFill>
                  <a:schemeClr val="tx1"/>
                </a:solidFill>
                <a:latin typeface="Times New Roman" panose="02020503050405090304" charset="0"/>
                <a:cs typeface="Times New Roman" panose="02020503050405090304" charset="0"/>
              </a:rPr>
              <a:t>Visualization Layer</a:t>
            </a:r>
          </a:p>
        </p:txBody>
      </p:sp>
      <p:sp>
        <p:nvSpPr>
          <p:cNvPr id="150" name="文本框 149"/>
          <p:cNvSpPr txBox="1"/>
          <p:nvPr/>
        </p:nvSpPr>
        <p:spPr>
          <a:xfrm>
            <a:off x="7074535" y="1722755"/>
            <a:ext cx="2272030" cy="368300"/>
          </a:xfrm>
          <a:prstGeom prst="rect">
            <a:avLst/>
          </a:prstGeom>
          <a:noFill/>
        </p:spPr>
        <p:txBody>
          <a:bodyPr wrap="square" rtlCol="0" anchor="t">
            <a:spAutoFit/>
          </a:bodyPr>
          <a:lstStyle/>
          <a:p>
            <a:pPr algn="ctr"/>
            <a:r>
              <a:rPr lang="en-US" altLang="zh-CN" b="1">
                <a:solidFill>
                  <a:schemeClr val="tx1"/>
                </a:solidFill>
                <a:latin typeface="Times New Roman" panose="02020503050405090304" charset="0"/>
                <a:cs typeface="Times New Roman" panose="02020503050405090304" charset="0"/>
              </a:rPr>
              <a:t>Thinking Layer</a:t>
            </a:r>
          </a:p>
        </p:txBody>
      </p:sp>
      <p:cxnSp>
        <p:nvCxnSpPr>
          <p:cNvPr id="152" name="直接箭头连接符 151"/>
          <p:cNvCxnSpPr>
            <a:stCxn id="144" idx="3"/>
            <a:endCxn id="64" idx="1"/>
          </p:cNvCxnSpPr>
          <p:nvPr/>
        </p:nvCxnSpPr>
        <p:spPr>
          <a:xfrm flipV="1">
            <a:off x="6125210" y="5434330"/>
            <a:ext cx="1052195" cy="635"/>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53" name="直接箭头连接符 152"/>
          <p:cNvCxnSpPr>
            <a:stCxn id="145" idx="3"/>
            <a:endCxn id="147" idx="1"/>
          </p:cNvCxnSpPr>
          <p:nvPr/>
        </p:nvCxnSpPr>
        <p:spPr>
          <a:xfrm>
            <a:off x="6244590" y="2675255"/>
            <a:ext cx="579120" cy="0"/>
          </a:xfrm>
          <a:prstGeom prst="straightConnector1">
            <a:avLst/>
          </a:prstGeom>
          <a:ln w="38100">
            <a:solidFill>
              <a:srgbClr val="C00000"/>
            </a:solidFill>
            <a:prstDash val="sysDash"/>
            <a:headEnd type="arrow" w="med" len="med"/>
            <a:tailEnd type="arrow" w="med" len="med"/>
          </a:ln>
        </p:spPr>
        <p:style>
          <a:lnRef idx="2">
            <a:schemeClr val="accent1"/>
          </a:lnRef>
          <a:fillRef idx="0">
            <a:srgbClr val="FFFFFF"/>
          </a:fillRef>
          <a:effectRef idx="0">
            <a:srgbClr val="FFFFFF"/>
          </a:effectRef>
          <a:fontRef idx="minor">
            <a:schemeClr val="tx1"/>
          </a:fontRef>
        </p:style>
      </p:cxnSp>
      <p:grpSp>
        <p:nvGrpSpPr>
          <p:cNvPr id="158" name="组合 157"/>
          <p:cNvGrpSpPr/>
          <p:nvPr/>
        </p:nvGrpSpPr>
        <p:grpSpPr>
          <a:xfrm>
            <a:off x="4038600" y="2089150"/>
            <a:ext cx="1484630" cy="1486535"/>
            <a:chOff x="205" y="4803"/>
            <a:chExt cx="2338" cy="2341"/>
          </a:xfrm>
        </p:grpSpPr>
        <p:sp>
          <p:nvSpPr>
            <p:cNvPr id="154" name="圆角矩形 153"/>
            <p:cNvSpPr/>
            <p:nvPr/>
          </p:nvSpPr>
          <p:spPr>
            <a:xfrm>
              <a:off x="205" y="4803"/>
              <a:ext cx="2339" cy="2341"/>
            </a:xfrm>
            <a:prstGeom prst="roundRect">
              <a:avLst/>
            </a:prstGeom>
            <a:solidFill>
              <a:srgbClr val="DEC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1" name="图片 150"/>
            <p:cNvPicPr>
              <a:picLocks noChangeAspect="1"/>
            </p:cNvPicPr>
            <p:nvPr/>
          </p:nvPicPr>
          <p:blipFill>
            <a:blip r:embed="rId6"/>
            <a:srcRect t="16363" b="21263"/>
            <a:stretch>
              <a:fillRect/>
            </a:stretch>
          </p:blipFill>
          <p:spPr>
            <a:xfrm>
              <a:off x="407" y="4804"/>
              <a:ext cx="1788" cy="2340"/>
            </a:xfrm>
            <a:prstGeom prst="rect">
              <a:avLst/>
            </a:prstGeom>
          </p:spPr>
        </p:pic>
      </p:grpSp>
      <p:pic>
        <p:nvPicPr>
          <p:cNvPr id="159" name="图片 158" descr="点击"/>
          <p:cNvPicPr>
            <a:picLocks noChangeAspect="1"/>
          </p:cNvPicPr>
          <p:nvPr>
            <p:custDataLst>
              <p:tags r:id="rId1"/>
            </p:custDataLst>
          </p:nvPr>
        </p:nvPicPr>
        <p:blipFill>
          <a:blip>
            <a:extLst>
              <a:ext uri="{96DAC541-7B7A-43D3-8B79-37D633B846F1}">
                <asvg:svgBlip xmlns:asvg="http://schemas.microsoft.com/office/drawing/2016/SVG/main" r:embed="rId7"/>
              </a:ext>
            </a:extLst>
          </a:blip>
          <a:stretch>
            <a:fillRect/>
          </a:stretch>
        </p:blipFill>
        <p:spPr>
          <a:xfrm>
            <a:off x="6374765" y="4805680"/>
            <a:ext cx="537845" cy="537845"/>
          </a:xfrm>
          <a:prstGeom prst="rect">
            <a:avLst/>
          </a:prstGeom>
        </p:spPr>
      </p:pic>
      <p:sp>
        <p:nvSpPr>
          <p:cNvPr id="160" name="文本框 159"/>
          <p:cNvSpPr txBox="1"/>
          <p:nvPr/>
        </p:nvSpPr>
        <p:spPr>
          <a:xfrm>
            <a:off x="6059170" y="5502275"/>
            <a:ext cx="1358900" cy="368300"/>
          </a:xfrm>
          <a:prstGeom prst="rect">
            <a:avLst/>
          </a:prstGeom>
          <a:noFill/>
        </p:spPr>
        <p:txBody>
          <a:bodyPr wrap="square" rtlCol="0">
            <a:spAutoFit/>
          </a:bodyPr>
          <a:lstStyle/>
          <a:p>
            <a:r>
              <a:rPr lang="en-US" altLang="zh-CN" b="1">
                <a:latin typeface="Times New Roman" panose="02020503050405090304" charset="0"/>
                <a:cs typeface="Times New Roman" panose="02020503050405090304" charset="0"/>
              </a:rPr>
              <a:t>Operation</a:t>
            </a:r>
          </a:p>
        </p:txBody>
      </p:sp>
      <p:sp>
        <p:nvSpPr>
          <p:cNvPr id="164" name="圆角矩形 163"/>
          <p:cNvSpPr/>
          <p:nvPr/>
        </p:nvSpPr>
        <p:spPr>
          <a:xfrm>
            <a:off x="6948805" y="2168525"/>
            <a:ext cx="2503805" cy="526415"/>
          </a:xfrm>
          <a:prstGeom prst="roundRect">
            <a:avLst/>
          </a:prstGeom>
          <a:solidFill>
            <a:srgbClr val="E5F3E7"/>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0"/>
              </a:spcBef>
              <a:spcAft>
                <a:spcPts val="0"/>
              </a:spcAft>
            </a:pPr>
            <a:r>
              <a:rPr lang="en-US" altLang="zh-CN" b="1">
                <a:solidFill>
                  <a:srgbClr val="353535"/>
                </a:solidFill>
                <a:latin typeface="Times New Roman" panose="02020503050405090304" charset="0"/>
                <a:cs typeface="Times New Roman" panose="02020503050405090304" charset="0"/>
                <a:sym typeface="+mn-ea"/>
              </a:rPr>
              <a:t>User Emotion</a:t>
            </a:r>
            <a:endParaRPr lang="en-US" altLang="zh-CN" b="1" i="0" u="none">
              <a:solidFill>
                <a:srgbClr val="353535"/>
              </a:solidFill>
              <a:latin typeface="Times New Roman" panose="02020503050405090304" charset="0"/>
              <a:cs typeface="Times New Roman" panose="02020503050405090304" charset="0"/>
            </a:endParaRPr>
          </a:p>
          <a:p>
            <a:pPr algn="ctr"/>
            <a:r>
              <a:rPr lang="en-US" altLang="zh-CN" b="1">
                <a:solidFill>
                  <a:srgbClr val="353535"/>
                </a:solidFill>
                <a:latin typeface="Times New Roman" panose="02020503050405090304" charset="0"/>
                <a:cs typeface="Times New Roman" panose="02020503050405090304" charset="0"/>
                <a:sym typeface="+mn-ea"/>
              </a:rPr>
              <a:t>Understanding</a:t>
            </a:r>
            <a:endParaRPr lang="zh-CN" altLang="en-US"/>
          </a:p>
        </p:txBody>
      </p:sp>
      <p:sp>
        <p:nvSpPr>
          <p:cNvPr id="165" name="圆角矩形 164"/>
          <p:cNvSpPr/>
          <p:nvPr/>
        </p:nvSpPr>
        <p:spPr>
          <a:xfrm>
            <a:off x="6948805" y="2990850"/>
            <a:ext cx="2503805" cy="526415"/>
          </a:xfrm>
          <a:prstGeom prst="roundRect">
            <a:avLst/>
          </a:prstGeom>
          <a:solidFill>
            <a:srgbClr val="E5F3E7"/>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0"/>
              </a:spcBef>
              <a:spcAft>
                <a:spcPts val="0"/>
              </a:spcAft>
            </a:pPr>
            <a:r>
              <a:rPr b="1">
                <a:solidFill>
                  <a:srgbClr val="393939"/>
                </a:solidFill>
                <a:latin typeface="Times New Roman" panose="02020503050405090304" charset="0"/>
                <a:cs typeface="Times New Roman" panose="02020503050405090304" charset="0"/>
                <a:sym typeface="+mn-ea"/>
              </a:rPr>
              <a:t>Response</a:t>
            </a:r>
            <a:endParaRPr b="1" i="0" u="none">
              <a:solidFill>
                <a:srgbClr val="393939"/>
              </a:solidFill>
              <a:latin typeface="Times New Roman" panose="02020503050405090304" charset="0"/>
              <a:cs typeface="Times New Roman" panose="02020503050405090304" charset="0"/>
            </a:endParaRPr>
          </a:p>
          <a:p>
            <a:pPr algn="ctr">
              <a:lnSpc>
                <a:spcPct val="100000"/>
              </a:lnSpc>
              <a:spcBef>
                <a:spcPts val="0"/>
              </a:spcBef>
              <a:spcAft>
                <a:spcPts val="0"/>
              </a:spcAft>
            </a:pPr>
            <a:r>
              <a:rPr b="1">
                <a:solidFill>
                  <a:srgbClr val="393939"/>
                </a:solidFill>
                <a:latin typeface="Times New Roman" panose="02020503050405090304" charset="0"/>
                <a:cs typeface="Times New Roman" panose="02020503050405090304" charset="0"/>
                <a:sym typeface="+mn-ea"/>
              </a:rPr>
              <a:t>Planning</a:t>
            </a:r>
            <a:endParaRPr lang="en-US" altLang="zh-CN"/>
          </a:p>
        </p:txBody>
      </p:sp>
      <p:cxnSp>
        <p:nvCxnSpPr>
          <p:cNvPr id="166" name="直接箭头连接符 165"/>
          <p:cNvCxnSpPr>
            <a:stCxn id="164" idx="2"/>
            <a:endCxn id="165" idx="0"/>
          </p:cNvCxnSpPr>
          <p:nvPr/>
        </p:nvCxnSpPr>
        <p:spPr>
          <a:xfrm>
            <a:off x="8201025" y="2694940"/>
            <a:ext cx="0" cy="29591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7" name="直接箭头连接符 166"/>
          <p:cNvCxnSpPr/>
          <p:nvPr/>
        </p:nvCxnSpPr>
        <p:spPr>
          <a:xfrm>
            <a:off x="5114290" y="3623945"/>
            <a:ext cx="8255" cy="799465"/>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8" name="直接箭头连接符 167"/>
          <p:cNvCxnSpPr/>
          <p:nvPr/>
        </p:nvCxnSpPr>
        <p:spPr>
          <a:xfrm flipH="1">
            <a:off x="3728085" y="3623945"/>
            <a:ext cx="4445" cy="799465"/>
          </a:xfrm>
          <a:prstGeom prst="straightConnector1">
            <a:avLst/>
          </a:prstGeom>
          <a:ln w="38100">
            <a:solidFill>
              <a:schemeClr val="tx1"/>
            </a:solidFill>
            <a:headEnd type="arrow" w="med" len="med"/>
            <a:tailEnd type="none"/>
          </a:ln>
        </p:spPr>
        <p:style>
          <a:lnRef idx="2">
            <a:schemeClr val="accent1"/>
          </a:lnRef>
          <a:fillRef idx="0">
            <a:srgbClr val="FFFFFF"/>
          </a:fillRef>
          <a:effectRef idx="0">
            <a:srgbClr val="FFFFFF"/>
          </a:effectRef>
          <a:fontRef idx="minor">
            <a:schemeClr val="tx1"/>
          </a:fontRef>
        </p:style>
      </p:cxnSp>
      <p:sp>
        <p:nvSpPr>
          <p:cNvPr id="169" name="drawio2pptx:shape:84"/>
          <p:cNvSpPr/>
          <p:nvPr/>
        </p:nvSpPr>
        <p:spPr>
          <a:xfrm>
            <a:off x="3749040" y="3998595"/>
            <a:ext cx="1123950" cy="219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endParaRPr sz="1575" b="1" i="0" u="none">
              <a:solidFill>
                <a:srgbClr val="315DBD"/>
              </a:solidFill>
              <a:latin typeface="Arial Narrow" panose="020B0606020202030204"/>
            </a:endParaRPr>
          </a:p>
        </p:txBody>
      </p:sp>
      <p:sp>
        <p:nvSpPr>
          <p:cNvPr id="170" name="drawio2pptx:shape:91"/>
          <p:cNvSpPr txBox="1"/>
          <p:nvPr/>
        </p:nvSpPr>
        <p:spPr>
          <a:xfrm>
            <a:off x="3805555" y="3809365"/>
            <a:ext cx="1235075" cy="521970"/>
          </a:xfrm>
          <a:prstGeom prst="rect">
            <a:avLst/>
          </a:prstGeom>
          <a:noFill/>
        </p:spPr>
        <p:txBody>
          <a:bodyPr wrap="square" lIns="91440" tIns="45720" rIns="91440" bIns="45720" rtlCol="0" anchor="t">
            <a:spAutoFit/>
          </a:bodyPr>
          <a:lstStyle/>
          <a:p>
            <a:pPr lvl="0" algn="ctr">
              <a:buClrTx/>
              <a:buSzTx/>
              <a:buFontTx/>
            </a:pPr>
            <a:r>
              <a:rPr lang="en-US" altLang="zh-CN" sz="1400" b="1">
                <a:latin typeface="Times New Roman" panose="02020503050405090304" charset="0"/>
                <a:cs typeface="Times New Roman" panose="02020503050405090304" charset="0"/>
              </a:rPr>
              <a:t>User Input</a:t>
            </a:r>
          </a:p>
          <a:p>
            <a:pPr lvl="0" algn="ctr">
              <a:buClrTx/>
              <a:buSzTx/>
              <a:buFontTx/>
            </a:pPr>
            <a:r>
              <a:rPr lang="en-US" altLang="zh-CN" sz="1400" b="1">
                <a:latin typeface="Times New Roman" panose="02020503050405090304" charset="0"/>
                <a:cs typeface="Times New Roman" panose="02020503050405090304" charset="0"/>
              </a:rPr>
              <a:t>(Video, Audio)</a:t>
            </a:r>
          </a:p>
        </p:txBody>
      </p:sp>
      <p:sp>
        <p:nvSpPr>
          <p:cNvPr id="172" name="文本框 171"/>
          <p:cNvSpPr txBox="1"/>
          <p:nvPr/>
        </p:nvSpPr>
        <p:spPr>
          <a:xfrm>
            <a:off x="5010150" y="3804920"/>
            <a:ext cx="1829435" cy="521970"/>
          </a:xfrm>
          <a:prstGeom prst="rect">
            <a:avLst/>
          </a:prstGeom>
          <a:noFill/>
        </p:spPr>
        <p:txBody>
          <a:bodyPr wrap="square" rtlCol="0" anchor="t">
            <a:spAutoFit/>
          </a:bodyPr>
          <a:lstStyle/>
          <a:p>
            <a:pPr algn="ctr">
              <a:lnSpc>
                <a:spcPct val="100000"/>
              </a:lnSpc>
              <a:spcBef>
                <a:spcPts val="0"/>
              </a:spcBef>
              <a:spcAft>
                <a:spcPts val="0"/>
              </a:spcAft>
            </a:pPr>
            <a:r>
              <a:rPr sz="1400" b="1">
                <a:solidFill>
                  <a:schemeClr val="tx1"/>
                </a:solidFill>
                <a:latin typeface="Times New Roman" panose="02020503050405090304" charset="0"/>
                <a:cs typeface="Times New Roman" panose="02020503050405090304" charset="0"/>
                <a:sym typeface="+mn-ea"/>
              </a:rPr>
              <a:t>Avatar Response</a:t>
            </a:r>
          </a:p>
          <a:p>
            <a:pPr algn="ctr">
              <a:lnSpc>
                <a:spcPct val="100000"/>
              </a:lnSpc>
              <a:spcBef>
                <a:spcPts val="0"/>
              </a:spcBef>
              <a:spcAft>
                <a:spcPts val="0"/>
              </a:spcAft>
            </a:pPr>
            <a:r>
              <a:rPr lang="en-US" altLang="zh-CN" sz="1400" b="1">
                <a:latin typeface="Times New Roman" panose="02020503050405090304" charset="0"/>
                <a:cs typeface="Times New Roman" panose="02020503050405090304" charset="0"/>
                <a:sym typeface="+mn-ea"/>
              </a:rPr>
              <a:t>(Audio</a:t>
            </a:r>
            <a:r>
              <a:rPr lang="zh-CN" altLang="en-US" sz="1400" b="1">
                <a:latin typeface="Times New Roman" panose="02020503050405090304" charset="0"/>
                <a:cs typeface="Times New Roman" panose="02020503050405090304" charset="0"/>
                <a:sym typeface="+mn-ea"/>
              </a:rPr>
              <a:t>，</a:t>
            </a:r>
            <a:r>
              <a:rPr lang="en-US" altLang="zh-CN" sz="1400" b="1">
                <a:latin typeface="Times New Roman" panose="02020503050405090304" charset="0"/>
                <a:cs typeface="Times New Roman" panose="02020503050405090304" charset="0"/>
                <a:sym typeface="+mn-ea"/>
              </a:rPr>
              <a:t>Action)</a:t>
            </a:r>
            <a:endParaRPr lang="zh-CN" altLang="en-US" sz="1400" b="1">
              <a:solidFill>
                <a:schemeClr val="tx1"/>
              </a:solidFill>
              <a:latin typeface="Times New Roman" panose="02020503050405090304" charset="0"/>
              <a:cs typeface="Times New Roman" panose="02020503050405090304" charset="0"/>
              <a:sym typeface="+mn-ea"/>
            </a:endParaRPr>
          </a:p>
        </p:txBody>
      </p:sp>
      <p:cxnSp>
        <p:nvCxnSpPr>
          <p:cNvPr id="173" name="直接箭头连接符 172"/>
          <p:cNvCxnSpPr>
            <a:stCxn id="24" idx="0"/>
          </p:cNvCxnSpPr>
          <p:nvPr/>
        </p:nvCxnSpPr>
        <p:spPr>
          <a:xfrm flipH="1" flipV="1">
            <a:off x="8435340" y="3603625"/>
            <a:ext cx="1905" cy="71120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74" name="文本框 173"/>
          <p:cNvSpPr txBox="1"/>
          <p:nvPr/>
        </p:nvSpPr>
        <p:spPr>
          <a:xfrm>
            <a:off x="8362315" y="3883025"/>
            <a:ext cx="1286510" cy="306705"/>
          </a:xfrm>
          <a:prstGeom prst="rect">
            <a:avLst/>
          </a:prstGeom>
          <a:noFill/>
        </p:spPr>
        <p:txBody>
          <a:bodyPr wrap="square" rtlCol="0" anchor="t">
            <a:spAutoFit/>
          </a:bodyPr>
          <a:lstStyle/>
          <a:p>
            <a:pPr algn="ctr">
              <a:lnSpc>
                <a:spcPct val="100000"/>
              </a:lnSpc>
              <a:spcBef>
                <a:spcPts val="0"/>
              </a:spcBef>
              <a:spcAft>
                <a:spcPts val="0"/>
              </a:spcAft>
            </a:pPr>
            <a:r>
              <a:rPr lang="en-US" altLang="zh-CN" sz="1400" b="1" dirty="0">
                <a:solidFill>
                  <a:schemeClr val="tx1"/>
                </a:solidFill>
                <a:latin typeface="Times New Roman" panose="02020503050405090304" charset="0"/>
                <a:cs typeface="Times New Roman" panose="02020503050405090304" charset="0"/>
                <a:sym typeface="+mn-ea"/>
              </a:rPr>
              <a:t>Composition</a:t>
            </a:r>
          </a:p>
        </p:txBody>
      </p:sp>
      <p:sp>
        <p:nvSpPr>
          <p:cNvPr id="175" name="文本框 174"/>
          <p:cNvSpPr txBox="1"/>
          <p:nvPr/>
        </p:nvSpPr>
        <p:spPr>
          <a:xfrm>
            <a:off x="4518660" y="4417060"/>
            <a:ext cx="783590" cy="337185"/>
          </a:xfrm>
          <a:prstGeom prst="rect">
            <a:avLst/>
          </a:prstGeom>
          <a:noFill/>
        </p:spPr>
        <p:txBody>
          <a:bodyPr wrap="square" rtlCol="0" anchor="t">
            <a:spAutoFit/>
          </a:bodyPr>
          <a:lstStyle/>
          <a:p>
            <a:r>
              <a:rPr lang="en-US" altLang="zh-CN" sz="1600" b="1">
                <a:solidFill>
                  <a:srgbClr val="7030A0"/>
                </a:solidFill>
                <a:latin typeface="Times New Roman" panose="02020503050405090304" charset="0"/>
                <a:cs typeface="Times New Roman" panose="02020503050405090304" charset="0"/>
                <a:sym typeface="+mn-ea"/>
              </a:rPr>
              <a:t>User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现有方法局限性</a:t>
            </a:r>
          </a:p>
        </p:txBody>
      </p:sp>
      <p:sp>
        <p:nvSpPr>
          <p:cNvPr id="3" name="灯片编号占位符 2"/>
          <p:cNvSpPr>
            <a:spLocks noGrp="1"/>
          </p:cNvSpPr>
          <p:nvPr>
            <p:ph type="sldNum" sz="quarter" idx="12"/>
          </p:nvPr>
        </p:nvSpPr>
        <p:spPr/>
        <p:txBody>
          <a:bodyPr/>
          <a:lstStyle/>
          <a:p>
            <a:fld id="{5DD3DB80-B894-403A-B48E-6FDC1A72010E}" type="slidenum">
              <a:rPr lang="zh-CN" altLang="en-US" smtClean="0"/>
              <a:t>17</a:t>
            </a:fld>
            <a:endParaRPr lang="zh-CN" altLang="en-US"/>
          </a:p>
        </p:txBody>
      </p:sp>
      <p:sp>
        <p:nvSpPr>
          <p:cNvPr id="4" name="文本框 3"/>
          <p:cNvSpPr txBox="1"/>
          <p:nvPr/>
        </p:nvSpPr>
        <p:spPr>
          <a:xfrm>
            <a:off x="669290" y="1708150"/>
            <a:ext cx="10850880" cy="3415030"/>
          </a:xfrm>
          <a:prstGeom prst="rect">
            <a:avLst/>
          </a:prstGeom>
        </p:spPr>
        <p:txBody>
          <a:bodyPr wrap="square">
            <a:spAutoFit/>
          </a:bodyPr>
          <a:lstStyle/>
          <a:p>
            <a:r>
              <a:rPr lang="zh-CN" altLang="en-US" sz="1800" dirty="0">
                <a:solidFill>
                  <a:srgbClr val="1F1F1F"/>
                </a:solidFill>
                <a:effectLst/>
                <a:latin typeface="Arial" panose="020B0604020202090204" pitchFamily="34" charset="0"/>
                <a:ea typeface="Google Sans"/>
                <a:cs typeface="Google Sans"/>
              </a:rPr>
              <a:t>因此，</a:t>
            </a:r>
            <a:r>
              <a:rPr lang="zh-CN" altLang="en-US" dirty="0">
                <a:solidFill>
                  <a:srgbClr val="1F1F1F"/>
                </a:solidFill>
                <a:effectLst/>
                <a:latin typeface="Arial" panose="020B0604020202090204" pitchFamily="34" charset="0"/>
                <a:ea typeface="Google Sans"/>
                <a:cs typeface="Google Sans"/>
                <a:sym typeface="+mn-ea"/>
              </a:rPr>
              <a:t>在面向心理健康支持的连续交互场景中，</a:t>
            </a:r>
            <a:r>
              <a:rPr lang="zh-CN" altLang="en-US" sz="1800" dirty="0">
                <a:solidFill>
                  <a:srgbClr val="1F1F1F"/>
                </a:solidFill>
                <a:effectLst/>
                <a:latin typeface="Arial" panose="020B0604020202090204" pitchFamily="34" charset="0"/>
                <a:ea typeface="Google Sans"/>
                <a:cs typeface="Google Sans"/>
              </a:rPr>
              <a:t>三个技术问题变得至关重要。</a:t>
            </a:r>
          </a:p>
          <a:p>
            <a:endParaRPr lang="zh-CN" altLang="en-US" sz="1800" dirty="0">
              <a:solidFill>
                <a:srgbClr val="1F1F1F"/>
              </a:solidFill>
              <a:effectLst/>
              <a:latin typeface="Arial" panose="020B0604020202090204" pitchFamily="34" charset="0"/>
              <a:ea typeface="Google Sans"/>
              <a:cs typeface="Google Sans"/>
            </a:endParaRPr>
          </a:p>
          <a:p>
            <a:pPr marL="285750" indent="-285750">
              <a:buFont typeface="Arial" panose="020B0604020202090204" pitchFamily="34" charset="0"/>
              <a:buChar char="•"/>
            </a:pPr>
            <a:r>
              <a:rPr lang="zh-CN" altLang="en-US" sz="1800" dirty="0">
                <a:solidFill>
                  <a:srgbClr val="1F1F1F"/>
                </a:solidFill>
                <a:effectLst/>
                <a:latin typeface="Arial" panose="020B0604020202090204" pitchFamily="34" charset="0"/>
                <a:ea typeface="Google Sans"/>
                <a:cs typeface="Google Sans"/>
              </a:rPr>
              <a:t>如何利用真实场景面部视频中的细粒度局部语义线索与时间动态信息，提取鲁棒、可解释的情绪表征，使情绪识别不再停留于单轮或短片段输入下的通用分类，而能够为后续情感支持提供可用的连续状态依据？</a:t>
            </a:r>
          </a:p>
          <a:p>
            <a:pPr marL="285750" indent="-285750">
              <a:buFont typeface="Arial" panose="020B0604020202090204" pitchFamily="34" charset="0"/>
              <a:buChar char="•"/>
            </a:pPr>
            <a:endParaRPr lang="zh-CN" altLang="en-US" sz="1800" dirty="0">
              <a:solidFill>
                <a:srgbClr val="1F1F1F"/>
              </a:solidFill>
              <a:effectLst/>
              <a:latin typeface="Arial" panose="020B0604020202090204" pitchFamily="34" charset="0"/>
              <a:ea typeface="Google Sans"/>
              <a:cs typeface="Google Sans"/>
            </a:endParaRPr>
          </a:p>
          <a:p>
            <a:pPr marL="285750" indent="-285750">
              <a:buFont typeface="Arial" panose="020B0604020202090204" pitchFamily="34" charset="0"/>
              <a:buChar char="•"/>
            </a:pPr>
            <a:r>
              <a:rPr lang="zh-CN" altLang="en-US" sz="1800" dirty="0">
                <a:solidFill>
                  <a:srgbClr val="1F1F1F"/>
                </a:solidFill>
                <a:effectLst/>
                <a:latin typeface="Arial" panose="020B0604020202090204" pitchFamily="34" charset="0"/>
                <a:ea typeface="Google Sans"/>
                <a:cs typeface="Google Sans"/>
              </a:rPr>
              <a:t>如何根据当前情感状态、对话上下文与绘画中间状态，对下一步支持性回应与创作引导进行状态条件化决策，而不是将对话过程与创作过程割裂为两个彼此分离的环节？</a:t>
            </a:r>
          </a:p>
          <a:p>
            <a:pPr marL="285750" indent="-285750">
              <a:buFont typeface="Arial" panose="020B0604020202090204" pitchFamily="34" charset="0"/>
              <a:buChar char="•"/>
            </a:pPr>
            <a:endParaRPr lang="zh-CN" altLang="en-US" sz="1800" dirty="0">
              <a:solidFill>
                <a:srgbClr val="1F1F1F"/>
              </a:solidFill>
              <a:effectLst/>
              <a:latin typeface="Arial" panose="020B0604020202090204" pitchFamily="34" charset="0"/>
              <a:ea typeface="Google Sans"/>
              <a:cs typeface="Google Sans"/>
            </a:endParaRPr>
          </a:p>
          <a:p>
            <a:pPr marL="285750" indent="-285750">
              <a:buFont typeface="Arial" panose="020B0604020202090204" pitchFamily="34" charset="0"/>
              <a:buChar char="•"/>
            </a:pPr>
            <a:r>
              <a:rPr lang="zh-CN" altLang="en-US" sz="1800" dirty="0">
                <a:solidFill>
                  <a:srgbClr val="1F1F1F"/>
                </a:solidFill>
                <a:effectLst/>
                <a:latin typeface="Arial" panose="020B0604020202090204" pitchFamily="34" charset="0"/>
                <a:ea typeface="Google Sans"/>
                <a:cs typeface="Google Sans"/>
              </a:rPr>
              <a:t>如何将软件形态的 3D 反馈通道与几何化情绪外化工作区耦合进同一交互闭环，使系统的支持动作能够通过语言反馈、非语言表达、创作引导与后续状态更新协同完成？</a:t>
            </a:r>
          </a:p>
          <a:p>
            <a:endParaRPr lang="zh-CN" altLang="en-US" sz="1800" dirty="0">
              <a:solidFill>
                <a:srgbClr val="1F1F1F"/>
              </a:solidFill>
              <a:effectLst/>
              <a:latin typeface="Arial" panose="020B0604020202090204" pitchFamily="34" charset="0"/>
              <a:ea typeface="Google Sans"/>
              <a:cs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18</a:t>
            </a:fld>
            <a:endParaRPr lang="zh-CN" altLang="en-US"/>
          </a:p>
        </p:txBody>
      </p:sp>
      <p:sp>
        <p:nvSpPr>
          <p:cNvPr id="15" name="文本框 14"/>
          <p:cNvSpPr txBox="1"/>
          <p:nvPr/>
        </p:nvSpPr>
        <p:spPr>
          <a:xfrm>
            <a:off x="5088255" y="1784985"/>
            <a:ext cx="1365885" cy="368300"/>
          </a:xfrm>
          <a:prstGeom prst="rect">
            <a:avLst/>
          </a:prstGeom>
          <a:noFill/>
        </p:spPr>
        <p:txBody>
          <a:bodyPr wrap="square" rtlCol="0">
            <a:spAutoFit/>
          </a:bodyPr>
          <a:lstStyle/>
          <a:p>
            <a:pPr algn="ctr"/>
            <a:r>
              <a:rPr lang="en-US" altLang="zh-CN" dirty="0" err="1">
                <a:latin typeface="Times New Roman" panose="02020503050405090304" charset="0"/>
                <a:cs typeface="Times New Roman" panose="02020503050405090304" charset="0"/>
              </a:rPr>
              <a:t>RigNet</a:t>
            </a:r>
            <a:endParaRPr lang="en-US" altLang="zh-CN" dirty="0">
              <a:latin typeface="Times New Roman" panose="02020503050405090304" charset="0"/>
              <a:cs typeface="Times New Roman" panose="02020503050405090304" charset="0"/>
            </a:endParaRPr>
          </a:p>
        </p:txBody>
      </p:sp>
      <p:sp>
        <p:nvSpPr>
          <p:cNvPr id="20" name="文本框 19"/>
          <p:cNvSpPr txBox="1"/>
          <p:nvPr/>
        </p:nvSpPr>
        <p:spPr>
          <a:xfrm>
            <a:off x="6920222" y="1784728"/>
            <a:ext cx="1288473" cy="368300"/>
          </a:xfrm>
          <a:prstGeom prst="rect">
            <a:avLst/>
          </a:prstGeom>
          <a:noFill/>
        </p:spPr>
        <p:txBody>
          <a:bodyPr wrap="square" rtlCol="0">
            <a:spAutoFit/>
          </a:bodyPr>
          <a:lstStyle/>
          <a:p>
            <a:pPr algn="ctr"/>
            <a:r>
              <a:rPr lang="en-US" altLang="zh-CN" dirty="0" err="1">
                <a:latin typeface="Times New Roman" panose="02020503050405090304" charset="0"/>
                <a:cs typeface="Times New Roman" panose="02020503050405090304" charset="0"/>
              </a:rPr>
              <a:t>UniRig</a:t>
            </a:r>
          </a:p>
        </p:txBody>
      </p:sp>
      <p:sp>
        <p:nvSpPr>
          <p:cNvPr id="23" name="文本框 22"/>
          <p:cNvSpPr txBox="1"/>
          <p:nvPr/>
        </p:nvSpPr>
        <p:spPr>
          <a:xfrm>
            <a:off x="8741894" y="1784728"/>
            <a:ext cx="1288473" cy="368300"/>
          </a:xfrm>
          <a:prstGeom prst="rect">
            <a:avLst/>
          </a:prstGeom>
          <a:noFill/>
        </p:spPr>
        <p:txBody>
          <a:bodyPr wrap="square" rtlCol="0">
            <a:spAutoFit/>
          </a:bodyPr>
          <a:lstStyle/>
          <a:p>
            <a:pPr algn="ctr"/>
            <a:r>
              <a:rPr lang="en-US" altLang="zh-CN" dirty="0">
                <a:latin typeface="Times New Roman" panose="02020503050405090304" charset="0"/>
                <a:cs typeface="Times New Roman" panose="02020503050405090304" charset="0"/>
              </a:rPr>
              <a:t>Ours</a:t>
            </a:r>
          </a:p>
        </p:txBody>
      </p:sp>
      <p:sp>
        <p:nvSpPr>
          <p:cNvPr id="24" name="文本框 23"/>
          <p:cNvSpPr txBox="1"/>
          <p:nvPr/>
        </p:nvSpPr>
        <p:spPr>
          <a:xfrm>
            <a:off x="2314575" y="2352675"/>
            <a:ext cx="2271395" cy="1383665"/>
          </a:xfrm>
          <a:prstGeom prst="rect">
            <a:avLst/>
          </a:prstGeom>
          <a:noFill/>
          <a:ln>
            <a:solidFill>
              <a:schemeClr val="tx1"/>
            </a:solidFill>
            <a:prstDash val="dash"/>
          </a:ln>
        </p:spPr>
        <p:txBody>
          <a:bodyPr wrap="square" rtlCol="0">
            <a:spAutoFit/>
          </a:bodyPr>
          <a:lstStyle/>
          <a:p>
            <a:r>
              <a:rPr lang="en-US" altLang="zh-CN" sz="1400" dirty="0">
                <a:latin typeface="Times New Roman" panose="02020503050405090304" charset="0"/>
                <a:cs typeface="Times New Roman" panose="02020503050405090304" charset="0"/>
              </a:rPr>
              <a:t>Confucius, long beard, blue headscarf, brown robe, standing with arms out. Traditional Chinese </a:t>
            </a:r>
            <a:r>
              <a:rPr lang="en-US" altLang="zh-CN" sz="1400" dirty="0" err="1">
                <a:latin typeface="Times New Roman" panose="02020503050405090304" charset="0"/>
                <a:cs typeface="Times New Roman" panose="02020503050405090304" charset="0"/>
              </a:rPr>
              <a:t>gongbi</a:t>
            </a:r>
            <a:r>
              <a:rPr lang="en-US" altLang="zh-CN" sz="1400" dirty="0">
                <a:latin typeface="Times New Roman" panose="02020503050405090304" charset="0"/>
                <a:cs typeface="Times New Roman" panose="02020503050405090304" charset="0"/>
              </a:rPr>
              <a:t> painting, full-body, plain background, T-Pose.</a:t>
            </a:r>
          </a:p>
        </p:txBody>
      </p:sp>
      <p:pic>
        <p:nvPicPr>
          <p:cNvPr id="39" name="图片 38"/>
          <p:cNvPicPr>
            <a:picLocks noChangeAspect="1"/>
          </p:cNvPicPr>
          <p:nvPr/>
        </p:nvPicPr>
        <p:blipFill>
          <a:blip r:embed="rId3"/>
          <a:stretch>
            <a:fillRect/>
          </a:stretch>
        </p:blipFill>
        <p:spPr>
          <a:xfrm>
            <a:off x="4907801" y="2219680"/>
            <a:ext cx="1691312" cy="1853878"/>
          </a:xfrm>
          <a:prstGeom prst="rect">
            <a:avLst/>
          </a:prstGeom>
        </p:spPr>
      </p:pic>
      <p:pic>
        <p:nvPicPr>
          <p:cNvPr id="43" name="图片 42"/>
          <p:cNvPicPr>
            <a:picLocks noChangeAspect="1"/>
          </p:cNvPicPr>
          <p:nvPr/>
        </p:nvPicPr>
        <p:blipFill>
          <a:blip r:embed="rId4"/>
          <a:stretch>
            <a:fillRect/>
          </a:stretch>
        </p:blipFill>
        <p:spPr>
          <a:xfrm>
            <a:off x="8551145" y="2215675"/>
            <a:ext cx="1691312" cy="1884414"/>
          </a:xfrm>
          <a:prstGeom prst="rect">
            <a:avLst/>
          </a:prstGeom>
        </p:spPr>
      </p:pic>
      <p:pic>
        <p:nvPicPr>
          <p:cNvPr id="47" name="图片 46"/>
          <p:cNvPicPr>
            <a:picLocks noChangeAspect="1"/>
          </p:cNvPicPr>
          <p:nvPr/>
        </p:nvPicPr>
        <p:blipFill>
          <a:blip r:embed="rId5"/>
          <a:stretch>
            <a:fillRect/>
          </a:stretch>
        </p:blipFill>
        <p:spPr>
          <a:xfrm>
            <a:off x="5375533" y="4179125"/>
            <a:ext cx="755848" cy="1804681"/>
          </a:xfrm>
          <a:prstGeom prst="rect">
            <a:avLst/>
          </a:prstGeom>
        </p:spPr>
      </p:pic>
      <p:pic>
        <p:nvPicPr>
          <p:cNvPr id="49" name="图片 48"/>
          <p:cNvPicPr>
            <a:picLocks noChangeAspect="1"/>
          </p:cNvPicPr>
          <p:nvPr/>
        </p:nvPicPr>
        <p:blipFill>
          <a:blip r:embed="rId6"/>
          <a:stretch>
            <a:fillRect/>
          </a:stretch>
        </p:blipFill>
        <p:spPr>
          <a:xfrm>
            <a:off x="7197205" y="4179125"/>
            <a:ext cx="755848" cy="1759209"/>
          </a:xfrm>
          <a:prstGeom prst="rect">
            <a:avLst/>
          </a:prstGeom>
        </p:spPr>
      </p:pic>
      <p:pic>
        <p:nvPicPr>
          <p:cNvPr id="51" name="图片 50"/>
          <p:cNvPicPr>
            <a:picLocks noChangeAspect="1"/>
          </p:cNvPicPr>
          <p:nvPr/>
        </p:nvPicPr>
        <p:blipFill>
          <a:blip r:embed="rId7"/>
          <a:stretch>
            <a:fillRect/>
          </a:stretch>
        </p:blipFill>
        <p:spPr>
          <a:xfrm>
            <a:off x="9018877" y="4182300"/>
            <a:ext cx="755849" cy="1756397"/>
          </a:xfrm>
          <a:prstGeom prst="rect">
            <a:avLst/>
          </a:prstGeom>
        </p:spPr>
      </p:pic>
      <p:pic>
        <p:nvPicPr>
          <p:cNvPr id="53" name="图片 52"/>
          <p:cNvPicPr>
            <a:picLocks noChangeAspect="1"/>
          </p:cNvPicPr>
          <p:nvPr/>
        </p:nvPicPr>
        <p:blipFill>
          <a:blip r:embed="rId8" cstate="print">
            <a:extLst>
              <a:ext uri="{28A0092B-C50C-407E-A947-70E740481C1C}">
                <a14:useLocalDpi xmlns:a14="http://schemas.microsoft.com/office/drawing/2010/main" val="0"/>
              </a:ext>
            </a:extLst>
          </a:blip>
          <a:srcRect l="32906" r="32953"/>
          <a:stretch>
            <a:fillRect/>
          </a:stretch>
        </p:blipFill>
        <p:spPr>
          <a:xfrm>
            <a:off x="3046730" y="4065270"/>
            <a:ext cx="807085" cy="1873250"/>
          </a:xfrm>
          <a:prstGeom prst="rect">
            <a:avLst/>
          </a:prstGeom>
        </p:spPr>
      </p:pic>
      <p:pic>
        <p:nvPicPr>
          <p:cNvPr id="4" name="图片 3"/>
          <p:cNvPicPr>
            <a:picLocks noChangeAspect="1"/>
          </p:cNvPicPr>
          <p:nvPr/>
        </p:nvPicPr>
        <p:blipFill>
          <a:blip r:embed="rId9"/>
          <a:stretch>
            <a:fillRect/>
          </a:stretch>
        </p:blipFill>
        <p:spPr>
          <a:xfrm>
            <a:off x="6729473" y="2215675"/>
            <a:ext cx="1691312" cy="1861889"/>
          </a:xfrm>
          <a:prstGeom prst="rect">
            <a:avLst/>
          </a:prstGeom>
        </p:spPr>
      </p:pic>
      <p:sp>
        <p:nvSpPr>
          <p:cNvPr id="5" name="文本框 4"/>
          <p:cNvSpPr txBox="1"/>
          <p:nvPr/>
        </p:nvSpPr>
        <p:spPr>
          <a:xfrm>
            <a:off x="2397760" y="1646298"/>
            <a:ext cx="2105025" cy="645160"/>
          </a:xfrm>
          <a:prstGeom prst="rect">
            <a:avLst/>
          </a:prstGeom>
          <a:noFill/>
        </p:spPr>
        <p:txBody>
          <a:bodyPr wrap="square" rtlCol="0">
            <a:spAutoFit/>
          </a:bodyPr>
          <a:lstStyle/>
          <a:p>
            <a:pPr algn="ctr"/>
            <a:r>
              <a:rPr lang="en-US" altLang="zh-CN">
                <a:latin typeface="Times New Roman" panose="02020503050405090304" charset="0"/>
                <a:cs typeface="Times New Roman" panose="02020503050405090304" charset="0"/>
              </a:rPr>
              <a:t>User Input</a:t>
            </a:r>
          </a:p>
          <a:p>
            <a:pPr algn="ctr"/>
            <a:r>
              <a:rPr lang="en-US" altLang="zh-CN">
                <a:latin typeface="Times New Roman" panose="02020503050405090304" charset="0"/>
                <a:cs typeface="Times New Roman" panose="02020503050405090304" charset="0"/>
              </a:rPr>
              <a:t>(Text / Image)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19</a:t>
            </a:fld>
            <a:endParaRPr lang="zh-CN" altLang="en-US"/>
          </a:p>
        </p:txBody>
      </p:sp>
      <p:sp>
        <p:nvSpPr>
          <p:cNvPr id="7" name="文本框 6"/>
          <p:cNvSpPr txBox="1"/>
          <p:nvPr/>
        </p:nvSpPr>
        <p:spPr>
          <a:xfrm>
            <a:off x="964565" y="5765800"/>
            <a:ext cx="2638425" cy="368300"/>
          </a:xfrm>
          <a:prstGeom prst="rect">
            <a:avLst/>
          </a:prstGeom>
          <a:noFill/>
        </p:spPr>
        <p:txBody>
          <a:bodyPr wrap="square" rtlCol="0">
            <a:spAutoFit/>
          </a:bodyPr>
          <a:lstStyle/>
          <a:p>
            <a:pPr algn="ctr"/>
            <a:r>
              <a:rPr lang="en-US" altLang="zh-CN">
                <a:latin typeface="Times New Roman" panose="02020503050405090304" charset="0"/>
                <a:cs typeface="Times New Roman" panose="02020503050405090304" charset="0"/>
              </a:rPr>
              <a:t>(a) 3D avatar interface</a:t>
            </a:r>
          </a:p>
        </p:txBody>
      </p:sp>
      <p:sp>
        <p:nvSpPr>
          <p:cNvPr id="8" name="文本框 7"/>
          <p:cNvSpPr txBox="1"/>
          <p:nvPr/>
        </p:nvSpPr>
        <p:spPr>
          <a:xfrm>
            <a:off x="3723005" y="5765800"/>
            <a:ext cx="3368675" cy="368300"/>
          </a:xfrm>
          <a:prstGeom prst="rect">
            <a:avLst/>
          </a:prstGeom>
          <a:noFill/>
        </p:spPr>
        <p:txBody>
          <a:bodyPr wrap="square" rtlCol="0">
            <a:spAutoFit/>
          </a:bodyPr>
          <a:lstStyle/>
          <a:p>
            <a:pPr algn="ctr"/>
            <a:r>
              <a:rPr lang="en-US" altLang="zh-CN">
                <a:latin typeface="Times New Roman" panose="02020503050405090304" charset="0"/>
                <a:cs typeface="Times New Roman" panose="02020503050405090304" charset="0"/>
              </a:rPr>
              <a:t>(b) Game </a:t>
            </a:r>
            <a:r>
              <a:rPr lang="en-US" altLang="zh-CN">
                <a:latin typeface="Times New Roman" panose="02020503050405090304" charset="0"/>
                <a:cs typeface="Times New Roman" panose="02020503050405090304" charset="0"/>
                <a:sym typeface="+mn-ea"/>
              </a:rPr>
              <a:t>interaction interface</a:t>
            </a:r>
            <a:r>
              <a:rPr lang="en-US" altLang="zh-CN">
                <a:latin typeface="Times New Roman" panose="02020503050405090304" charset="0"/>
                <a:cs typeface="Times New Roman" panose="02020503050405090304" charset="0"/>
              </a:rPr>
              <a:t> </a:t>
            </a:r>
          </a:p>
        </p:txBody>
      </p:sp>
      <p:pic>
        <p:nvPicPr>
          <p:cNvPr id="9" name="图片 8"/>
          <p:cNvPicPr>
            <a:picLocks noChangeAspect="1"/>
          </p:cNvPicPr>
          <p:nvPr/>
        </p:nvPicPr>
        <p:blipFill>
          <a:blip r:embed="rId3"/>
          <a:stretch>
            <a:fillRect/>
          </a:stretch>
        </p:blipFill>
        <p:spPr>
          <a:xfrm>
            <a:off x="785495" y="1503680"/>
            <a:ext cx="2817495" cy="4162425"/>
          </a:xfrm>
          <a:prstGeom prst="rect">
            <a:avLst/>
          </a:prstGeom>
        </p:spPr>
      </p:pic>
      <p:pic>
        <p:nvPicPr>
          <p:cNvPr id="4" name="图片 3"/>
          <p:cNvPicPr>
            <a:picLocks noChangeAspect="1"/>
          </p:cNvPicPr>
          <p:nvPr/>
        </p:nvPicPr>
        <p:blipFill>
          <a:blip r:embed="rId4"/>
          <a:stretch>
            <a:fillRect/>
          </a:stretch>
        </p:blipFill>
        <p:spPr>
          <a:xfrm>
            <a:off x="7765305" y="1562894"/>
            <a:ext cx="2590800" cy="4143375"/>
          </a:xfrm>
          <a:prstGeom prst="rect">
            <a:avLst/>
          </a:prstGeom>
        </p:spPr>
      </p:pic>
      <p:sp>
        <p:nvSpPr>
          <p:cNvPr id="6" name="文本框 5"/>
          <p:cNvSpPr txBox="1"/>
          <p:nvPr/>
        </p:nvSpPr>
        <p:spPr>
          <a:xfrm>
            <a:off x="6846570" y="5742940"/>
            <a:ext cx="3063240" cy="368300"/>
          </a:xfrm>
          <a:prstGeom prst="rect">
            <a:avLst/>
          </a:prstGeom>
          <a:noFill/>
        </p:spPr>
        <p:txBody>
          <a:bodyPr wrap="square" rtlCol="0">
            <a:spAutoFit/>
          </a:bodyPr>
          <a:lstStyle/>
          <a:p>
            <a:pPr lvl="0" algn="ctr">
              <a:buClrTx/>
              <a:buSzTx/>
              <a:buFontTx/>
            </a:pPr>
            <a:r>
              <a:rPr lang="en-US" altLang="zh-CN">
                <a:latin typeface="Times New Roman" panose="02020503050405090304" charset="0"/>
                <a:cs typeface="Times New Roman" panose="02020503050405090304" charset="0"/>
                <a:sym typeface="+mn-ea"/>
              </a:rPr>
              <a:t>(c) User interaction snapshot</a:t>
            </a:r>
          </a:p>
        </p:txBody>
      </p:sp>
      <p:pic>
        <p:nvPicPr>
          <p:cNvPr id="10" name="图片 9"/>
          <p:cNvPicPr>
            <a:picLocks noChangeAspect="1"/>
          </p:cNvPicPr>
          <p:nvPr/>
        </p:nvPicPr>
        <p:blipFill>
          <a:blip r:embed="rId5"/>
          <a:stretch>
            <a:fillRect/>
          </a:stretch>
        </p:blipFill>
        <p:spPr>
          <a:xfrm>
            <a:off x="4013200" y="1503680"/>
            <a:ext cx="2623185" cy="41700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任务定义</a:t>
            </a:r>
          </a:p>
        </p:txBody>
      </p:sp>
      <p:sp>
        <p:nvSpPr>
          <p:cNvPr id="3" name="灯片编号占位符 2"/>
          <p:cNvSpPr>
            <a:spLocks noGrp="1"/>
          </p:cNvSpPr>
          <p:nvPr>
            <p:ph type="sldNum" sz="quarter" idx="12"/>
          </p:nvPr>
        </p:nvSpPr>
        <p:spPr/>
        <p:txBody>
          <a:bodyPr/>
          <a:lstStyle/>
          <a:p>
            <a:fld id="{5DD3DB80-B894-403A-B48E-6FDC1A72010E}" type="slidenum">
              <a:rPr lang="zh-CN" altLang="en-US" smtClean="0"/>
              <a:t>20</a:t>
            </a:fld>
            <a:endParaRPr lang="zh-CN" altLang="en-US"/>
          </a:p>
        </p:txBody>
      </p:sp>
      <p:sp>
        <p:nvSpPr>
          <p:cNvPr id="4" name="文本框 3"/>
          <p:cNvSpPr txBox="1"/>
          <p:nvPr/>
        </p:nvSpPr>
        <p:spPr>
          <a:xfrm>
            <a:off x="669925" y="1116965"/>
            <a:ext cx="10850245" cy="3415030"/>
          </a:xfrm>
          <a:prstGeom prst="rect">
            <a:avLst/>
          </a:prstGeom>
          <a:noFill/>
        </p:spPr>
        <p:txBody>
          <a:bodyPr wrap="square" rtlCol="0" anchor="t">
            <a:spAutoFit/>
          </a:bodyPr>
          <a:lstStyle/>
          <a:p>
            <a:endParaRPr lang="zh-CN" altLang="en-US"/>
          </a:p>
          <a:p>
            <a:endParaRPr lang="zh-CN" altLang="en-US"/>
          </a:p>
          <a:p>
            <a:r>
              <a:rPr lang="zh-CN" altLang="zh-CN" b="1" dirty="0">
                <a:solidFill>
                  <a:srgbClr val="0070C0"/>
                </a:solidFill>
                <a:effectLst/>
                <a:ea typeface="Google Sans"/>
                <a:cs typeface="Google Sans"/>
              </a:rPr>
              <a:t>本文将这一需求建模为一个具身情感对话任务。</a:t>
            </a:r>
          </a:p>
          <a:p>
            <a:endParaRPr lang="zh-CN" altLang="zh-CN" dirty="0">
              <a:solidFill>
                <a:srgbClr val="1F1F1F"/>
              </a:solidFill>
              <a:effectLst/>
              <a:ea typeface="Google Sans"/>
              <a:cs typeface="Google Sans"/>
            </a:endParaRPr>
          </a:p>
          <a:p>
            <a:pPr marL="285750" indent="-285750">
              <a:buFont typeface="Arial" panose="020B0604020202090204" pitchFamily="34" charset="0"/>
              <a:buChar char="•"/>
            </a:pPr>
            <a:r>
              <a:rPr lang="zh-CN" altLang="zh-CN" dirty="0">
                <a:solidFill>
                  <a:srgbClr val="1F1F1F"/>
                </a:solidFill>
                <a:effectLst/>
                <a:ea typeface="Google Sans"/>
                <a:cs typeface="Google Sans"/>
              </a:rPr>
              <a:t>在交互步骤t，系统接收一个由当前视频观察、对话上下文和工作坊中中间绘画状态组成的多模态状态，并需输出下一个支持性动作，包括语言回应、具身反馈和创作指导。</a:t>
            </a:r>
          </a:p>
          <a:p>
            <a:pPr marL="285750" indent="-285750">
              <a:buFont typeface="Arial" panose="020B0604020202090204" pitchFamily="34" charset="0"/>
              <a:buChar char="•"/>
            </a:pPr>
            <a:endParaRPr lang="zh-CN" altLang="zh-CN" dirty="0">
              <a:solidFill>
                <a:srgbClr val="1F1F1F"/>
              </a:solidFill>
              <a:effectLst/>
              <a:ea typeface="Google Sans"/>
              <a:cs typeface="Google Sans"/>
            </a:endParaRPr>
          </a:p>
          <a:p>
            <a:pPr marL="285750" indent="-285750">
              <a:buFont typeface="Arial" panose="020B0604020202090204" pitchFamily="34" charset="0"/>
              <a:buChar char="•"/>
            </a:pPr>
            <a:r>
              <a:rPr lang="zh-CN" altLang="zh-CN" dirty="0">
                <a:solidFill>
                  <a:srgbClr val="1F1F1F"/>
                </a:solidFill>
                <a:effectLst/>
                <a:ea typeface="Google Sans"/>
                <a:cs typeface="Google Sans"/>
              </a:rPr>
              <a:t>从宏观层面来看，这项任务遵循以下循环：观察用户、推断其情感状态、选择下一步支持性举措、引导情绪外化，并根据由此产生的交互轨迹更新用户状态。</a:t>
            </a:r>
          </a:p>
          <a:p>
            <a:endParaRPr lang="zh-CN" altLang="zh-CN" dirty="0">
              <a:solidFill>
                <a:srgbClr val="1F1F1F"/>
              </a:solidFill>
              <a:effectLst/>
              <a:ea typeface="Google Sans"/>
              <a:cs typeface="Google Sans"/>
            </a:endParaRPr>
          </a:p>
          <a:p>
            <a:r>
              <a:rPr lang="zh-CN" altLang="zh-CN" dirty="0">
                <a:solidFill>
                  <a:srgbClr val="1F1F1F"/>
                </a:solidFill>
                <a:effectLst/>
                <a:ea typeface="Google Sans"/>
                <a:cs typeface="Google Sans"/>
              </a:rPr>
              <a:t>该任务至关重要，因为它明确指出，我们的目标并非仅仅是孤立地对情绪进行分类、生成支持性文本或构建艺术工具，而是基于不断变化的用户状态来决定下一步的支持性干预措施。</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1028699"/>
          </a:xfrm>
        </p:spPr>
        <p:txBody>
          <a:bodyPr/>
          <a:lstStyle/>
          <a:p>
            <a:r>
              <a:rPr lang="zh-CN" altLang="en-US" dirty="0"/>
              <a:t>相关工作</a:t>
            </a:r>
          </a:p>
        </p:txBody>
      </p:sp>
      <p:sp>
        <p:nvSpPr>
          <p:cNvPr id="4" name="灯片编号占位符 3"/>
          <p:cNvSpPr>
            <a:spLocks noGrp="1"/>
          </p:cNvSpPr>
          <p:nvPr>
            <p:ph type="sldNum" sz="quarter" idx="12"/>
          </p:nvPr>
        </p:nvSpPr>
        <p:spPr>
          <a:xfrm>
            <a:off x="9271009" y="6648654"/>
            <a:ext cx="2909888" cy="206381"/>
          </a:xfrm>
        </p:spPr>
        <p:txBody>
          <a:bodyPr/>
          <a:lstStyle/>
          <a:p>
            <a:fld id="{5DD3DB80-B894-403A-B48E-6FDC1A72010E}" type="slidenum">
              <a:rPr lang="zh-CN" altLang="en-US" smtClean="0"/>
              <a:t>21</a:t>
            </a:fld>
            <a:endParaRPr lang="zh-CN" altLang="en-US" dirty="0"/>
          </a:p>
        </p:txBody>
      </p:sp>
      <p:sp>
        <p:nvSpPr>
          <p:cNvPr id="8" name="文本框 7"/>
          <p:cNvSpPr txBox="1"/>
          <p:nvPr/>
        </p:nvSpPr>
        <p:spPr>
          <a:xfrm>
            <a:off x="565785" y="1199515"/>
            <a:ext cx="11087100" cy="3969385"/>
          </a:xfrm>
          <a:prstGeom prst="rect">
            <a:avLst/>
          </a:prstGeom>
          <a:noFill/>
        </p:spPr>
        <p:txBody>
          <a:bodyPr wrap="square">
            <a:spAutoFit/>
          </a:bodyPr>
          <a:lstStyle/>
          <a:p>
            <a:pPr marL="342900" indent="-342900">
              <a:buFont typeface="Wingdings" panose="05000000000000000000" pitchFamily="2" charset="2"/>
              <a:buChar char="n"/>
            </a:pPr>
            <a:r>
              <a:rPr lang="zh-CN" altLang="en-US" sz="1800" b="1" dirty="0">
                <a:solidFill>
                  <a:srgbClr val="1F1F1F"/>
                </a:solidFill>
                <a:effectLst/>
                <a:latin typeface="Arial" panose="020B0604020202090204" pitchFamily="34" charset="0"/>
                <a:ea typeface="Google Sans"/>
                <a:cs typeface="Google Sans"/>
              </a:rPr>
              <a:t>现有研究在AI情绪对话代理、具身交互以及情绪识别方面均取得了显著进展。</a:t>
            </a:r>
          </a:p>
          <a:p>
            <a:r>
              <a:rPr lang="zh-CN" altLang="en-US" sz="1800" b="1" dirty="0">
                <a:solidFill>
                  <a:srgbClr val="FF0000"/>
                </a:solidFill>
                <a:effectLst/>
                <a:latin typeface="Arial" panose="020B0604020202090204" pitchFamily="34" charset="0"/>
                <a:ea typeface="Google Sans"/>
                <a:cs typeface="Google Sans"/>
              </a:rPr>
              <a:t>优点：</a:t>
            </a:r>
          </a:p>
          <a:p>
            <a:r>
              <a:rPr lang="zh-CN" altLang="en-US" sz="1800" dirty="0">
                <a:solidFill>
                  <a:srgbClr val="1F1F1F"/>
                </a:solidFill>
                <a:effectLst/>
                <a:latin typeface="Arial" panose="020B0604020202090204" pitchFamily="34" charset="0"/>
                <a:ea typeface="Google Sans"/>
                <a:cs typeface="Google Sans"/>
              </a:rPr>
              <a:t>1）一方面，对话代理通过领域适配训练、心理学启发提示、因果推理及多轮策略建模，显著提升了情绪支持的合理性与结构性；</a:t>
            </a:r>
          </a:p>
          <a:p>
            <a:r>
              <a:rPr lang="zh-CN" altLang="en-US" sz="1800" dirty="0">
                <a:solidFill>
                  <a:srgbClr val="1F1F1F"/>
                </a:solidFill>
                <a:effectLst/>
                <a:latin typeface="Arial" panose="020B0604020202090204" pitchFamily="34" charset="0"/>
                <a:ea typeface="Google Sans"/>
                <a:cs typeface="Google Sans"/>
              </a:rPr>
              <a:t>2）具身情感代理与社会辅助机器人研究表明，引入视觉与行为表达能够增强用户的参与感与社会临场感；</a:t>
            </a:r>
          </a:p>
          <a:p>
            <a:r>
              <a:rPr lang="zh-CN" altLang="en-US" sz="1800" dirty="0">
                <a:solidFill>
                  <a:srgbClr val="1F1F1F"/>
                </a:solidFill>
                <a:effectLst/>
                <a:latin typeface="Arial" panose="020B0604020202090204" pitchFamily="34" charset="0"/>
                <a:ea typeface="Google Sans"/>
                <a:cs typeface="Google Sans"/>
              </a:rPr>
              <a:t>3）同时，基于大规模真实场景数据集的情绪识别方法在表征能力与识别性能上持续突破，为情感计算提供了更强的感知基础。</a:t>
            </a:r>
          </a:p>
          <a:p>
            <a:endParaRPr lang="zh-CN" altLang="en-US" sz="1800" dirty="0">
              <a:solidFill>
                <a:srgbClr val="1F1F1F"/>
              </a:solidFill>
              <a:effectLst/>
              <a:latin typeface="Arial" panose="020B0604020202090204" pitchFamily="34" charset="0"/>
              <a:ea typeface="Google Sans"/>
              <a:cs typeface="Google Sans"/>
            </a:endParaRPr>
          </a:p>
          <a:p>
            <a:pPr indent="0">
              <a:buFont typeface="Wingdings" panose="05000000000000000000" pitchFamily="2" charset="2"/>
              <a:buNone/>
            </a:pPr>
            <a:r>
              <a:rPr lang="zh-CN" altLang="en-US" sz="1800" b="1" dirty="0">
                <a:solidFill>
                  <a:srgbClr val="FF0000"/>
                </a:solidFill>
                <a:effectLst/>
                <a:latin typeface="Arial" panose="020B0604020202090204" pitchFamily="34" charset="0"/>
                <a:ea typeface="Google Sans"/>
                <a:cs typeface="Google Sans"/>
                <a:sym typeface="+mn-ea"/>
              </a:rPr>
              <a:t>缺点：</a:t>
            </a:r>
            <a:r>
              <a:rPr lang="zh-CN" altLang="en-US" sz="1800" dirty="0">
                <a:solidFill>
                  <a:srgbClr val="1F1F1F"/>
                </a:solidFill>
                <a:effectLst/>
                <a:latin typeface="Arial" panose="020B0604020202090204" pitchFamily="34" charset="0"/>
                <a:ea typeface="Google Sans"/>
                <a:cs typeface="Google Sans"/>
              </a:rPr>
              <a:t>另一方面，现有工作仍存在若干关键局限：</a:t>
            </a:r>
          </a:p>
          <a:p>
            <a:pPr indent="0">
              <a:buFont typeface="Wingdings" panose="05000000000000000000" pitchFamily="2" charset="2"/>
              <a:buNone/>
            </a:pPr>
            <a:r>
              <a:rPr lang="zh-CN" altLang="en-US" sz="1800" dirty="0">
                <a:solidFill>
                  <a:srgbClr val="1F1F1F"/>
                </a:solidFill>
                <a:effectLst/>
                <a:latin typeface="Arial" panose="020B0604020202090204" pitchFamily="34" charset="0"/>
                <a:ea typeface="Google Sans"/>
                <a:cs typeface="Google Sans"/>
              </a:rPr>
              <a:t>1）许多系统依赖于浅层或单轮的情感推理，这使得在持续的交互过程中很难追踪用户情感的演变</a:t>
            </a:r>
          </a:p>
          <a:p>
            <a:r>
              <a:rPr lang="zh-CN" altLang="en-US" sz="1800" dirty="0">
                <a:solidFill>
                  <a:srgbClr val="1F1F1F"/>
                </a:solidFill>
                <a:effectLst/>
                <a:latin typeface="Arial" panose="020B0604020202090204" pitchFamily="34" charset="0"/>
                <a:ea typeface="Google Sans"/>
                <a:cs typeface="Google Sans"/>
              </a:rPr>
              <a:t>2）多数情绪支持系统仍以文本或语言为中心，缺乏多模态与具身交互能力；</a:t>
            </a:r>
          </a:p>
          <a:p>
            <a:r>
              <a:rPr lang="zh-CN" altLang="en-US" sz="1800" dirty="0">
                <a:solidFill>
                  <a:srgbClr val="1F1F1F"/>
                </a:solidFill>
                <a:effectLst/>
                <a:latin typeface="Arial" panose="020B0604020202090204" pitchFamily="34" charset="0"/>
                <a:ea typeface="Google Sans"/>
                <a:cs typeface="Google Sans"/>
              </a:rPr>
              <a:t>3）情感交互往往依赖用户直接语言表达，忽视了低门槛、非语言化的情绪外化路径；</a:t>
            </a:r>
          </a:p>
          <a:p>
            <a:pPr marL="342900" indent="-342900">
              <a:buFont typeface="Wingdings" panose="05000000000000000000" pitchFamily="2" charset="2"/>
              <a:buChar char="n"/>
            </a:pPr>
            <a:r>
              <a:rPr lang="zh-CN" altLang="en-US" sz="1800" dirty="0">
                <a:solidFill>
                  <a:srgbClr val="1F1F1F"/>
                </a:solidFill>
                <a:effectLst/>
                <a:latin typeface="Arial" panose="020B0604020202090204" pitchFamily="34" charset="0"/>
                <a:ea typeface="Google Sans"/>
                <a:cs typeface="Google Sans"/>
              </a:rPr>
              <a:t>因此，有必要构建一种融合情感感知、具身表达与艺术化交互的统一情感计算系统，以实现更加自然、连续且可落地的情绪支持体验。</a:t>
            </a:r>
          </a:p>
        </p:txBody>
      </p:sp>
      <p:sp>
        <p:nvSpPr>
          <p:cNvPr id="9" name="箭头: 下 8"/>
          <p:cNvSpPr/>
          <p:nvPr/>
        </p:nvSpPr>
        <p:spPr>
          <a:xfrm>
            <a:off x="5447052" y="5104768"/>
            <a:ext cx="1088572" cy="64633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35577" y="5564493"/>
            <a:ext cx="11117580" cy="1476375"/>
          </a:xfrm>
          <a:prstGeom prst="rect">
            <a:avLst/>
          </a:prstGeom>
          <a:noFill/>
        </p:spPr>
        <p:txBody>
          <a:bodyPr wrap="none" rtlCol="0">
            <a:spAutoFit/>
          </a:bodyPr>
          <a:lstStyle/>
          <a:p>
            <a:pPr marL="285750" indent="-285750" algn="l">
              <a:buFont typeface="Wingdings" panose="05000000000000000000" pitchFamily="2" charset="2"/>
              <a:buChar char="n"/>
            </a:pPr>
            <a:r>
              <a:rPr lang="zh-CN" altLang="en-US" sz="1800" dirty="0">
                <a:solidFill>
                  <a:srgbClr val="1F1F1F"/>
                </a:solidFill>
                <a:effectLst/>
                <a:latin typeface="Arial" panose="020B0604020202090204" pitchFamily="34" charset="0"/>
                <a:ea typeface="Google Sans"/>
                <a:cs typeface="Google Sans"/>
              </a:rPr>
              <a:t>四类相关工作：</a:t>
            </a:r>
          </a:p>
          <a:p>
            <a:pPr algn="l"/>
            <a:r>
              <a:rPr lang="en-US" altLang="zh-CN">
                <a:sym typeface="+mn-ea"/>
              </a:rPr>
              <a:t>2.1 Conversational Support Systems</a:t>
            </a:r>
            <a:r>
              <a:rPr lang="zh-CN" altLang="en-US">
                <a:sym typeface="+mn-ea"/>
              </a:rPr>
              <a:t>，</a:t>
            </a:r>
            <a:r>
              <a:rPr lang="en-US" altLang="zh-CN">
                <a:sym typeface="+mn-ea"/>
              </a:rPr>
              <a:t>2.2 Embodied Affective Agents</a:t>
            </a:r>
            <a:r>
              <a:rPr lang="zh-CN" altLang="en-US">
                <a:sym typeface="+mn-ea"/>
              </a:rPr>
              <a:t>，</a:t>
            </a:r>
            <a:r>
              <a:rPr lang="en-US" altLang="zh-CN">
                <a:sym typeface="+mn-ea"/>
              </a:rPr>
              <a:t>2.3 Affective Art and Visual Emotion</a:t>
            </a:r>
            <a:endParaRPr lang="en-US" altLang="zh-CN"/>
          </a:p>
          <a:p>
            <a:pPr algn="l"/>
            <a:endParaRPr lang="zh-CN" altLang="en-US" sz="1800" dirty="0">
              <a:solidFill>
                <a:srgbClr val="1F1F1F"/>
              </a:solidFill>
              <a:effectLst/>
              <a:latin typeface="Arial" panose="020B0604020202090204" pitchFamily="34" charset="0"/>
              <a:ea typeface="Google Sans"/>
              <a:cs typeface="Google Sans"/>
              <a:sym typeface="+mn-ea"/>
            </a:endParaRPr>
          </a:p>
          <a:p>
            <a:pPr algn="l"/>
            <a:r>
              <a:rPr lang="en-US" altLang="zh-CN">
                <a:sym typeface="+mn-ea"/>
              </a:rPr>
              <a:t>2.4 Video Emotion Recognition</a:t>
            </a:r>
            <a:endParaRPr lang="en-US" altLang="zh-CN"/>
          </a:p>
          <a:p>
            <a:pPr algn="l"/>
            <a:endParaRPr lang="zh-CN" altLang="en-US" sz="1800" dirty="0">
              <a:solidFill>
                <a:srgbClr val="1F1F1F"/>
              </a:solidFill>
              <a:effectLst/>
              <a:latin typeface="Arial" panose="020B0604020202090204" pitchFamily="34" charset="0"/>
              <a:ea typeface="Google Sans"/>
              <a:cs typeface="Google Sans"/>
              <a:sym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相关工作</a:t>
            </a:r>
            <a:endParaRPr lang="zh-CN" altLang="en-US"/>
          </a:p>
        </p:txBody>
      </p:sp>
      <p:sp>
        <p:nvSpPr>
          <p:cNvPr id="3" name="灯片编号占位符 2"/>
          <p:cNvSpPr>
            <a:spLocks noGrp="1"/>
          </p:cNvSpPr>
          <p:nvPr>
            <p:ph type="sldNum" sz="quarter" idx="12"/>
          </p:nvPr>
        </p:nvSpPr>
        <p:spPr/>
        <p:txBody>
          <a:bodyPr/>
          <a:lstStyle/>
          <a:p>
            <a:fld id="{5DD3DB80-B894-403A-B48E-6FDC1A72010E}" type="slidenum">
              <a:rPr lang="zh-CN" altLang="en-US" smtClean="0"/>
              <a:t>22</a:t>
            </a:fld>
            <a:endParaRPr lang="zh-CN" altLang="en-US"/>
          </a:p>
        </p:txBody>
      </p:sp>
      <p:sp>
        <p:nvSpPr>
          <p:cNvPr id="4" name="文本框 3"/>
          <p:cNvSpPr txBox="1"/>
          <p:nvPr/>
        </p:nvSpPr>
        <p:spPr>
          <a:xfrm>
            <a:off x="669925" y="1303655"/>
            <a:ext cx="10850880" cy="4246245"/>
          </a:xfrm>
          <a:prstGeom prst="rect">
            <a:avLst/>
          </a:prstGeom>
          <a:noFill/>
        </p:spPr>
        <p:txBody>
          <a:bodyPr wrap="square" rtlCol="0" anchor="t">
            <a:spAutoFit/>
          </a:bodyPr>
          <a:lstStyle/>
          <a:p>
            <a:r>
              <a:rPr lang="en-US" altLang="zh-CN"/>
              <a:t>#### 2.2 Conversational Support Systems</a:t>
            </a:r>
          </a:p>
          <a:p>
            <a:r>
              <a:rPr lang="zh-CN" altLang="en-US"/>
              <a:t>介绍情绪支持和心理健康对话系统的发展，说明现有系统主要依赖文本或语言交互，在连续情绪理解和多模态适应方面仍有不足。</a:t>
            </a:r>
          </a:p>
          <a:p>
            <a:endParaRPr lang="en-US" altLang="zh-CN"/>
          </a:p>
          <a:p>
            <a:r>
              <a:rPr lang="en-US" altLang="zh-CN"/>
              <a:t>#### 2.4 Embodied Affective Agents</a:t>
            </a:r>
          </a:p>
          <a:p>
            <a:r>
              <a:rPr lang="zh-CN" altLang="en-US"/>
              <a:t>介绍具身情感智能体、社会临场感和非语言反馈相关研究，说明具身表达如何影响用户感受，同时指出现有工作与持续情绪感知和创作式任务耦合不够。</a:t>
            </a:r>
          </a:p>
          <a:p>
            <a:endParaRPr lang="en-US" altLang="zh-CN"/>
          </a:p>
          <a:p>
            <a:r>
              <a:rPr lang="en-US" altLang="zh-CN"/>
              <a:t>#### 2.1 Affective Art and Visual Emotion / for </a:t>
            </a:r>
          </a:p>
          <a:p>
            <a:r>
              <a:rPr lang="zh-CN" altLang="en-US"/>
              <a:t>介绍艺术疗愈、视觉情绪设计和几何视觉元素与情绪关系的研究，强调艺术表达在低门槛情绪外化中的作用，并引出本文的几何艺术构图任务。</a:t>
            </a:r>
          </a:p>
          <a:p>
            <a:endParaRPr lang="en-US" altLang="zh-CN"/>
          </a:p>
          <a:p>
            <a:r>
              <a:rPr lang="en-US" altLang="zh-CN"/>
              <a:t>#### 2.3 Video Emotion Recognition</a:t>
            </a:r>
          </a:p>
          <a:p>
            <a:r>
              <a:rPr lang="zh-CN" altLang="en-US"/>
              <a:t>介绍视频情绪识别和动态表情识别相关工作，重点说明代表性数据集、主流建模路线以及这些方法在下游情绪支持系统中的适配意义。</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1028699"/>
          </a:xfrm>
        </p:spPr>
        <p:txBody>
          <a:bodyPr/>
          <a:lstStyle/>
          <a:p>
            <a:r>
              <a:rPr lang="zh-CN" altLang="en-US" dirty="0"/>
              <a:t>研究挑战</a:t>
            </a:r>
          </a:p>
        </p:txBody>
      </p:sp>
      <p:sp>
        <p:nvSpPr>
          <p:cNvPr id="4" name="灯片编号占位符 3"/>
          <p:cNvSpPr>
            <a:spLocks noGrp="1"/>
          </p:cNvSpPr>
          <p:nvPr>
            <p:ph type="sldNum" sz="quarter" idx="12"/>
          </p:nvPr>
        </p:nvSpPr>
        <p:spPr>
          <a:xfrm>
            <a:off x="9271009" y="6648654"/>
            <a:ext cx="2909888" cy="206381"/>
          </a:xfrm>
        </p:spPr>
        <p:txBody>
          <a:bodyPr/>
          <a:lstStyle/>
          <a:p>
            <a:fld id="{5DD3DB80-B894-403A-B48E-6FDC1A72010E}" type="slidenum">
              <a:rPr lang="zh-CN" altLang="en-US" smtClean="0"/>
              <a:t>23</a:t>
            </a:fld>
            <a:endParaRPr lang="zh-CN" altLang="en-US" dirty="0"/>
          </a:p>
        </p:txBody>
      </p:sp>
      <p:sp>
        <p:nvSpPr>
          <p:cNvPr id="6" name="文本框 5"/>
          <p:cNvSpPr txBox="1"/>
          <p:nvPr/>
        </p:nvSpPr>
        <p:spPr>
          <a:xfrm>
            <a:off x="545783" y="1207562"/>
            <a:ext cx="10974704" cy="3657600"/>
          </a:xfrm>
          <a:prstGeom prst="rect">
            <a:avLst/>
          </a:prstGeom>
          <a:noFill/>
        </p:spPr>
        <p:txBody>
          <a:bodyPr wrap="square">
            <a:spAutoFit/>
          </a:bodyPr>
          <a:lstStyle/>
          <a:p>
            <a:pPr>
              <a:lnSpc>
                <a:spcPct val="114000"/>
              </a:lnSpc>
              <a:spcAft>
                <a:spcPts val="750"/>
              </a:spcAft>
            </a:pPr>
            <a:r>
              <a:rPr lang="zh-CN" altLang="zh-CN" sz="1800" dirty="0">
                <a:solidFill>
                  <a:srgbClr val="1F1F1F"/>
                </a:solidFill>
                <a:effectLst/>
                <a:latin typeface="Arial" panose="020B0604020202090204" pitchFamily="34" charset="0"/>
                <a:ea typeface="Google Sans"/>
                <a:cs typeface="Google Sans"/>
              </a:rPr>
              <a:t>现有的</a:t>
            </a:r>
            <a:r>
              <a:rPr lang="en-US" altLang="zh-CN" sz="1800" dirty="0">
                <a:solidFill>
                  <a:srgbClr val="1F1F1F"/>
                </a:solidFill>
                <a:effectLst/>
                <a:latin typeface="Arial" panose="020B0604020202090204" pitchFamily="34" charset="0"/>
                <a:ea typeface="Google Sans"/>
                <a:cs typeface="Google Sans"/>
              </a:rPr>
              <a:t>AI</a:t>
            </a:r>
            <a:r>
              <a:rPr lang="zh-CN" altLang="zh-CN" sz="1800" dirty="0">
                <a:solidFill>
                  <a:srgbClr val="1F1F1F"/>
                </a:solidFill>
                <a:effectLst/>
                <a:latin typeface="Arial" panose="020B0604020202090204" pitchFamily="34" charset="0"/>
                <a:ea typeface="Google Sans"/>
                <a:cs typeface="Google Sans"/>
              </a:rPr>
              <a:t>心理健康和情感支持系统在安全性、个性化和有证据支持的情感交互方面面临局限 。具体而言，存在以下三大难题：</a:t>
            </a:r>
            <a:endParaRPr lang="zh-CN" altLang="zh-CN" sz="1800" dirty="0">
              <a:effectLst/>
              <a:latin typeface="Arial" panose="020B0604020202090204" pitchFamily="34" charset="0"/>
              <a:ea typeface="宋体" pitchFamily="2" charset="-122"/>
            </a:endParaRPr>
          </a:p>
          <a:p>
            <a:pPr marL="342900" lvl="0" indent="-342900" fontAlgn="base">
              <a:lnSpc>
                <a:spcPct val="114000"/>
              </a:lnSpc>
              <a:buClr>
                <a:srgbClr val="000000"/>
              </a:buClr>
              <a:buSzPts val="1100"/>
              <a:buFont typeface="Wingdings" panose="05000000000000000000" pitchFamily="2" charset="2"/>
              <a:buChar char="n"/>
            </a:pPr>
            <a:r>
              <a:rPr lang="zh-CN" altLang="en-US" sz="1800" b="1" u="none" strike="noStrike" dirty="0">
                <a:solidFill>
                  <a:srgbClr val="1F1F1F"/>
                </a:solidFill>
                <a:effectLst/>
                <a:latin typeface="Arial" panose="020B0604020202090204" pitchFamily="34" charset="0"/>
                <a:ea typeface="Google Sans"/>
                <a:cs typeface="Google Sans"/>
              </a:rPr>
              <a:t>情感追踪缺乏连续性</a:t>
            </a:r>
            <a:r>
              <a:rPr lang="zh-CN" altLang="zh-CN" sz="1800" u="none" strike="noStrike" dirty="0">
                <a:solidFill>
                  <a:srgbClr val="1F1F1F"/>
                </a:solidFill>
                <a:effectLst/>
                <a:latin typeface="Arial" panose="020B0604020202090204" pitchFamily="34" charset="0"/>
                <a:ea typeface="Google Sans"/>
                <a:cs typeface="Google Sans"/>
              </a:rPr>
              <a:t>：许多系统依赖于浅层或单轮的情感推断，难以在持续的交互过程中追踪用户情感状态的动态演变 。</a:t>
            </a:r>
          </a:p>
          <a:p>
            <a:pPr marL="342900" lvl="0" indent="-342900" fontAlgn="base">
              <a:lnSpc>
                <a:spcPct val="114000"/>
              </a:lnSpc>
              <a:buClr>
                <a:srgbClr val="000000"/>
              </a:buClr>
              <a:buSzPts val="1100"/>
              <a:buFont typeface="Wingdings" panose="05000000000000000000" pitchFamily="2" charset="2"/>
              <a:buChar char="n"/>
            </a:pPr>
            <a:endParaRPr lang="zh-CN" altLang="zh-CN" sz="1800" u="none" strike="noStrike" dirty="0">
              <a:solidFill>
                <a:srgbClr val="1F1F1F"/>
              </a:solidFill>
              <a:effectLst/>
              <a:latin typeface="Arial" panose="020B0604020202090204" pitchFamily="34" charset="0"/>
              <a:ea typeface="Arial" panose="020B0604020202090204" pitchFamily="34" charset="0"/>
              <a:cs typeface="Arial" panose="020B0604020202090204" pitchFamily="34" charset="0"/>
            </a:endParaRPr>
          </a:p>
          <a:p>
            <a:pPr marL="342900" lvl="0" indent="-342900" fontAlgn="base">
              <a:lnSpc>
                <a:spcPct val="114000"/>
              </a:lnSpc>
              <a:buClr>
                <a:srgbClr val="000000"/>
              </a:buClr>
              <a:buSzPts val="1100"/>
              <a:buFont typeface="Wingdings" panose="05000000000000000000" pitchFamily="2" charset="2"/>
              <a:buChar char="n"/>
            </a:pPr>
            <a:r>
              <a:rPr lang="zh-CN" altLang="zh-CN" sz="1800" b="1" u="none" strike="noStrike" dirty="0">
                <a:solidFill>
                  <a:srgbClr val="1F1F1F"/>
                </a:solidFill>
                <a:effectLst/>
                <a:latin typeface="Arial" panose="020B0604020202090204" pitchFamily="34" charset="0"/>
                <a:ea typeface="Google Sans"/>
                <a:cs typeface="Google Sans"/>
              </a:rPr>
              <a:t>缺乏</a:t>
            </a:r>
            <a:r>
              <a:rPr lang="zh-CN" altLang="en-US" sz="1800" b="1" u="none" strike="noStrike" dirty="0">
                <a:solidFill>
                  <a:srgbClr val="1F1F1F"/>
                </a:solidFill>
                <a:effectLst/>
                <a:latin typeface="Arial" panose="020B0604020202090204" pitchFamily="34" charset="0"/>
                <a:ea typeface="Google Sans"/>
                <a:cs typeface="Google Sans"/>
              </a:rPr>
              <a:t>具身交互</a:t>
            </a:r>
            <a:r>
              <a:rPr lang="zh-CN" altLang="zh-CN" sz="1800" b="1" u="none" strike="noStrike" dirty="0">
                <a:solidFill>
                  <a:srgbClr val="1F1F1F"/>
                </a:solidFill>
                <a:effectLst/>
                <a:latin typeface="Arial" panose="020B0604020202090204" pitchFamily="34" charset="0"/>
                <a:ea typeface="Google Sans"/>
                <a:cs typeface="Google Sans"/>
              </a:rPr>
              <a:t>与社会存在感</a:t>
            </a:r>
            <a:r>
              <a:rPr lang="zh-CN" altLang="zh-CN" sz="1800" u="none" strike="noStrike" dirty="0">
                <a:solidFill>
                  <a:srgbClr val="1F1F1F"/>
                </a:solidFill>
                <a:effectLst/>
                <a:latin typeface="Arial" panose="020B0604020202090204" pitchFamily="34" charset="0"/>
                <a:ea typeface="Google Sans"/>
                <a:cs typeface="Google Sans"/>
              </a:rPr>
              <a:t>：大量对话系统仅提供纯文本或语音，缺乏具身表达（</a:t>
            </a:r>
            <a:r>
              <a:rPr lang="en-US" altLang="zh-CN" sz="1800" u="none" strike="noStrike" dirty="0">
                <a:solidFill>
                  <a:srgbClr val="1F1F1F"/>
                </a:solidFill>
                <a:effectLst/>
                <a:latin typeface="Arial" panose="020B0604020202090204" pitchFamily="34" charset="0"/>
                <a:ea typeface="Google Sans"/>
                <a:cs typeface="Google Sans"/>
              </a:rPr>
              <a:t>Embodied expression</a:t>
            </a:r>
            <a:r>
              <a:rPr lang="zh-CN" altLang="zh-CN" sz="1800" u="none" strike="noStrike" dirty="0">
                <a:solidFill>
                  <a:srgbClr val="1F1F1F"/>
                </a:solidFill>
                <a:effectLst/>
                <a:latin typeface="Arial" panose="020B0604020202090204" pitchFamily="34" charset="0"/>
                <a:ea typeface="Google Sans"/>
                <a:cs typeface="Google Sans"/>
              </a:rPr>
              <a:t>），</a:t>
            </a:r>
            <a:r>
              <a:rPr lang="zh-CN" altLang="en-US" sz="1800" u="none" strike="noStrike" dirty="0">
                <a:solidFill>
                  <a:srgbClr val="1F1F1F"/>
                </a:solidFill>
                <a:effectLst/>
                <a:latin typeface="Arial" panose="020B0604020202090204" pitchFamily="34" charset="0"/>
                <a:ea typeface="Google Sans"/>
                <a:cs typeface="Google Sans"/>
              </a:rPr>
              <a:t>忽略了视觉表达、社会存在感以及言语-非言语协同反馈在提升用户参与度和感知支持方面的重要作用</a:t>
            </a:r>
            <a:r>
              <a:rPr lang="zh-CN" altLang="zh-CN" sz="1800" u="none" strike="noStrike" dirty="0">
                <a:solidFill>
                  <a:srgbClr val="1F1F1F"/>
                </a:solidFill>
                <a:effectLst/>
                <a:latin typeface="Arial" panose="020B0604020202090204" pitchFamily="34" charset="0"/>
                <a:ea typeface="Google Sans"/>
                <a:cs typeface="Google Sans"/>
              </a:rPr>
              <a:t>。</a:t>
            </a:r>
          </a:p>
          <a:p>
            <a:pPr marL="342900" lvl="0" indent="-342900" fontAlgn="base">
              <a:lnSpc>
                <a:spcPct val="114000"/>
              </a:lnSpc>
              <a:buClr>
                <a:srgbClr val="000000"/>
              </a:buClr>
              <a:buSzPts val="1100"/>
              <a:buFont typeface="Wingdings" panose="05000000000000000000" pitchFamily="2" charset="2"/>
              <a:buChar char="n"/>
            </a:pPr>
            <a:endParaRPr lang="zh-CN" altLang="zh-CN" sz="1800" u="none" strike="noStrike" dirty="0">
              <a:effectLst/>
              <a:latin typeface="Arial" panose="020B0604020202090204" pitchFamily="34" charset="0"/>
              <a:ea typeface="Arial" panose="020B0604020202090204" pitchFamily="34" charset="0"/>
              <a:cs typeface="Arial" panose="020B0604020202090204" pitchFamily="34" charset="0"/>
            </a:endParaRPr>
          </a:p>
          <a:p>
            <a:pPr marL="342900" lvl="0" indent="-342900" fontAlgn="base">
              <a:lnSpc>
                <a:spcPct val="114000"/>
              </a:lnSpc>
              <a:spcAft>
                <a:spcPts val="600"/>
              </a:spcAft>
              <a:buClr>
                <a:srgbClr val="000000"/>
              </a:buClr>
              <a:buSzPts val="1100"/>
              <a:buFont typeface="Wingdings" panose="05000000000000000000" pitchFamily="2" charset="2"/>
              <a:buChar char="n"/>
            </a:pPr>
            <a:r>
              <a:rPr lang="zh-CN" altLang="en-US" sz="1800" b="1" u="none" strike="noStrike" dirty="0">
                <a:solidFill>
                  <a:srgbClr val="1F1F1F"/>
                </a:solidFill>
                <a:effectLst/>
                <a:latin typeface="Arial" panose="020B0604020202090204" pitchFamily="34" charset="0"/>
                <a:ea typeface="Google Sans"/>
                <a:cs typeface="Google Sans"/>
              </a:rPr>
              <a:t>过度依赖直接的言语表达</a:t>
            </a:r>
            <a:r>
              <a:rPr lang="zh-CN" altLang="zh-CN" sz="1800" u="none" strike="noStrike" dirty="0">
                <a:solidFill>
                  <a:srgbClr val="1F1F1F"/>
                </a:solidFill>
                <a:effectLst/>
                <a:latin typeface="Arial" panose="020B0604020202090204" pitchFamily="34" charset="0"/>
                <a:ea typeface="Google Sans"/>
                <a:cs typeface="Google Sans"/>
              </a:rPr>
              <a:t>：在此之前的研究缺乏一个统一的软件系统，无法将连续的情感感知、具身对话引导以及低门槛的视觉构图任务整合到一个完整的情感交互闭环中 。</a:t>
            </a:r>
            <a:endParaRPr lang="zh-CN" altLang="zh-CN" sz="1800" u="none" strike="noStrike" dirty="0">
              <a:effectLst/>
              <a:latin typeface="Arial" panose="020B0604020202090204" pitchFamily="34" charset="0"/>
              <a:ea typeface="Arial" panose="020B0604020202090204" pitchFamily="34" charset="0"/>
              <a:cs typeface="Arial" panose="020B0604020202090204"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c2abdb06-b479-484f-9e04-0cb30f5778f9"/>
  <p:tag name="RESOURCE_RECORD_KEY" val="{&quot;10&quot;:[4520375,3659619,4450742,3471118,5006227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20.223622047244,&quot;left&quot;:21.05,&quot;top&quot;:117.1,&quot;width&quot;:383.3}"/>
</p:tagLst>
</file>

<file path=ppt/tags/tag31.xml><?xml version="1.0" encoding="utf-8"?>
<p:tagLst xmlns:a="http://schemas.openxmlformats.org/drawingml/2006/main" xmlns:r="http://schemas.openxmlformats.org/officeDocument/2006/relationships" xmlns:p="http://schemas.openxmlformats.org/presentationml/2006/main">
  <p:tag name="KSO_DOCER_RESOURCE_TRACE_INFO" val="{&quot;id&quot;:&quot;3659619&quot;,&quot;origin&quot;:0,&quot;type&quot;:&quot;icons&quot;,&quot;user&quot;:&quot;3554957&quot;}"/>
</p:tagLst>
</file>

<file path=ppt/tags/tag32.xml><?xml version="1.0" encoding="utf-8"?>
<p:tagLst xmlns:a="http://schemas.openxmlformats.org/drawingml/2006/main" xmlns:r="http://schemas.openxmlformats.org/officeDocument/2006/relationships" xmlns:p="http://schemas.openxmlformats.org/presentationml/2006/main">
  <p:tag name="KSO_DOCER_RESOURCE_TRACE_INFO" val="{&quot;id&quot;:&quot;4450742&quot;,&quot;origin&quot;:0,&quot;type&quot;:&quot;icons&quot;,&quot;user&quot;:&quot;3554957&quot;}"/>
</p:tagLst>
</file>

<file path=ppt/tags/tag33.xml><?xml version="1.0" encoding="utf-8"?>
<p:tagLst xmlns:a="http://schemas.openxmlformats.org/drawingml/2006/main" xmlns:r="http://schemas.openxmlformats.org/officeDocument/2006/relationships" xmlns:p="http://schemas.openxmlformats.org/presentationml/2006/main">
  <p:tag name="KSO_DOCER_RESOURCE_TRACE_INFO" val="{&quot;id&quot;:&quot;3471118&quot;,&quot;origin&quot;:0,&quot;type&quot;:&quot;icons&quot;,&quot;user&quot;:&quot;3554957&quot;}"/>
</p:tagLst>
</file>

<file path=ppt/tags/tag34.xml><?xml version="1.0" encoding="utf-8"?>
<p:tagLst xmlns:a="http://schemas.openxmlformats.org/drawingml/2006/main" xmlns:r="http://schemas.openxmlformats.org/officeDocument/2006/relationships" xmlns:p="http://schemas.openxmlformats.org/presentationml/2006/main">
  <p:tag name="KSO_DOCER_RESOURCE_TRACE_INFO" val="{&quot;id&quot;:&quot;50062276&quot;,&quot;origin&quot;:0,&quot;type&quot;:&quot;icons&quot;,&quot;user&quot;:&quot;3554957&quot;}"/>
</p:tagLst>
</file>

<file path=ppt/theme/theme1.xml><?xml version="1.0" encoding="utf-8"?>
<a:theme xmlns:a="http://schemas.openxmlformats.org/drawingml/2006/main" name="主题5">
  <a:themeElements>
    <a:clrScheme name="自定义 34">
      <a:dk1>
        <a:srgbClr val="000000"/>
      </a:dk1>
      <a:lt1>
        <a:srgbClr val="FFFFFF"/>
      </a:lt1>
      <a:dk2>
        <a:srgbClr val="778495"/>
      </a:dk2>
      <a:lt2>
        <a:srgbClr val="F2F2F2"/>
      </a:lt2>
      <a:accent1>
        <a:srgbClr val="F15931"/>
      </a:accent1>
      <a:accent2>
        <a:srgbClr val="666666"/>
      </a:accent2>
      <a:accent3>
        <a:srgbClr val="727272"/>
      </a:accent3>
      <a:accent4>
        <a:srgbClr val="999999"/>
      </a:accent4>
      <a:accent5>
        <a:srgbClr val="9B8357"/>
      </a:accent5>
      <a:accent6>
        <a:srgbClr val="94A088"/>
      </a:accent6>
      <a:hlink>
        <a:srgbClr val="F15931"/>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26</TotalTime>
  <Words>3996</Words>
  <Application>Microsoft Office PowerPoint</Application>
  <PresentationFormat>宽屏</PresentationFormat>
  <Paragraphs>467</Paragraphs>
  <Slides>23</Slides>
  <Notes>21</Notes>
  <HiddenSlides>4</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Google Sans</vt:lpstr>
      <vt:lpstr>华文新魏</vt:lpstr>
      <vt:lpstr>宋体</vt:lpstr>
      <vt:lpstr>微软雅黑</vt:lpstr>
      <vt:lpstr>Arial</vt:lpstr>
      <vt:lpstr>Arial Narrow</vt:lpstr>
      <vt:lpstr>Calibri</vt:lpstr>
      <vt:lpstr>Cambria Math</vt:lpstr>
      <vt:lpstr>Times New Roman</vt:lpstr>
      <vt:lpstr>Wingdings</vt:lpstr>
      <vt:lpstr>主题5</vt:lpstr>
      <vt:lpstr>A State-Aware Affective Conversational System with Video Emotion Recognition and Affective-Art Interaction 基于视频情绪识别与情感艺术交互的状态感知情感对话系统</vt:lpstr>
      <vt:lpstr>项目推进甘特图（2026年4月week4 ）</vt:lpstr>
      <vt:lpstr>项目推进甘特图（2026年4月week5 ）</vt:lpstr>
      <vt:lpstr>研究背景</vt:lpstr>
      <vt:lpstr>现有技术路线</vt:lpstr>
      <vt:lpstr>研究动机</vt:lpstr>
      <vt:lpstr>相关工作</vt:lpstr>
      <vt:lpstr>相关工作</vt:lpstr>
      <vt:lpstr>相关工作</vt:lpstr>
      <vt:lpstr>相关工作</vt:lpstr>
      <vt:lpstr>提出方法</vt:lpstr>
      <vt:lpstr>方法框架图</vt:lpstr>
      <vt:lpstr>PowerPoint 演示文稿</vt:lpstr>
      <vt:lpstr>PowerPoint 演示文稿</vt:lpstr>
      <vt:lpstr>PowerPoint 演示文稿</vt:lpstr>
      <vt:lpstr>PowerPoint 演示文稿</vt:lpstr>
      <vt:lpstr>现有方法局限性</vt:lpstr>
      <vt:lpstr>PowerPoint 演示文稿</vt:lpstr>
      <vt:lpstr>PowerPoint 演示文稿</vt:lpstr>
      <vt:lpstr>任务定义</vt:lpstr>
      <vt:lpstr>相关工作</vt:lpstr>
      <vt:lpstr>相关工作</vt:lpstr>
      <vt:lpstr>研究挑战</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world hello</cp:lastModifiedBy>
  <cp:revision>1876</cp:revision>
  <cp:lastPrinted>2026-07-16T06:14:13Z</cp:lastPrinted>
  <dcterms:created xsi:type="dcterms:W3CDTF">2026-07-16T06:14:13Z</dcterms:created>
  <dcterms:modified xsi:type="dcterms:W3CDTF">2026-07-16T12:30:37Z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b7ccc1b2-cf53-4400-957a-3ac962aedd74</vt:lpwstr>
  </property>
  <property fmtid="{D5CDD505-2E9C-101B-9397-08002B2CF9AE}" pid="3" name="KSOProductBuildVer">
    <vt:lpwstr>2052-12.1.26026.26026</vt:lpwstr>
  </property>
  <property fmtid="{D5CDD505-2E9C-101B-9397-08002B2CF9AE}" pid="4" name="ICV">
    <vt:lpwstr>426FAF2DE49F453E8A8C09D9116D5F2F_13</vt:lpwstr>
  </property>
</Properties>
</file>