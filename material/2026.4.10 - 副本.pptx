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sldIdLst>
    <p:sldId id="256" r:id="rId2"/>
    <p:sldId id="1936" r:id="rId3"/>
    <p:sldId id="1899" r:id="rId4"/>
    <p:sldId id="1691" r:id="rId5"/>
    <p:sldId id="1947" r:id="rId6"/>
    <p:sldId id="1948" r:id="rId7"/>
    <p:sldId id="1985" r:id="rId8"/>
    <p:sldId id="1963" r:id="rId9"/>
    <p:sldId id="1772" r:id="rId10"/>
    <p:sldId id="1925" r:id="rId11"/>
    <p:sldId id="1951" r:id="rId12"/>
    <p:sldId id="1958" r:id="rId13"/>
    <p:sldId id="1965" r:id="rId14"/>
    <p:sldId id="1777" r:id="rId15"/>
    <p:sldId id="1964" r:id="rId16"/>
    <p:sldId id="1989" r:id="rId17"/>
    <p:sldId id="1996" r:id="rId18"/>
    <p:sldId id="1991" r:id="rId19"/>
    <p:sldId id="1992" r:id="rId20"/>
    <p:sldId id="1994" r:id="rId21"/>
    <p:sldId id="1995" r:id="rId22"/>
    <p:sldId id="1939" r:id="rId23"/>
    <p:sldId id="1778" r:id="rId24"/>
    <p:sldId id="1978" r:id="rId25"/>
    <p:sldId id="1885" r:id="rId26"/>
    <p:sldId id="1941" r:id="rId27"/>
    <p:sldId id="1933" r:id="rId28"/>
    <p:sldId id="1977" r:id="rId29"/>
    <p:sldId id="1942" r:id="rId30"/>
    <p:sldId id="1889" r:id="rId31"/>
    <p:sldId id="1890" r:id="rId32"/>
    <p:sldId id="1998" r:id="rId33"/>
    <p:sldId id="1945" r:id="rId34"/>
    <p:sldId id="1954" r:id="rId35"/>
    <p:sldId id="1987" r:id="rId36"/>
    <p:sldId id="1999" r:id="rId37"/>
    <p:sldId id="1769" r:id="rId38"/>
    <p:sldId id="1997" r:id="rId39"/>
    <p:sldId id="1980" r:id="rId40"/>
    <p:sldId id="1982" r:id="rId41"/>
    <p:sldId id="1981" r:id="rId42"/>
    <p:sldId id="1979" r:id="rId43"/>
    <p:sldId id="1986" r:id="rId44"/>
    <p:sldId id="1988" r:id="rId45"/>
    <p:sldId id="261" r:id="rId46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课题题目" id="{E1490808-1084-6D4F-A1B7-8EC2B82AF7E7}">
          <p14:sldIdLst>
            <p14:sldId id="256"/>
          </p14:sldIdLst>
        </p14:section>
        <p14:section name="进展总结" id="{F74BE3B3-E78B-40A3-A4D8-C1CF7012F695}">
          <p14:sldIdLst>
            <p14:sldId id="1936"/>
            <p14:sldId id="1899"/>
          </p14:sldIdLst>
        </p14:section>
        <p14:section name="一、研究背景及目的" id="{A510A491-D987-1E45-8548-147CFFC8B9F8}">
          <p14:sldIdLst>
            <p14:sldId id="1691"/>
            <p14:sldId id="1947"/>
            <p14:sldId id="1948"/>
            <p14:sldId id="1985"/>
            <p14:sldId id="1963"/>
          </p14:sldIdLst>
        </p14:section>
        <p14:section name="二、研究现状及问题" id="{54388712-C888-2D4F-BF5D-020ECB5747CF}">
          <p14:sldIdLst>
            <p14:sldId id="1772"/>
            <p14:sldId id="1925"/>
            <p14:sldId id="1951"/>
            <p14:sldId id="1958"/>
            <p14:sldId id="1965"/>
          </p14:sldIdLst>
        </p14:section>
        <p14:section name="三、研究内容及步骤" id="{DF0EE299-3AEC-F040-B63A-3FF46D7809A4}">
          <p14:sldIdLst>
            <p14:sldId id="1777"/>
            <p14:sldId id="1964"/>
            <p14:sldId id="1989"/>
            <p14:sldId id="1996"/>
            <p14:sldId id="1991"/>
            <p14:sldId id="1992"/>
            <p14:sldId id="1994"/>
            <p14:sldId id="1995"/>
          </p14:sldIdLst>
        </p14:section>
        <p14:section name="步骤一 系统搭建" id="{6E76A2F5-CBCA-42B1-BAAC-796A26B78E0F}">
          <p14:sldIdLst>
            <p14:sldId id="1939"/>
            <p14:sldId id="1778"/>
            <p14:sldId id="1978"/>
          </p14:sldIdLst>
        </p14:section>
        <p14:section name="步骤二 3D模型生成" id="{3F8E1848-FA5E-4183-AC66-161E8F782221}">
          <p14:sldIdLst>
            <p14:sldId id="1885"/>
            <p14:sldId id="1941"/>
            <p14:sldId id="1933"/>
          </p14:sldIdLst>
        </p14:section>
        <p14:section name="步骤三 骨骼绑定" id="{3F6B38C1-F9FD-49C0-ADCC-7A71E4A8ACF7}">
          <p14:sldIdLst>
            <p14:sldId id="1977"/>
            <p14:sldId id="1942"/>
            <p14:sldId id="1889"/>
            <p14:sldId id="1890"/>
          </p14:sldIdLst>
        </p14:section>
        <p14:section name="步骤四 驱动研究" id="{CAFE52CE-6B3E-4067-A8D7-ACF031646BE8}">
          <p14:sldIdLst>
            <p14:sldId id="1998"/>
            <p14:sldId id="1945"/>
            <p14:sldId id="1954"/>
            <p14:sldId id="1987"/>
            <p14:sldId id="1999"/>
            <p14:sldId id="1769"/>
            <p14:sldId id="1997"/>
          </p14:sldIdLst>
        </p14:section>
        <p14:section name="步骤四 多模态情绪" id="{6224DF90-EB14-4C69-A124-A27FE2FED393}">
          <p14:sldIdLst>
            <p14:sldId id="1980"/>
            <p14:sldId id="1982"/>
            <p14:sldId id="1981"/>
            <p14:sldId id="1979"/>
            <p14:sldId id="1986"/>
          </p14:sldIdLst>
        </p14:section>
        <p14:section name="四、实验过程及结论" id="{7995EFAF-697A-A049-B196-E3D8F1750ED5}">
          <p14:sldIdLst>
            <p14:sldId id="1988"/>
          </p14:sldIdLst>
        </p14:section>
        <p14:section name="4.1 实验一：名称" id="{4E94B079-67DE-EC4D-8F87-FEE2F7FE1E8F}">
          <p14:sldIdLst/>
        </p14:section>
        <p14:section name="4.2 实验二：名称" id="{37D0D661-A6D6-417F-B75C-9577402AECEF}">
          <p14:sldIdLst/>
        </p14:section>
        <p14:section name="结尾页" id="{C65BA6B6-A39B-5A4F-9A28-0D49501D1D4E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596156247" name="王妍" initials="王" lastIdx="1" clrIdx="1"/>
  <p:cmAuthor id="1" name="Microsoft Office User" initials="MO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7ECB3"/>
    <a:srgbClr val="F5E699"/>
    <a:srgbClr val="C5C5C5"/>
    <a:srgbClr val="C695D7"/>
    <a:srgbClr val="8EB8E6"/>
    <a:srgbClr val="D8B6F4"/>
    <a:srgbClr val="888888"/>
    <a:srgbClr val="96CA9C"/>
    <a:srgbClr val="F8A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9" autoAdjust="0"/>
    <p:restoredTop sz="93830" autoAdjust="0"/>
  </p:normalViewPr>
  <p:slideViewPr>
    <p:cSldViewPr snapToGrid="0">
      <p:cViewPr varScale="1">
        <p:scale>
          <a:sx n="86" d="100"/>
          <a:sy n="86" d="100"/>
        </p:scale>
        <p:origin x="4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D45DB-4C1C-4CFC-A206-84ECEF943802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BABC2-6772-4727-AFE1-F6A682502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F0F0D-5C62-77DA-CA74-A5CB97CE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EDD796-DF0E-242B-1D21-7F46A59EC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CFC25-4723-C3EC-356B-84B36785AF2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046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8C56-9AFB-9529-C9CF-5C720971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676B63-7A6F-53E8-9958-E23BA70B7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415FFC-559F-0A48-FD81-3F1A51F3B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完善系统展示、动作库驱动、集成视频音频情绪识别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504BAE-4A07-3588-7E68-E9D46625A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89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38BE-4B83-CE86-ECDC-FB00A0D0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582A3F-0A01-6AF9-0CDC-4CECA7C12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EB1E2B-DE5F-7B84-A9BD-C21C30D0D73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搭建</a:t>
            </a:r>
            <a:r>
              <a:rPr lang="zh-CN" altLang="en-US" dirty="0"/>
              <a:t>这个系统的初衷，是看到了虚拟陪伴技术的发展脉络。</a:t>
            </a:r>
          </a:p>
          <a:p>
            <a:r>
              <a:rPr lang="zh-CN" altLang="en-US" dirty="0"/>
              <a:t>首先，虚拟陪伴的</a:t>
            </a:r>
            <a:r>
              <a:rPr lang="zh-CN" altLang="en-US" b="1" dirty="0"/>
              <a:t>价值</a:t>
            </a:r>
            <a:r>
              <a:rPr lang="zh-CN" altLang="en-US" dirty="0"/>
              <a:t>在于解决人的情感需求，这一点在学术界和工业界早已达成共识。</a:t>
            </a:r>
          </a:p>
          <a:p>
            <a:r>
              <a:rPr lang="zh-CN" altLang="en-US" dirty="0"/>
              <a:t>其次，随着</a:t>
            </a:r>
            <a:r>
              <a:rPr lang="zh-CN" altLang="en-US" b="1" dirty="0"/>
              <a:t>计算机图形学（</a:t>
            </a:r>
            <a:r>
              <a:rPr lang="en-US" altLang="zh-CN" b="1" dirty="0"/>
              <a:t>Graphics</a:t>
            </a:r>
            <a:r>
              <a:rPr lang="zh-CN" altLang="en-US" b="1" dirty="0"/>
              <a:t>）和视觉（</a:t>
            </a:r>
            <a:r>
              <a:rPr lang="en-US" altLang="zh-CN" b="1" dirty="0"/>
              <a:t>CV</a:t>
            </a:r>
            <a:r>
              <a:rPr lang="zh-CN" altLang="en-US" b="1" dirty="0"/>
              <a:t>）的发展，我们已经能够做到高质量的</a:t>
            </a:r>
            <a:r>
              <a:rPr lang="en-US" altLang="zh-CN" b="1" dirty="0"/>
              <a:t>3D</a:t>
            </a:r>
            <a:r>
              <a:rPr lang="zh-CN" altLang="en-US" b="1" dirty="0"/>
              <a:t>形象生成和基础互动</a:t>
            </a:r>
            <a:r>
              <a:rPr lang="zh-CN" altLang="en-US" dirty="0"/>
              <a:t>，让虚拟人‘看得见、动得了’。这是我们系统搭建的坚实基础。</a:t>
            </a:r>
          </a:p>
          <a:p>
            <a:r>
              <a:rPr lang="zh-CN" altLang="en-US" dirty="0"/>
              <a:t>而到了现在，随着</a:t>
            </a:r>
            <a:r>
              <a:rPr lang="en-US" altLang="zh-CN" dirty="0"/>
              <a:t>AI</a:t>
            </a:r>
            <a:r>
              <a:rPr lang="zh-CN" altLang="en-US" dirty="0"/>
              <a:t>技术的发展，特别是</a:t>
            </a:r>
            <a:r>
              <a:rPr lang="en-US" altLang="zh-CN" b="1" dirty="0"/>
              <a:t>2024</a:t>
            </a:r>
            <a:r>
              <a:rPr lang="zh-CN" altLang="en-US" b="1" dirty="0"/>
              <a:t>年中国科学十大问题</a:t>
            </a:r>
            <a:r>
              <a:rPr lang="zh-CN" altLang="en-US" dirty="0"/>
              <a:t>中提出的‘情智兼备’概念，指引我们进入了第三个阶段：</a:t>
            </a:r>
            <a:r>
              <a:rPr lang="zh-CN" altLang="en-US" b="1" dirty="0"/>
              <a:t>赋予虚拟人一个‘大脑’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我们不仅需要它外表真实，更需要它具备**‘智’（逻辑推理）</a:t>
            </a:r>
            <a:r>
              <a:rPr lang="zh-CN" altLang="en-US" b="1" dirty="0"/>
              <a:t>和</a:t>
            </a:r>
            <a:r>
              <a:rPr lang="zh-CN" altLang="en-US" dirty="0"/>
              <a:t>‘情’（情感共鸣）**。本课题就是在这个背景下，致力于搭建一个融合了前沿生成技术与情智大脑的虚拟陪伴系统。”</a:t>
            </a:r>
          </a:p>
        </p:txBody>
      </p:sp>
    </p:spTree>
    <p:extLst>
      <p:ext uri="{BB962C8B-B14F-4D97-AF65-F5344CB8AC3E}">
        <p14:creationId xmlns:p14="http://schemas.microsoft.com/office/powerpoint/2010/main" val="3686911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CB08-E22B-DB6C-2388-5736CCD9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EDB74E-C348-9433-529D-45BA87ABD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563B4-041D-4FB1-A649-55D64F363C7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1"/>
            <a:r>
              <a:rPr lang="zh-CN" altLang="en-US" dirty="0"/>
              <a:t>技术架构，数据流</a:t>
            </a:r>
          </a:p>
        </p:txBody>
      </p:sp>
    </p:spTree>
    <p:extLst>
      <p:ext uri="{BB962C8B-B14F-4D97-AF65-F5344CB8AC3E}">
        <p14:creationId xmlns:p14="http://schemas.microsoft.com/office/powerpoint/2010/main" val="323131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EF6C-EF29-6B03-C408-314E0905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4B2CF8-A9BD-0BB2-1E67-5C14841D2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EFDB9-C641-956D-ED32-3241D879F1C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4782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A4948-7C80-C006-5011-1AC12F78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7F352F-AEEE-1C00-DB2A-E7FB347B1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1E84BC-3BA6-633C-B3C1-33FE02DB12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998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9454-6443-EA57-CD92-02CFD67D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DFFEEC-ED71-51B1-7BD1-9F589FED4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85E17-92AD-DDD2-180F-7D980B2FA78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调研驱动技术路线</a:t>
            </a:r>
          </a:p>
        </p:txBody>
      </p:sp>
    </p:spTree>
    <p:extLst>
      <p:ext uri="{BB962C8B-B14F-4D97-AF65-F5344CB8AC3E}">
        <p14:creationId xmlns:p14="http://schemas.microsoft.com/office/powerpoint/2010/main" val="1977145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EE06E-C914-B187-0CDB-EBAC07A3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49D20B-F461-D02F-2D49-510F31C0C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579586-5165-535E-40FB-4BF4AD46933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flame</a:t>
            </a:r>
            <a:r>
              <a:rPr lang="zh-CN" altLang="en-US" dirty="0"/>
              <a:t>标准模板，将图片贴到模板完成</a:t>
            </a:r>
            <a:r>
              <a:rPr lang="en-US" altLang="zh-CN" dirty="0" err="1"/>
              <a:t>3d</a:t>
            </a:r>
            <a:r>
              <a:rPr lang="zh-CN" altLang="en-US" dirty="0"/>
              <a:t>生成，驱动时使用</a:t>
            </a:r>
            <a:r>
              <a:rPr lang="en-US" altLang="zh-CN" dirty="0"/>
              <a:t>flame</a:t>
            </a:r>
            <a:r>
              <a:rPr lang="zh-CN" altLang="en-US" dirty="0"/>
              <a:t>模型实现驱动</a:t>
            </a:r>
          </a:p>
        </p:txBody>
      </p:sp>
    </p:spTree>
    <p:extLst>
      <p:ext uri="{BB962C8B-B14F-4D97-AF65-F5344CB8AC3E}">
        <p14:creationId xmlns:p14="http://schemas.microsoft.com/office/powerpoint/2010/main" val="2989270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AD16-CECE-EC20-92D8-90144511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A5126A-FB26-3ED6-FBD5-C53B1F254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418F01-4293-9D12-8AB6-7E813AA5297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7962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9F73-B9BD-0EC6-66C3-A29086EF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529368-4FD8-6B13-2205-24F96CEB8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3B6B6-8C77-2464-8D8E-0C0A7B7C107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调研驱动技术路线</a:t>
            </a:r>
          </a:p>
        </p:txBody>
      </p:sp>
    </p:spTree>
    <p:extLst>
      <p:ext uri="{BB962C8B-B14F-4D97-AF65-F5344CB8AC3E}">
        <p14:creationId xmlns:p14="http://schemas.microsoft.com/office/powerpoint/2010/main" val="1986873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13D4-9CAD-DD2E-5167-C0E27B21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638705-DFC4-1C45-7944-10C386863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C73780-15AD-77B6-8D3E-9EE6577A07D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2699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9691-1961-8D7C-4F5B-C15C80A2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8CC715-F7F6-FC73-6EAA-2A4A81721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1DB50C-0CA4-9F6C-F139-0558C667D07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关键技术、生成改了改怎样更好，论文新闻先进技术调研，交互，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9869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A5C5-FB49-0311-B124-957C804F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5F857F-4387-06BB-71C5-678DD3308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3595EE-35A2-4E79-4FCF-C13EE7FD0AD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5936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EFFA-CAA9-8EBE-6DBE-94AB55B6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EBF39C-4F68-F849-C5D9-EAD323E16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C1B36F-4C68-C655-5648-6E2AEBAAF55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8150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26CA-1E0B-FE88-708F-14AF7E7E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991947-7C4F-5866-7551-79CDB3EF2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E72427-8881-9B0C-F4E6-C7BE22AF455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9319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A4D3-9B2A-8984-2A42-693FD716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9D79E6-9CD8-C1BC-8C0A-C6381CACC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5435DD-0F1E-D006-4034-CF2C9D61949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4889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878A-CFD9-61EB-3FFD-18CEADC1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2DF89E-02DD-EC03-AC84-0F2422A41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5342B4-ED84-602A-7889-43F169A25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D451EE-4956-2C8B-9DA3-D07C88D67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1005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9604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43EC-3D13-11E3-CF1C-ECD07229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731701-3419-A0BD-9D0B-DFBB6CF40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680E72-4628-7663-2CA8-52B2D20EF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 </a:t>
            </a: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BB78E8-B106-425B-08B6-5F617C4DE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162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基于步骤一  相关性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83F9-35BF-DEFC-7E8A-D45953E5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7B56BE-A852-BF1C-BAA5-C0158BF07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BA242C-ABCB-6854-1116-83CE5739D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1D5507-3010-3A25-5320-EEE76048C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8898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359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AC36-071D-8A29-18AB-BDD8761D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4F4405-55C8-5699-E406-0EEFA2715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B4D2F5-0934-2CD6-BFF1-CF3B97578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F26614-22E6-D01B-CEE3-C63B9AE1A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175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8EB8A-135E-FFCF-9527-24DCB097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45E798-9999-0326-0B4E-91707E72E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060AD1-C6E6-EDA2-FB74-613137665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FBB8B1-FA30-4B80-23B7-BC16E7A49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1134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6CAF-2A9F-36AE-FA38-FC8EA28F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1C9DF-AEC0-E4C7-7680-B048996A4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17CB7D-CC92-B392-E0FD-DC66B06304A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085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1593-013D-1F4E-1D29-B20A06CB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38FE0E-5E20-8DDF-7ADD-B3F8BCBA1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7ED51A-6F8A-9440-43C8-CE82B5F4E82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驱动</a:t>
            </a:r>
          </a:p>
        </p:txBody>
      </p:sp>
    </p:spTree>
    <p:extLst>
      <p:ext uri="{BB962C8B-B14F-4D97-AF65-F5344CB8AC3E}">
        <p14:creationId xmlns:p14="http://schemas.microsoft.com/office/powerpoint/2010/main" val="1047514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EF2FA-A1A6-03ED-740E-3DF332ED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09B2E8-B23C-3641-87B7-23E07D8BE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05AF1-26E5-CD35-BF19-CDD24AC06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CE735-A34C-634F-0381-734237CE5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5501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6CAF-2A9F-36AE-FA38-FC8EA28F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1C9DF-AEC0-E4C7-7680-B048996A4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17CB7D-CC92-B392-E0FD-DC66B06304A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一体</a:t>
            </a:r>
          </a:p>
        </p:txBody>
      </p:sp>
    </p:spTree>
    <p:extLst>
      <p:ext uri="{BB962C8B-B14F-4D97-AF65-F5344CB8AC3E}">
        <p14:creationId xmlns:p14="http://schemas.microsoft.com/office/powerpoint/2010/main" val="11500854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63417-0F32-BEA6-F97C-C032EDB4B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FA95DB-5989-D4E1-114C-8038C55AA9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6216E2-12DE-3D00-C60A-C40C53C4F4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驱动</a:t>
            </a:r>
          </a:p>
        </p:txBody>
      </p:sp>
    </p:spTree>
    <p:extLst>
      <p:ext uri="{BB962C8B-B14F-4D97-AF65-F5344CB8AC3E}">
        <p14:creationId xmlns:p14="http://schemas.microsoft.com/office/powerpoint/2010/main" val="35553622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D437-F3D1-1697-92F5-45D5EA0D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8A505B-5537-9BC9-BB63-256C77217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468DDC-7019-70B0-2CBC-492394CFE0A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一体</a:t>
            </a:r>
          </a:p>
        </p:txBody>
      </p:sp>
    </p:spTree>
    <p:extLst>
      <p:ext uri="{BB962C8B-B14F-4D97-AF65-F5344CB8AC3E}">
        <p14:creationId xmlns:p14="http://schemas.microsoft.com/office/powerpoint/2010/main" val="183151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1529-6575-EDC1-CE7E-9C149D17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D8E546-4A06-5913-5C8B-9DFE302FF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5AAF1F-B72E-534A-9F0F-5D99CD2F29B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一体</a:t>
            </a:r>
          </a:p>
        </p:txBody>
      </p:sp>
    </p:spTree>
    <p:extLst>
      <p:ext uri="{BB962C8B-B14F-4D97-AF65-F5344CB8AC3E}">
        <p14:creationId xmlns:p14="http://schemas.microsoft.com/office/powerpoint/2010/main" val="3588962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0EC3-CBF1-D973-3111-DD3466D2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B043E1-F0B1-5C87-9050-3CECDE21E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D11E08-9101-5D54-7F0C-EAD2543BB0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场景  </a:t>
            </a:r>
            <a:r>
              <a:rPr lang="zh-CN" altLang="en-US"/>
              <a:t>价值  案例   案例需要什么  情景化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6199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80AEC-5FE0-E972-98AA-0E14B9D1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C7F62F-3273-C581-A96C-401538B28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4052FE-473E-41FF-979F-1259807F6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研究步骤，</a:t>
            </a:r>
            <a:endParaRPr kumimoji="1" lang="en-US" altLang="zh-CN" dirty="0"/>
          </a:p>
          <a:p>
            <a:r>
              <a:rPr kumimoji="1" lang="zh-CN" altLang="en-US" dirty="0"/>
              <a:t>研究头部驱动，研究了</a:t>
            </a:r>
            <a:r>
              <a:rPr kumimoji="1" lang="en-US" altLang="zh-CN" dirty="0"/>
              <a:t>lam</a:t>
            </a:r>
            <a:r>
              <a:rPr kumimoji="1" lang="zh-CN" altLang="en-US" dirty="0"/>
              <a:t>头部和身体的拼接、结论：简单的</a:t>
            </a:r>
            <a:r>
              <a:rPr kumimoji="1" lang="en-US" altLang="zh-CN" dirty="0"/>
              <a:t>lam</a:t>
            </a:r>
            <a:r>
              <a:rPr kumimoji="1" lang="zh-CN" altLang="en-US" dirty="0"/>
              <a:t>拼接不能达到预期，有服色不一致和接缝明显现象</a:t>
            </a:r>
            <a:endParaRPr kumimoji="1" lang="en-US" altLang="zh-CN" dirty="0"/>
          </a:p>
          <a:p>
            <a:r>
              <a:rPr kumimoji="1" lang="zh-CN" altLang="en-US" dirty="0"/>
              <a:t>研究多模态情绪感知调研信息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F3D49C-C37B-77CF-8070-8E5841E37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924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1C6B-3CE5-EEED-5946-3EE564755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BE4A24-AEA6-39C7-B87D-8F315C79F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1F4A8-7DD8-CBB5-4F8C-11AE897CB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575929-762E-CFFB-A2BA-4F7DD57B3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869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64C97-B0B0-BFBF-B722-9AB201C7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5C9954-A46E-1D9D-C2A5-037895BD1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D9D43E-0DE5-166C-35C6-F35F15667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调研到的模型和论文挺多，我主要没有深入研究情绪和多模态，就了解了一下相关模型的应用场景和基本原理方便后续选择和应用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它利用多模态信号来理解用户生成视频的情感，在多模态领域表现突出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Emotion-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模型，该模型通过特定于情绪的编码器无缝集成音频、视觉和文本输入。通过将特征对齐到共享空间，并采用经过指令调整的改进型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Emotion-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显著增强了情绪识别和推理能力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8D2B6A-5B87-D729-03D0-920641776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6055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5F48-286A-5300-DFB6-37879C2A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EDA5F-3494-1F06-DB9F-A0AADC811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30F6D6-6EE0-8B71-2ED4-BBEBB57E9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B09635-4C35-F3C4-1C15-117BDC987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927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D7820-2EAF-06B7-693F-EFB272D5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0EC9E-6512-B507-7E3E-EFD5747C6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F1C3D0-380A-3138-D49E-1395B1D77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FCF6BB-57FA-9966-4262-3A2CA486D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ABC2-6772-4727-AFE1-F6A682502CA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99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6985-70AB-1B1C-68C4-800554C0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9B8013-5800-EEEF-38B0-01F19E690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1DBEF6-5CFB-768D-9A81-09802507B9E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8953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图片占位符 319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0895637" cy="5189229"/>
          </a:xfrm>
          <a:custGeom>
            <a:avLst/>
            <a:gdLst>
              <a:gd name="connsiteX0" fmla="*/ 607241 w 10895637"/>
              <a:gd name="connsiteY0" fmla="*/ 3408786 h 5189229"/>
              <a:gd name="connsiteX1" fmla="*/ 1497462 w 10895637"/>
              <a:gd name="connsiteY1" fmla="*/ 4299007 h 5189229"/>
              <a:gd name="connsiteX2" fmla="*/ 607242 w 10895637"/>
              <a:gd name="connsiteY2" fmla="*/ 5189229 h 5189229"/>
              <a:gd name="connsiteX3" fmla="*/ 0 w 10895637"/>
              <a:gd name="connsiteY3" fmla="*/ 4581987 h 5189229"/>
              <a:gd name="connsiteX4" fmla="*/ 0 w 10895637"/>
              <a:gd name="connsiteY4" fmla="*/ 4016028 h 5189229"/>
              <a:gd name="connsiteX5" fmla="*/ 9065598 w 10895637"/>
              <a:gd name="connsiteY5" fmla="*/ 2490539 h 5189229"/>
              <a:gd name="connsiteX6" fmla="*/ 9955820 w 10895637"/>
              <a:gd name="connsiteY6" fmla="*/ 3380760 h 5189229"/>
              <a:gd name="connsiteX7" fmla="*/ 9065598 w 10895637"/>
              <a:gd name="connsiteY7" fmla="*/ 4270982 h 5189229"/>
              <a:gd name="connsiteX8" fmla="*/ 8175377 w 10895637"/>
              <a:gd name="connsiteY8" fmla="*/ 3380761 h 5189229"/>
              <a:gd name="connsiteX9" fmla="*/ 7185963 w 10895637"/>
              <a:gd name="connsiteY9" fmla="*/ 2490539 h 5189229"/>
              <a:gd name="connsiteX10" fmla="*/ 8076185 w 10895637"/>
              <a:gd name="connsiteY10" fmla="*/ 3380761 h 5189229"/>
              <a:gd name="connsiteX11" fmla="*/ 7185964 w 10895637"/>
              <a:gd name="connsiteY11" fmla="*/ 4270982 h 5189229"/>
              <a:gd name="connsiteX12" fmla="*/ 6295742 w 10895637"/>
              <a:gd name="connsiteY12" fmla="*/ 3380760 h 5189229"/>
              <a:gd name="connsiteX13" fmla="*/ 1547057 w 10895637"/>
              <a:gd name="connsiteY13" fmla="*/ 2467029 h 5189229"/>
              <a:gd name="connsiteX14" fmla="*/ 2437279 w 10895637"/>
              <a:gd name="connsiteY14" fmla="*/ 3357251 h 5189229"/>
              <a:gd name="connsiteX15" fmla="*/ 1547057 w 10895637"/>
              <a:gd name="connsiteY15" fmla="*/ 4247474 h 5189229"/>
              <a:gd name="connsiteX16" fmla="*/ 656836 w 10895637"/>
              <a:gd name="connsiteY16" fmla="*/ 3357251 h 5189229"/>
              <a:gd name="connsiteX17" fmla="*/ 2486877 w 10895637"/>
              <a:gd name="connsiteY17" fmla="*/ 1525276 h 5189229"/>
              <a:gd name="connsiteX18" fmla="*/ 3377098 w 10895637"/>
              <a:gd name="connsiteY18" fmla="*/ 2415495 h 5189229"/>
              <a:gd name="connsiteX19" fmla="*/ 2486877 w 10895637"/>
              <a:gd name="connsiteY19" fmla="*/ 3305717 h 5189229"/>
              <a:gd name="connsiteX20" fmla="*/ 1596655 w 10895637"/>
              <a:gd name="connsiteY20" fmla="*/ 2415495 h 5189229"/>
              <a:gd name="connsiteX21" fmla="*/ 10005415 w 10895637"/>
              <a:gd name="connsiteY21" fmla="*/ 1525276 h 5189229"/>
              <a:gd name="connsiteX22" fmla="*/ 10895637 w 10895637"/>
              <a:gd name="connsiteY22" fmla="*/ 2415495 h 5189229"/>
              <a:gd name="connsiteX23" fmla="*/ 10005415 w 10895637"/>
              <a:gd name="connsiteY23" fmla="*/ 3305717 h 5189229"/>
              <a:gd name="connsiteX24" fmla="*/ 9115194 w 10895637"/>
              <a:gd name="connsiteY24" fmla="*/ 2415495 h 5189229"/>
              <a:gd name="connsiteX25" fmla="*/ 8125779 w 10895637"/>
              <a:gd name="connsiteY25" fmla="*/ 1525276 h 5189229"/>
              <a:gd name="connsiteX26" fmla="*/ 9016000 w 10895637"/>
              <a:gd name="connsiteY26" fmla="*/ 2415495 h 5189229"/>
              <a:gd name="connsiteX27" fmla="*/ 8125779 w 10895637"/>
              <a:gd name="connsiteY27" fmla="*/ 3305717 h 5189229"/>
              <a:gd name="connsiteX28" fmla="*/ 7235557 w 10895637"/>
              <a:gd name="connsiteY28" fmla="*/ 2415495 h 5189229"/>
              <a:gd name="connsiteX29" fmla="*/ 6246143 w 10895637"/>
              <a:gd name="connsiteY29" fmla="*/ 1525276 h 5189229"/>
              <a:gd name="connsiteX30" fmla="*/ 7136365 w 10895637"/>
              <a:gd name="connsiteY30" fmla="*/ 2415495 h 5189229"/>
              <a:gd name="connsiteX31" fmla="*/ 6246143 w 10895637"/>
              <a:gd name="connsiteY31" fmla="*/ 3305717 h 5189229"/>
              <a:gd name="connsiteX32" fmla="*/ 5355923 w 10895637"/>
              <a:gd name="connsiteY32" fmla="*/ 2415495 h 5189229"/>
              <a:gd name="connsiteX33" fmla="*/ 4366509 w 10895637"/>
              <a:gd name="connsiteY33" fmla="*/ 1525276 h 5189229"/>
              <a:gd name="connsiteX34" fmla="*/ 5256730 w 10895637"/>
              <a:gd name="connsiteY34" fmla="*/ 2415495 h 5189229"/>
              <a:gd name="connsiteX35" fmla="*/ 4366509 w 10895637"/>
              <a:gd name="connsiteY35" fmla="*/ 3305717 h 5189229"/>
              <a:gd name="connsiteX36" fmla="*/ 3476291 w 10895637"/>
              <a:gd name="connsiteY36" fmla="*/ 2415495 h 5189229"/>
              <a:gd name="connsiteX37" fmla="*/ 607238 w 10895637"/>
              <a:gd name="connsiteY37" fmla="*/ 1525274 h 5189229"/>
              <a:gd name="connsiteX38" fmla="*/ 1497459 w 10895637"/>
              <a:gd name="connsiteY38" fmla="*/ 2415495 h 5189229"/>
              <a:gd name="connsiteX39" fmla="*/ 607238 w 10895637"/>
              <a:gd name="connsiteY39" fmla="*/ 3305716 h 5189229"/>
              <a:gd name="connsiteX40" fmla="*/ 0 w 10895637"/>
              <a:gd name="connsiteY40" fmla="*/ 2698479 h 5189229"/>
              <a:gd name="connsiteX41" fmla="*/ 0 w 10895637"/>
              <a:gd name="connsiteY41" fmla="*/ 2132511 h 5189229"/>
              <a:gd name="connsiteX42" fmla="*/ 9065598 w 10895637"/>
              <a:gd name="connsiteY42" fmla="*/ 585458 h 5189229"/>
              <a:gd name="connsiteX43" fmla="*/ 9955819 w 10895637"/>
              <a:gd name="connsiteY43" fmla="*/ 1475679 h 5189229"/>
              <a:gd name="connsiteX44" fmla="*/ 9065598 w 10895637"/>
              <a:gd name="connsiteY44" fmla="*/ 2365899 h 5189229"/>
              <a:gd name="connsiteX45" fmla="*/ 8175377 w 10895637"/>
              <a:gd name="connsiteY45" fmla="*/ 1475679 h 5189229"/>
              <a:gd name="connsiteX46" fmla="*/ 7185964 w 10895637"/>
              <a:gd name="connsiteY46" fmla="*/ 585458 h 5189229"/>
              <a:gd name="connsiteX47" fmla="*/ 8076185 w 10895637"/>
              <a:gd name="connsiteY47" fmla="*/ 1475679 h 5189229"/>
              <a:gd name="connsiteX48" fmla="*/ 7185963 w 10895637"/>
              <a:gd name="connsiteY48" fmla="*/ 2365898 h 5189229"/>
              <a:gd name="connsiteX49" fmla="*/ 6295742 w 10895637"/>
              <a:gd name="connsiteY49" fmla="*/ 1475680 h 5189229"/>
              <a:gd name="connsiteX50" fmla="*/ 5306327 w 10895637"/>
              <a:gd name="connsiteY50" fmla="*/ 585458 h 5189229"/>
              <a:gd name="connsiteX51" fmla="*/ 6196548 w 10895637"/>
              <a:gd name="connsiteY51" fmla="*/ 1475679 h 5189229"/>
              <a:gd name="connsiteX52" fmla="*/ 5306328 w 10895637"/>
              <a:gd name="connsiteY52" fmla="*/ 2365898 h 5189229"/>
              <a:gd name="connsiteX53" fmla="*/ 4416106 w 10895637"/>
              <a:gd name="connsiteY53" fmla="*/ 1475679 h 5189229"/>
              <a:gd name="connsiteX54" fmla="*/ 3426696 w 10895637"/>
              <a:gd name="connsiteY54" fmla="*/ 585458 h 5189229"/>
              <a:gd name="connsiteX55" fmla="*/ 4316913 w 10895637"/>
              <a:gd name="connsiteY55" fmla="*/ 1475679 h 5189229"/>
              <a:gd name="connsiteX56" fmla="*/ 3426695 w 10895637"/>
              <a:gd name="connsiteY56" fmla="*/ 2365898 h 5189229"/>
              <a:gd name="connsiteX57" fmla="*/ 2536473 w 10895637"/>
              <a:gd name="connsiteY57" fmla="*/ 1475679 h 5189229"/>
              <a:gd name="connsiteX58" fmla="*/ 1547057 w 10895637"/>
              <a:gd name="connsiteY58" fmla="*/ 585456 h 5189229"/>
              <a:gd name="connsiteX59" fmla="*/ 2437279 w 10895637"/>
              <a:gd name="connsiteY59" fmla="*/ 1475679 h 5189229"/>
              <a:gd name="connsiteX60" fmla="*/ 1547057 w 10895637"/>
              <a:gd name="connsiteY60" fmla="*/ 2365899 h 5189229"/>
              <a:gd name="connsiteX61" fmla="*/ 656837 w 10895637"/>
              <a:gd name="connsiteY61" fmla="*/ 1475679 h 5189229"/>
              <a:gd name="connsiteX62" fmla="*/ 9022147 w 10895637"/>
              <a:gd name="connsiteY62" fmla="*/ 0 h 5189229"/>
              <a:gd name="connsiteX63" fmla="*/ 9543551 w 10895637"/>
              <a:gd name="connsiteY63" fmla="*/ 0 h 5189229"/>
              <a:gd name="connsiteX64" fmla="*/ 9065598 w 10895637"/>
              <a:gd name="connsiteY64" fmla="*/ 477954 h 5189229"/>
              <a:gd name="connsiteX65" fmla="*/ 8587642 w 10895637"/>
              <a:gd name="connsiteY65" fmla="*/ 1 h 5189229"/>
              <a:gd name="connsiteX66" fmla="*/ 8485680 w 10895637"/>
              <a:gd name="connsiteY66" fmla="*/ 0 h 5189229"/>
              <a:gd name="connsiteX67" fmla="*/ 9016000 w 10895637"/>
              <a:gd name="connsiteY67" fmla="*/ 530321 h 5189229"/>
              <a:gd name="connsiteX68" fmla="*/ 8125779 w 10895637"/>
              <a:gd name="connsiteY68" fmla="*/ 1420543 h 5189229"/>
              <a:gd name="connsiteX69" fmla="*/ 7235558 w 10895637"/>
              <a:gd name="connsiteY69" fmla="*/ 530321 h 5189229"/>
              <a:gd name="connsiteX70" fmla="*/ 7765878 w 10895637"/>
              <a:gd name="connsiteY70" fmla="*/ 1 h 5189229"/>
              <a:gd name="connsiteX71" fmla="*/ 6708009 w 10895637"/>
              <a:gd name="connsiteY71" fmla="*/ 0 h 5189229"/>
              <a:gd name="connsiteX72" fmla="*/ 7663917 w 10895637"/>
              <a:gd name="connsiteY72" fmla="*/ 0 h 5189229"/>
              <a:gd name="connsiteX73" fmla="*/ 7185963 w 10895637"/>
              <a:gd name="connsiteY73" fmla="*/ 477954 h 5189229"/>
              <a:gd name="connsiteX74" fmla="*/ 5886244 w 10895637"/>
              <a:gd name="connsiteY74" fmla="*/ 0 h 5189229"/>
              <a:gd name="connsiteX75" fmla="*/ 6606043 w 10895637"/>
              <a:gd name="connsiteY75" fmla="*/ 0 h 5189229"/>
              <a:gd name="connsiteX76" fmla="*/ 7136365 w 10895637"/>
              <a:gd name="connsiteY76" fmla="*/ 530322 h 5189229"/>
              <a:gd name="connsiteX77" fmla="*/ 6246143 w 10895637"/>
              <a:gd name="connsiteY77" fmla="*/ 1420543 h 5189229"/>
              <a:gd name="connsiteX78" fmla="*/ 5355921 w 10895637"/>
              <a:gd name="connsiteY78" fmla="*/ 530321 h 5189229"/>
              <a:gd name="connsiteX79" fmla="*/ 4828374 w 10895637"/>
              <a:gd name="connsiteY79" fmla="*/ 0 h 5189229"/>
              <a:gd name="connsiteX80" fmla="*/ 5784282 w 10895637"/>
              <a:gd name="connsiteY80" fmla="*/ 0 h 5189229"/>
              <a:gd name="connsiteX81" fmla="*/ 5306328 w 10895637"/>
              <a:gd name="connsiteY81" fmla="*/ 477954 h 5189229"/>
              <a:gd name="connsiteX82" fmla="*/ 4006611 w 10895637"/>
              <a:gd name="connsiteY82" fmla="*/ 0 h 5189229"/>
              <a:gd name="connsiteX83" fmla="*/ 4726410 w 10895637"/>
              <a:gd name="connsiteY83" fmla="*/ 1 h 5189229"/>
              <a:gd name="connsiteX84" fmla="*/ 5256731 w 10895637"/>
              <a:gd name="connsiteY84" fmla="*/ 530321 h 5189229"/>
              <a:gd name="connsiteX85" fmla="*/ 4366509 w 10895637"/>
              <a:gd name="connsiteY85" fmla="*/ 1420543 h 5189229"/>
              <a:gd name="connsiteX86" fmla="*/ 3476290 w 10895637"/>
              <a:gd name="connsiteY86" fmla="*/ 530321 h 5189229"/>
              <a:gd name="connsiteX87" fmla="*/ 2948738 w 10895637"/>
              <a:gd name="connsiteY87" fmla="*/ 0 h 5189229"/>
              <a:gd name="connsiteX88" fmla="*/ 3904646 w 10895637"/>
              <a:gd name="connsiteY88" fmla="*/ 0 h 5189229"/>
              <a:gd name="connsiteX89" fmla="*/ 3426692 w 10895637"/>
              <a:gd name="connsiteY89" fmla="*/ 477954 h 5189229"/>
              <a:gd name="connsiteX90" fmla="*/ 2126976 w 10895637"/>
              <a:gd name="connsiteY90" fmla="*/ 0 h 5189229"/>
              <a:gd name="connsiteX91" fmla="*/ 2846776 w 10895637"/>
              <a:gd name="connsiteY91" fmla="*/ 0 h 5189229"/>
              <a:gd name="connsiteX92" fmla="*/ 3377096 w 10895637"/>
              <a:gd name="connsiteY92" fmla="*/ 530322 h 5189229"/>
              <a:gd name="connsiteX93" fmla="*/ 2486877 w 10895637"/>
              <a:gd name="connsiteY93" fmla="*/ 1420543 h 5189229"/>
              <a:gd name="connsiteX94" fmla="*/ 1596654 w 10895637"/>
              <a:gd name="connsiteY94" fmla="*/ 530321 h 5189229"/>
              <a:gd name="connsiteX95" fmla="*/ 1069103 w 10895637"/>
              <a:gd name="connsiteY95" fmla="*/ 0 h 5189229"/>
              <a:gd name="connsiteX96" fmla="*/ 2025011 w 10895637"/>
              <a:gd name="connsiteY96" fmla="*/ 0 h 5189229"/>
              <a:gd name="connsiteX97" fmla="*/ 1547057 w 10895637"/>
              <a:gd name="connsiteY97" fmla="*/ 477954 h 5189229"/>
              <a:gd name="connsiteX98" fmla="*/ 247336 w 10895637"/>
              <a:gd name="connsiteY98" fmla="*/ 0 h 5189229"/>
              <a:gd name="connsiteX99" fmla="*/ 967138 w 10895637"/>
              <a:gd name="connsiteY99" fmla="*/ 0 h 5189229"/>
              <a:gd name="connsiteX100" fmla="*/ 1497458 w 10895637"/>
              <a:gd name="connsiteY100" fmla="*/ 530320 h 5189229"/>
              <a:gd name="connsiteX101" fmla="*/ 607237 w 10895637"/>
              <a:gd name="connsiteY101" fmla="*/ 1420542 h 5189229"/>
              <a:gd name="connsiteX102" fmla="*/ 0 w 10895637"/>
              <a:gd name="connsiteY102" fmla="*/ 813305 h 5189229"/>
              <a:gd name="connsiteX103" fmla="*/ 0 w 10895637"/>
              <a:gd name="connsiteY103" fmla="*/ 247336 h 518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10895637" h="5189229">
                <a:moveTo>
                  <a:pt x="607241" y="3408786"/>
                </a:moveTo>
                <a:lnTo>
                  <a:pt x="1497462" y="4299007"/>
                </a:lnTo>
                <a:lnTo>
                  <a:pt x="607242" y="5189229"/>
                </a:lnTo>
                <a:lnTo>
                  <a:pt x="0" y="4581987"/>
                </a:lnTo>
                <a:lnTo>
                  <a:pt x="0" y="4016028"/>
                </a:lnTo>
                <a:close/>
                <a:moveTo>
                  <a:pt x="9065598" y="2490539"/>
                </a:moveTo>
                <a:lnTo>
                  <a:pt x="9955820" y="3380760"/>
                </a:lnTo>
                <a:lnTo>
                  <a:pt x="9065598" y="4270982"/>
                </a:lnTo>
                <a:lnTo>
                  <a:pt x="8175377" y="3380761"/>
                </a:lnTo>
                <a:close/>
                <a:moveTo>
                  <a:pt x="7185963" y="2490539"/>
                </a:moveTo>
                <a:lnTo>
                  <a:pt x="8076185" y="3380761"/>
                </a:lnTo>
                <a:lnTo>
                  <a:pt x="7185964" y="4270982"/>
                </a:lnTo>
                <a:lnTo>
                  <a:pt x="6295742" y="3380760"/>
                </a:lnTo>
                <a:close/>
                <a:moveTo>
                  <a:pt x="1547057" y="2467029"/>
                </a:moveTo>
                <a:lnTo>
                  <a:pt x="2437279" y="3357251"/>
                </a:lnTo>
                <a:lnTo>
                  <a:pt x="1547057" y="4247474"/>
                </a:lnTo>
                <a:lnTo>
                  <a:pt x="656836" y="3357251"/>
                </a:lnTo>
                <a:close/>
                <a:moveTo>
                  <a:pt x="2486877" y="1525276"/>
                </a:moveTo>
                <a:lnTo>
                  <a:pt x="3377098" y="2415495"/>
                </a:lnTo>
                <a:lnTo>
                  <a:pt x="2486877" y="3305717"/>
                </a:lnTo>
                <a:lnTo>
                  <a:pt x="1596655" y="2415495"/>
                </a:lnTo>
                <a:close/>
                <a:moveTo>
                  <a:pt x="10005415" y="1525276"/>
                </a:moveTo>
                <a:lnTo>
                  <a:pt x="10895637" y="2415495"/>
                </a:lnTo>
                <a:lnTo>
                  <a:pt x="10005415" y="3305717"/>
                </a:lnTo>
                <a:lnTo>
                  <a:pt x="9115194" y="2415495"/>
                </a:lnTo>
                <a:close/>
                <a:moveTo>
                  <a:pt x="8125779" y="1525276"/>
                </a:moveTo>
                <a:lnTo>
                  <a:pt x="9016000" y="2415495"/>
                </a:lnTo>
                <a:lnTo>
                  <a:pt x="8125779" y="3305717"/>
                </a:lnTo>
                <a:lnTo>
                  <a:pt x="7235557" y="2415495"/>
                </a:lnTo>
                <a:close/>
                <a:moveTo>
                  <a:pt x="6246143" y="1525276"/>
                </a:moveTo>
                <a:lnTo>
                  <a:pt x="7136365" y="2415495"/>
                </a:lnTo>
                <a:lnTo>
                  <a:pt x="6246143" y="3305717"/>
                </a:lnTo>
                <a:lnTo>
                  <a:pt x="5355923" y="2415495"/>
                </a:lnTo>
                <a:close/>
                <a:moveTo>
                  <a:pt x="4366509" y="1525276"/>
                </a:moveTo>
                <a:lnTo>
                  <a:pt x="5256730" y="2415495"/>
                </a:lnTo>
                <a:lnTo>
                  <a:pt x="4366509" y="3305717"/>
                </a:lnTo>
                <a:lnTo>
                  <a:pt x="3476291" y="2415495"/>
                </a:lnTo>
                <a:close/>
                <a:moveTo>
                  <a:pt x="607238" y="1525274"/>
                </a:moveTo>
                <a:lnTo>
                  <a:pt x="1497459" y="2415495"/>
                </a:lnTo>
                <a:lnTo>
                  <a:pt x="607238" y="3305716"/>
                </a:lnTo>
                <a:lnTo>
                  <a:pt x="0" y="2698479"/>
                </a:lnTo>
                <a:lnTo>
                  <a:pt x="0" y="2132511"/>
                </a:lnTo>
                <a:close/>
                <a:moveTo>
                  <a:pt x="9065598" y="585458"/>
                </a:moveTo>
                <a:lnTo>
                  <a:pt x="9955819" y="1475679"/>
                </a:lnTo>
                <a:lnTo>
                  <a:pt x="9065598" y="2365899"/>
                </a:lnTo>
                <a:lnTo>
                  <a:pt x="8175377" y="1475679"/>
                </a:lnTo>
                <a:close/>
                <a:moveTo>
                  <a:pt x="7185964" y="585458"/>
                </a:moveTo>
                <a:lnTo>
                  <a:pt x="8076185" y="1475679"/>
                </a:lnTo>
                <a:lnTo>
                  <a:pt x="7185963" y="2365898"/>
                </a:lnTo>
                <a:lnTo>
                  <a:pt x="6295742" y="1475680"/>
                </a:lnTo>
                <a:close/>
                <a:moveTo>
                  <a:pt x="5306327" y="585458"/>
                </a:moveTo>
                <a:lnTo>
                  <a:pt x="6196548" y="1475679"/>
                </a:lnTo>
                <a:lnTo>
                  <a:pt x="5306328" y="2365898"/>
                </a:lnTo>
                <a:lnTo>
                  <a:pt x="4416106" y="1475679"/>
                </a:lnTo>
                <a:close/>
                <a:moveTo>
                  <a:pt x="3426696" y="585458"/>
                </a:moveTo>
                <a:lnTo>
                  <a:pt x="4316913" y="1475679"/>
                </a:lnTo>
                <a:lnTo>
                  <a:pt x="3426695" y="2365898"/>
                </a:lnTo>
                <a:lnTo>
                  <a:pt x="2536473" y="1475679"/>
                </a:lnTo>
                <a:close/>
                <a:moveTo>
                  <a:pt x="1547057" y="585456"/>
                </a:moveTo>
                <a:lnTo>
                  <a:pt x="2437279" y="1475679"/>
                </a:lnTo>
                <a:lnTo>
                  <a:pt x="1547057" y="2365899"/>
                </a:lnTo>
                <a:lnTo>
                  <a:pt x="656837" y="1475679"/>
                </a:lnTo>
                <a:close/>
                <a:moveTo>
                  <a:pt x="9022147" y="0"/>
                </a:moveTo>
                <a:lnTo>
                  <a:pt x="9543551" y="0"/>
                </a:lnTo>
                <a:lnTo>
                  <a:pt x="9065598" y="477954"/>
                </a:lnTo>
                <a:lnTo>
                  <a:pt x="8587642" y="1"/>
                </a:lnTo>
                <a:close/>
                <a:moveTo>
                  <a:pt x="8485680" y="0"/>
                </a:moveTo>
                <a:lnTo>
                  <a:pt x="9016000" y="530321"/>
                </a:lnTo>
                <a:lnTo>
                  <a:pt x="8125779" y="1420543"/>
                </a:lnTo>
                <a:lnTo>
                  <a:pt x="7235558" y="530321"/>
                </a:lnTo>
                <a:lnTo>
                  <a:pt x="7765878" y="1"/>
                </a:lnTo>
                <a:close/>
                <a:moveTo>
                  <a:pt x="6708009" y="0"/>
                </a:moveTo>
                <a:lnTo>
                  <a:pt x="7663917" y="0"/>
                </a:lnTo>
                <a:lnTo>
                  <a:pt x="7185963" y="477954"/>
                </a:lnTo>
                <a:close/>
                <a:moveTo>
                  <a:pt x="5886244" y="0"/>
                </a:moveTo>
                <a:lnTo>
                  <a:pt x="6606043" y="0"/>
                </a:lnTo>
                <a:lnTo>
                  <a:pt x="7136365" y="530322"/>
                </a:lnTo>
                <a:lnTo>
                  <a:pt x="6246143" y="1420543"/>
                </a:lnTo>
                <a:lnTo>
                  <a:pt x="5355921" y="530321"/>
                </a:lnTo>
                <a:close/>
                <a:moveTo>
                  <a:pt x="4828374" y="0"/>
                </a:moveTo>
                <a:lnTo>
                  <a:pt x="5784282" y="0"/>
                </a:lnTo>
                <a:lnTo>
                  <a:pt x="5306328" y="477954"/>
                </a:lnTo>
                <a:close/>
                <a:moveTo>
                  <a:pt x="4006611" y="0"/>
                </a:moveTo>
                <a:lnTo>
                  <a:pt x="4726410" y="1"/>
                </a:lnTo>
                <a:lnTo>
                  <a:pt x="5256731" y="530321"/>
                </a:lnTo>
                <a:lnTo>
                  <a:pt x="4366509" y="1420543"/>
                </a:lnTo>
                <a:lnTo>
                  <a:pt x="3476290" y="530321"/>
                </a:lnTo>
                <a:close/>
                <a:moveTo>
                  <a:pt x="2948738" y="0"/>
                </a:moveTo>
                <a:lnTo>
                  <a:pt x="3904646" y="0"/>
                </a:lnTo>
                <a:lnTo>
                  <a:pt x="3426692" y="477954"/>
                </a:lnTo>
                <a:close/>
                <a:moveTo>
                  <a:pt x="2126976" y="0"/>
                </a:moveTo>
                <a:lnTo>
                  <a:pt x="2846776" y="0"/>
                </a:lnTo>
                <a:lnTo>
                  <a:pt x="3377096" y="530322"/>
                </a:lnTo>
                <a:lnTo>
                  <a:pt x="2486877" y="1420543"/>
                </a:lnTo>
                <a:lnTo>
                  <a:pt x="1596654" y="530321"/>
                </a:lnTo>
                <a:close/>
                <a:moveTo>
                  <a:pt x="1069103" y="0"/>
                </a:moveTo>
                <a:lnTo>
                  <a:pt x="2025011" y="0"/>
                </a:lnTo>
                <a:lnTo>
                  <a:pt x="1547057" y="477954"/>
                </a:lnTo>
                <a:close/>
                <a:moveTo>
                  <a:pt x="247336" y="0"/>
                </a:moveTo>
                <a:lnTo>
                  <a:pt x="967138" y="0"/>
                </a:lnTo>
                <a:lnTo>
                  <a:pt x="1497458" y="530320"/>
                </a:lnTo>
                <a:lnTo>
                  <a:pt x="607237" y="1420542"/>
                </a:lnTo>
                <a:lnTo>
                  <a:pt x="0" y="813305"/>
                </a:lnTo>
                <a:lnTo>
                  <a:pt x="0" y="2473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2381250" y="5411074"/>
            <a:ext cx="9139238" cy="558799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2381250" y="4314548"/>
            <a:ext cx="9139238" cy="1096527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22" name="任意多边形: 形状 321"/>
          <p:cNvSpPr/>
          <p:nvPr userDrawn="1"/>
        </p:nvSpPr>
        <p:spPr>
          <a:xfrm rot="2700000">
            <a:off x="8938663" y="-367058"/>
            <a:ext cx="4163901" cy="3883643"/>
          </a:xfrm>
          <a:custGeom>
            <a:avLst/>
            <a:gdLst>
              <a:gd name="connsiteX0" fmla="*/ 1 w 4163901"/>
              <a:gd name="connsiteY0" fmla="*/ 1796719 h 3883643"/>
              <a:gd name="connsiteX1" fmla="*/ 1796720 w 4163901"/>
              <a:gd name="connsiteY1" fmla="*/ 0 h 3883643"/>
              <a:gd name="connsiteX2" fmla="*/ 4163901 w 4163901"/>
              <a:gd name="connsiteY2" fmla="*/ 2367181 h 3883643"/>
              <a:gd name="connsiteX3" fmla="*/ 4163901 w 4163901"/>
              <a:gd name="connsiteY3" fmla="*/ 3883643 h 3883643"/>
              <a:gd name="connsiteX4" fmla="*/ 0 w 4163901"/>
              <a:gd name="connsiteY4" fmla="*/ 3883643 h 3883643"/>
              <a:gd name="connsiteX5" fmla="*/ 0 w 4163901"/>
              <a:gd name="connsiteY5" fmla="*/ 3879725 h 3883643"/>
              <a:gd name="connsiteX6" fmla="*/ 2679672 w 4163901"/>
              <a:gd name="connsiteY6" fmla="*/ 3879726 h 3883643"/>
              <a:gd name="connsiteX7" fmla="*/ 2679672 w 4163901"/>
              <a:gd name="connsiteY7" fmla="*/ 2536975 h 3883643"/>
              <a:gd name="connsiteX8" fmla="*/ 0 w 4163901"/>
              <a:gd name="connsiteY8" fmla="*/ 2536975 h 388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3901" h="3883643">
                <a:moveTo>
                  <a:pt x="1" y="1796719"/>
                </a:moveTo>
                <a:lnTo>
                  <a:pt x="1796720" y="0"/>
                </a:lnTo>
                <a:lnTo>
                  <a:pt x="4163901" y="2367181"/>
                </a:lnTo>
                <a:lnTo>
                  <a:pt x="4163901" y="3883643"/>
                </a:lnTo>
                <a:lnTo>
                  <a:pt x="0" y="3883643"/>
                </a:lnTo>
                <a:lnTo>
                  <a:pt x="0" y="3879725"/>
                </a:lnTo>
                <a:lnTo>
                  <a:pt x="2679672" y="3879726"/>
                </a:lnTo>
                <a:lnTo>
                  <a:pt x="2679672" y="2536975"/>
                </a:lnTo>
                <a:lnTo>
                  <a:pt x="0" y="25369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7" name="任意多边形: 形状 316"/>
          <p:cNvSpPr/>
          <p:nvPr userDrawn="1"/>
        </p:nvSpPr>
        <p:spPr>
          <a:xfrm rot="2700000">
            <a:off x="-1059549" y="1356915"/>
            <a:ext cx="2119098" cy="2119098"/>
          </a:xfrm>
          <a:custGeom>
            <a:avLst/>
            <a:gdLst>
              <a:gd name="connsiteX0" fmla="*/ 1330475 w 2119098"/>
              <a:gd name="connsiteY0" fmla="*/ 1330475 h 2119098"/>
              <a:gd name="connsiteX1" fmla="*/ 2119098 w 2119098"/>
              <a:gd name="connsiteY1" fmla="*/ 1330475 h 2119098"/>
              <a:gd name="connsiteX2" fmla="*/ 2119098 w 2119098"/>
              <a:gd name="connsiteY2" fmla="*/ 2119098 h 2119098"/>
              <a:gd name="connsiteX3" fmla="*/ 0 w 2119098"/>
              <a:gd name="connsiteY3" fmla="*/ 0 h 2119098"/>
              <a:gd name="connsiteX4" fmla="*/ 788624 w 2119098"/>
              <a:gd name="connsiteY4" fmla="*/ 0 h 2119098"/>
              <a:gd name="connsiteX5" fmla="*/ 788624 w 2119098"/>
              <a:gd name="connsiteY5" fmla="*/ 788624 h 2119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9098" h="2119098">
                <a:moveTo>
                  <a:pt x="1330475" y="1330475"/>
                </a:moveTo>
                <a:lnTo>
                  <a:pt x="2119098" y="1330475"/>
                </a:lnTo>
                <a:lnTo>
                  <a:pt x="2119098" y="2119098"/>
                </a:lnTo>
                <a:close/>
                <a:moveTo>
                  <a:pt x="0" y="0"/>
                </a:moveTo>
                <a:lnTo>
                  <a:pt x="788624" y="0"/>
                </a:lnTo>
                <a:lnTo>
                  <a:pt x="788624" y="7886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图片占位符 61"/>
          <p:cNvSpPr>
            <a:spLocks noGrp="1"/>
          </p:cNvSpPr>
          <p:nvPr>
            <p:ph type="pic" sz="quarter" idx="17"/>
          </p:nvPr>
        </p:nvSpPr>
        <p:spPr>
          <a:xfrm>
            <a:off x="185318" y="0"/>
            <a:ext cx="4777207" cy="3148659"/>
          </a:xfrm>
          <a:custGeom>
            <a:avLst/>
            <a:gdLst>
              <a:gd name="connsiteX0" fmla="*/ 4797271 w 5564108"/>
              <a:gd name="connsiteY0" fmla="*/ 2135449 h 3667306"/>
              <a:gd name="connsiteX1" fmla="*/ 5564108 w 5564108"/>
              <a:gd name="connsiteY1" fmla="*/ 2900469 h 3667306"/>
              <a:gd name="connsiteX2" fmla="*/ 4799086 w 5564108"/>
              <a:gd name="connsiteY2" fmla="*/ 3667306 h 3667306"/>
              <a:gd name="connsiteX3" fmla="*/ 4032250 w 5564108"/>
              <a:gd name="connsiteY3" fmla="*/ 2902285 h 3667306"/>
              <a:gd name="connsiteX4" fmla="*/ 1571472 w 5564108"/>
              <a:gd name="connsiteY4" fmla="*/ 2135449 h 3667306"/>
              <a:gd name="connsiteX5" fmla="*/ 2338307 w 5564108"/>
              <a:gd name="connsiteY5" fmla="*/ 2900470 h 3667306"/>
              <a:gd name="connsiteX6" fmla="*/ 1573287 w 5564108"/>
              <a:gd name="connsiteY6" fmla="*/ 3667305 h 3667306"/>
              <a:gd name="connsiteX7" fmla="*/ 806451 w 5564108"/>
              <a:gd name="connsiteY7" fmla="*/ 2902284 h 3667306"/>
              <a:gd name="connsiteX8" fmla="*/ 3184371 w 5564108"/>
              <a:gd name="connsiteY8" fmla="*/ 2135448 h 3667306"/>
              <a:gd name="connsiteX9" fmla="*/ 3951207 w 5564108"/>
              <a:gd name="connsiteY9" fmla="*/ 2900469 h 3667306"/>
              <a:gd name="connsiteX10" fmla="*/ 3186186 w 5564108"/>
              <a:gd name="connsiteY10" fmla="*/ 3667305 h 3667306"/>
              <a:gd name="connsiteX11" fmla="*/ 2419350 w 5564108"/>
              <a:gd name="connsiteY11" fmla="*/ 2902284 h 3667306"/>
              <a:gd name="connsiteX12" fmla="*/ 2377921 w 5564108"/>
              <a:gd name="connsiteY12" fmla="*/ 1343278 h 3667306"/>
              <a:gd name="connsiteX13" fmla="*/ 3144757 w 5564108"/>
              <a:gd name="connsiteY13" fmla="*/ 2108299 h 3667306"/>
              <a:gd name="connsiteX14" fmla="*/ 2379736 w 5564108"/>
              <a:gd name="connsiteY14" fmla="*/ 2875134 h 3667306"/>
              <a:gd name="connsiteX15" fmla="*/ 1612901 w 5564108"/>
              <a:gd name="connsiteY15" fmla="*/ 2110113 h 3667306"/>
              <a:gd name="connsiteX16" fmla="*/ 765021 w 5564108"/>
              <a:gd name="connsiteY16" fmla="*/ 1343277 h 3667306"/>
              <a:gd name="connsiteX17" fmla="*/ 1531858 w 5564108"/>
              <a:gd name="connsiteY17" fmla="*/ 2108298 h 3667306"/>
              <a:gd name="connsiteX18" fmla="*/ 766836 w 5564108"/>
              <a:gd name="connsiteY18" fmla="*/ 2875134 h 3667306"/>
              <a:gd name="connsiteX19" fmla="*/ 0 w 5564108"/>
              <a:gd name="connsiteY19" fmla="*/ 2110113 h 3667306"/>
              <a:gd name="connsiteX20" fmla="*/ 3993242 w 5564108"/>
              <a:gd name="connsiteY20" fmla="*/ 1339579 h 3667306"/>
              <a:gd name="connsiteX21" fmla="*/ 4760078 w 5564108"/>
              <a:gd name="connsiteY21" fmla="*/ 2104600 h 3667306"/>
              <a:gd name="connsiteX22" fmla="*/ 3995057 w 5564108"/>
              <a:gd name="connsiteY22" fmla="*/ 2871436 h 3667306"/>
              <a:gd name="connsiteX23" fmla="*/ 3228222 w 5564108"/>
              <a:gd name="connsiteY23" fmla="*/ 2106415 h 3667306"/>
              <a:gd name="connsiteX24" fmla="*/ 1571472 w 5564108"/>
              <a:gd name="connsiteY24" fmla="*/ 536985 h 3667306"/>
              <a:gd name="connsiteX25" fmla="*/ 2338306 w 5564108"/>
              <a:gd name="connsiteY25" fmla="*/ 1302004 h 3667306"/>
              <a:gd name="connsiteX26" fmla="*/ 1573287 w 5564108"/>
              <a:gd name="connsiteY26" fmla="*/ 2068840 h 3667306"/>
              <a:gd name="connsiteX27" fmla="*/ 806451 w 5564108"/>
              <a:gd name="connsiteY27" fmla="*/ 1303819 h 3667306"/>
              <a:gd name="connsiteX28" fmla="*/ 3184371 w 5564108"/>
              <a:gd name="connsiteY28" fmla="*/ 536984 h 3667306"/>
              <a:gd name="connsiteX29" fmla="*/ 3951207 w 5564108"/>
              <a:gd name="connsiteY29" fmla="*/ 1302004 h 3667306"/>
              <a:gd name="connsiteX30" fmla="*/ 3186186 w 5564108"/>
              <a:gd name="connsiteY30" fmla="*/ 2068840 h 3667306"/>
              <a:gd name="connsiteX31" fmla="*/ 2419350 w 5564108"/>
              <a:gd name="connsiteY31" fmla="*/ 1303819 h 3667306"/>
              <a:gd name="connsiteX32" fmla="*/ 4797271 w 5564108"/>
              <a:gd name="connsiteY32" fmla="*/ 526123 h 3667306"/>
              <a:gd name="connsiteX33" fmla="*/ 5564107 w 5564108"/>
              <a:gd name="connsiteY33" fmla="*/ 1291144 h 3667306"/>
              <a:gd name="connsiteX34" fmla="*/ 4799086 w 5564108"/>
              <a:gd name="connsiteY34" fmla="*/ 2057979 h 3667306"/>
              <a:gd name="connsiteX35" fmla="*/ 4032250 w 5564108"/>
              <a:gd name="connsiteY35" fmla="*/ 1292958 h 3667306"/>
              <a:gd name="connsiteX36" fmla="*/ 4341202 w 5564108"/>
              <a:gd name="connsiteY36" fmla="*/ 1 h 3667306"/>
              <a:gd name="connsiteX37" fmla="*/ 5254803 w 5564108"/>
              <a:gd name="connsiteY37" fmla="*/ 1 h 3667306"/>
              <a:gd name="connsiteX38" fmla="*/ 4799085 w 5564108"/>
              <a:gd name="connsiteY38" fmla="*/ 456799 h 3667306"/>
              <a:gd name="connsiteX39" fmla="*/ 3655447 w 5564108"/>
              <a:gd name="connsiteY39" fmla="*/ 1 h 3667306"/>
              <a:gd name="connsiteX40" fmla="*/ 3186186 w 5564108"/>
              <a:gd name="connsiteY40" fmla="*/ 470376 h 3667306"/>
              <a:gd name="connsiteX41" fmla="*/ 2714695 w 5564108"/>
              <a:gd name="connsiteY41" fmla="*/ 1 h 3667306"/>
              <a:gd name="connsiteX42" fmla="*/ 2633714 w 5564108"/>
              <a:gd name="connsiteY42" fmla="*/ 1 h 3667306"/>
              <a:gd name="connsiteX43" fmla="*/ 3144757 w 5564108"/>
              <a:gd name="connsiteY43" fmla="*/ 509834 h 3667306"/>
              <a:gd name="connsiteX44" fmla="*/ 2379736 w 5564108"/>
              <a:gd name="connsiteY44" fmla="*/ 1276669 h 3667306"/>
              <a:gd name="connsiteX45" fmla="*/ 1612901 w 5564108"/>
              <a:gd name="connsiteY45" fmla="*/ 511649 h 3667306"/>
              <a:gd name="connsiteX46" fmla="*/ 2123338 w 5564108"/>
              <a:gd name="connsiteY46" fmla="*/ 1 h 3667306"/>
              <a:gd name="connsiteX47" fmla="*/ 3734969 w 5564108"/>
              <a:gd name="connsiteY47" fmla="*/ 0 h 3667306"/>
              <a:gd name="connsiteX48" fmla="*/ 4252742 w 5564108"/>
              <a:gd name="connsiteY48" fmla="*/ 1 h 3667306"/>
              <a:gd name="connsiteX49" fmla="*/ 4760078 w 5564108"/>
              <a:gd name="connsiteY49" fmla="*/ 506136 h 3667306"/>
              <a:gd name="connsiteX50" fmla="*/ 3995058 w 5564108"/>
              <a:gd name="connsiteY50" fmla="*/ 1272971 h 3667306"/>
              <a:gd name="connsiteX51" fmla="*/ 3228221 w 5564108"/>
              <a:gd name="connsiteY51" fmla="*/ 507951 h 3667306"/>
              <a:gd name="connsiteX52" fmla="*/ 2042548 w 5564108"/>
              <a:gd name="connsiteY52" fmla="*/ 0 h 3667306"/>
              <a:gd name="connsiteX53" fmla="*/ 1573287 w 5564108"/>
              <a:gd name="connsiteY53" fmla="*/ 470376 h 3667306"/>
              <a:gd name="connsiteX54" fmla="*/ 1101795 w 5564108"/>
              <a:gd name="connsiteY54" fmla="*/ 0 h 366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564108" h="3667306">
                <a:moveTo>
                  <a:pt x="4797271" y="2135449"/>
                </a:moveTo>
                <a:lnTo>
                  <a:pt x="5564108" y="2900469"/>
                </a:lnTo>
                <a:lnTo>
                  <a:pt x="4799086" y="3667306"/>
                </a:lnTo>
                <a:lnTo>
                  <a:pt x="4032250" y="2902285"/>
                </a:lnTo>
                <a:close/>
                <a:moveTo>
                  <a:pt x="1571472" y="2135449"/>
                </a:moveTo>
                <a:lnTo>
                  <a:pt x="2338307" y="2900470"/>
                </a:lnTo>
                <a:lnTo>
                  <a:pt x="1573287" y="3667305"/>
                </a:lnTo>
                <a:lnTo>
                  <a:pt x="806451" y="2902284"/>
                </a:lnTo>
                <a:close/>
                <a:moveTo>
                  <a:pt x="3184371" y="2135448"/>
                </a:moveTo>
                <a:lnTo>
                  <a:pt x="3951207" y="2900469"/>
                </a:lnTo>
                <a:lnTo>
                  <a:pt x="3186186" y="3667305"/>
                </a:lnTo>
                <a:lnTo>
                  <a:pt x="2419350" y="2902284"/>
                </a:lnTo>
                <a:close/>
                <a:moveTo>
                  <a:pt x="2377921" y="1343278"/>
                </a:moveTo>
                <a:lnTo>
                  <a:pt x="3144757" y="2108299"/>
                </a:lnTo>
                <a:lnTo>
                  <a:pt x="2379736" y="2875134"/>
                </a:lnTo>
                <a:lnTo>
                  <a:pt x="1612901" y="2110113"/>
                </a:lnTo>
                <a:close/>
                <a:moveTo>
                  <a:pt x="765021" y="1343277"/>
                </a:moveTo>
                <a:lnTo>
                  <a:pt x="1531858" y="2108298"/>
                </a:lnTo>
                <a:lnTo>
                  <a:pt x="766836" y="2875134"/>
                </a:lnTo>
                <a:lnTo>
                  <a:pt x="0" y="2110113"/>
                </a:lnTo>
                <a:close/>
                <a:moveTo>
                  <a:pt x="3993242" y="1339579"/>
                </a:moveTo>
                <a:lnTo>
                  <a:pt x="4760078" y="2104600"/>
                </a:lnTo>
                <a:lnTo>
                  <a:pt x="3995057" y="2871436"/>
                </a:lnTo>
                <a:lnTo>
                  <a:pt x="3228222" y="2106415"/>
                </a:lnTo>
                <a:close/>
                <a:moveTo>
                  <a:pt x="1571472" y="536985"/>
                </a:moveTo>
                <a:lnTo>
                  <a:pt x="2338306" y="1302004"/>
                </a:lnTo>
                <a:lnTo>
                  <a:pt x="1573287" y="2068840"/>
                </a:lnTo>
                <a:lnTo>
                  <a:pt x="806451" y="1303819"/>
                </a:lnTo>
                <a:close/>
                <a:moveTo>
                  <a:pt x="3184371" y="536984"/>
                </a:moveTo>
                <a:lnTo>
                  <a:pt x="3951207" y="1302004"/>
                </a:lnTo>
                <a:lnTo>
                  <a:pt x="3186186" y="2068840"/>
                </a:lnTo>
                <a:lnTo>
                  <a:pt x="2419350" y="1303819"/>
                </a:lnTo>
                <a:close/>
                <a:moveTo>
                  <a:pt x="4797271" y="526123"/>
                </a:moveTo>
                <a:lnTo>
                  <a:pt x="5564107" y="1291144"/>
                </a:lnTo>
                <a:lnTo>
                  <a:pt x="4799086" y="2057979"/>
                </a:lnTo>
                <a:lnTo>
                  <a:pt x="4032250" y="1292958"/>
                </a:lnTo>
                <a:close/>
                <a:moveTo>
                  <a:pt x="4341202" y="1"/>
                </a:moveTo>
                <a:lnTo>
                  <a:pt x="5254803" y="1"/>
                </a:lnTo>
                <a:lnTo>
                  <a:pt x="4799085" y="456799"/>
                </a:lnTo>
                <a:close/>
                <a:moveTo>
                  <a:pt x="3655447" y="1"/>
                </a:moveTo>
                <a:lnTo>
                  <a:pt x="3186186" y="470376"/>
                </a:lnTo>
                <a:lnTo>
                  <a:pt x="2714695" y="1"/>
                </a:lnTo>
                <a:close/>
                <a:moveTo>
                  <a:pt x="2633714" y="1"/>
                </a:moveTo>
                <a:lnTo>
                  <a:pt x="3144757" y="509834"/>
                </a:lnTo>
                <a:lnTo>
                  <a:pt x="2379736" y="1276669"/>
                </a:lnTo>
                <a:lnTo>
                  <a:pt x="1612901" y="511649"/>
                </a:lnTo>
                <a:lnTo>
                  <a:pt x="2123338" y="1"/>
                </a:lnTo>
                <a:close/>
                <a:moveTo>
                  <a:pt x="3734969" y="0"/>
                </a:moveTo>
                <a:lnTo>
                  <a:pt x="4252742" y="1"/>
                </a:lnTo>
                <a:lnTo>
                  <a:pt x="4760078" y="506136"/>
                </a:lnTo>
                <a:lnTo>
                  <a:pt x="3995058" y="1272971"/>
                </a:lnTo>
                <a:lnTo>
                  <a:pt x="3228221" y="507951"/>
                </a:lnTo>
                <a:close/>
                <a:moveTo>
                  <a:pt x="2042548" y="0"/>
                </a:moveTo>
                <a:lnTo>
                  <a:pt x="1573287" y="470376"/>
                </a:lnTo>
                <a:lnTo>
                  <a:pt x="1101795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1" name="任意多边形: 形状 60"/>
          <p:cNvSpPr/>
          <p:nvPr userDrawn="1"/>
        </p:nvSpPr>
        <p:spPr>
          <a:xfrm rot="18895927">
            <a:off x="-741774" y="-8938"/>
            <a:ext cx="2458932" cy="2339486"/>
          </a:xfrm>
          <a:custGeom>
            <a:avLst/>
            <a:gdLst>
              <a:gd name="connsiteX0" fmla="*/ 1981637 w 2863967"/>
              <a:gd name="connsiteY0" fmla="*/ 0 h 2724846"/>
              <a:gd name="connsiteX1" fmla="*/ 2863967 w 2863967"/>
              <a:gd name="connsiteY1" fmla="*/ 884424 h 2724846"/>
              <a:gd name="connsiteX2" fmla="*/ 2863967 w 2863967"/>
              <a:gd name="connsiteY2" fmla="*/ 1572560 h 2724846"/>
              <a:gd name="connsiteX3" fmla="*/ 581336 w 2863967"/>
              <a:gd name="connsiteY3" fmla="*/ 1572560 h 2724846"/>
              <a:gd name="connsiteX4" fmla="*/ 581336 w 2863967"/>
              <a:gd name="connsiteY4" fmla="*/ 2724846 h 2724846"/>
              <a:gd name="connsiteX5" fmla="*/ 0 w 2863967"/>
              <a:gd name="connsiteY5" fmla="*/ 2724846 h 2724846"/>
              <a:gd name="connsiteX6" fmla="*/ 0 w 2863967"/>
              <a:gd name="connsiteY6" fmla="*/ 1976947 h 2724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967" h="2724846">
                <a:moveTo>
                  <a:pt x="1981637" y="0"/>
                </a:moveTo>
                <a:lnTo>
                  <a:pt x="2863967" y="884424"/>
                </a:lnTo>
                <a:lnTo>
                  <a:pt x="2863967" y="1572560"/>
                </a:lnTo>
                <a:lnTo>
                  <a:pt x="581336" y="1572560"/>
                </a:lnTo>
                <a:lnTo>
                  <a:pt x="581336" y="2724846"/>
                </a:lnTo>
                <a:lnTo>
                  <a:pt x="0" y="2724846"/>
                </a:lnTo>
                <a:lnTo>
                  <a:pt x="0" y="19769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6096000" y="3954002"/>
            <a:ext cx="5424488" cy="656792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6096000" y="4610793"/>
            <a:ext cx="5424488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7" name="图片 6" descr="3C5EEB60D8612D4B7AC81916BAD_73A9D09F_43B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170" y="214630"/>
            <a:ext cx="2286635" cy="101854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3C5EEB60D8612D4B7AC81916BAD_73A9D09F_43B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170" y="214630"/>
            <a:ext cx="2286635" cy="10185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414001" y="3249227"/>
            <a:ext cx="4701233" cy="1508067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414001" y="5039751"/>
            <a:ext cx="470123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/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414001" y="5355385"/>
            <a:ext cx="470123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/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9"/>
          </p:nvPr>
        </p:nvSpPr>
        <p:spPr>
          <a:xfrm>
            <a:off x="213893" y="-1"/>
            <a:ext cx="5564108" cy="3667306"/>
          </a:xfrm>
          <a:custGeom>
            <a:avLst/>
            <a:gdLst>
              <a:gd name="connsiteX0" fmla="*/ 4797271 w 5564108"/>
              <a:gd name="connsiteY0" fmla="*/ 2135449 h 3667306"/>
              <a:gd name="connsiteX1" fmla="*/ 5564108 w 5564108"/>
              <a:gd name="connsiteY1" fmla="*/ 2900469 h 3667306"/>
              <a:gd name="connsiteX2" fmla="*/ 4799086 w 5564108"/>
              <a:gd name="connsiteY2" fmla="*/ 3667306 h 3667306"/>
              <a:gd name="connsiteX3" fmla="*/ 4032250 w 5564108"/>
              <a:gd name="connsiteY3" fmla="*/ 2902285 h 3667306"/>
              <a:gd name="connsiteX4" fmla="*/ 1571472 w 5564108"/>
              <a:gd name="connsiteY4" fmla="*/ 2135449 h 3667306"/>
              <a:gd name="connsiteX5" fmla="*/ 2338307 w 5564108"/>
              <a:gd name="connsiteY5" fmla="*/ 2900470 h 3667306"/>
              <a:gd name="connsiteX6" fmla="*/ 1573287 w 5564108"/>
              <a:gd name="connsiteY6" fmla="*/ 3667305 h 3667306"/>
              <a:gd name="connsiteX7" fmla="*/ 806451 w 5564108"/>
              <a:gd name="connsiteY7" fmla="*/ 2902284 h 3667306"/>
              <a:gd name="connsiteX8" fmla="*/ 3184371 w 5564108"/>
              <a:gd name="connsiteY8" fmla="*/ 2135448 h 3667306"/>
              <a:gd name="connsiteX9" fmla="*/ 3951207 w 5564108"/>
              <a:gd name="connsiteY9" fmla="*/ 2900469 h 3667306"/>
              <a:gd name="connsiteX10" fmla="*/ 3186186 w 5564108"/>
              <a:gd name="connsiteY10" fmla="*/ 3667305 h 3667306"/>
              <a:gd name="connsiteX11" fmla="*/ 2419350 w 5564108"/>
              <a:gd name="connsiteY11" fmla="*/ 2902284 h 3667306"/>
              <a:gd name="connsiteX12" fmla="*/ 2377921 w 5564108"/>
              <a:gd name="connsiteY12" fmla="*/ 1343278 h 3667306"/>
              <a:gd name="connsiteX13" fmla="*/ 3144757 w 5564108"/>
              <a:gd name="connsiteY13" fmla="*/ 2108299 h 3667306"/>
              <a:gd name="connsiteX14" fmla="*/ 2379736 w 5564108"/>
              <a:gd name="connsiteY14" fmla="*/ 2875134 h 3667306"/>
              <a:gd name="connsiteX15" fmla="*/ 1612901 w 5564108"/>
              <a:gd name="connsiteY15" fmla="*/ 2110113 h 3667306"/>
              <a:gd name="connsiteX16" fmla="*/ 765021 w 5564108"/>
              <a:gd name="connsiteY16" fmla="*/ 1343277 h 3667306"/>
              <a:gd name="connsiteX17" fmla="*/ 1531858 w 5564108"/>
              <a:gd name="connsiteY17" fmla="*/ 2108298 h 3667306"/>
              <a:gd name="connsiteX18" fmla="*/ 766836 w 5564108"/>
              <a:gd name="connsiteY18" fmla="*/ 2875134 h 3667306"/>
              <a:gd name="connsiteX19" fmla="*/ 0 w 5564108"/>
              <a:gd name="connsiteY19" fmla="*/ 2110113 h 3667306"/>
              <a:gd name="connsiteX20" fmla="*/ 3993242 w 5564108"/>
              <a:gd name="connsiteY20" fmla="*/ 1339579 h 3667306"/>
              <a:gd name="connsiteX21" fmla="*/ 4760078 w 5564108"/>
              <a:gd name="connsiteY21" fmla="*/ 2104600 h 3667306"/>
              <a:gd name="connsiteX22" fmla="*/ 3995057 w 5564108"/>
              <a:gd name="connsiteY22" fmla="*/ 2871436 h 3667306"/>
              <a:gd name="connsiteX23" fmla="*/ 3228222 w 5564108"/>
              <a:gd name="connsiteY23" fmla="*/ 2106415 h 3667306"/>
              <a:gd name="connsiteX24" fmla="*/ 1571472 w 5564108"/>
              <a:gd name="connsiteY24" fmla="*/ 536985 h 3667306"/>
              <a:gd name="connsiteX25" fmla="*/ 2338306 w 5564108"/>
              <a:gd name="connsiteY25" fmla="*/ 1302004 h 3667306"/>
              <a:gd name="connsiteX26" fmla="*/ 1573287 w 5564108"/>
              <a:gd name="connsiteY26" fmla="*/ 2068840 h 3667306"/>
              <a:gd name="connsiteX27" fmla="*/ 806451 w 5564108"/>
              <a:gd name="connsiteY27" fmla="*/ 1303819 h 3667306"/>
              <a:gd name="connsiteX28" fmla="*/ 3184371 w 5564108"/>
              <a:gd name="connsiteY28" fmla="*/ 536984 h 3667306"/>
              <a:gd name="connsiteX29" fmla="*/ 3951207 w 5564108"/>
              <a:gd name="connsiteY29" fmla="*/ 1302004 h 3667306"/>
              <a:gd name="connsiteX30" fmla="*/ 3186186 w 5564108"/>
              <a:gd name="connsiteY30" fmla="*/ 2068840 h 3667306"/>
              <a:gd name="connsiteX31" fmla="*/ 2419350 w 5564108"/>
              <a:gd name="connsiteY31" fmla="*/ 1303819 h 3667306"/>
              <a:gd name="connsiteX32" fmla="*/ 4797271 w 5564108"/>
              <a:gd name="connsiteY32" fmla="*/ 526123 h 3667306"/>
              <a:gd name="connsiteX33" fmla="*/ 5564107 w 5564108"/>
              <a:gd name="connsiteY33" fmla="*/ 1291144 h 3667306"/>
              <a:gd name="connsiteX34" fmla="*/ 4799086 w 5564108"/>
              <a:gd name="connsiteY34" fmla="*/ 2057979 h 3667306"/>
              <a:gd name="connsiteX35" fmla="*/ 4032250 w 5564108"/>
              <a:gd name="connsiteY35" fmla="*/ 1292958 h 3667306"/>
              <a:gd name="connsiteX36" fmla="*/ 4341202 w 5564108"/>
              <a:gd name="connsiteY36" fmla="*/ 1 h 3667306"/>
              <a:gd name="connsiteX37" fmla="*/ 5254803 w 5564108"/>
              <a:gd name="connsiteY37" fmla="*/ 1 h 3667306"/>
              <a:gd name="connsiteX38" fmla="*/ 4799085 w 5564108"/>
              <a:gd name="connsiteY38" fmla="*/ 456799 h 3667306"/>
              <a:gd name="connsiteX39" fmla="*/ 3655447 w 5564108"/>
              <a:gd name="connsiteY39" fmla="*/ 1 h 3667306"/>
              <a:gd name="connsiteX40" fmla="*/ 3186186 w 5564108"/>
              <a:gd name="connsiteY40" fmla="*/ 470376 h 3667306"/>
              <a:gd name="connsiteX41" fmla="*/ 2714695 w 5564108"/>
              <a:gd name="connsiteY41" fmla="*/ 1 h 3667306"/>
              <a:gd name="connsiteX42" fmla="*/ 2633714 w 5564108"/>
              <a:gd name="connsiteY42" fmla="*/ 1 h 3667306"/>
              <a:gd name="connsiteX43" fmla="*/ 3144757 w 5564108"/>
              <a:gd name="connsiteY43" fmla="*/ 509834 h 3667306"/>
              <a:gd name="connsiteX44" fmla="*/ 2379736 w 5564108"/>
              <a:gd name="connsiteY44" fmla="*/ 1276669 h 3667306"/>
              <a:gd name="connsiteX45" fmla="*/ 1612901 w 5564108"/>
              <a:gd name="connsiteY45" fmla="*/ 511649 h 3667306"/>
              <a:gd name="connsiteX46" fmla="*/ 2123338 w 5564108"/>
              <a:gd name="connsiteY46" fmla="*/ 1 h 3667306"/>
              <a:gd name="connsiteX47" fmla="*/ 3734969 w 5564108"/>
              <a:gd name="connsiteY47" fmla="*/ 0 h 3667306"/>
              <a:gd name="connsiteX48" fmla="*/ 4252742 w 5564108"/>
              <a:gd name="connsiteY48" fmla="*/ 1 h 3667306"/>
              <a:gd name="connsiteX49" fmla="*/ 4760078 w 5564108"/>
              <a:gd name="connsiteY49" fmla="*/ 506136 h 3667306"/>
              <a:gd name="connsiteX50" fmla="*/ 3995058 w 5564108"/>
              <a:gd name="connsiteY50" fmla="*/ 1272971 h 3667306"/>
              <a:gd name="connsiteX51" fmla="*/ 3228221 w 5564108"/>
              <a:gd name="connsiteY51" fmla="*/ 507951 h 3667306"/>
              <a:gd name="connsiteX52" fmla="*/ 2042548 w 5564108"/>
              <a:gd name="connsiteY52" fmla="*/ 0 h 3667306"/>
              <a:gd name="connsiteX53" fmla="*/ 1573287 w 5564108"/>
              <a:gd name="connsiteY53" fmla="*/ 470376 h 3667306"/>
              <a:gd name="connsiteX54" fmla="*/ 1101795 w 5564108"/>
              <a:gd name="connsiteY54" fmla="*/ 0 h 366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564108" h="3667306">
                <a:moveTo>
                  <a:pt x="4797271" y="2135449"/>
                </a:moveTo>
                <a:lnTo>
                  <a:pt x="5564108" y="2900469"/>
                </a:lnTo>
                <a:lnTo>
                  <a:pt x="4799086" y="3667306"/>
                </a:lnTo>
                <a:lnTo>
                  <a:pt x="4032250" y="2902285"/>
                </a:lnTo>
                <a:close/>
                <a:moveTo>
                  <a:pt x="1571472" y="2135449"/>
                </a:moveTo>
                <a:lnTo>
                  <a:pt x="2338307" y="2900470"/>
                </a:lnTo>
                <a:lnTo>
                  <a:pt x="1573287" y="3667305"/>
                </a:lnTo>
                <a:lnTo>
                  <a:pt x="806451" y="2902284"/>
                </a:lnTo>
                <a:close/>
                <a:moveTo>
                  <a:pt x="3184371" y="2135448"/>
                </a:moveTo>
                <a:lnTo>
                  <a:pt x="3951207" y="2900469"/>
                </a:lnTo>
                <a:lnTo>
                  <a:pt x="3186186" y="3667305"/>
                </a:lnTo>
                <a:lnTo>
                  <a:pt x="2419350" y="2902284"/>
                </a:lnTo>
                <a:close/>
                <a:moveTo>
                  <a:pt x="2377921" y="1343278"/>
                </a:moveTo>
                <a:lnTo>
                  <a:pt x="3144757" y="2108299"/>
                </a:lnTo>
                <a:lnTo>
                  <a:pt x="2379736" y="2875134"/>
                </a:lnTo>
                <a:lnTo>
                  <a:pt x="1612901" y="2110113"/>
                </a:lnTo>
                <a:close/>
                <a:moveTo>
                  <a:pt x="765021" y="1343277"/>
                </a:moveTo>
                <a:lnTo>
                  <a:pt x="1531858" y="2108298"/>
                </a:lnTo>
                <a:lnTo>
                  <a:pt x="766836" y="2875134"/>
                </a:lnTo>
                <a:lnTo>
                  <a:pt x="0" y="2110113"/>
                </a:lnTo>
                <a:close/>
                <a:moveTo>
                  <a:pt x="3993242" y="1339579"/>
                </a:moveTo>
                <a:lnTo>
                  <a:pt x="4760078" y="2104600"/>
                </a:lnTo>
                <a:lnTo>
                  <a:pt x="3995057" y="2871436"/>
                </a:lnTo>
                <a:lnTo>
                  <a:pt x="3228222" y="2106415"/>
                </a:lnTo>
                <a:close/>
                <a:moveTo>
                  <a:pt x="1571472" y="536985"/>
                </a:moveTo>
                <a:lnTo>
                  <a:pt x="2338306" y="1302004"/>
                </a:lnTo>
                <a:lnTo>
                  <a:pt x="1573287" y="2068840"/>
                </a:lnTo>
                <a:lnTo>
                  <a:pt x="806451" y="1303819"/>
                </a:lnTo>
                <a:close/>
                <a:moveTo>
                  <a:pt x="3184371" y="536984"/>
                </a:moveTo>
                <a:lnTo>
                  <a:pt x="3951207" y="1302004"/>
                </a:lnTo>
                <a:lnTo>
                  <a:pt x="3186186" y="2068840"/>
                </a:lnTo>
                <a:lnTo>
                  <a:pt x="2419350" y="1303819"/>
                </a:lnTo>
                <a:close/>
                <a:moveTo>
                  <a:pt x="4797271" y="526123"/>
                </a:moveTo>
                <a:lnTo>
                  <a:pt x="5564107" y="1291144"/>
                </a:lnTo>
                <a:lnTo>
                  <a:pt x="4799086" y="2057979"/>
                </a:lnTo>
                <a:lnTo>
                  <a:pt x="4032250" y="1292958"/>
                </a:lnTo>
                <a:close/>
                <a:moveTo>
                  <a:pt x="4341202" y="1"/>
                </a:moveTo>
                <a:lnTo>
                  <a:pt x="5254803" y="1"/>
                </a:lnTo>
                <a:lnTo>
                  <a:pt x="4799085" y="456799"/>
                </a:lnTo>
                <a:close/>
                <a:moveTo>
                  <a:pt x="3655447" y="1"/>
                </a:moveTo>
                <a:lnTo>
                  <a:pt x="3186186" y="470376"/>
                </a:lnTo>
                <a:lnTo>
                  <a:pt x="2714695" y="1"/>
                </a:lnTo>
                <a:close/>
                <a:moveTo>
                  <a:pt x="2633714" y="1"/>
                </a:moveTo>
                <a:lnTo>
                  <a:pt x="3144757" y="509834"/>
                </a:lnTo>
                <a:lnTo>
                  <a:pt x="2379736" y="1276669"/>
                </a:lnTo>
                <a:lnTo>
                  <a:pt x="1612901" y="511649"/>
                </a:lnTo>
                <a:lnTo>
                  <a:pt x="2123338" y="1"/>
                </a:lnTo>
                <a:close/>
                <a:moveTo>
                  <a:pt x="3734969" y="0"/>
                </a:moveTo>
                <a:lnTo>
                  <a:pt x="4252742" y="1"/>
                </a:lnTo>
                <a:lnTo>
                  <a:pt x="4760078" y="506136"/>
                </a:lnTo>
                <a:lnTo>
                  <a:pt x="3995058" y="1272971"/>
                </a:lnTo>
                <a:lnTo>
                  <a:pt x="3228221" y="507951"/>
                </a:lnTo>
                <a:close/>
                <a:moveTo>
                  <a:pt x="2042548" y="0"/>
                </a:moveTo>
                <a:lnTo>
                  <a:pt x="1573287" y="470376"/>
                </a:lnTo>
                <a:lnTo>
                  <a:pt x="1101795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 rot="18895927">
            <a:off x="-855667" y="-11063"/>
            <a:ext cx="2863967" cy="2724846"/>
          </a:xfrm>
          <a:custGeom>
            <a:avLst/>
            <a:gdLst>
              <a:gd name="connsiteX0" fmla="*/ 1981637 w 2863967"/>
              <a:gd name="connsiteY0" fmla="*/ 0 h 2724846"/>
              <a:gd name="connsiteX1" fmla="*/ 2863967 w 2863967"/>
              <a:gd name="connsiteY1" fmla="*/ 884424 h 2724846"/>
              <a:gd name="connsiteX2" fmla="*/ 2863967 w 2863967"/>
              <a:gd name="connsiteY2" fmla="*/ 1572560 h 2724846"/>
              <a:gd name="connsiteX3" fmla="*/ 581336 w 2863967"/>
              <a:gd name="connsiteY3" fmla="*/ 1572560 h 2724846"/>
              <a:gd name="connsiteX4" fmla="*/ 581336 w 2863967"/>
              <a:gd name="connsiteY4" fmla="*/ 2724846 h 2724846"/>
              <a:gd name="connsiteX5" fmla="*/ 0 w 2863967"/>
              <a:gd name="connsiteY5" fmla="*/ 2724846 h 2724846"/>
              <a:gd name="connsiteX6" fmla="*/ 0 w 2863967"/>
              <a:gd name="connsiteY6" fmla="*/ 1976947 h 2724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967" h="2724846">
                <a:moveTo>
                  <a:pt x="1981637" y="0"/>
                </a:moveTo>
                <a:lnTo>
                  <a:pt x="2863967" y="884424"/>
                </a:lnTo>
                <a:lnTo>
                  <a:pt x="2863967" y="1572560"/>
                </a:lnTo>
                <a:lnTo>
                  <a:pt x="581336" y="1572560"/>
                </a:lnTo>
                <a:lnTo>
                  <a:pt x="581336" y="2724846"/>
                </a:lnTo>
                <a:lnTo>
                  <a:pt x="0" y="2724846"/>
                </a:lnTo>
                <a:lnTo>
                  <a:pt x="0" y="19769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88901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microsoft.com/office/2007/relationships/media" Target="../media/media2.mp4"/><Relationship Id="rId7" Type="http://schemas.openxmlformats.org/officeDocument/2006/relationships/image" Target="../media/image4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3.xml"/><Relationship Id="rId4" Type="http://schemas.openxmlformats.org/officeDocument/2006/relationships/video" Target="../media/media2.mp4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jpe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5.gif"/><Relationship Id="rId4" Type="http://schemas.openxmlformats.org/officeDocument/2006/relationships/image" Target="../media/image74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9.gif"/><Relationship Id="rId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gif"/><Relationship Id="rId3" Type="http://schemas.openxmlformats.org/officeDocument/2006/relationships/image" Target="../media/image82.gif"/><Relationship Id="rId7" Type="http://schemas.openxmlformats.org/officeDocument/2006/relationships/image" Target="../media/image86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png"/><Relationship Id="rId5" Type="http://schemas.openxmlformats.org/officeDocument/2006/relationships/image" Target="../media/image84.gif"/><Relationship Id="rId4" Type="http://schemas.openxmlformats.org/officeDocument/2006/relationships/image" Target="../media/image83.gif"/><Relationship Id="rId9" Type="http://schemas.openxmlformats.org/officeDocument/2006/relationships/image" Target="../media/image88.gi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gif"/><Relationship Id="rId3" Type="http://schemas.openxmlformats.org/officeDocument/2006/relationships/image" Target="../media/image89.jpeg"/><Relationship Id="rId7" Type="http://schemas.openxmlformats.org/officeDocument/2006/relationships/image" Target="../media/image92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5.gif"/><Relationship Id="rId5" Type="http://schemas.openxmlformats.org/officeDocument/2006/relationships/image" Target="../media/image91.png"/><Relationship Id="rId4" Type="http://schemas.openxmlformats.org/officeDocument/2006/relationships/image" Target="../media/image9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5.gif"/><Relationship Id="rId4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1.png"/><Relationship Id="rId4" Type="http://schemas.openxmlformats.org/officeDocument/2006/relationships/image" Target="../media/image9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占位符 96" descr="C:\Users\Administrator\Desktop\山东大学\图片\942959d44dde4c449286759f34761e5.jpg942959d44dde4c449286759f34761e5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35" y="-7620"/>
            <a:ext cx="10965180" cy="5202555"/>
          </a:xfrm>
        </p:spPr>
      </p:pic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699906" y="6323975"/>
            <a:ext cx="1607023" cy="558799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202x-xx-xx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59850773f9e9fb7fe171e25cac377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58" y="4307669"/>
            <a:ext cx="1233170" cy="1223645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5969873"/>
            <a:ext cx="5638800" cy="1114604"/>
          </a:xfrm>
          <a:prstGeom prst="rect">
            <a:avLst/>
          </a:prstGeom>
        </p:spPr>
      </p:pic>
      <p:sp>
        <p:nvSpPr>
          <p:cNvPr id="10" name="副标题 4"/>
          <p:cNvSpPr txBox="1"/>
          <p:nvPr/>
        </p:nvSpPr>
        <p:spPr>
          <a:xfrm>
            <a:off x="3699907" y="5508954"/>
            <a:ext cx="1607023" cy="558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朱世宇</a:t>
            </a:r>
          </a:p>
        </p:txBody>
      </p:sp>
      <p:sp>
        <p:nvSpPr>
          <p:cNvPr id="11" name="副标题 4"/>
          <p:cNvSpPr txBox="1"/>
          <p:nvPr/>
        </p:nvSpPr>
        <p:spPr>
          <a:xfrm>
            <a:off x="3669029" y="5908161"/>
            <a:ext cx="2781523" cy="558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山东大学软件学院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0" y="6087110"/>
            <a:ext cx="2661285" cy="698302"/>
            <a:chOff x="8796327" y="5260785"/>
            <a:chExt cx="3196753" cy="93515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491" y="5260785"/>
              <a:ext cx="2640116" cy="53784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8796327" y="5785207"/>
              <a:ext cx="3196753" cy="410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多媒体挖掘推理与生成实验室</a:t>
              </a:r>
            </a:p>
          </p:txBody>
        </p:sp>
      </p:grpSp>
      <p:sp>
        <p:nvSpPr>
          <p:cNvPr id="13" name="标题 3">
            <a:extLst>
              <a:ext uri="{FF2B5EF4-FFF2-40B4-BE49-F238E27FC236}">
                <a16:creationId xmlns:a16="http://schemas.microsoft.com/office/drawing/2014/main" id="{0EA484D3-88B8-E32A-EA40-F0DAC846B639}"/>
              </a:ext>
            </a:extLst>
          </p:cNvPr>
          <p:cNvSpPr txBox="1">
            <a:spLocks/>
          </p:cNvSpPr>
          <p:nvPr/>
        </p:nvSpPr>
        <p:spPr>
          <a:xfrm>
            <a:off x="1965209" y="4266597"/>
            <a:ext cx="10226791" cy="10965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情智兼备的虚拟陪伴生成及互动系统搭建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EB92-9D8E-E6F9-A00A-14A2B49A2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4E656-59C2-EF79-C8C3-CE295706C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工作时间线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D391BC-B392-32AB-8BD6-AF29437A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009" y="6648654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</a:t>
            </a:fld>
            <a:endParaRPr lang="zh-CN" altLang="en-US" dirty="0"/>
          </a:p>
        </p:txBody>
      </p:sp>
      <p:cxnSp>
        <p:nvCxnSpPr>
          <p:cNvPr id="45" name="直接箭头连接符 5">
            <a:extLst>
              <a:ext uri="{FF2B5EF4-FFF2-40B4-BE49-F238E27FC236}">
                <a16:creationId xmlns:a16="http://schemas.microsoft.com/office/drawing/2014/main" id="{9D934A4A-347D-7C9F-8A3F-579C7F024290}"/>
              </a:ext>
            </a:extLst>
          </p:cNvPr>
          <p:cNvCxnSpPr>
            <a:stCxn id="46" idx="6"/>
          </p:cNvCxnSpPr>
          <p:nvPr/>
        </p:nvCxnSpPr>
        <p:spPr bwMode="auto">
          <a:xfrm flipV="1">
            <a:off x="1386584" y="3566630"/>
            <a:ext cx="10511007" cy="5147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18177C68-5D79-7065-3147-DD7415686183}"/>
              </a:ext>
            </a:extLst>
          </p:cNvPr>
          <p:cNvSpPr/>
          <p:nvPr/>
        </p:nvSpPr>
        <p:spPr bwMode="auto">
          <a:xfrm>
            <a:off x="1190693" y="3520156"/>
            <a:ext cx="195891" cy="195891"/>
          </a:xfrm>
          <a:prstGeom prst="ellipse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988" tIns="41494" rIns="82988" bIns="41494" numCol="1" rtlCol="0" anchor="t" anchorCtr="0" compatLnSpc="1"/>
          <a:lstStyle/>
          <a:p>
            <a:pPr defTabSz="829945"/>
            <a:endParaRPr lang="zh-CN" altLang="en-US" sz="1815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73BF241-8127-086C-DFE7-1BEB2A5893B7}"/>
              </a:ext>
            </a:extLst>
          </p:cNvPr>
          <p:cNvSpPr txBox="1"/>
          <p:nvPr/>
        </p:nvSpPr>
        <p:spPr>
          <a:xfrm>
            <a:off x="836516" y="3194067"/>
            <a:ext cx="1105177" cy="37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15" b="1" dirty="0">
                <a:solidFill>
                  <a:srgbClr val="00B0F0"/>
                </a:solidFill>
              </a:rPr>
              <a:t>2025.11</a:t>
            </a:r>
            <a:endParaRPr lang="zh-CN" altLang="en-US" sz="1815" b="1" dirty="0">
              <a:solidFill>
                <a:srgbClr val="00B0F0"/>
              </a:solidFill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150D735-BF8E-2102-C38F-EC9513FC4711}"/>
              </a:ext>
            </a:extLst>
          </p:cNvPr>
          <p:cNvSpPr/>
          <p:nvPr/>
        </p:nvSpPr>
        <p:spPr bwMode="auto">
          <a:xfrm>
            <a:off x="3300789" y="3485950"/>
            <a:ext cx="195891" cy="195891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988" tIns="41494" rIns="82988" bIns="41494" numCol="1" rtlCol="0" anchor="t" anchorCtr="0" compatLnSpc="1"/>
          <a:lstStyle/>
          <a:p>
            <a:pPr defTabSz="829945"/>
            <a:endParaRPr lang="zh-CN" altLang="en-US" sz="1815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AD90AE-2468-83E9-D643-009F07C57974}"/>
              </a:ext>
            </a:extLst>
          </p:cNvPr>
          <p:cNvSpPr txBox="1"/>
          <p:nvPr/>
        </p:nvSpPr>
        <p:spPr>
          <a:xfrm>
            <a:off x="2948623" y="3658712"/>
            <a:ext cx="1063725" cy="37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15" b="1" dirty="0">
                <a:solidFill>
                  <a:srgbClr val="C00000"/>
                </a:solidFill>
              </a:rPr>
              <a:t>2025.12</a:t>
            </a:r>
            <a:endParaRPr lang="zh-CN" altLang="en-US" sz="1815" b="1" dirty="0">
              <a:solidFill>
                <a:srgbClr val="C00000"/>
              </a:solidFill>
            </a:endParaRPr>
          </a:p>
        </p:txBody>
      </p: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F792A0D2-BE0A-2206-994F-7EE75DDF88CB}"/>
              </a:ext>
            </a:extLst>
          </p:cNvPr>
          <p:cNvCxnSpPr>
            <a:stCxn id="52" idx="2"/>
            <a:endCxn id="49" idx="0"/>
          </p:cNvCxnSpPr>
          <p:nvPr/>
        </p:nvCxnSpPr>
        <p:spPr>
          <a:xfrm flipH="1">
            <a:off x="3398735" y="2905392"/>
            <a:ext cx="2122" cy="58055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07BA9C8C-E9F2-2EDC-D03A-06DFC74DF972}"/>
              </a:ext>
            </a:extLst>
          </p:cNvPr>
          <p:cNvSpPr/>
          <p:nvPr/>
        </p:nvSpPr>
        <p:spPr>
          <a:xfrm>
            <a:off x="1945937" y="1109380"/>
            <a:ext cx="2909840" cy="179601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bg1"/>
                </a:solidFill>
                <a:latin typeface="+mn-ea"/>
              </a:rPr>
              <a:t>二、检索现有研究</a:t>
            </a:r>
            <a:endParaRPr lang="en-US" altLang="zh-CN" sz="1815" b="1" dirty="0">
              <a:solidFill>
                <a:schemeClr val="bg1"/>
              </a:solidFill>
              <a:latin typeface="+mn-ea"/>
            </a:endParaRPr>
          </a:p>
          <a:p>
            <a:pPr marL="259080" indent="-25908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检索得到模型生成，骨骼绑定，模型驱动算法，以及相关数字人框架</a:t>
            </a:r>
            <a:endParaRPr lang="en-US" altLang="zh-CN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D0DC26A-4636-F5C5-A48F-04A1B4A0709D}"/>
              </a:ext>
            </a:extLst>
          </p:cNvPr>
          <p:cNvSpPr/>
          <p:nvPr/>
        </p:nvSpPr>
        <p:spPr bwMode="auto">
          <a:xfrm>
            <a:off x="5684409" y="3495215"/>
            <a:ext cx="195891" cy="195891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988" tIns="41494" rIns="82988" bIns="41494" numCol="1" rtlCol="0" anchor="t" anchorCtr="0" compatLnSpc="1"/>
          <a:lstStyle/>
          <a:p>
            <a:pPr defTabSz="829945"/>
            <a:endParaRPr lang="zh-CN" altLang="en-US" sz="1815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2CFE199-C4D1-1328-DDB3-7D147564BDA2}"/>
              </a:ext>
            </a:extLst>
          </p:cNvPr>
          <p:cNvSpPr txBox="1"/>
          <p:nvPr/>
        </p:nvSpPr>
        <p:spPr>
          <a:xfrm>
            <a:off x="5361433" y="3204188"/>
            <a:ext cx="1604361" cy="37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15" b="1" dirty="0">
                <a:solidFill>
                  <a:srgbClr val="FFC000"/>
                </a:solidFill>
              </a:rPr>
              <a:t>2026.1--</a:t>
            </a:r>
            <a:endParaRPr lang="zh-CN" altLang="en-US" sz="1815" b="1" dirty="0">
              <a:solidFill>
                <a:srgbClr val="FFC000"/>
              </a:solidFill>
            </a:endParaRPr>
          </a:p>
        </p:txBody>
      </p: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FF54612E-65D8-90B5-418F-517F1A6CC34E}"/>
              </a:ext>
            </a:extLst>
          </p:cNvPr>
          <p:cNvCxnSpPr>
            <a:cxnSpLocks/>
            <a:stCxn id="54" idx="4"/>
            <a:endCxn id="57" idx="0"/>
          </p:cNvCxnSpPr>
          <p:nvPr/>
        </p:nvCxnSpPr>
        <p:spPr>
          <a:xfrm flipH="1">
            <a:off x="5782354" y="3691106"/>
            <a:ext cx="1" cy="582593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C58E4408-FB1C-F235-27D5-955AEDBBF1C7}"/>
              </a:ext>
            </a:extLst>
          </p:cNvPr>
          <p:cNvSpPr/>
          <p:nvPr/>
        </p:nvSpPr>
        <p:spPr>
          <a:xfrm>
            <a:off x="4515575" y="4273699"/>
            <a:ext cx="2533557" cy="188233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bg1"/>
                </a:solidFill>
                <a:latin typeface="+mn-ea"/>
              </a:rPr>
              <a:t>三、构建系统</a:t>
            </a:r>
            <a:endParaRPr lang="en-US" altLang="zh-CN" sz="1815" b="1" dirty="0">
              <a:solidFill>
                <a:schemeClr val="bg1"/>
              </a:solidFill>
              <a:latin typeface="+mn-ea"/>
            </a:endParaRPr>
          </a:p>
          <a:p>
            <a:pPr marL="259080" indent="-25908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根据调研的框架和技术构建系统与部署</a:t>
            </a:r>
            <a:endParaRPr lang="en-US" altLang="zh-CN" dirty="0">
              <a:solidFill>
                <a:schemeClr val="bg1"/>
              </a:solidFill>
              <a:latin typeface="+mn-ea"/>
            </a:endParaRPr>
          </a:p>
          <a:p>
            <a:pPr marL="259080" indent="-25908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完善系统功能</a:t>
            </a: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D9977CB8-FD6F-CA52-E0AF-BE2F9EB4C889}"/>
              </a:ext>
            </a:extLst>
          </p:cNvPr>
          <p:cNvSpPr/>
          <p:nvPr/>
        </p:nvSpPr>
        <p:spPr>
          <a:xfrm>
            <a:off x="175678" y="4273699"/>
            <a:ext cx="2219499" cy="119557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bg1"/>
                </a:solidFill>
                <a:latin typeface="+mn-ea"/>
              </a:rPr>
              <a:t>一、确立研究方向</a:t>
            </a:r>
            <a:endParaRPr lang="en-US" altLang="zh-CN" sz="1815" b="1" dirty="0">
              <a:solidFill>
                <a:schemeClr val="bg1"/>
              </a:solidFill>
              <a:latin typeface="+mn-ea"/>
            </a:endParaRPr>
          </a:p>
          <a:p>
            <a:pPr marL="259080" indent="-25908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情智兼备的虚拟陪伴生成关键技术及互动系统</a:t>
            </a:r>
          </a:p>
        </p:txBody>
      </p: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D8EA8EAC-8350-FB72-D5ED-9D3FEA9E1128}"/>
              </a:ext>
            </a:extLst>
          </p:cNvPr>
          <p:cNvCxnSpPr>
            <a:stCxn id="46" idx="4"/>
            <a:endCxn id="79" idx="0"/>
          </p:cNvCxnSpPr>
          <p:nvPr/>
        </p:nvCxnSpPr>
        <p:spPr>
          <a:xfrm flipH="1">
            <a:off x="1285428" y="3716047"/>
            <a:ext cx="3211" cy="557652"/>
          </a:xfrm>
          <a:prstGeom prst="line">
            <a:avLst/>
          </a:prstGeom>
          <a:ln w="34925">
            <a:solidFill>
              <a:srgbClr val="05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6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E2FF-1704-1914-8C59-DB10733C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9B226-BDA3-A0C3-3EAD-6E471B96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2DD5E29-C340-44D1-F7AF-0EFD0691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3</a:t>
            </a:fld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1F45EA-82E5-342C-29DA-12E85B4C4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222451"/>
              </p:ext>
            </p:extLst>
          </p:nvPr>
        </p:nvGraphicFramePr>
        <p:xfrm>
          <a:off x="-798" y="1531461"/>
          <a:ext cx="12192001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9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上周工作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导师建议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下周计划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2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/>
                        <a:t>3.13-3.20</a:t>
                      </a:r>
                      <a:endParaRPr lang="en-US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 dirty="0">
                          <a:sym typeface="+mn-ea"/>
                        </a:rPr>
                        <a:t>情智兼备的虚拟陪伴系统：</a:t>
                      </a:r>
                      <a:endParaRPr lang="en-US" altLang="zh-CN" sz="1200" b="1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1</a:t>
                      </a:r>
                      <a:r>
                        <a:rPr lang="zh-CN" altLang="en-US" sz="1200" b="0" dirty="0">
                          <a:sym typeface="+mn-ea"/>
                        </a:rPr>
                        <a:t>、对模型生成和骨骼绑定优化</a:t>
                      </a: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2</a:t>
                      </a:r>
                      <a:r>
                        <a:rPr lang="zh-CN" altLang="en-US" sz="1200" b="0" dirty="0">
                          <a:sym typeface="+mn-ea"/>
                        </a:rPr>
                        <a:t>、提交毕设的开题报告</a:t>
                      </a:r>
                      <a:endParaRPr lang="en-US" altLang="zh-CN" sz="1200" b="0" dirty="0"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ym typeface="+mn-ea"/>
                        </a:rPr>
                        <a:t>、需要把系统的技术框架、数据底层和运行逻辑画清楚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ym typeface="+mn-ea"/>
                        </a:rPr>
                        <a:t>、各步骤之间要有更强的关联性，而不是松散堆叠模块</a:t>
                      </a:r>
                      <a:endParaRPr lang="en-US" altLang="zh-CN" sz="120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ym typeface="+mn-ea"/>
                        </a:rPr>
                        <a:t>、系统应突出应用场景与实用价值，明确用户控制、反馈和交互逻辑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>
                          <a:sym typeface="+mn-ea"/>
                        </a:rPr>
                        <a:t>4</a:t>
                      </a:r>
                      <a:r>
                        <a:rPr lang="zh-CN" altLang="en-US" sz="1200" dirty="0">
                          <a:sym typeface="+mn-ea"/>
                        </a:rPr>
                        <a:t>、建议细化任务分工与阶段目标，并尽快对现有技术模块进行测试验证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200" dirty="0"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1</a:t>
                      </a:r>
                      <a:r>
                        <a:rPr lang="zh-CN" altLang="en-US" sz="1200" b="0" dirty="0">
                          <a:sym typeface="+mn-ea"/>
                        </a:rPr>
                        <a:t>、完成系统架构图</a:t>
                      </a: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2</a:t>
                      </a:r>
                      <a:r>
                        <a:rPr lang="zh-CN" altLang="en-US" sz="1200" b="0" dirty="0">
                          <a:sym typeface="+mn-ea"/>
                        </a:rPr>
                        <a:t>、设计系统案例、价值、情景化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D21392-3A86-AAF7-5938-0766D397C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483506"/>
              </p:ext>
            </p:extLst>
          </p:nvPr>
        </p:nvGraphicFramePr>
        <p:xfrm>
          <a:off x="-797" y="3634581"/>
          <a:ext cx="12192001" cy="2424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6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本周工作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导师建议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下周计划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/>
                        <a:t>3.21-4.10</a:t>
                      </a:r>
                      <a:endParaRPr lang="en-US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 dirty="0">
                          <a:sym typeface="+mn-ea"/>
                        </a:rPr>
                        <a:t>毕设：情智兼备的虚拟陪伴系统：</a:t>
                      </a:r>
                      <a:endParaRPr lang="en-US" altLang="zh-CN" sz="1200" b="1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1</a:t>
                      </a:r>
                      <a:r>
                        <a:rPr lang="zh-CN" altLang="en-US" sz="1200" b="0" dirty="0">
                          <a:sym typeface="+mn-ea"/>
                        </a:rPr>
                        <a:t>、完善系统首页、生成功能、互动页面展示</a:t>
                      </a: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2</a:t>
                      </a:r>
                      <a:r>
                        <a:rPr lang="zh-CN" altLang="en-US" sz="1200" b="0" dirty="0">
                          <a:sym typeface="+mn-ea"/>
                        </a:rPr>
                        <a:t>、研究个性化动作库及面部驱动</a:t>
                      </a: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3</a:t>
                      </a:r>
                      <a:r>
                        <a:rPr lang="zh-CN" altLang="en-US" sz="1200" b="0" dirty="0">
                          <a:sym typeface="+mn-ea"/>
                        </a:rPr>
                        <a:t>、集成 视频、音频情绪识别</a:t>
                      </a: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4</a:t>
                      </a:r>
                      <a:r>
                        <a:rPr lang="zh-CN" altLang="en-US" sz="1200" b="0" dirty="0">
                          <a:sym typeface="+mn-ea"/>
                        </a:rPr>
                        <a:t>、中期检查</a:t>
                      </a:r>
                      <a:endParaRPr lang="en-US" altLang="zh-CN" sz="1200" b="0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 dirty="0">
                          <a:sym typeface="+mn-ea"/>
                        </a:rPr>
                        <a:t>软创：虚实共疗阿斯伯格患儿</a:t>
                      </a:r>
                      <a:r>
                        <a:rPr lang="en-US" altLang="zh-CN" sz="1200" b="1" dirty="0">
                          <a:sym typeface="+mn-ea"/>
                        </a:rPr>
                        <a:t>3D</a:t>
                      </a:r>
                      <a:r>
                        <a:rPr lang="zh-CN" altLang="en-US" sz="1200" b="1" dirty="0">
                          <a:sym typeface="+mn-ea"/>
                        </a:rPr>
                        <a:t>虚拟伙伴</a:t>
                      </a:r>
                      <a:endParaRPr lang="en-US" altLang="zh-CN" sz="1200" b="1" dirty="0"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 dirty="0">
                          <a:sym typeface="+mn-ea"/>
                        </a:rPr>
                        <a:t>1</a:t>
                      </a:r>
                      <a:r>
                        <a:rPr lang="zh-CN" altLang="en-US" sz="1200" b="0" dirty="0">
                          <a:sym typeface="+mn-ea"/>
                        </a:rPr>
                        <a:t>、完成情绪识别集成、项目部署、录制视频、材料准备</a:t>
                      </a:r>
                      <a:endParaRPr lang="en-US" altLang="zh-CN" sz="1200" b="0" dirty="0"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200" dirty="0"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200" b="0" dirty="0"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994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şḻiḍè"/>
          <p:cNvSpPr/>
          <p:nvPr/>
        </p:nvSpPr>
        <p:spPr>
          <a:xfrm>
            <a:off x="72736" y="1705743"/>
            <a:ext cx="5502667" cy="3970789"/>
          </a:xfrm>
          <a:prstGeom prst="rect">
            <a:avLst/>
          </a:prstGeom>
          <a:blipFill rotWithShape="1">
            <a:blip r:embed="rId3"/>
            <a:stretch>
              <a:fillRect t="-29798" b="-2940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D1DADD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" name="išḷiḋê"/>
          <p:cNvSpPr/>
          <p:nvPr/>
        </p:nvSpPr>
        <p:spPr>
          <a:xfrm>
            <a:off x="893623" y="1705743"/>
            <a:ext cx="4681780" cy="3970789"/>
          </a:xfrm>
          <a:prstGeom prst="rect">
            <a:avLst/>
          </a:prstGeom>
          <a:solidFill>
            <a:schemeClr val="tx1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" name="ïşľíďe"/>
          <p:cNvSpPr txBox="1"/>
          <p:nvPr/>
        </p:nvSpPr>
        <p:spPr>
          <a:xfrm>
            <a:off x="893623" y="1781485"/>
            <a:ext cx="4581985" cy="370800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情智兼备的虚拟陪伴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生成关键技术及互系统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isļîḑê"/>
          <p:cNvSpPr/>
          <p:nvPr/>
        </p:nvSpPr>
        <p:spPr>
          <a:xfrm>
            <a:off x="6393166" y="4649057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0" name="išḷîḑè"/>
          <p:cNvSpPr/>
          <p:nvPr/>
        </p:nvSpPr>
        <p:spPr>
          <a:xfrm>
            <a:off x="6393166" y="3821553"/>
            <a:ext cx="540000" cy="540000"/>
          </a:xfrm>
          <a:prstGeom prst="ellipse">
            <a:avLst/>
          </a:pr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2" name="îŝḷïḓè"/>
          <p:cNvSpPr/>
          <p:nvPr/>
        </p:nvSpPr>
        <p:spPr>
          <a:xfrm>
            <a:off x="6393166" y="2994050"/>
            <a:ext cx="540000" cy="5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9" name="iślîḍé"/>
          <p:cNvSpPr txBox="1"/>
          <p:nvPr/>
        </p:nvSpPr>
        <p:spPr>
          <a:xfrm>
            <a:off x="7032083" y="3064934"/>
            <a:ext cx="1758626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研究现状及问题</a:t>
            </a:r>
          </a:p>
        </p:txBody>
      </p:sp>
      <p:sp>
        <p:nvSpPr>
          <p:cNvPr id="14" name="îṥļíḓê"/>
          <p:cNvSpPr/>
          <p:nvPr/>
        </p:nvSpPr>
        <p:spPr>
          <a:xfrm>
            <a:off x="6393166" y="2166547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7" name="íŝḻïďé"/>
          <p:cNvSpPr txBox="1"/>
          <p:nvPr/>
        </p:nvSpPr>
        <p:spPr>
          <a:xfrm>
            <a:off x="7032083" y="2236901"/>
            <a:ext cx="1758626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研究背景及目的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6186000" y="1781485"/>
            <a:ext cx="0" cy="370800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3C5EEB60D8612D4B7AC81916BAD_73A9D09F_43B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170" y="214630"/>
            <a:ext cx="2286635" cy="1018540"/>
          </a:xfrm>
          <a:prstGeom prst="rect">
            <a:avLst/>
          </a:prstGeom>
        </p:spPr>
      </p:pic>
      <p:sp>
        <p:nvSpPr>
          <p:cNvPr id="18" name="iślîḍé"/>
          <p:cNvSpPr txBox="1"/>
          <p:nvPr/>
        </p:nvSpPr>
        <p:spPr>
          <a:xfrm>
            <a:off x="7032082" y="3891907"/>
            <a:ext cx="1103999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研究内容及步骤</a:t>
            </a:r>
          </a:p>
        </p:txBody>
      </p:sp>
      <p:sp>
        <p:nvSpPr>
          <p:cNvPr id="20" name="iślîḍé"/>
          <p:cNvSpPr txBox="1"/>
          <p:nvPr/>
        </p:nvSpPr>
        <p:spPr>
          <a:xfrm>
            <a:off x="7032081" y="4719411"/>
            <a:ext cx="1103999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实验过程及结论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E6C3-F425-F6D0-0CAB-A50E20D1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28C45-4568-D6DE-5344-92C9BC67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</a:t>
            </a:r>
            <a:r>
              <a:rPr lang="zh-CN" altLang="en-GB" dirty="0"/>
              <a:t>背景</a:t>
            </a:r>
            <a:r>
              <a:rPr lang="zh-CN" altLang="en-US" dirty="0"/>
              <a:t>及目的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10A946-D4E2-68C2-144B-F2C80CB4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2D336AA0-14C0-94AB-6BBC-3B77B59F0EB9}"/>
              </a:ext>
            </a:extLst>
          </p:cNvPr>
          <p:cNvSpPr txBox="1"/>
          <p:nvPr/>
        </p:nvSpPr>
        <p:spPr>
          <a:xfrm>
            <a:off x="0" y="1196975"/>
            <a:ext cx="11780520" cy="3749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情智兼备的虚拟陪伴生成及互动系统</a:t>
            </a:r>
            <a:r>
              <a:rPr lang="zh-CN" altLang="en-US" sz="2400" dirty="0"/>
              <a:t>：</a:t>
            </a:r>
            <a:endParaRPr lang="zh-CN" altLang="en-US" sz="2000" dirty="0">
              <a:sym typeface="+mn-ea"/>
            </a:endParaRPr>
          </a:p>
          <a:p>
            <a:pPr lvl="1" algn="just">
              <a:lnSpc>
                <a:spcPct val="11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sym typeface="+mn-ea"/>
              </a:rPr>
              <a:t>系统目标：本系统</a:t>
            </a:r>
            <a:r>
              <a:rPr lang="zh-CN" altLang="en-US" sz="2000" dirty="0"/>
              <a:t>旨在突破传统虚拟助手“有指令无情感”</a:t>
            </a:r>
            <a:r>
              <a:rPr lang="zh-CN" altLang="en-US" sz="2000" b="1" dirty="0"/>
              <a:t>与数字人</a:t>
            </a:r>
            <a:r>
              <a:rPr lang="zh-CN" altLang="en-US" sz="2000" dirty="0"/>
              <a:t>“有形象无灵魂”</a:t>
            </a:r>
            <a:r>
              <a:rPr lang="zh-CN" altLang="en-US" sz="2000" b="1" dirty="0"/>
              <a:t>的交互瓶颈，致力于构建一套</a:t>
            </a:r>
            <a:r>
              <a:rPr lang="zh-CN" altLang="en-US" sz="2000" dirty="0"/>
              <a:t>全链路自动化</a:t>
            </a:r>
            <a:r>
              <a:rPr lang="zh-CN" altLang="en-US" sz="2000" b="1" dirty="0"/>
              <a:t>的虚拟陪伴系统，通过</a:t>
            </a:r>
            <a:r>
              <a:rPr lang="zh-CN" altLang="en-US" sz="2000" dirty="0"/>
              <a:t>多模态融合技术，实现从被动问答工具</a:t>
            </a:r>
            <a:r>
              <a:rPr lang="zh-CN" altLang="en-US" sz="2000" b="1" dirty="0"/>
              <a:t>向</a:t>
            </a:r>
            <a:r>
              <a:rPr lang="zh-CN" altLang="en-US" sz="2000" dirty="0"/>
              <a:t>主动情智陪伴的跨越。</a:t>
            </a:r>
            <a:endParaRPr lang="en-US" altLang="zh-CN" sz="2000" dirty="0">
              <a:sym typeface="+mn-ea"/>
            </a:endParaRPr>
          </a:p>
          <a:p>
            <a:pPr lvl="1" algn="just">
              <a:lnSpc>
                <a:spcPct val="110000"/>
              </a:lnSpc>
              <a:buFont typeface="Wingdings" panose="05000000000000000000" charset="0"/>
              <a:buChar char="n"/>
            </a:pPr>
            <a:endParaRPr lang="en-US" altLang="zh-CN" sz="2000" dirty="0">
              <a:sym typeface="+mn-ea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7C048A6-1551-B799-4E90-8FD282A97041}"/>
              </a:ext>
            </a:extLst>
          </p:cNvPr>
          <p:cNvSpPr/>
          <p:nvPr/>
        </p:nvSpPr>
        <p:spPr>
          <a:xfrm>
            <a:off x="951078" y="2733850"/>
            <a:ext cx="10697997" cy="40212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图形用户界面, 应用程序, 日程表&#10;&#10;AI 生成的内容可能不正确。">
            <a:extLst>
              <a:ext uri="{FF2B5EF4-FFF2-40B4-BE49-F238E27FC236}">
                <a16:creationId xmlns:a16="http://schemas.microsoft.com/office/drawing/2014/main" id="{64361BCF-4D63-89E5-56EE-1BFEC760D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238" y="2796226"/>
            <a:ext cx="9449676" cy="385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266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B905-6D15-AC20-CBBB-B958C1B86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227D2-95B7-C731-FD35-9954AE5C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</a:t>
            </a:r>
            <a:r>
              <a:rPr lang="zh-CN" altLang="en-GB" dirty="0"/>
              <a:t>背景</a:t>
            </a:r>
            <a:r>
              <a:rPr lang="zh-CN" altLang="en-US" dirty="0"/>
              <a:t>及目的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781480-3337-C616-C007-FF9D9EDA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14F2226A-CF45-33ED-1494-FEF1CF07A76C}"/>
              </a:ext>
            </a:extLst>
          </p:cNvPr>
          <p:cNvSpPr txBox="1"/>
          <p:nvPr/>
        </p:nvSpPr>
        <p:spPr>
          <a:xfrm>
            <a:off x="0" y="1196975"/>
            <a:ext cx="11780520" cy="3749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系统需求</a:t>
            </a:r>
            <a:r>
              <a:rPr lang="zh-CN" altLang="en-US" sz="2400" dirty="0"/>
              <a:t>：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好看的皮囊 ：需要高精度的</a:t>
            </a:r>
            <a:r>
              <a:rPr lang="en-US" altLang="zh-CN" sz="2200" dirty="0"/>
              <a:t>3D</a:t>
            </a:r>
            <a:r>
              <a:rPr lang="zh-CN" altLang="en-US" sz="2200" dirty="0"/>
              <a:t>模型生成与自动骨骼绑定（</a:t>
            </a:r>
            <a:r>
              <a:rPr lang="en-US" altLang="zh-CN" sz="2200" dirty="0"/>
              <a:t>3D</a:t>
            </a:r>
            <a:r>
              <a:rPr lang="zh-CN" altLang="en-US" sz="2200" dirty="0"/>
              <a:t>模型生成绑定模块）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有趣的灵魂 </a:t>
            </a:r>
            <a:r>
              <a:rPr lang="en-US" altLang="zh-CN" sz="2200" dirty="0"/>
              <a:t>: </a:t>
            </a:r>
            <a:r>
              <a:rPr lang="zh-CN" altLang="en-US" sz="2200" dirty="0"/>
              <a:t>需要</a:t>
            </a:r>
            <a:r>
              <a:rPr lang="en-US" altLang="zh-CN" sz="2200" dirty="0"/>
              <a:t>LLM</a:t>
            </a:r>
            <a:r>
              <a:rPr lang="zh-CN" altLang="en-US" sz="2200" dirty="0"/>
              <a:t>进行知识推理与角色扮演（</a:t>
            </a:r>
            <a:r>
              <a:rPr lang="en-US" altLang="zh-CN" sz="2200" dirty="0"/>
              <a:t>LLM</a:t>
            </a:r>
            <a:r>
              <a:rPr lang="zh-CN" altLang="en-US" sz="2200" dirty="0"/>
              <a:t>智能体模块）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敏锐的感知：不仅听懂文字，还要看懂表情、听懂语气（多模态感知模块）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生动的表达：动作要随情绪变化，而不只是动嘴皮子（多模态动作驱动模块）</a:t>
            </a:r>
            <a:endParaRPr lang="en-US" altLang="zh-CN" sz="2200" dirty="0"/>
          </a:p>
        </p:txBody>
      </p:sp>
      <p:pic>
        <p:nvPicPr>
          <p:cNvPr id="23" name="图片 22" descr="图表&#10;&#10;AI 生成的内容可能不正确。">
            <a:extLst>
              <a:ext uri="{FF2B5EF4-FFF2-40B4-BE49-F238E27FC236}">
                <a16:creationId xmlns:a16="http://schemas.microsoft.com/office/drawing/2014/main" id="{EFE307D6-5023-7FAB-63F5-00FA0D919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4" y="3998675"/>
            <a:ext cx="800141" cy="406421"/>
          </a:xfrm>
          <a:prstGeom prst="rect">
            <a:avLst/>
          </a:prstGeom>
        </p:spPr>
      </p:pic>
      <p:pic>
        <p:nvPicPr>
          <p:cNvPr id="25" name="图片 24" descr="图片包含 图标&#10;&#10;AI 生成的内容可能不正确。">
            <a:extLst>
              <a:ext uri="{FF2B5EF4-FFF2-40B4-BE49-F238E27FC236}">
                <a16:creationId xmlns:a16="http://schemas.microsoft.com/office/drawing/2014/main" id="{CD441FC4-572B-5232-D0FA-48EFBE385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71" y="4775354"/>
            <a:ext cx="1194482" cy="425472"/>
          </a:xfrm>
          <a:prstGeom prst="rect">
            <a:avLst/>
          </a:prstGeom>
        </p:spPr>
      </p:pic>
      <p:pic>
        <p:nvPicPr>
          <p:cNvPr id="27" name="图片 26" descr="文本, 图标&#10;&#10;AI 生成的内容可能不正确。">
            <a:extLst>
              <a:ext uri="{FF2B5EF4-FFF2-40B4-BE49-F238E27FC236}">
                <a16:creationId xmlns:a16="http://schemas.microsoft.com/office/drawing/2014/main" id="{F96A02BE-B8D2-1366-1B44-B7609817F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62" y="5650139"/>
            <a:ext cx="635033" cy="39372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ECCDDD3-C4CE-8A1C-2659-9786CBE8C7CE}"/>
              </a:ext>
            </a:extLst>
          </p:cNvPr>
          <p:cNvSpPr txBox="1"/>
          <p:nvPr/>
        </p:nvSpPr>
        <p:spPr>
          <a:xfrm>
            <a:off x="721407" y="3675047"/>
            <a:ext cx="800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音频输入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A8F9B1-FE74-A76A-C3F5-AC294EA7308D}"/>
              </a:ext>
            </a:extLst>
          </p:cNvPr>
          <p:cNvSpPr txBox="1"/>
          <p:nvPr/>
        </p:nvSpPr>
        <p:spPr>
          <a:xfrm>
            <a:off x="729592" y="4498355"/>
            <a:ext cx="800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视觉捕捉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DDC6EE4-7DD5-3C14-F6B0-F2C713B0A29C}"/>
              </a:ext>
            </a:extLst>
          </p:cNvPr>
          <p:cNvSpPr txBox="1"/>
          <p:nvPr/>
        </p:nvSpPr>
        <p:spPr>
          <a:xfrm>
            <a:off x="729595" y="5321663"/>
            <a:ext cx="800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文本输入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D6A6329-4936-CB6C-8F00-FBEB8CB700EA}"/>
              </a:ext>
            </a:extLst>
          </p:cNvPr>
          <p:cNvSpPr/>
          <p:nvPr/>
        </p:nvSpPr>
        <p:spPr>
          <a:xfrm>
            <a:off x="2702263" y="3543571"/>
            <a:ext cx="1558834" cy="288903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多模态融合</a:t>
            </a:r>
            <a:r>
              <a:rPr lang="en-US" altLang="zh-CN" dirty="0">
                <a:solidFill>
                  <a:schemeClr val="tx1"/>
                </a:solidFill>
              </a:rPr>
              <a:t>&amp;</a:t>
            </a:r>
            <a:r>
              <a:rPr lang="zh-CN" altLang="en-US" dirty="0">
                <a:solidFill>
                  <a:schemeClr val="tx1"/>
                </a:solidFill>
              </a:rPr>
              <a:t>情绪编码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0BD9F1D1-AE64-B8E3-18CE-674D6FBB2F1E}"/>
              </a:ext>
            </a:extLst>
          </p:cNvPr>
          <p:cNvSpPr/>
          <p:nvPr/>
        </p:nvSpPr>
        <p:spPr>
          <a:xfrm>
            <a:off x="1879334" y="4021247"/>
            <a:ext cx="770092" cy="406421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0B1781A3-D0FC-F7F1-9E7A-D00E78B9B529}"/>
              </a:ext>
            </a:extLst>
          </p:cNvPr>
          <p:cNvSpPr/>
          <p:nvPr/>
        </p:nvSpPr>
        <p:spPr>
          <a:xfrm>
            <a:off x="1879334" y="4828355"/>
            <a:ext cx="809734" cy="275503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CC01CDCC-D695-8713-3FA0-A172EF6C1EB1}"/>
              </a:ext>
            </a:extLst>
          </p:cNvPr>
          <p:cNvSpPr/>
          <p:nvPr/>
        </p:nvSpPr>
        <p:spPr>
          <a:xfrm>
            <a:off x="1879334" y="5658401"/>
            <a:ext cx="764103" cy="363961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EA357FC6-FFA7-B8FA-1BE0-EB117F97C7DF}"/>
              </a:ext>
            </a:extLst>
          </p:cNvPr>
          <p:cNvSpPr/>
          <p:nvPr/>
        </p:nvSpPr>
        <p:spPr>
          <a:xfrm>
            <a:off x="4401024" y="3690730"/>
            <a:ext cx="806733" cy="363961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320B0F9-CDA4-279A-A135-A52E154D5DE1}"/>
              </a:ext>
            </a:extLst>
          </p:cNvPr>
          <p:cNvSpPr/>
          <p:nvPr/>
        </p:nvSpPr>
        <p:spPr>
          <a:xfrm>
            <a:off x="5300542" y="3523977"/>
            <a:ext cx="1976845" cy="831130"/>
          </a:xfrm>
          <a:prstGeom prst="roundRect">
            <a:avLst>
              <a:gd name="adj" fmla="val 3401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基于</a:t>
            </a:r>
            <a:r>
              <a:rPr lang="en-US" altLang="zh-CN" dirty="0">
                <a:solidFill>
                  <a:schemeClr val="tx1"/>
                </a:solidFill>
              </a:rPr>
              <a:t>LLM</a:t>
            </a:r>
            <a:r>
              <a:rPr lang="zh-CN" altLang="en-US" dirty="0">
                <a:solidFill>
                  <a:schemeClr val="tx1"/>
                </a:solidFill>
              </a:rPr>
              <a:t>智能体（分析</a:t>
            </a:r>
            <a:r>
              <a:rPr lang="en-US" altLang="zh-CN" dirty="0">
                <a:solidFill>
                  <a:schemeClr val="tx1"/>
                </a:solidFill>
              </a:rPr>
              <a:t>&amp;</a:t>
            </a:r>
            <a:r>
              <a:rPr lang="zh-CN" altLang="en-US" dirty="0">
                <a:solidFill>
                  <a:schemeClr val="tx1"/>
                </a:solidFill>
              </a:rPr>
              <a:t>决策）</a:t>
            </a:r>
          </a:p>
        </p:txBody>
      </p:sp>
      <p:pic>
        <p:nvPicPr>
          <p:cNvPr id="47" name="图片 46" descr="图片包含 游戏机, 杯子, 平底锅&#10;&#10;AI 生成的内容可能不正确。">
            <a:extLst>
              <a:ext uri="{FF2B5EF4-FFF2-40B4-BE49-F238E27FC236}">
                <a16:creationId xmlns:a16="http://schemas.microsoft.com/office/drawing/2014/main" id="{C63022D4-70C7-8EAB-F522-3432CB824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8286" y="5550694"/>
            <a:ext cx="774740" cy="48897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0CB3A51A-83C4-C9C8-CA05-0B2C4E737832}"/>
              </a:ext>
            </a:extLst>
          </p:cNvPr>
          <p:cNvSpPr txBox="1"/>
          <p:nvPr/>
        </p:nvSpPr>
        <p:spPr>
          <a:xfrm>
            <a:off x="5300542" y="6103219"/>
            <a:ext cx="949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长记忆</a:t>
            </a:r>
          </a:p>
        </p:txBody>
      </p:sp>
      <p:pic>
        <p:nvPicPr>
          <p:cNvPr id="49" name="图片 48" descr="图片包含 游戏机&#10;&#10;AI 生成的内容可能不正确。">
            <a:extLst>
              <a:ext uri="{FF2B5EF4-FFF2-40B4-BE49-F238E27FC236}">
                <a16:creationId xmlns:a16="http://schemas.microsoft.com/office/drawing/2014/main" id="{41F88C97-C9BE-DEFD-2201-B8049005BF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2692" y="5586380"/>
            <a:ext cx="628682" cy="463574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ED7CF621-0950-4F3D-B822-99CEB23CA802}"/>
              </a:ext>
            </a:extLst>
          </p:cNvPr>
          <p:cNvSpPr txBox="1"/>
          <p:nvPr/>
        </p:nvSpPr>
        <p:spPr>
          <a:xfrm>
            <a:off x="6563285" y="6102326"/>
            <a:ext cx="836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人物文化</a:t>
            </a:r>
          </a:p>
        </p:txBody>
      </p:sp>
      <p:sp>
        <p:nvSpPr>
          <p:cNvPr id="51" name="箭头: 上 50">
            <a:extLst>
              <a:ext uri="{FF2B5EF4-FFF2-40B4-BE49-F238E27FC236}">
                <a16:creationId xmlns:a16="http://schemas.microsoft.com/office/drawing/2014/main" id="{7C968853-777A-788E-A4DD-5E367F524D53}"/>
              </a:ext>
            </a:extLst>
          </p:cNvPr>
          <p:cNvSpPr/>
          <p:nvPr/>
        </p:nvSpPr>
        <p:spPr>
          <a:xfrm>
            <a:off x="5486405" y="4459666"/>
            <a:ext cx="136354" cy="954776"/>
          </a:xfrm>
          <a:prstGeom prst="up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上 51">
            <a:extLst>
              <a:ext uri="{FF2B5EF4-FFF2-40B4-BE49-F238E27FC236}">
                <a16:creationId xmlns:a16="http://schemas.microsoft.com/office/drawing/2014/main" id="{A06705CC-553C-E3B8-86E8-71920CE6942F}"/>
              </a:ext>
            </a:extLst>
          </p:cNvPr>
          <p:cNvSpPr/>
          <p:nvPr/>
        </p:nvSpPr>
        <p:spPr>
          <a:xfrm>
            <a:off x="6711713" y="4438774"/>
            <a:ext cx="136354" cy="975667"/>
          </a:xfrm>
          <a:prstGeom prst="up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C8ABF9A2-7D25-F00D-F153-5232D8DEB81E}"/>
              </a:ext>
            </a:extLst>
          </p:cNvPr>
          <p:cNvSpPr/>
          <p:nvPr/>
        </p:nvSpPr>
        <p:spPr>
          <a:xfrm>
            <a:off x="5739236" y="4459666"/>
            <a:ext cx="136354" cy="975667"/>
          </a:xfrm>
          <a:prstGeom prst="down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箭头: 下 53">
            <a:extLst>
              <a:ext uri="{FF2B5EF4-FFF2-40B4-BE49-F238E27FC236}">
                <a16:creationId xmlns:a16="http://schemas.microsoft.com/office/drawing/2014/main" id="{06BF0123-868B-45A2-81B0-05F70ABE9C6F}"/>
              </a:ext>
            </a:extLst>
          </p:cNvPr>
          <p:cNvSpPr/>
          <p:nvPr/>
        </p:nvSpPr>
        <p:spPr>
          <a:xfrm>
            <a:off x="6943196" y="4448234"/>
            <a:ext cx="157702" cy="975668"/>
          </a:xfrm>
          <a:prstGeom prst="down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03ECC6E9-0906-F812-9445-B9F8F2682D23}"/>
              </a:ext>
            </a:extLst>
          </p:cNvPr>
          <p:cNvSpPr/>
          <p:nvPr/>
        </p:nvSpPr>
        <p:spPr>
          <a:xfrm>
            <a:off x="6095522" y="5650139"/>
            <a:ext cx="524253" cy="114156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左 55">
            <a:extLst>
              <a:ext uri="{FF2B5EF4-FFF2-40B4-BE49-F238E27FC236}">
                <a16:creationId xmlns:a16="http://schemas.microsoft.com/office/drawing/2014/main" id="{9ED19AFC-F062-3D52-5157-20D911141C63}"/>
              </a:ext>
            </a:extLst>
          </p:cNvPr>
          <p:cNvSpPr/>
          <p:nvPr/>
        </p:nvSpPr>
        <p:spPr>
          <a:xfrm>
            <a:off x="6095522" y="5863456"/>
            <a:ext cx="493171" cy="114155"/>
          </a:xfrm>
          <a:prstGeom prst="lef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46DDAE2-71F3-2BEB-3CA8-2DAC9BF4BDD1}"/>
              </a:ext>
            </a:extLst>
          </p:cNvPr>
          <p:cNvSpPr/>
          <p:nvPr/>
        </p:nvSpPr>
        <p:spPr>
          <a:xfrm>
            <a:off x="214736" y="3523977"/>
            <a:ext cx="1651404" cy="28890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47EEA539-55F4-342A-33E7-D0C3C7D51DB3}"/>
              </a:ext>
            </a:extLst>
          </p:cNvPr>
          <p:cNvSpPr/>
          <p:nvPr/>
        </p:nvSpPr>
        <p:spPr>
          <a:xfrm>
            <a:off x="7723278" y="3501950"/>
            <a:ext cx="1558834" cy="288903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生成驱动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生成音频</a:t>
            </a:r>
          </a:p>
        </p:txBody>
      </p:sp>
      <p:pic>
        <p:nvPicPr>
          <p:cNvPr id="59" name="图片 58" descr="卡通人物&#10;&#10;AI 生成的内容可能不正确。">
            <a:extLst>
              <a:ext uri="{FF2B5EF4-FFF2-40B4-BE49-F238E27FC236}">
                <a16:creationId xmlns:a16="http://schemas.microsoft.com/office/drawing/2014/main" id="{B78F2003-CE69-ED1D-7338-FE0BE01465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2398" y="5414442"/>
            <a:ext cx="977950" cy="539778"/>
          </a:xfrm>
          <a:prstGeom prst="rect">
            <a:avLst/>
          </a:prstGeom>
        </p:spPr>
      </p:pic>
      <p:sp>
        <p:nvSpPr>
          <p:cNvPr id="60" name="箭头: 右 59">
            <a:extLst>
              <a:ext uri="{FF2B5EF4-FFF2-40B4-BE49-F238E27FC236}">
                <a16:creationId xmlns:a16="http://schemas.microsoft.com/office/drawing/2014/main" id="{DBA98AD2-1AE1-30F7-5C58-E8448C9D7C4E}"/>
              </a:ext>
            </a:extLst>
          </p:cNvPr>
          <p:cNvSpPr/>
          <p:nvPr/>
        </p:nvSpPr>
        <p:spPr>
          <a:xfrm>
            <a:off x="7323655" y="3757561"/>
            <a:ext cx="405140" cy="363961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F24B5A6A-F32D-6C72-C7BB-303C8927405B}"/>
              </a:ext>
            </a:extLst>
          </p:cNvPr>
          <p:cNvSpPr/>
          <p:nvPr/>
        </p:nvSpPr>
        <p:spPr>
          <a:xfrm>
            <a:off x="9435829" y="4591749"/>
            <a:ext cx="574790" cy="363961"/>
          </a:xfrm>
          <a:prstGeom prst="rightArrow">
            <a:avLst/>
          </a:prstGeom>
          <a:solidFill>
            <a:srgbClr val="05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图片 61" descr="卡通人物&#10;&#10;AI 生成的内容可能不正确。">
            <a:extLst>
              <a:ext uri="{FF2B5EF4-FFF2-40B4-BE49-F238E27FC236}">
                <a16:creationId xmlns:a16="http://schemas.microsoft.com/office/drawing/2014/main" id="{B3813081-309A-4128-F736-7D1EAE9CF8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3462" y="5954220"/>
            <a:ext cx="584230" cy="520727"/>
          </a:xfrm>
          <a:prstGeom prst="rect">
            <a:avLst/>
          </a:prstGeom>
        </p:spPr>
      </p:pic>
      <p:pic>
        <p:nvPicPr>
          <p:cNvPr id="63" name="图片 62" descr="图表, 折线图&#10;&#10;AI 生成的内容可能不正确。">
            <a:extLst>
              <a:ext uri="{FF2B5EF4-FFF2-40B4-BE49-F238E27FC236}">
                <a16:creationId xmlns:a16="http://schemas.microsoft.com/office/drawing/2014/main" id="{6DA218F3-3D0E-84D0-DBDC-8F4FC38E91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1956" y="5423902"/>
            <a:ext cx="566985" cy="361969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04C6058D-4403-11CD-D079-1F6878E6EE07}"/>
              </a:ext>
            </a:extLst>
          </p:cNvPr>
          <p:cNvSpPr txBox="1"/>
          <p:nvPr/>
        </p:nvSpPr>
        <p:spPr>
          <a:xfrm>
            <a:off x="10810502" y="5460162"/>
            <a:ext cx="81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音频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72C2E88-4A41-0A4C-4DF8-821EB8DF7150}"/>
              </a:ext>
            </a:extLst>
          </p:cNvPr>
          <p:cNvSpPr txBox="1"/>
          <p:nvPr/>
        </p:nvSpPr>
        <p:spPr>
          <a:xfrm>
            <a:off x="10723555" y="5977611"/>
            <a:ext cx="1002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人物驱动</a:t>
            </a:r>
          </a:p>
        </p:txBody>
      </p:sp>
      <p:pic>
        <p:nvPicPr>
          <p:cNvPr id="66" name="图片 65" descr="男人拿着照相机&#10;&#10;AI 生成的内容可能不正确。">
            <a:extLst>
              <a:ext uri="{FF2B5EF4-FFF2-40B4-BE49-F238E27FC236}">
                <a16:creationId xmlns:a16="http://schemas.microsoft.com/office/drawing/2014/main" id="{9237285C-7851-5888-B93D-07CA75F094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9321" y="3623155"/>
            <a:ext cx="1688414" cy="1627335"/>
          </a:xfrm>
          <a:prstGeom prst="rect">
            <a:avLst/>
          </a:prstGeom>
        </p:spPr>
      </p:pic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B693A05-0DF1-DEDA-6906-3C900051DC04}"/>
              </a:ext>
            </a:extLst>
          </p:cNvPr>
          <p:cNvSpPr/>
          <p:nvPr/>
        </p:nvSpPr>
        <p:spPr>
          <a:xfrm>
            <a:off x="98039" y="3219490"/>
            <a:ext cx="4193845" cy="3433156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93E5393-7947-CB2C-B8E4-B91FCF4286ED}"/>
              </a:ext>
            </a:extLst>
          </p:cNvPr>
          <p:cNvSpPr txBox="1"/>
          <p:nvPr/>
        </p:nvSpPr>
        <p:spPr>
          <a:xfrm>
            <a:off x="1793832" y="3260650"/>
            <a:ext cx="1194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感知层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E0E4DF8-2CC7-4BE1-B9CC-0B10D1A05055}"/>
              </a:ext>
            </a:extLst>
          </p:cNvPr>
          <p:cNvSpPr/>
          <p:nvPr/>
        </p:nvSpPr>
        <p:spPr>
          <a:xfrm>
            <a:off x="5228286" y="3218464"/>
            <a:ext cx="2074840" cy="3433156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BB282E1-A637-699F-2017-D74C37D10679}"/>
              </a:ext>
            </a:extLst>
          </p:cNvPr>
          <p:cNvSpPr txBox="1"/>
          <p:nvPr/>
        </p:nvSpPr>
        <p:spPr>
          <a:xfrm>
            <a:off x="5747170" y="3203163"/>
            <a:ext cx="118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认知层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4A69350-14F2-32A5-BE13-D64FB2E08BD5}"/>
              </a:ext>
            </a:extLst>
          </p:cNvPr>
          <p:cNvSpPr/>
          <p:nvPr/>
        </p:nvSpPr>
        <p:spPr>
          <a:xfrm>
            <a:off x="7723278" y="3218464"/>
            <a:ext cx="4193845" cy="3498220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96C69DC-28BE-9BF6-B5F0-222023EAE2BE}"/>
              </a:ext>
            </a:extLst>
          </p:cNvPr>
          <p:cNvSpPr txBox="1"/>
          <p:nvPr/>
        </p:nvSpPr>
        <p:spPr>
          <a:xfrm>
            <a:off x="9314658" y="3236230"/>
            <a:ext cx="87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表现层</a:t>
            </a:r>
          </a:p>
        </p:txBody>
      </p:sp>
    </p:spTree>
    <p:extLst>
      <p:ext uri="{BB962C8B-B14F-4D97-AF65-F5344CB8AC3E}">
        <p14:creationId xmlns:p14="http://schemas.microsoft.com/office/powerpoint/2010/main" val="38724530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51A5-3135-8A96-B111-17946405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EC6BC-C853-7186-3B3B-49627864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</a:t>
            </a:r>
            <a:r>
              <a:rPr lang="zh-CN" altLang="en-GB" dirty="0"/>
              <a:t>背景</a:t>
            </a:r>
            <a:r>
              <a:rPr lang="zh-CN" altLang="en-US" dirty="0"/>
              <a:t>及目的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CD1584-B28D-F16F-5118-70454DBA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D65A3F32-DCC8-9C06-153F-75EB7641F965}"/>
              </a:ext>
            </a:extLst>
          </p:cNvPr>
          <p:cNvSpPr txBox="1"/>
          <p:nvPr/>
        </p:nvSpPr>
        <p:spPr>
          <a:xfrm>
            <a:off x="0" y="1196975"/>
            <a:ext cx="11780520" cy="3749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现有工作</a:t>
            </a:r>
            <a:r>
              <a:rPr lang="zh-CN" altLang="en-US" sz="2400" dirty="0"/>
              <a:t>：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r>
              <a:rPr lang="en-US" altLang="zh-CN" sz="2200" dirty="0" err="1"/>
              <a:t>2D</a:t>
            </a:r>
            <a:r>
              <a:rPr lang="zh-CN" altLang="en-US" sz="2200" dirty="0"/>
              <a:t>、</a:t>
            </a:r>
            <a:r>
              <a:rPr lang="en-US" altLang="zh-CN" sz="2200" dirty="0"/>
              <a:t>3D</a:t>
            </a:r>
            <a:r>
              <a:rPr lang="zh-CN" altLang="en-US" sz="2200" dirty="0"/>
              <a:t>视觉数字人系统：</a:t>
            </a:r>
            <a:r>
              <a:rPr lang="zh-CN" altLang="en-US" sz="2400" dirty="0"/>
              <a:t>侧重于</a:t>
            </a:r>
            <a:r>
              <a:rPr lang="zh-CN" altLang="en-US" sz="2400" b="1" dirty="0">
                <a:solidFill>
                  <a:srgbClr val="C00000"/>
                </a:solidFill>
              </a:rPr>
              <a:t>视觉渲染</a:t>
            </a:r>
            <a:r>
              <a:rPr lang="zh-CN" altLang="en-US" sz="2400" dirty="0"/>
              <a:t>与</a:t>
            </a:r>
            <a:r>
              <a:rPr lang="zh-CN" altLang="en-US" sz="2400" b="1" dirty="0">
                <a:solidFill>
                  <a:srgbClr val="C00000"/>
                </a:solidFill>
              </a:rPr>
              <a:t>动作驱动</a:t>
            </a:r>
            <a:r>
              <a:rPr lang="zh-CN" altLang="en-US" sz="2400" dirty="0"/>
              <a:t>的形象展示的虚拟陪伴系统。</a:t>
            </a: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无界面智能体：侧重于</a:t>
            </a:r>
            <a:r>
              <a:rPr lang="zh-CN" altLang="en-US" sz="2200" b="1" dirty="0">
                <a:solidFill>
                  <a:srgbClr val="C00000"/>
                </a:solidFill>
              </a:rPr>
              <a:t>语义理解</a:t>
            </a:r>
            <a:r>
              <a:rPr lang="zh-CN" altLang="en-US" sz="2200" dirty="0"/>
              <a:t>与</a:t>
            </a:r>
            <a:r>
              <a:rPr lang="zh-CN" altLang="en-US" sz="2200" b="1" dirty="0">
                <a:solidFill>
                  <a:srgbClr val="C00000"/>
                </a:solidFill>
              </a:rPr>
              <a:t>情感计算</a:t>
            </a:r>
            <a:r>
              <a:rPr lang="zh-CN" altLang="en-US" sz="2200" dirty="0"/>
              <a:t>的文本</a:t>
            </a:r>
            <a:r>
              <a:rPr lang="en-US" altLang="zh-CN" sz="2200" dirty="0"/>
              <a:t>/</a:t>
            </a:r>
            <a:r>
              <a:rPr lang="zh-CN" altLang="en-US" sz="2200" dirty="0"/>
              <a:t>语音形式的虚拟陪伴系统。</a:t>
            </a:r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7D06DA-38F5-9EFF-D73F-BA6B6582B05E}"/>
              </a:ext>
            </a:extLst>
          </p:cNvPr>
          <p:cNvSpPr/>
          <p:nvPr/>
        </p:nvSpPr>
        <p:spPr>
          <a:xfrm>
            <a:off x="289349" y="2803798"/>
            <a:ext cx="5316071" cy="2677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00488B-5A72-A85F-1B24-BDF6EB76085C}"/>
              </a:ext>
            </a:extLst>
          </p:cNvPr>
          <p:cNvSpPr/>
          <p:nvPr/>
        </p:nvSpPr>
        <p:spPr>
          <a:xfrm>
            <a:off x="5987189" y="2803798"/>
            <a:ext cx="5411561" cy="2677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28E3ED4-E5BB-F1C2-C5CF-12FF7D44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68" y="3118545"/>
            <a:ext cx="1215129" cy="628160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FDAAB4D-224C-0387-2DF0-49B77E89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84471"/>
            <a:ext cx="1531275" cy="66190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8992AA-E801-4CA8-C875-A8539C72DFB8}"/>
              </a:ext>
            </a:extLst>
          </p:cNvPr>
          <p:cNvSpPr txBox="1"/>
          <p:nvPr/>
        </p:nvSpPr>
        <p:spPr>
          <a:xfrm>
            <a:off x="861815" y="3746705"/>
            <a:ext cx="73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pic>
        <p:nvPicPr>
          <p:cNvPr id="12" name="图片 11" descr="卡通人物&#10;&#10;AI 生成的内容可能不正确。">
            <a:extLst>
              <a:ext uri="{FF2B5EF4-FFF2-40B4-BE49-F238E27FC236}">
                <a16:creationId xmlns:a16="http://schemas.microsoft.com/office/drawing/2014/main" id="{202380E6-EC7C-C3DE-1F3C-12106A87F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754" y="2932627"/>
            <a:ext cx="462894" cy="890853"/>
          </a:xfrm>
          <a:prstGeom prst="rect">
            <a:avLst/>
          </a:prstGeom>
        </p:spPr>
      </p:pic>
      <p:pic>
        <p:nvPicPr>
          <p:cNvPr id="14" name="图片 13" descr="图标&#10;&#10;AI 生成的内容可能不正确。">
            <a:extLst>
              <a:ext uri="{FF2B5EF4-FFF2-40B4-BE49-F238E27FC236}">
                <a16:creationId xmlns:a16="http://schemas.microsoft.com/office/drawing/2014/main" id="{33EF1251-BF42-0595-1280-4FABA01CD6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814" y="3785836"/>
            <a:ext cx="875678" cy="755114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95C263B-88D2-A315-3A6A-73DF626D620F}"/>
              </a:ext>
            </a:extLst>
          </p:cNvPr>
          <p:cNvSpPr/>
          <p:nvPr/>
        </p:nvSpPr>
        <p:spPr>
          <a:xfrm>
            <a:off x="2267668" y="2878872"/>
            <a:ext cx="1125767" cy="1813929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C2CE7D2-D8A8-66FA-4A3E-6D6AF3F8C523}"/>
              </a:ext>
            </a:extLst>
          </p:cNvPr>
          <p:cNvSpPr/>
          <p:nvPr/>
        </p:nvSpPr>
        <p:spPr>
          <a:xfrm>
            <a:off x="1678523" y="3676607"/>
            <a:ext cx="450701" cy="2805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77630471-E687-8B88-39C2-B12230591FC5}"/>
              </a:ext>
            </a:extLst>
          </p:cNvPr>
          <p:cNvSpPr/>
          <p:nvPr/>
        </p:nvSpPr>
        <p:spPr>
          <a:xfrm>
            <a:off x="3531879" y="3692761"/>
            <a:ext cx="477594" cy="2687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808AAA-DCD6-992E-A279-36B80BCC685B}"/>
              </a:ext>
            </a:extLst>
          </p:cNvPr>
          <p:cNvSpPr txBox="1"/>
          <p:nvPr/>
        </p:nvSpPr>
        <p:spPr>
          <a:xfrm>
            <a:off x="2243686" y="4789823"/>
            <a:ext cx="1342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语义理解</a:t>
            </a:r>
            <a:endParaRPr lang="en-US" altLang="zh-CN" dirty="0"/>
          </a:p>
          <a:p>
            <a:r>
              <a:rPr lang="zh-CN" altLang="en-US" dirty="0"/>
              <a:t>情感计算</a:t>
            </a:r>
          </a:p>
        </p:txBody>
      </p:sp>
      <p:pic>
        <p:nvPicPr>
          <p:cNvPr id="21" name="图片 20" descr="图标&#10;&#10;AI 生成的内容可能不正确。">
            <a:extLst>
              <a:ext uri="{FF2B5EF4-FFF2-40B4-BE49-F238E27FC236}">
                <a16:creationId xmlns:a16="http://schemas.microsoft.com/office/drawing/2014/main" id="{04E797EA-B0CF-F7D6-0D19-98AEEECCF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917" y="2948939"/>
            <a:ext cx="1322675" cy="1874747"/>
          </a:xfrm>
          <a:prstGeom prst="rect">
            <a:avLst/>
          </a:prstGeom>
        </p:spPr>
      </p:pic>
      <p:pic>
        <p:nvPicPr>
          <p:cNvPr id="22" name="图片 21" descr="文本&#10;&#10;AI 生成的内容可能不正确。">
            <a:extLst>
              <a:ext uri="{FF2B5EF4-FFF2-40B4-BE49-F238E27FC236}">
                <a16:creationId xmlns:a16="http://schemas.microsoft.com/office/drawing/2014/main" id="{2686B413-6CD2-49A3-E1C8-1C2918C597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15" r="60461"/>
          <a:stretch>
            <a:fillRect/>
          </a:stretch>
        </p:blipFill>
        <p:spPr>
          <a:xfrm>
            <a:off x="4640029" y="3361498"/>
            <a:ext cx="400553" cy="5248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4828A44-7493-F551-D217-8D92968CE7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655" y="3963629"/>
            <a:ext cx="425472" cy="304816"/>
          </a:xfrm>
          <a:prstGeom prst="rect">
            <a:avLst/>
          </a:prstGeom>
        </p:spPr>
      </p:pic>
      <p:pic>
        <p:nvPicPr>
          <p:cNvPr id="29" name="图片 28" descr="文本&#10;&#10;AI 生成的内容可能不正确。">
            <a:extLst>
              <a:ext uri="{FF2B5EF4-FFF2-40B4-BE49-F238E27FC236}">
                <a16:creationId xmlns:a16="http://schemas.microsoft.com/office/drawing/2014/main" id="{84F02AD9-0606-CC14-2BF2-8356CCBAC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550" y="3208695"/>
            <a:ext cx="1215129" cy="649980"/>
          </a:xfrm>
          <a:prstGeom prst="rect">
            <a:avLst/>
          </a:prstGeom>
        </p:spPr>
      </p:pic>
      <p:pic>
        <p:nvPicPr>
          <p:cNvPr id="30" name="图片 29" descr="文本&#10;&#10;AI 生成的内容可能不正确。">
            <a:extLst>
              <a:ext uri="{FF2B5EF4-FFF2-40B4-BE49-F238E27FC236}">
                <a16:creationId xmlns:a16="http://schemas.microsoft.com/office/drawing/2014/main" id="{97C3582F-9679-59D8-7D42-C07B219E4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516" y="4152427"/>
            <a:ext cx="1531275" cy="68489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FC67A11B-9E64-AFC1-32B6-8CA3D25F1797}"/>
              </a:ext>
            </a:extLst>
          </p:cNvPr>
          <p:cNvSpPr txBox="1"/>
          <p:nvPr/>
        </p:nvSpPr>
        <p:spPr>
          <a:xfrm>
            <a:off x="6570097" y="3836855"/>
            <a:ext cx="73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91F86F0A-01BF-2FB0-D430-52F20BD0297A}"/>
              </a:ext>
            </a:extLst>
          </p:cNvPr>
          <p:cNvSpPr/>
          <p:nvPr/>
        </p:nvSpPr>
        <p:spPr>
          <a:xfrm>
            <a:off x="7233711" y="3812826"/>
            <a:ext cx="450701" cy="29025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模糊的照片人的脸被修图&#10;&#10;AI 生成的内容可能不正确。">
            <a:extLst>
              <a:ext uri="{FF2B5EF4-FFF2-40B4-BE49-F238E27FC236}">
                <a16:creationId xmlns:a16="http://schemas.microsoft.com/office/drawing/2014/main" id="{5CEFE122-CA22-F6BD-CB39-3E96170C3C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0002" y="3294207"/>
            <a:ext cx="533427" cy="1268186"/>
          </a:xfrm>
          <a:prstGeom prst="rect">
            <a:avLst/>
          </a:prstGeom>
        </p:spPr>
      </p:pic>
      <p:pic>
        <p:nvPicPr>
          <p:cNvPr id="35" name="图片 34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BC1ED798-0BB7-D814-76CA-47259525CF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9581" y="2879745"/>
            <a:ext cx="662178" cy="2190847"/>
          </a:xfrm>
          <a:prstGeom prst="rect">
            <a:avLst/>
          </a:prstGeom>
        </p:spPr>
      </p:pic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FDDB2C3D-4C02-6662-1044-AD2C719D3B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597" y="3234098"/>
            <a:ext cx="1965855" cy="710336"/>
          </a:xfrm>
          <a:prstGeom prst="rect">
            <a:avLst/>
          </a:prstGeom>
        </p:spPr>
      </p:pic>
      <p:pic>
        <p:nvPicPr>
          <p:cNvPr id="39" name="图片 38" descr="文本&#10;&#10;AI 生成的内容可能不正确。">
            <a:extLst>
              <a:ext uri="{FF2B5EF4-FFF2-40B4-BE49-F238E27FC236}">
                <a16:creationId xmlns:a16="http://schemas.microsoft.com/office/drawing/2014/main" id="{6E7E745B-BB79-FE28-7B6C-7754E6DFB0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506" y="3886079"/>
            <a:ext cx="1999336" cy="865372"/>
          </a:xfrm>
          <a:prstGeom prst="rect">
            <a:avLst/>
          </a:prstGeom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E0CF2FF-75A6-0431-8B6F-9D9FFE1DFD90}"/>
              </a:ext>
            </a:extLst>
          </p:cNvPr>
          <p:cNvSpPr/>
          <p:nvPr/>
        </p:nvSpPr>
        <p:spPr>
          <a:xfrm>
            <a:off x="7711407" y="3031430"/>
            <a:ext cx="2125435" cy="1876937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D9197937-811B-0ACC-2050-AE5E440F471B}"/>
              </a:ext>
            </a:extLst>
          </p:cNvPr>
          <p:cNvSpPr/>
          <p:nvPr/>
        </p:nvSpPr>
        <p:spPr>
          <a:xfrm>
            <a:off x="9836842" y="3798139"/>
            <a:ext cx="292918" cy="21699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A2E4B1-6422-E38C-1BB5-938EE954B7D7}"/>
              </a:ext>
            </a:extLst>
          </p:cNvPr>
          <p:cNvSpPr txBox="1"/>
          <p:nvPr/>
        </p:nvSpPr>
        <p:spPr>
          <a:xfrm>
            <a:off x="476735" y="5786734"/>
            <a:ext cx="4875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代表案例：科大讯飞数字人</a:t>
            </a:r>
            <a:r>
              <a:rPr lang="en-US" altLang="zh-CN" dirty="0"/>
              <a:t>,</a:t>
            </a:r>
            <a:r>
              <a:rPr lang="zh-CN" altLang="en-US" dirty="0"/>
              <a:t>悬河</a:t>
            </a:r>
            <a:r>
              <a:rPr lang="en-US" altLang="zh-CN" dirty="0"/>
              <a:t>ai, </a:t>
            </a:r>
            <a:r>
              <a:rPr lang="zh-CN" altLang="en-US" dirty="0"/>
              <a:t>微软小冰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2BF151-125B-B345-3763-CBCF40DE2B16}"/>
              </a:ext>
            </a:extLst>
          </p:cNvPr>
          <p:cNvSpPr txBox="1"/>
          <p:nvPr/>
        </p:nvSpPr>
        <p:spPr>
          <a:xfrm>
            <a:off x="6265559" y="5707037"/>
            <a:ext cx="506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代表案例：</a:t>
            </a:r>
            <a:r>
              <a:rPr lang="en-US" altLang="zh-CN" dirty="0"/>
              <a:t> </a:t>
            </a:r>
            <a:r>
              <a:rPr lang="en-US" altLang="zh-CN" dirty="0" err="1"/>
              <a:t>GMTalker</a:t>
            </a:r>
            <a:r>
              <a:rPr lang="zh-CN" altLang="en-US" dirty="0"/>
              <a:t>、火山数字人、</a:t>
            </a:r>
            <a:r>
              <a:rPr lang="en-US" altLang="zh-CN" dirty="0"/>
              <a:t>LAM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0038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E915D-0D9C-326B-250C-1FC865C6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F87B6-1F8F-2A16-3941-ACC0B6FF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</a:t>
            </a:r>
            <a:r>
              <a:rPr lang="zh-CN" altLang="en-GB" dirty="0"/>
              <a:t>背景</a:t>
            </a:r>
            <a:r>
              <a:rPr lang="zh-CN" altLang="en-US" dirty="0"/>
              <a:t>及目的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48CA4-A740-1DEF-7A5F-CEB6F1B7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878DF7AC-4E40-44DF-4D33-885F8A7DE62E}"/>
              </a:ext>
            </a:extLst>
          </p:cNvPr>
          <p:cNvSpPr txBox="1"/>
          <p:nvPr/>
        </p:nvSpPr>
        <p:spPr>
          <a:xfrm>
            <a:off x="0" y="1196975"/>
            <a:ext cx="11780520" cy="37494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现有主要问题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表现层有文无情：</a:t>
            </a:r>
            <a:r>
              <a:rPr lang="zh-CN" altLang="en-US" sz="2000" b="1" dirty="0">
                <a:solidFill>
                  <a:srgbClr val="C00000"/>
                </a:solidFill>
              </a:rPr>
              <a:t>语义动作不匹配</a:t>
            </a:r>
            <a:r>
              <a:rPr lang="zh-CN" altLang="en-US" sz="2000" b="1" dirty="0"/>
              <a:t>，</a:t>
            </a:r>
            <a:r>
              <a:rPr lang="zh-CN" altLang="en-US" sz="2000" dirty="0"/>
              <a:t>比如数字人说着：我很兴奋。脸上却是平静的，身体没有任何激动的肢体语言，像一个读稿机器，缺少</a:t>
            </a:r>
            <a:r>
              <a:rPr lang="zh-CN" altLang="en-US" sz="2000" b="1" dirty="0"/>
              <a:t>文本情绪到动作表情的映射</a:t>
            </a:r>
            <a:endParaRPr lang="en-US" altLang="zh-CN" sz="2000" b="1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情感感知的</a:t>
            </a:r>
            <a:r>
              <a:rPr lang="zh-CN" altLang="en-US" sz="2000" b="1" dirty="0">
                <a:solidFill>
                  <a:srgbClr val="C00000"/>
                </a:solidFill>
              </a:rPr>
              <a:t>单模态局限</a:t>
            </a:r>
            <a:r>
              <a:rPr lang="zh-CN" altLang="en-US" sz="2000" dirty="0"/>
              <a:t>：多陪伴系统仅依赖文本情感分析，难以多模态的感知用户情绪，忽略了用户的语气和表情，这导致在用户“强颜欢笑”或“愤怒沉默”时，系统产生误判。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个性化</a:t>
            </a:r>
            <a:r>
              <a:rPr lang="en-US" altLang="zh-CN" sz="2000" dirty="0"/>
              <a:t>3D</a:t>
            </a:r>
            <a:r>
              <a:rPr lang="zh-CN" altLang="en-US" sz="2000" dirty="0"/>
              <a:t>生成的</a:t>
            </a:r>
            <a:r>
              <a:rPr lang="zh-CN" altLang="en-US" sz="2000" b="1" dirty="0">
                <a:solidFill>
                  <a:srgbClr val="C00000"/>
                </a:solidFill>
              </a:rPr>
              <a:t>门槛高</a:t>
            </a:r>
            <a:r>
              <a:rPr lang="zh-CN" altLang="en-US" sz="2000" dirty="0"/>
              <a:t>：难以实现“</a:t>
            </a:r>
            <a:r>
              <a:rPr lang="zh-CN" altLang="en-US" sz="2000" b="1" dirty="0"/>
              <a:t>千人千面”</a:t>
            </a:r>
            <a:r>
              <a:rPr lang="zh-CN" altLang="en-US" sz="2000" dirty="0"/>
              <a:t>的定制化陪伴（比如用户想生成一个历史形象的数字人）。传统的建模绑骨流程极其复杂。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2ECF0-5A52-C989-31B7-A043CFA4F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22" y="4965293"/>
            <a:ext cx="254013" cy="476274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579D4B3-4749-E118-CCF7-4DAB46D49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82" y="4894600"/>
            <a:ext cx="1529643" cy="61766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5DFDAAB-7010-D64B-E60B-719C29C40118}"/>
              </a:ext>
            </a:extLst>
          </p:cNvPr>
          <p:cNvSpPr txBox="1"/>
          <p:nvPr/>
        </p:nvSpPr>
        <p:spPr>
          <a:xfrm>
            <a:off x="853474" y="4979902"/>
            <a:ext cx="133746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 am so</a:t>
            </a:r>
            <a:r>
              <a:rPr lang="zh-CN" altLang="en-US" sz="1200" dirty="0"/>
              <a:t> </a:t>
            </a:r>
            <a:r>
              <a:rPr lang="en-US" altLang="zh-CN" sz="1200" dirty="0"/>
              <a:t>excited !! </a:t>
            </a:r>
            <a:r>
              <a:rPr lang="zh-CN" altLang="en-US" sz="1200" dirty="0"/>
              <a:t>😀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2ACB85-DC93-F8CF-2CD9-50433BA3D1AB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259225" y="5203430"/>
            <a:ext cx="1730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人的照片&#10;&#10;AI 生成的内容可能不正确。">
            <a:extLst>
              <a:ext uri="{FF2B5EF4-FFF2-40B4-BE49-F238E27FC236}">
                <a16:creationId xmlns:a16="http://schemas.microsoft.com/office/drawing/2014/main" id="{DACA1894-A96C-1AA3-6323-F81616CF9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267" y="4845953"/>
            <a:ext cx="880614" cy="714954"/>
          </a:xfrm>
          <a:prstGeom prst="rect">
            <a:avLst/>
          </a:prstGeom>
        </p:spPr>
      </p:pic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6AABE00A-08BA-F3E4-3A00-F53F4315C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193" y="4712820"/>
            <a:ext cx="2303520" cy="51316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D26C10B-7EEF-4DB2-D56A-B95CBA327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5128" y="5281106"/>
            <a:ext cx="685600" cy="334147"/>
          </a:xfrm>
          <a:prstGeom prst="rect">
            <a:avLst/>
          </a:prstGeom>
        </p:spPr>
      </p:pic>
      <p:pic>
        <p:nvPicPr>
          <p:cNvPr id="21" name="图片 20" descr="卡通画&#10;&#10;AI 生成的内容可能不正确。">
            <a:extLst>
              <a:ext uri="{FF2B5EF4-FFF2-40B4-BE49-F238E27FC236}">
                <a16:creationId xmlns:a16="http://schemas.microsoft.com/office/drawing/2014/main" id="{1F9768E4-1EED-FF22-1B3D-7798CB14AC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446" y="5693601"/>
            <a:ext cx="538432" cy="558374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01000A8-8FDF-8DB8-8538-25E9CD9C2A07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53937" y="4994276"/>
            <a:ext cx="873031" cy="372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4E6D6BF-2D63-FBDF-4A9E-1AA2805A1DAC}"/>
              </a:ext>
            </a:extLst>
          </p:cNvPr>
          <p:cNvCxnSpPr>
            <a:cxnSpLocks/>
          </p:cNvCxnSpPr>
          <p:nvPr/>
        </p:nvCxnSpPr>
        <p:spPr>
          <a:xfrm>
            <a:off x="6227713" y="5576855"/>
            <a:ext cx="475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04E3F91-E541-09F8-6B7D-2D40033A8535}"/>
              </a:ext>
            </a:extLst>
          </p:cNvPr>
          <p:cNvCxnSpPr>
            <a:cxnSpLocks/>
          </p:cNvCxnSpPr>
          <p:nvPr/>
        </p:nvCxnSpPr>
        <p:spPr>
          <a:xfrm>
            <a:off x="6263803" y="6071530"/>
            <a:ext cx="385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乘号 29">
            <a:extLst>
              <a:ext uri="{FF2B5EF4-FFF2-40B4-BE49-F238E27FC236}">
                <a16:creationId xmlns:a16="http://schemas.microsoft.com/office/drawing/2014/main" id="{3A36FD7F-424F-232D-8858-B0D85DE54CA4}"/>
              </a:ext>
            </a:extLst>
          </p:cNvPr>
          <p:cNvSpPr/>
          <p:nvPr/>
        </p:nvSpPr>
        <p:spPr>
          <a:xfrm>
            <a:off x="6263803" y="5401250"/>
            <a:ext cx="292309" cy="39127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乘号 30">
            <a:extLst>
              <a:ext uri="{FF2B5EF4-FFF2-40B4-BE49-F238E27FC236}">
                <a16:creationId xmlns:a16="http://schemas.microsoft.com/office/drawing/2014/main" id="{C17BF0C3-B1F6-8C3D-E20C-690A6C52EF7C}"/>
              </a:ext>
            </a:extLst>
          </p:cNvPr>
          <p:cNvSpPr/>
          <p:nvPr/>
        </p:nvSpPr>
        <p:spPr>
          <a:xfrm>
            <a:off x="6292602" y="5875892"/>
            <a:ext cx="292309" cy="39127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61D85B4-EC2E-3CB5-BAF1-E03BAD411532}"/>
              </a:ext>
            </a:extLst>
          </p:cNvPr>
          <p:cNvSpPr txBox="1"/>
          <p:nvPr/>
        </p:nvSpPr>
        <p:spPr>
          <a:xfrm>
            <a:off x="4446247" y="4820379"/>
            <a:ext cx="17238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I’m very happy</a:t>
            </a:r>
            <a:endParaRPr lang="zh-CN" altLang="en-US" dirty="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9991460-5655-D1F9-7DDF-27AC209CBF63}"/>
              </a:ext>
            </a:extLst>
          </p:cNvPr>
          <p:cNvSpPr/>
          <p:nvPr/>
        </p:nvSpPr>
        <p:spPr>
          <a:xfrm>
            <a:off x="4019027" y="4571627"/>
            <a:ext cx="2244776" cy="1881265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149EBB5-E95B-D14F-3115-B3B2F803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68" y="5129044"/>
            <a:ext cx="252752" cy="476274"/>
          </a:xfrm>
          <a:prstGeom prst="rect">
            <a:avLst/>
          </a:prstGeom>
        </p:spPr>
      </p:pic>
      <p:pic>
        <p:nvPicPr>
          <p:cNvPr id="44" name="图片 43" descr="图片包含 剪刀, 游戏机&#10;&#10;AI 生成的内容可能不正确。">
            <a:extLst>
              <a:ext uri="{FF2B5EF4-FFF2-40B4-BE49-F238E27FC236}">
                <a16:creationId xmlns:a16="http://schemas.microsoft.com/office/drawing/2014/main" id="{4E360DD4-AC69-9138-9794-4A00747DBF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8906" y="5853962"/>
            <a:ext cx="786578" cy="722555"/>
          </a:xfrm>
          <a:prstGeom prst="rect">
            <a:avLst/>
          </a:prstGeom>
        </p:spPr>
      </p:pic>
      <p:pic>
        <p:nvPicPr>
          <p:cNvPr id="49" name="图片 48" descr="穿军服的男子&#10;&#10;AI 生成的内容可能不正确。">
            <a:extLst>
              <a:ext uri="{FF2B5EF4-FFF2-40B4-BE49-F238E27FC236}">
                <a16:creationId xmlns:a16="http://schemas.microsoft.com/office/drawing/2014/main" id="{64FC517B-B902-CA5A-B23D-0E6F326F71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441" y="4042939"/>
            <a:ext cx="621484" cy="1313199"/>
          </a:xfrm>
          <a:prstGeom prst="rect">
            <a:avLst/>
          </a:prstGeom>
        </p:spPr>
      </p:pic>
      <p:sp>
        <p:nvSpPr>
          <p:cNvPr id="50" name="思想气泡: 云 49">
            <a:extLst>
              <a:ext uri="{FF2B5EF4-FFF2-40B4-BE49-F238E27FC236}">
                <a16:creationId xmlns:a16="http://schemas.microsoft.com/office/drawing/2014/main" id="{FF7362F8-C0E8-818A-040A-AFE62BC748A1}"/>
              </a:ext>
            </a:extLst>
          </p:cNvPr>
          <p:cNvSpPr/>
          <p:nvPr/>
        </p:nvSpPr>
        <p:spPr>
          <a:xfrm>
            <a:off x="8148593" y="3815023"/>
            <a:ext cx="1013077" cy="1933731"/>
          </a:xfrm>
          <a:prstGeom prst="cloudCallout">
            <a:avLst>
              <a:gd name="adj1" fmla="val -25858"/>
              <a:gd name="adj2" fmla="val 6133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12A2BE2-1391-0E5C-8B3A-848ACF12E94B}"/>
              </a:ext>
            </a:extLst>
          </p:cNvPr>
          <p:cNvCxnSpPr>
            <a:cxnSpLocks/>
          </p:cNvCxnSpPr>
          <p:nvPr/>
        </p:nvCxnSpPr>
        <p:spPr>
          <a:xfrm flipV="1">
            <a:off x="8618370" y="6047047"/>
            <a:ext cx="7762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乘号 52">
            <a:extLst>
              <a:ext uri="{FF2B5EF4-FFF2-40B4-BE49-F238E27FC236}">
                <a16:creationId xmlns:a16="http://schemas.microsoft.com/office/drawing/2014/main" id="{D009C38B-F58D-B526-5B59-368F03133F9B}"/>
              </a:ext>
            </a:extLst>
          </p:cNvPr>
          <p:cNvSpPr/>
          <p:nvPr/>
        </p:nvSpPr>
        <p:spPr>
          <a:xfrm>
            <a:off x="8847709" y="5870125"/>
            <a:ext cx="292309" cy="39127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4A917C2-16F9-B7AD-9D46-91F30C2820FB}"/>
              </a:ext>
            </a:extLst>
          </p:cNvPr>
          <p:cNvSpPr/>
          <p:nvPr/>
        </p:nvSpPr>
        <p:spPr>
          <a:xfrm>
            <a:off x="9437409" y="5512260"/>
            <a:ext cx="809331" cy="10907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建模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绑骨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964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şḻiḍè"/>
          <p:cNvSpPr/>
          <p:nvPr/>
        </p:nvSpPr>
        <p:spPr>
          <a:xfrm>
            <a:off x="72736" y="1705743"/>
            <a:ext cx="5502667" cy="3970789"/>
          </a:xfrm>
          <a:prstGeom prst="rect">
            <a:avLst/>
          </a:prstGeom>
          <a:blipFill rotWithShape="1">
            <a:blip r:embed="rId2"/>
            <a:stretch>
              <a:fillRect t="-29798" b="-2940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D1DADD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" name="išḷiḋê"/>
          <p:cNvSpPr/>
          <p:nvPr/>
        </p:nvSpPr>
        <p:spPr>
          <a:xfrm>
            <a:off x="893623" y="1705743"/>
            <a:ext cx="4681780" cy="3970789"/>
          </a:xfrm>
          <a:prstGeom prst="rect">
            <a:avLst/>
          </a:prstGeom>
          <a:solidFill>
            <a:schemeClr val="tx1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isļîḑê"/>
          <p:cNvSpPr/>
          <p:nvPr/>
        </p:nvSpPr>
        <p:spPr>
          <a:xfrm>
            <a:off x="6393166" y="4649057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0" name="išḷîḑè"/>
          <p:cNvSpPr/>
          <p:nvPr/>
        </p:nvSpPr>
        <p:spPr>
          <a:xfrm>
            <a:off x="6393166" y="3821553"/>
            <a:ext cx="540000" cy="540000"/>
          </a:xfrm>
          <a:prstGeom prst="ellipse">
            <a:avLst/>
          </a:pr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2" name="îŝḷïḓè"/>
          <p:cNvSpPr/>
          <p:nvPr/>
        </p:nvSpPr>
        <p:spPr>
          <a:xfrm>
            <a:off x="6393166" y="2994050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9" name="iślîḍé"/>
          <p:cNvSpPr txBox="1"/>
          <p:nvPr/>
        </p:nvSpPr>
        <p:spPr>
          <a:xfrm>
            <a:off x="7032083" y="3064934"/>
            <a:ext cx="1758626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研究现状及问题</a:t>
            </a:r>
          </a:p>
        </p:txBody>
      </p:sp>
      <p:sp>
        <p:nvSpPr>
          <p:cNvPr id="14" name="îṥļíḓê"/>
          <p:cNvSpPr/>
          <p:nvPr/>
        </p:nvSpPr>
        <p:spPr>
          <a:xfrm>
            <a:off x="6393166" y="2166547"/>
            <a:ext cx="540000" cy="5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7" name="íŝḻïďé"/>
          <p:cNvSpPr txBox="1"/>
          <p:nvPr/>
        </p:nvSpPr>
        <p:spPr>
          <a:xfrm>
            <a:off x="7032083" y="2236901"/>
            <a:ext cx="1758626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研究背景及目的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6186000" y="1781485"/>
            <a:ext cx="0" cy="370800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3C5EEB60D8612D4B7AC81916BAD_73A9D09F_43B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170" y="214630"/>
            <a:ext cx="2286635" cy="1018540"/>
          </a:xfrm>
          <a:prstGeom prst="rect">
            <a:avLst/>
          </a:prstGeom>
        </p:spPr>
      </p:pic>
      <p:sp>
        <p:nvSpPr>
          <p:cNvPr id="18" name="iślîḍé"/>
          <p:cNvSpPr txBox="1"/>
          <p:nvPr/>
        </p:nvSpPr>
        <p:spPr>
          <a:xfrm>
            <a:off x="7032082" y="3891907"/>
            <a:ext cx="1103999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pPr algn="l"/>
            <a:r>
              <a:rPr lang="zh-CN" altLang="en-US" b="1" dirty="0">
                <a:sym typeface="+mn-ea"/>
              </a:rPr>
              <a:t>研究内容及步骤</a:t>
            </a:r>
            <a:endParaRPr lang="zh-CN" altLang="en-US" b="1" dirty="0"/>
          </a:p>
        </p:txBody>
      </p:sp>
      <p:sp>
        <p:nvSpPr>
          <p:cNvPr id="20" name="iślîḍé"/>
          <p:cNvSpPr txBox="1"/>
          <p:nvPr/>
        </p:nvSpPr>
        <p:spPr>
          <a:xfrm>
            <a:off x="7032081" y="4719411"/>
            <a:ext cx="1103999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pPr algn="l"/>
            <a:r>
              <a:rPr lang="zh-CN" altLang="en-US" b="1" dirty="0">
                <a:sym typeface="+mn-ea"/>
              </a:rPr>
              <a:t>实验过程及结论</a:t>
            </a:r>
            <a:endParaRPr lang="zh-CN" altLang="en-US" b="1" dirty="0"/>
          </a:p>
        </p:txBody>
      </p:sp>
      <p:sp>
        <p:nvSpPr>
          <p:cNvPr id="2" name="ïşľíďe">
            <a:extLst>
              <a:ext uri="{FF2B5EF4-FFF2-40B4-BE49-F238E27FC236}">
                <a16:creationId xmlns:a16="http://schemas.microsoft.com/office/drawing/2014/main" id="{6ED2472A-7B1E-BECE-5BD7-419820503DF2}"/>
              </a:ext>
            </a:extLst>
          </p:cNvPr>
          <p:cNvSpPr txBox="1"/>
          <p:nvPr/>
        </p:nvSpPr>
        <p:spPr>
          <a:xfrm>
            <a:off x="943520" y="1781485"/>
            <a:ext cx="4581985" cy="370800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情智兼备的虚拟陪伴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生成关键技术及互系统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F334-1458-E3D1-38D1-9B54AF26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B906E-5B04-B63F-B55E-D3FA6A10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研究现状及问题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05CD55-4E1E-DD32-1442-1009F204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264AF5FA-2FD8-B525-C0B7-C418BB0288CF}"/>
              </a:ext>
            </a:extLst>
          </p:cNvPr>
          <p:cNvSpPr txBox="1"/>
          <p:nvPr/>
        </p:nvSpPr>
        <p:spPr>
          <a:xfrm>
            <a:off x="-83284" y="1161659"/>
            <a:ext cx="12019280" cy="5696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技术路线</a:t>
            </a:r>
            <a:endParaRPr lang="en-US" altLang="zh-CN" sz="2400" b="1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1" algn="just">
              <a:buFont typeface="Wingdings" panose="05000000000000000000" charset="0"/>
              <a:buChar char="n"/>
            </a:pPr>
            <a:r>
              <a:rPr lang="en-US" altLang="zh-CN" sz="2400" dirty="0"/>
              <a:t>3D </a:t>
            </a:r>
            <a:r>
              <a:rPr lang="zh-CN" altLang="en-US" sz="2400" dirty="0"/>
              <a:t>形象数字人对话系统：当前学术界正从传统的“建模</a:t>
            </a:r>
            <a:r>
              <a:rPr lang="en-US" altLang="zh-CN" sz="2400" dirty="0"/>
              <a:t>+</a:t>
            </a:r>
            <a:r>
              <a:rPr lang="zh-CN" altLang="en-US" sz="2400" dirty="0"/>
              <a:t>驱动”管线向</a:t>
            </a:r>
            <a:r>
              <a:rPr lang="zh-CN" altLang="en-US" sz="2400" b="1" dirty="0"/>
              <a:t>基于神经辐射场 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NeRF</a:t>
            </a:r>
            <a:r>
              <a:rPr lang="en-US" altLang="zh-CN" sz="2400" b="1" dirty="0"/>
              <a:t>)</a:t>
            </a:r>
            <a:r>
              <a:rPr lang="zh-CN" altLang="en-US" sz="2400" dirty="0"/>
              <a:t> 和 </a:t>
            </a:r>
            <a:r>
              <a:rPr lang="en-US" altLang="zh-CN" sz="2400" b="1" dirty="0"/>
              <a:t>3D</a:t>
            </a:r>
            <a:r>
              <a:rPr lang="zh-CN" altLang="en-US" sz="2400" b="1" dirty="0"/>
              <a:t>高斯泼溅 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3DGS</a:t>
            </a:r>
            <a:r>
              <a:rPr lang="en-US" altLang="zh-CN" sz="2400" b="1" dirty="0"/>
              <a:t>)</a:t>
            </a:r>
            <a:r>
              <a:rPr lang="zh-CN" altLang="en-US" sz="2400" dirty="0"/>
              <a:t> 的生成式管线转变。</a:t>
            </a: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400" dirty="0"/>
              <a:t>情绪对话智能体：新一代系统不再是简单的“文本分类</a:t>
            </a:r>
            <a:r>
              <a:rPr lang="en-US" altLang="zh-CN" sz="2400" dirty="0"/>
              <a:t>+</a:t>
            </a:r>
            <a:r>
              <a:rPr lang="zh-CN" altLang="en-US" sz="2400" dirty="0"/>
              <a:t>模板回复”，而是基于 </a:t>
            </a:r>
            <a:r>
              <a:rPr lang="zh-CN" altLang="en-US" sz="2400" b="1" dirty="0"/>
              <a:t>多模态大语言模型 </a:t>
            </a:r>
            <a:r>
              <a:rPr lang="zh-CN" altLang="en-US" sz="2400" dirty="0"/>
              <a:t>构建的共情智能体</a:t>
            </a:r>
            <a:endParaRPr lang="en-US" altLang="zh-CN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DEDE87C6-7350-ED43-C07D-CFE3E94D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16" y="3894248"/>
            <a:ext cx="5397563" cy="2367163"/>
          </a:xfrm>
          <a:prstGeom prst="rect">
            <a:avLst/>
          </a:prstGeom>
        </p:spPr>
      </p:pic>
      <p:pic>
        <p:nvPicPr>
          <p:cNvPr id="7" name="图片 6" descr="图形用户界面, 文本&#10;&#10;AI 生成的内容可能不正确。">
            <a:extLst>
              <a:ext uri="{FF2B5EF4-FFF2-40B4-BE49-F238E27FC236}">
                <a16:creationId xmlns:a16="http://schemas.microsoft.com/office/drawing/2014/main" id="{F9A21C62-6107-8953-3DB7-F71638363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261" y="3722749"/>
            <a:ext cx="4647478" cy="25386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E3906C1-C601-7965-3685-79B7C9BFA49B}"/>
              </a:ext>
            </a:extLst>
          </p:cNvPr>
          <p:cNvSpPr txBox="1"/>
          <p:nvPr/>
        </p:nvSpPr>
        <p:spPr>
          <a:xfrm>
            <a:off x="1947333" y="6411797"/>
            <a:ext cx="259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 err="1"/>
              <a:t>3DGS</a:t>
            </a:r>
            <a:r>
              <a:rPr lang="zh-CN" altLang="en-US" dirty="0"/>
              <a:t>生成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69F3CB-81D1-5A8C-D5B6-8EC09A14F804}"/>
              </a:ext>
            </a:extLst>
          </p:cNvPr>
          <p:cNvSpPr txBox="1"/>
          <p:nvPr/>
        </p:nvSpPr>
        <p:spPr>
          <a:xfrm>
            <a:off x="7535334" y="6299381"/>
            <a:ext cx="270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基于多模态大语言模型</a:t>
            </a:r>
          </a:p>
        </p:txBody>
      </p:sp>
    </p:spTree>
    <p:extLst>
      <p:ext uri="{BB962C8B-B14F-4D97-AF65-F5344CB8AC3E}">
        <p14:creationId xmlns:p14="http://schemas.microsoft.com/office/powerpoint/2010/main" val="226470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2126-4567-1F84-5ECA-42301464E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73190-669B-C68F-29E2-307318DB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研究现状及问题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212CF9-9167-7987-6304-280492EC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05A8E21C-E1E0-0349-8691-5F13A7AA1F37}"/>
              </a:ext>
            </a:extLst>
          </p:cNvPr>
          <p:cNvSpPr txBox="1"/>
          <p:nvPr/>
        </p:nvSpPr>
        <p:spPr>
          <a:xfrm>
            <a:off x="-83284" y="1161659"/>
            <a:ext cx="12019280" cy="5696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en-US" altLang="zh-CN" sz="2400" b="1" dirty="0"/>
              <a:t>3D </a:t>
            </a:r>
            <a:r>
              <a:rPr lang="zh-CN" altLang="en-US" sz="2400" b="1" dirty="0"/>
              <a:t>形象数字人对话系统</a:t>
            </a:r>
            <a:r>
              <a:rPr lang="zh-CN" altLang="en-US" sz="24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altLang="zh-CN" sz="2400" b="1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建模</a:t>
            </a:r>
            <a:r>
              <a:rPr lang="en-US" altLang="zh-CN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zh-CN" altLang="en-US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驱动的</a:t>
            </a:r>
            <a:r>
              <a:rPr lang="en-US" altLang="zh-CN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</a:t>
            </a:r>
            <a:r>
              <a:rPr lang="zh-CN" altLang="en-US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数字人：</a:t>
            </a:r>
            <a:r>
              <a:rPr lang="en-US" altLang="zh-CN" sz="2000" dirty="0" err="1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GMTalker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：人工建模、绑骨及动画设计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实时驱动形态键</a:t>
            </a:r>
            <a:endParaRPr lang="en-US" altLang="zh-CN" sz="2000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图片生成可对话的</a:t>
            </a:r>
            <a:r>
              <a:rPr lang="en-US" altLang="zh-CN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</a:t>
            </a:r>
            <a:r>
              <a:rPr lang="zh-CN" altLang="en-US" sz="22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头部：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LAM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altLang="zh-CN" sz="2000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生成：</a:t>
            </a:r>
            <a:r>
              <a:rPr lang="en-US" altLang="zh-CN" sz="2000" dirty="0" err="1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DinoV2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提取特征 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Transformer 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结合 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FLAME 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顶点查询属性 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生成标准空间 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 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高斯。</a:t>
            </a:r>
            <a:endParaRPr lang="en-US" altLang="zh-CN" sz="2000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驱动：输入 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FLAME 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驱动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</a:t>
            </a:r>
            <a:r>
              <a:rPr lang="en-US" altLang="zh-CN" sz="2000" dirty="0" err="1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LBS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几何变形 </a:t>
            </a:r>
            <a:r>
              <a:rPr lang="en-US" altLang="zh-CN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高斯渲染出图</a:t>
            </a:r>
            <a:endParaRPr lang="en-US" altLang="zh-CN" sz="2000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200" dirty="0"/>
          </a:p>
          <a:p>
            <a:pPr marL="457200" lvl="1" indent="0" algn="just">
              <a:buNone/>
            </a:pPr>
            <a:endParaRPr lang="zh-CN" altLang="en-US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98D6C2C9-68CE-3FB0-F905-5B61ED76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96" y="2949535"/>
            <a:ext cx="4187940" cy="2940615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FFA932-C476-B683-8B56-8E6BE54A7924}"/>
              </a:ext>
            </a:extLst>
          </p:cNvPr>
          <p:cNvSpPr/>
          <p:nvPr/>
        </p:nvSpPr>
        <p:spPr>
          <a:xfrm>
            <a:off x="267973" y="2942055"/>
            <a:ext cx="5400725" cy="294809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C80B15-8412-A815-C66A-43849A3F0CF8}"/>
              </a:ext>
            </a:extLst>
          </p:cNvPr>
          <p:cNvSpPr txBox="1"/>
          <p:nvPr/>
        </p:nvSpPr>
        <p:spPr>
          <a:xfrm>
            <a:off x="924050" y="6115782"/>
            <a:ext cx="5002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优点：支持毫秒级响应的实时对话</a:t>
            </a:r>
            <a:endParaRPr lang="en-US" altLang="zh-CN" dirty="0"/>
          </a:p>
          <a:p>
            <a:r>
              <a:rPr lang="zh-CN" altLang="en-US" dirty="0"/>
              <a:t>缺点：需要</a:t>
            </a:r>
            <a:r>
              <a:rPr lang="zh-CN" altLang="en-US" dirty="0">
                <a:solidFill>
                  <a:srgbClr val="C00000"/>
                </a:solidFill>
              </a:rPr>
              <a:t>自行定制模型</a:t>
            </a:r>
            <a:r>
              <a:rPr lang="zh-CN" altLang="en-US" dirty="0"/>
              <a:t>完成骨骼绑定和动画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DF2FE88-6790-0E68-F64B-3B0CCA9A071E}"/>
              </a:ext>
            </a:extLst>
          </p:cNvPr>
          <p:cNvSpPr/>
          <p:nvPr/>
        </p:nvSpPr>
        <p:spPr>
          <a:xfrm>
            <a:off x="6096000" y="2949535"/>
            <a:ext cx="5703539" cy="30018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783AAA-4B56-5DE5-3B10-32FC358FF745}"/>
              </a:ext>
            </a:extLst>
          </p:cNvPr>
          <p:cNvSpPr txBox="1"/>
          <p:nvPr/>
        </p:nvSpPr>
        <p:spPr>
          <a:xfrm>
            <a:off x="6780959" y="6084309"/>
            <a:ext cx="5002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优点：实现从图片到可对话的</a:t>
            </a:r>
            <a:r>
              <a:rPr lang="en-US" altLang="zh-CN" dirty="0"/>
              <a:t>3D</a:t>
            </a:r>
            <a:r>
              <a:rPr lang="zh-CN" altLang="en-US" dirty="0"/>
              <a:t>头部的生成</a:t>
            </a:r>
            <a:endParaRPr lang="en-US" altLang="zh-CN" dirty="0"/>
          </a:p>
          <a:p>
            <a:r>
              <a:rPr lang="zh-CN" altLang="en-US" dirty="0"/>
              <a:t>缺点：</a:t>
            </a:r>
            <a:r>
              <a:rPr lang="zh-CN" altLang="en-US" dirty="0">
                <a:solidFill>
                  <a:srgbClr val="C00000"/>
                </a:solidFill>
              </a:rPr>
              <a:t>仅有头部缺少身体的表现力</a:t>
            </a:r>
          </a:p>
        </p:txBody>
      </p:sp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305D825F-76A4-3377-2D01-7CBE019AE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121" y="3141133"/>
            <a:ext cx="5340260" cy="265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6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8AEC-4938-51CC-F5E5-FEA2CEEE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90DC8-0B9C-34BD-11A4-21A5A69C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研究现状及问题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A9C5F-7D54-E8FF-09B8-318C0B62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B50812D0-FE45-9B7E-85B8-9E88B850764E}"/>
              </a:ext>
            </a:extLst>
          </p:cNvPr>
          <p:cNvSpPr txBox="1"/>
          <p:nvPr/>
        </p:nvSpPr>
        <p:spPr>
          <a:xfrm>
            <a:off x="-83284" y="1161659"/>
            <a:ext cx="12019280" cy="5696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情绪对话智能体：</a:t>
            </a:r>
            <a:endParaRPr lang="en-US" altLang="zh-CN" sz="2400" b="1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端到端语音</a:t>
            </a:r>
            <a:r>
              <a:rPr lang="en-US" altLang="zh-CN" sz="2200" dirty="0"/>
              <a:t>/</a:t>
            </a:r>
            <a:r>
              <a:rPr lang="zh-CN" altLang="en-US" sz="2200" dirty="0"/>
              <a:t>多模态情感计算：</a:t>
            </a:r>
            <a:r>
              <a:rPr lang="en-US" altLang="zh-CN" sz="2200" b="1" dirty="0"/>
              <a:t>Hume AI/</a:t>
            </a:r>
            <a:r>
              <a:rPr lang="en-US" altLang="zh-CN" sz="2200" b="1" dirty="0" err="1"/>
              <a:t>GPT-4o</a:t>
            </a:r>
            <a:r>
              <a:rPr lang="zh-CN" altLang="en-US" sz="2200" dirty="0"/>
              <a:t>采用 </a:t>
            </a:r>
            <a:r>
              <a:rPr lang="en-US" altLang="zh-CN" sz="2200" b="1" dirty="0"/>
              <a:t>Audio-to-Audio</a:t>
            </a:r>
            <a:r>
              <a:rPr lang="en-US" altLang="zh-CN" sz="2200" dirty="0"/>
              <a:t> </a:t>
            </a:r>
            <a:r>
              <a:rPr lang="zh-CN" altLang="en-US" sz="2200" b="1" dirty="0"/>
              <a:t>或 </a:t>
            </a:r>
            <a:r>
              <a:rPr lang="en-US" altLang="zh-CN" sz="2200" b="1" dirty="0"/>
              <a:t>Native Multimodal </a:t>
            </a:r>
            <a:r>
              <a:rPr lang="zh-CN" altLang="en-US" sz="2200" dirty="0"/>
              <a:t>架构，直接从声音的韵律（语调、停顿、喘息）中提取情感。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心理</a:t>
            </a:r>
            <a:r>
              <a:rPr lang="en-US" altLang="zh-CN" sz="2200" dirty="0"/>
              <a:t>/</a:t>
            </a:r>
            <a:r>
              <a:rPr lang="zh-CN" altLang="en-US" sz="2200" dirty="0"/>
              <a:t>情感垂类大模型：</a:t>
            </a:r>
            <a:r>
              <a:rPr lang="en-US" altLang="zh-CN" sz="2200" b="1" dirty="0" err="1"/>
              <a:t>EmoLLM</a:t>
            </a:r>
            <a:r>
              <a:rPr lang="zh-CN" altLang="en-US" sz="2200" dirty="0"/>
              <a:t>基于通用大模型，使用高质量的</a:t>
            </a:r>
            <a:r>
              <a:rPr lang="zh-CN" altLang="en-US" sz="2200" b="1" dirty="0"/>
              <a:t>心理咨询数据</a:t>
            </a:r>
            <a:r>
              <a:rPr lang="zh-CN" altLang="en-US" sz="2200" dirty="0"/>
              <a:t>或</a:t>
            </a:r>
            <a:r>
              <a:rPr lang="zh-CN" altLang="en-US" sz="2200" b="1" dirty="0"/>
              <a:t>情感对话数据</a:t>
            </a:r>
            <a:r>
              <a:rPr lang="zh-CN" altLang="en-US" sz="2200" dirty="0"/>
              <a:t>进行有监督微调 。</a:t>
            </a:r>
            <a:endParaRPr lang="en-US" altLang="zh-CN" sz="22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0731894-6038-E3B8-0502-AC3A271E14FA}"/>
              </a:ext>
            </a:extLst>
          </p:cNvPr>
          <p:cNvSpPr/>
          <p:nvPr/>
        </p:nvSpPr>
        <p:spPr>
          <a:xfrm>
            <a:off x="524946" y="2957139"/>
            <a:ext cx="5571054" cy="3079472"/>
          </a:xfrm>
          <a:prstGeom prst="roundRect">
            <a:avLst>
              <a:gd name="adj" fmla="val 706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0F3DA0B-E297-D945-659D-A1AA5291A0B4}"/>
              </a:ext>
            </a:extLst>
          </p:cNvPr>
          <p:cNvSpPr/>
          <p:nvPr/>
        </p:nvSpPr>
        <p:spPr>
          <a:xfrm>
            <a:off x="6535271" y="2957140"/>
            <a:ext cx="5400725" cy="3079472"/>
          </a:xfrm>
          <a:prstGeom prst="roundRect">
            <a:avLst>
              <a:gd name="adj" fmla="val 647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D588F6-7AA5-DA5F-F9C7-8B3246F32CD0}"/>
              </a:ext>
            </a:extLst>
          </p:cNvPr>
          <p:cNvSpPr txBox="1"/>
          <p:nvPr/>
        </p:nvSpPr>
        <p:spPr>
          <a:xfrm>
            <a:off x="448236" y="6067629"/>
            <a:ext cx="5692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优点：省去</a:t>
            </a:r>
            <a:r>
              <a:rPr lang="en-US" altLang="zh-CN" dirty="0" err="1"/>
              <a:t>asr</a:t>
            </a:r>
            <a:r>
              <a:rPr lang="zh-CN" altLang="en-US" dirty="0"/>
              <a:t>等中间步骤，低延迟，沉浸感强</a:t>
            </a:r>
            <a:endParaRPr lang="en-US" altLang="zh-CN" dirty="0"/>
          </a:p>
          <a:p>
            <a:r>
              <a:rPr lang="zh-CN" altLang="en-US" dirty="0"/>
              <a:t>缺点：</a:t>
            </a:r>
            <a:r>
              <a:rPr lang="zh-CN" altLang="en-US" dirty="0">
                <a:solidFill>
                  <a:srgbClr val="C00000"/>
                </a:solidFill>
              </a:rPr>
              <a:t>计算昂贵，长序列</a:t>
            </a:r>
            <a:r>
              <a:rPr lang="en-US" altLang="zh-CN" dirty="0">
                <a:solidFill>
                  <a:srgbClr val="C00000"/>
                </a:solidFill>
              </a:rPr>
              <a:t>token</a:t>
            </a:r>
            <a:r>
              <a:rPr lang="zh-CN" altLang="en-US" dirty="0">
                <a:solidFill>
                  <a:srgbClr val="C00000"/>
                </a:solidFill>
              </a:rPr>
              <a:t>消耗大且算力需求高、缺乏专业心理策略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0C9CF3-B464-0588-71FA-3CA52765A3B0}"/>
              </a:ext>
            </a:extLst>
          </p:cNvPr>
          <p:cNvSpPr txBox="1"/>
          <p:nvPr/>
        </p:nvSpPr>
        <p:spPr>
          <a:xfrm>
            <a:off x="6535271" y="6001150"/>
            <a:ext cx="575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优点：有专业性与安全性，回复遵循心理咨询规范，</a:t>
            </a:r>
            <a:r>
              <a:rPr lang="en-US" altLang="zh-CN" dirty="0"/>
              <a:t>LLM</a:t>
            </a:r>
            <a:r>
              <a:rPr lang="zh-CN" altLang="en-US" dirty="0"/>
              <a:t>逻辑清晰</a:t>
            </a:r>
            <a:endParaRPr lang="en-US" altLang="zh-CN" dirty="0"/>
          </a:p>
          <a:p>
            <a:r>
              <a:rPr lang="zh-CN" altLang="en-US" dirty="0"/>
              <a:t>缺点：</a:t>
            </a:r>
            <a:r>
              <a:rPr lang="zh-CN" altLang="en-US" dirty="0">
                <a:solidFill>
                  <a:srgbClr val="C00000"/>
                </a:solidFill>
              </a:rPr>
              <a:t>仅文本交互，情绪感知不强，机械共情</a:t>
            </a:r>
          </a:p>
        </p:txBody>
      </p:sp>
      <p:pic>
        <p:nvPicPr>
          <p:cNvPr id="13" name="图片 12" descr="图片包含 游戏机, 钟表&#10;&#10;AI 生成的内容可能不正确。">
            <a:extLst>
              <a:ext uri="{FF2B5EF4-FFF2-40B4-BE49-F238E27FC236}">
                <a16:creationId xmlns:a16="http://schemas.microsoft.com/office/drawing/2014/main" id="{712A182E-DB08-0606-9364-2D1060DAC7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748" b="-4286"/>
          <a:stretch>
            <a:fillRect/>
          </a:stretch>
        </p:blipFill>
        <p:spPr>
          <a:xfrm>
            <a:off x="542708" y="3688963"/>
            <a:ext cx="1027242" cy="50271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8296E86-5A31-5291-5291-6C9AEBEDDA8A}"/>
              </a:ext>
            </a:extLst>
          </p:cNvPr>
          <p:cNvSpPr txBox="1"/>
          <p:nvPr/>
        </p:nvSpPr>
        <p:spPr>
          <a:xfrm>
            <a:off x="448236" y="4215982"/>
            <a:ext cx="165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用户原始输入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8C66DE-A49D-0226-C15D-F931213EB355}"/>
              </a:ext>
            </a:extLst>
          </p:cNvPr>
          <p:cNvSpPr/>
          <p:nvPr/>
        </p:nvSpPr>
        <p:spPr>
          <a:xfrm>
            <a:off x="2105690" y="3478307"/>
            <a:ext cx="1108364" cy="737675"/>
          </a:xfrm>
          <a:prstGeom prst="rect">
            <a:avLst/>
          </a:prstGeom>
          <a:solidFill>
            <a:srgbClr val="80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神经感知编码</a:t>
            </a: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617E07AD-09DC-5826-D575-67E10F625C70}"/>
              </a:ext>
            </a:extLst>
          </p:cNvPr>
          <p:cNvCxnSpPr>
            <a:cxnSpLocks/>
            <a:stCxn id="15" idx="2"/>
            <a:endCxn id="27" idx="0"/>
          </p:cNvCxnSpPr>
          <p:nvPr/>
        </p:nvCxnSpPr>
        <p:spPr>
          <a:xfrm rot="16200000" flipH="1">
            <a:off x="2451342" y="4424512"/>
            <a:ext cx="983183" cy="566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93036C0D-0373-7C26-EC62-2FE10FC1A24E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1682566" y="4221858"/>
            <a:ext cx="983183" cy="9714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45AAC566-A90A-7B77-0162-34806A3D200C}"/>
              </a:ext>
            </a:extLst>
          </p:cNvPr>
          <p:cNvSpPr/>
          <p:nvPr/>
        </p:nvSpPr>
        <p:spPr>
          <a:xfrm>
            <a:off x="1273824" y="5199165"/>
            <a:ext cx="829235" cy="609088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韵律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B60A349-4967-9A64-AD41-560235255C46}"/>
              </a:ext>
            </a:extLst>
          </p:cNvPr>
          <p:cNvSpPr/>
          <p:nvPr/>
        </p:nvSpPr>
        <p:spPr>
          <a:xfrm>
            <a:off x="2811376" y="5199165"/>
            <a:ext cx="829235" cy="609088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语义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DA2378-C9E8-A418-3F0C-47C09DE69F37}"/>
              </a:ext>
            </a:extLst>
          </p:cNvPr>
          <p:cNvSpPr txBox="1"/>
          <p:nvPr/>
        </p:nvSpPr>
        <p:spPr>
          <a:xfrm>
            <a:off x="2069107" y="4737150"/>
            <a:ext cx="669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特征解耦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F4BC54B-11EA-3348-B562-F097DD77D891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1569950" y="3847145"/>
            <a:ext cx="535740" cy="93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646F0C7-36CF-885F-9984-A278C39AFD2F}"/>
              </a:ext>
            </a:extLst>
          </p:cNvPr>
          <p:cNvSpPr/>
          <p:nvPr/>
        </p:nvSpPr>
        <p:spPr>
          <a:xfrm>
            <a:off x="3749794" y="3511065"/>
            <a:ext cx="1431636" cy="9975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多模态</a:t>
            </a:r>
            <a:r>
              <a:rPr lang="en-US" altLang="zh-CN" dirty="0">
                <a:solidFill>
                  <a:schemeClr val="tx1"/>
                </a:solidFill>
              </a:rPr>
              <a:t>LLM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A5F60AD-40E7-012B-F015-84D20516E03E}"/>
              </a:ext>
            </a:extLst>
          </p:cNvPr>
          <p:cNvCxnSpPr>
            <a:stCxn id="15" idx="3"/>
            <a:endCxn id="34" idx="1"/>
          </p:cNvCxnSpPr>
          <p:nvPr/>
        </p:nvCxnSpPr>
        <p:spPr>
          <a:xfrm>
            <a:off x="3214054" y="3847145"/>
            <a:ext cx="535740" cy="162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A284579-2284-5039-F297-94F9F5B9A3AD}"/>
              </a:ext>
            </a:extLst>
          </p:cNvPr>
          <p:cNvCxnSpPr>
            <a:stCxn id="27" idx="3"/>
            <a:endCxn id="34" idx="1"/>
          </p:cNvCxnSpPr>
          <p:nvPr/>
        </p:nvCxnSpPr>
        <p:spPr>
          <a:xfrm flipV="1">
            <a:off x="3640611" y="4009829"/>
            <a:ext cx="109183" cy="1493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2AB05E8-F2DF-1718-1E17-E530EB5063D0}"/>
              </a:ext>
            </a:extLst>
          </p:cNvPr>
          <p:cNvSpPr/>
          <p:nvPr/>
        </p:nvSpPr>
        <p:spPr>
          <a:xfrm>
            <a:off x="5253372" y="4957482"/>
            <a:ext cx="797858" cy="54622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解码输出</a:t>
            </a:r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69B4E5E0-B70D-2A91-8E4D-8E677DEFDDEA}"/>
              </a:ext>
            </a:extLst>
          </p:cNvPr>
          <p:cNvCxnSpPr>
            <a:stCxn id="34" idx="3"/>
            <a:endCxn id="52" idx="0"/>
          </p:cNvCxnSpPr>
          <p:nvPr/>
        </p:nvCxnSpPr>
        <p:spPr>
          <a:xfrm>
            <a:off x="5181430" y="4009829"/>
            <a:ext cx="470871" cy="9476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 descr="图示&#10;&#10;AI 生成的内容可能不正确。">
            <a:extLst>
              <a:ext uri="{FF2B5EF4-FFF2-40B4-BE49-F238E27FC236}">
                <a16:creationId xmlns:a16="http://schemas.microsoft.com/office/drawing/2014/main" id="{4171F40A-F112-1313-F590-F9EE233AC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740" y="3133006"/>
            <a:ext cx="5285178" cy="269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54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3C00-6D3D-5363-1AF4-43E64B5B3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FFC8E-A56B-3344-00F0-FD83C397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研究现状及问题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ED378-CF87-7E9C-5DBB-6D4C7974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E68B0EA3-C169-D0B6-42EA-DEE2C191D950}"/>
              </a:ext>
            </a:extLst>
          </p:cNvPr>
          <p:cNvSpPr txBox="1"/>
          <p:nvPr/>
        </p:nvSpPr>
        <p:spPr>
          <a:xfrm>
            <a:off x="-83284" y="1161659"/>
            <a:ext cx="12019280" cy="5696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1A1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现有问题：</a:t>
            </a:r>
            <a:endParaRPr lang="en-US" altLang="zh-CN" sz="2400" b="1" dirty="0">
              <a:solidFill>
                <a:srgbClr val="1A1A2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b="1" dirty="0"/>
              <a:t>视觉与认知的割裂</a:t>
            </a:r>
            <a:endParaRPr lang="en-US" altLang="zh-CN" sz="2200" b="1" dirty="0"/>
          </a:p>
          <a:p>
            <a:pPr lvl="2" algn="just">
              <a:buFont typeface="Wingdings" panose="05000000000000000000" charset="0"/>
              <a:buChar char="n"/>
            </a:pPr>
            <a:r>
              <a:rPr lang="en-US" altLang="zh-CN" sz="2000" dirty="0" err="1"/>
              <a:t>GMTalker</a:t>
            </a:r>
            <a:r>
              <a:rPr lang="zh-CN" altLang="en-US" sz="2000" dirty="0"/>
              <a:t> 这样的系统有“好看的皮囊”，但缺乏情感大脑，只会机械复读。</a:t>
            </a:r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/>
              <a:t>情感对话智能体这样的系统有“有趣的灵魂”，但没有身体。</a:t>
            </a:r>
            <a:endParaRPr lang="en-US" altLang="zh-CN" sz="2000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b="1" dirty="0"/>
              <a:t>本课题突破：</a:t>
            </a:r>
            <a:r>
              <a:rPr lang="zh-CN" altLang="en-US" sz="2000" dirty="0"/>
              <a:t> 将 </a:t>
            </a:r>
            <a:r>
              <a:rPr lang="zh-CN" altLang="en-US" sz="2000" b="1" dirty="0"/>
              <a:t>情感大模型</a:t>
            </a:r>
            <a:r>
              <a:rPr lang="zh-CN" altLang="en-US" sz="2000" dirty="0"/>
              <a:t> 与 </a:t>
            </a:r>
            <a:r>
              <a:rPr lang="en-US" altLang="zh-CN" sz="2000" b="1" dirty="0"/>
              <a:t>3D </a:t>
            </a:r>
            <a:r>
              <a:rPr lang="zh-CN" altLang="en-US" sz="2000" b="1" dirty="0"/>
              <a:t>形象</a:t>
            </a:r>
            <a:r>
              <a:rPr lang="zh-CN" altLang="en-US" sz="2000" dirty="0"/>
              <a:t> 进行深层融合，实现“脑驱动皮”的端到端情感表现。</a:t>
            </a:r>
            <a:endParaRPr lang="en-US" altLang="zh-CN" sz="2000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b="1" dirty="0"/>
              <a:t>生成动作单一</a:t>
            </a:r>
            <a:endParaRPr lang="en-US" altLang="zh-CN" sz="2200" b="1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/>
              <a:t>现有 </a:t>
            </a:r>
            <a:r>
              <a:rPr lang="en-US" altLang="zh-CN" sz="2000" dirty="0"/>
              <a:t>3D </a:t>
            </a:r>
            <a:r>
              <a:rPr lang="zh-CN" altLang="en-US" sz="2000" dirty="0"/>
              <a:t>数字人大多只关注口型同步。</a:t>
            </a:r>
          </a:p>
          <a:p>
            <a:pPr lvl="2" algn="just">
              <a:buFont typeface="Wingdings" panose="05000000000000000000" charset="0"/>
              <a:buChar char="n"/>
            </a:pPr>
            <a:r>
              <a:rPr lang="en-US" altLang="zh-CN" sz="2000" dirty="0" err="1"/>
              <a:t>GMTalker</a:t>
            </a:r>
            <a:r>
              <a:rPr lang="en-US" altLang="zh-CN" sz="2000" dirty="0"/>
              <a:t> </a:t>
            </a:r>
            <a:r>
              <a:rPr lang="zh-CN" altLang="en-US" sz="2000" dirty="0"/>
              <a:t>等系统虽然有身体，但动作是预设</a:t>
            </a:r>
            <a:r>
              <a:rPr lang="zh-CN" altLang="en-US" sz="2000" b="1" dirty="0"/>
              <a:t>僵硬的</a:t>
            </a:r>
            <a:r>
              <a:rPr lang="zh-CN" altLang="en-US" sz="2000" dirty="0"/>
              <a:t>（如循环播放“挥手”动画）。</a:t>
            </a:r>
            <a:endParaRPr lang="en-US" altLang="zh-CN" sz="2000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b="1" dirty="0"/>
              <a:t>本课题突破：</a:t>
            </a:r>
            <a:r>
              <a:rPr lang="zh-CN" altLang="en-US" sz="2000" dirty="0"/>
              <a:t> 研究</a:t>
            </a:r>
            <a:r>
              <a:rPr lang="zh-CN" altLang="en-US" sz="2000" b="1" dirty="0"/>
              <a:t>基于情感和语义的全身动作生成</a:t>
            </a:r>
            <a:r>
              <a:rPr lang="zh-CN" altLang="en-US" sz="2000" dirty="0"/>
              <a:t>，让数字人不仅动嘴，还能通过肢体语言表达“失落、兴奋、拒绝”等状态</a:t>
            </a:r>
            <a:endParaRPr lang="en-US" altLang="zh-CN" sz="2200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b="1" dirty="0"/>
              <a:t>个性化构建门槛高 </a:t>
            </a:r>
            <a:endParaRPr lang="en-US" altLang="zh-CN" sz="2200" b="1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/>
              <a:t>使用 </a:t>
            </a:r>
            <a:r>
              <a:rPr lang="en-US" altLang="zh-CN" sz="2000" dirty="0"/>
              <a:t>blender</a:t>
            </a:r>
            <a:r>
              <a:rPr lang="zh-CN" altLang="en-US" sz="2000" dirty="0"/>
              <a:t>、</a:t>
            </a:r>
            <a:r>
              <a:rPr lang="en-US" altLang="zh-CN" sz="2000" dirty="0"/>
              <a:t>maya</a:t>
            </a:r>
            <a:r>
              <a:rPr lang="zh-CN" altLang="en-US" sz="2000" dirty="0"/>
              <a:t>等专业软件，需要专业美术流程。</a:t>
            </a:r>
            <a:endParaRPr lang="en-US" altLang="zh-CN" sz="2000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b="1" dirty="0"/>
              <a:t>本课题突破：</a:t>
            </a:r>
            <a:r>
              <a:rPr lang="zh-CN" altLang="en-US" sz="2000" dirty="0"/>
              <a:t> 利用 </a:t>
            </a:r>
            <a:r>
              <a:rPr lang="zh-CN" altLang="en-US" sz="2000" b="1" dirty="0"/>
              <a:t>智能体工作流</a:t>
            </a:r>
            <a:r>
              <a:rPr lang="zh-CN" altLang="en-US" sz="2000" dirty="0"/>
              <a:t>的思想，探索基于单张照片</a:t>
            </a:r>
            <a:r>
              <a:rPr lang="en-US" altLang="zh-CN" sz="2000" dirty="0"/>
              <a:t>/</a:t>
            </a:r>
            <a:r>
              <a:rPr lang="zh-CN" altLang="en-US" sz="2000" dirty="0"/>
              <a:t>文字的 </a:t>
            </a:r>
            <a:r>
              <a:rPr lang="en-US" altLang="zh-CN" sz="2000" b="1" dirty="0"/>
              <a:t>3D </a:t>
            </a:r>
            <a:r>
              <a:rPr lang="zh-CN" altLang="en-US" sz="2000" b="1" dirty="0"/>
              <a:t>形象生成与自动绑骨</a:t>
            </a:r>
            <a:r>
              <a:rPr lang="zh-CN" altLang="en-US" sz="2000" dirty="0"/>
              <a:t> 技术。</a:t>
            </a:r>
          </a:p>
          <a:p>
            <a:pPr lvl="1" algn="just">
              <a:buFont typeface="Wingdings" panose="05000000000000000000" charset="0"/>
              <a:buChar char="n"/>
            </a:pPr>
            <a:endParaRPr lang="zh-CN" altLang="en-US" sz="2400" dirty="0"/>
          </a:p>
          <a:p>
            <a:pPr lvl="1" algn="just">
              <a:buFont typeface="Wingdings" panose="05000000000000000000" charset="0"/>
              <a:buChar char="n"/>
            </a:pPr>
            <a:endParaRPr lang="zh-CN" altLang="en-US" sz="2400" dirty="0"/>
          </a:p>
          <a:p>
            <a:pPr algn="just">
              <a:buFont typeface="Wingdings" panose="05000000000000000000" charset="0"/>
              <a:buChar char="n"/>
            </a:pP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135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şḻiḍè"/>
          <p:cNvSpPr/>
          <p:nvPr/>
        </p:nvSpPr>
        <p:spPr>
          <a:xfrm>
            <a:off x="72736" y="1705743"/>
            <a:ext cx="5502667" cy="3970789"/>
          </a:xfrm>
          <a:prstGeom prst="rect">
            <a:avLst/>
          </a:prstGeom>
          <a:blipFill rotWithShape="1">
            <a:blip r:embed="rId2"/>
            <a:stretch>
              <a:fillRect t="-29798" b="-2940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D1DADD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" name="išḷiḋê"/>
          <p:cNvSpPr/>
          <p:nvPr/>
        </p:nvSpPr>
        <p:spPr>
          <a:xfrm>
            <a:off x="893623" y="1705743"/>
            <a:ext cx="4681780" cy="3970789"/>
          </a:xfrm>
          <a:prstGeom prst="rect">
            <a:avLst/>
          </a:prstGeom>
          <a:solidFill>
            <a:schemeClr val="tx1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isļîḑê"/>
          <p:cNvSpPr/>
          <p:nvPr/>
        </p:nvSpPr>
        <p:spPr>
          <a:xfrm>
            <a:off x="6393166" y="4649057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0" name="išḷîḑè"/>
          <p:cNvSpPr/>
          <p:nvPr/>
        </p:nvSpPr>
        <p:spPr>
          <a:xfrm>
            <a:off x="6393166" y="3821553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2" name="îŝḷïḓè"/>
          <p:cNvSpPr/>
          <p:nvPr/>
        </p:nvSpPr>
        <p:spPr>
          <a:xfrm>
            <a:off x="6393166" y="2994050"/>
            <a:ext cx="540000" cy="5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9" name="iślîḍé"/>
          <p:cNvSpPr txBox="1"/>
          <p:nvPr/>
        </p:nvSpPr>
        <p:spPr>
          <a:xfrm>
            <a:off x="7032083" y="3064934"/>
            <a:ext cx="1758626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研究现状及问题</a:t>
            </a:r>
          </a:p>
        </p:txBody>
      </p:sp>
      <p:sp>
        <p:nvSpPr>
          <p:cNvPr id="14" name="îṥļíḓê"/>
          <p:cNvSpPr/>
          <p:nvPr/>
        </p:nvSpPr>
        <p:spPr>
          <a:xfrm>
            <a:off x="6393166" y="2166547"/>
            <a:ext cx="540000" cy="5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7" name="íŝḻïďé"/>
          <p:cNvSpPr txBox="1"/>
          <p:nvPr/>
        </p:nvSpPr>
        <p:spPr>
          <a:xfrm>
            <a:off x="7032083" y="2236901"/>
            <a:ext cx="1758626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研究背景及目的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6186000" y="1781485"/>
            <a:ext cx="0" cy="370800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3C5EEB60D8612D4B7AC81916BAD_73A9D09F_43B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170" y="214630"/>
            <a:ext cx="2286635" cy="1018540"/>
          </a:xfrm>
          <a:prstGeom prst="rect">
            <a:avLst/>
          </a:prstGeom>
        </p:spPr>
      </p:pic>
      <p:sp>
        <p:nvSpPr>
          <p:cNvPr id="18" name="iślîḍé"/>
          <p:cNvSpPr txBox="1"/>
          <p:nvPr/>
        </p:nvSpPr>
        <p:spPr>
          <a:xfrm>
            <a:off x="7032082" y="3891907"/>
            <a:ext cx="1103999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研究内容及步骤</a:t>
            </a:r>
          </a:p>
        </p:txBody>
      </p:sp>
      <p:sp>
        <p:nvSpPr>
          <p:cNvPr id="20" name="iślîḍé"/>
          <p:cNvSpPr txBox="1"/>
          <p:nvPr/>
        </p:nvSpPr>
        <p:spPr>
          <a:xfrm>
            <a:off x="7032081" y="4719411"/>
            <a:ext cx="1103999" cy="399292"/>
          </a:xfrm>
          <a:prstGeom prst="rect">
            <a:avLst/>
          </a:prstGeom>
          <a:noFill/>
        </p:spPr>
        <p:txBody>
          <a:bodyPr wrap="none" lIns="90000" tIns="46800" rIns="90000" bIns="46800" anchor="b" anchorCtr="0">
            <a:normAutofit/>
          </a:bodyPr>
          <a:lstStyle/>
          <a:p>
            <a:r>
              <a:rPr lang="zh-CN" altLang="en-US" b="1" dirty="0"/>
              <a:t>实验过程及结论</a:t>
            </a:r>
          </a:p>
        </p:txBody>
      </p:sp>
      <p:sp>
        <p:nvSpPr>
          <p:cNvPr id="2" name="ïşľíďe">
            <a:extLst>
              <a:ext uri="{FF2B5EF4-FFF2-40B4-BE49-F238E27FC236}">
                <a16:creationId xmlns:a16="http://schemas.microsoft.com/office/drawing/2014/main" id="{D3785280-8CAD-4A57-578D-2197531FC68B}"/>
              </a:ext>
            </a:extLst>
          </p:cNvPr>
          <p:cNvSpPr txBox="1"/>
          <p:nvPr/>
        </p:nvSpPr>
        <p:spPr>
          <a:xfrm>
            <a:off x="943520" y="1781485"/>
            <a:ext cx="4581985" cy="370800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情智兼备的虚拟陪伴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生成关键技术及互系统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研究内容及步骤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26" name="内容占位符 4"/>
          <p:cNvSpPr txBox="1"/>
          <p:nvPr/>
        </p:nvSpPr>
        <p:spPr>
          <a:xfrm>
            <a:off x="-83284" y="1161659"/>
            <a:ext cx="12019280" cy="2011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本项目基于</a:t>
            </a:r>
            <a:r>
              <a:rPr lang="zh-CN" altLang="en-US" sz="2400" b="1" dirty="0">
                <a:solidFill>
                  <a:srgbClr val="C00000"/>
                </a:solidFill>
              </a:rPr>
              <a:t>多模态可控</a:t>
            </a:r>
            <a:r>
              <a:rPr lang="en-US" altLang="zh-CN" sz="2400" b="1" dirty="0">
                <a:solidFill>
                  <a:srgbClr val="C00000"/>
                </a:solidFill>
              </a:rPr>
              <a:t>3D</a:t>
            </a:r>
            <a:r>
              <a:rPr lang="zh-CN" altLang="en-US" sz="2400" b="1" dirty="0">
                <a:solidFill>
                  <a:srgbClr val="C00000"/>
                </a:solidFill>
              </a:rPr>
              <a:t>人体生成</a:t>
            </a:r>
            <a:r>
              <a:rPr lang="en-US" altLang="zh-CN" sz="2400" b="1" dirty="0">
                <a:solidFill>
                  <a:srgbClr val="C00000"/>
                </a:solidFill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</a:rPr>
              <a:t>绑定</a:t>
            </a:r>
            <a:r>
              <a:rPr lang="en-US" altLang="zh-CN" sz="2400" b="1" dirty="0">
                <a:solidFill>
                  <a:srgbClr val="C00000"/>
                </a:solidFill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</a:rPr>
              <a:t>驱动、多模态情绪识别与情绪感知的回复生成，</a:t>
            </a:r>
            <a:r>
              <a:rPr lang="zh-CN" altLang="en-US" sz="2400" dirty="0"/>
              <a:t>研究以下内容，</a:t>
            </a:r>
            <a:r>
              <a:rPr lang="en-US" altLang="zh-CN" sz="2400" b="1" dirty="0"/>
              <a:t>3D</a:t>
            </a:r>
            <a:r>
              <a:rPr lang="zh-CN" altLang="en-US" sz="2400" b="1" dirty="0"/>
              <a:t>模型生成、自动骨骼绑定、模型驱动、多模态情绪识别、情绪语音识别</a:t>
            </a:r>
            <a:endParaRPr lang="en-US" altLang="zh-CN" sz="2400" b="1" dirty="0"/>
          </a:p>
          <a:p>
            <a:pPr marL="457200" lvl="1" indent="0" algn="just">
              <a:buNone/>
            </a:pPr>
            <a:endParaRPr lang="zh-CN" altLang="en-US" sz="24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F65DFA-AA1B-7746-9D92-66425D2AF164}"/>
              </a:ext>
            </a:extLst>
          </p:cNvPr>
          <p:cNvSpPr txBox="1"/>
          <p:nvPr/>
        </p:nvSpPr>
        <p:spPr>
          <a:xfrm>
            <a:off x="256004" y="2268201"/>
            <a:ext cx="11616131" cy="257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研究步骤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 algn="just" fontAlgn="auto">
              <a:lnSpc>
                <a:spcPct val="11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dirty="0"/>
              <a:t>步骤一：结合开源项目搭建系统框架</a:t>
            </a:r>
            <a:endParaRPr lang="en-US" altLang="zh-CN" dirty="0"/>
          </a:p>
          <a:p>
            <a:pPr lvl="1" algn="just" fontAlgn="auto">
              <a:lnSpc>
                <a:spcPct val="11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dirty="0"/>
              <a:t>步骤二：研究现有生成</a:t>
            </a:r>
            <a:r>
              <a:rPr lang="en-US" altLang="zh-CN" dirty="0"/>
              <a:t>3D</a:t>
            </a:r>
            <a:r>
              <a:rPr lang="zh-CN" altLang="en-US" dirty="0"/>
              <a:t>模型评估效果，添加到系统</a:t>
            </a:r>
            <a:endParaRPr lang="en-US" altLang="zh-CN" dirty="0"/>
          </a:p>
          <a:p>
            <a:pPr lvl="1" algn="just">
              <a:lnSpc>
                <a:spcPct val="11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dirty="0"/>
              <a:t>步骤二：研究模型绑骨</a:t>
            </a:r>
            <a:endParaRPr lang="en-US" altLang="zh-CN" dirty="0"/>
          </a:p>
          <a:p>
            <a:pPr lvl="1" algn="just">
              <a:lnSpc>
                <a:spcPct val="11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dirty="0"/>
              <a:t>步骤三：搭建情智兼备的虚拟陪伴的原型系统，包括基本功能</a:t>
            </a:r>
            <a:endParaRPr lang="en-US" altLang="zh-CN" dirty="0"/>
          </a:p>
          <a:p>
            <a:pPr lvl="1" algn="just" fontAlgn="auto">
              <a:lnSpc>
                <a:spcPct val="110000"/>
              </a:lnSpc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zh-CN" altLang="en-US" dirty="0"/>
              <a:t>步骤四：多模态情绪感知与回复及动作生成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4D9F-5121-E5CE-E2A4-C6079390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61ED7-656B-A0D0-33FF-E7721E8A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研究内容及步骤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98B64B-FCC4-26F5-EC76-26333D25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454" y="694155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658D6D9C-0389-E23D-2657-EDA34516186B}"/>
              </a:ext>
            </a:extLst>
          </p:cNvPr>
          <p:cNvSpPr txBox="1"/>
          <p:nvPr/>
        </p:nvSpPr>
        <p:spPr>
          <a:xfrm>
            <a:off x="-53547" y="1161659"/>
            <a:ext cx="12019280" cy="2011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系统功能设计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dirty="0"/>
              <a:t>数字人角色构建与 </a:t>
            </a:r>
            <a:r>
              <a:rPr lang="en-US" altLang="zh-CN" dirty="0"/>
              <a:t>3D </a:t>
            </a:r>
            <a:r>
              <a:rPr lang="zh-CN" altLang="en-US" dirty="0"/>
              <a:t>驱动模块：系统支持根据文本描述生人物属性，支持文本</a:t>
            </a:r>
            <a:r>
              <a:rPr lang="en-US" altLang="zh-CN" dirty="0"/>
              <a:t>/</a:t>
            </a:r>
            <a:r>
              <a:rPr lang="zh-CN" altLang="en-US" dirty="0"/>
              <a:t>图片描述生成</a:t>
            </a:r>
            <a:r>
              <a:rPr lang="en-US" altLang="zh-CN" dirty="0"/>
              <a:t>3D</a:t>
            </a:r>
            <a:r>
              <a:rPr lang="zh-CN" altLang="en-US" dirty="0"/>
              <a:t>模型、自动绑骨与动作驱动，生成多种动作状态，实现数字人的动态展示与可视化交互。</a:t>
            </a:r>
            <a:endParaRPr lang="en-US" altLang="zh-CN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dirty="0"/>
              <a:t>情感感知模块：系统具备情绪识别与情感分析能力，可对交互过程中的情绪状态进行识别、记录与统计，并生成情绪趋势报告；同时结合历史对话和用户信息构建长期记忆机制，使数字人能够保留上下文和交互经历，从而提升连续对话的个性化与智能化水平。</a:t>
            </a:r>
          </a:p>
          <a:p>
            <a:pPr lvl="1" algn="just">
              <a:buFont typeface="Wingdings" panose="05000000000000000000" charset="0"/>
              <a:buChar char="n"/>
            </a:pPr>
            <a:endParaRPr lang="zh-CN" altLang="en-US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dirty="0"/>
              <a:t>多模态智能交互模块：系统支持文本对话与语音对话两种交互方式，能够对用户输入进行语音识别，并结合大语言模型生成自然回复内容；同时通过语音合成功能将回复转化为语音输出，形成“能听、能说、能交流”的完整交互闭环，提升数字人的真实感与陪伴感。</a:t>
            </a:r>
          </a:p>
          <a:p>
            <a:pPr marL="457200" lvl="1" indent="0" algn="just">
              <a:buNone/>
            </a:pPr>
            <a:endParaRPr lang="zh-CN" altLang="en-US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dirty="0"/>
              <a:t>平台管理与扩展应用模块：系统提供模型管理、角色管理、对话记录管理等后台功能，支持对数字人资源进行创建、查询、修改和删除；同时支持 </a:t>
            </a:r>
            <a:r>
              <a:rPr lang="en-US" altLang="zh-CN" dirty="0"/>
              <a:t>Web </a:t>
            </a:r>
            <a:r>
              <a:rPr lang="zh-CN" altLang="en-US" dirty="0"/>
              <a:t>端与移动端部署，并可通过</a:t>
            </a:r>
            <a:r>
              <a:rPr lang="en-US" altLang="zh-CN" dirty="0" err="1"/>
              <a:t>MCP</a:t>
            </a:r>
            <a:r>
              <a:rPr lang="zh-CN" altLang="en-US" dirty="0"/>
              <a:t>工具接入外部服务与工作流，增强系统的任务执行能力和应用扩展能力。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772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3ECB-7523-EA39-BFBB-9AF9AEEB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A4152-674E-416F-6038-AE3D7D43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研究内容及步骤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88A2F-1C08-D7D9-DCD8-DC62278F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454" y="694155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596E10DB-AD88-4C54-1E88-13EAE1A557EA}"/>
              </a:ext>
            </a:extLst>
          </p:cNvPr>
          <p:cNvSpPr txBox="1"/>
          <p:nvPr/>
        </p:nvSpPr>
        <p:spPr>
          <a:xfrm>
            <a:off x="-53547" y="1161659"/>
            <a:ext cx="12019280" cy="2011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系统总体技术架构</a:t>
            </a:r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0454F2B-39B1-47E6-6348-8C0F6587C716}"/>
              </a:ext>
            </a:extLst>
          </p:cNvPr>
          <p:cNvSpPr/>
          <p:nvPr/>
        </p:nvSpPr>
        <p:spPr>
          <a:xfrm>
            <a:off x="1629758" y="4879405"/>
            <a:ext cx="9879981" cy="7291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8AE49EE-834D-2520-9093-A5B8F3364AC8}"/>
              </a:ext>
            </a:extLst>
          </p:cNvPr>
          <p:cNvSpPr/>
          <p:nvPr/>
        </p:nvSpPr>
        <p:spPr>
          <a:xfrm>
            <a:off x="1864788" y="4936264"/>
            <a:ext cx="1282668" cy="609600"/>
          </a:xfrm>
          <a:prstGeom prst="round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LLM</a:t>
            </a:r>
            <a:r>
              <a:rPr lang="zh-CN" altLang="en-US" sz="1400" dirty="0">
                <a:solidFill>
                  <a:schemeClr val="tx1"/>
                </a:solidFill>
              </a:rPr>
              <a:t>大模型服务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902935B-50B2-45E3-308B-D873FBF3F17C}"/>
              </a:ext>
            </a:extLst>
          </p:cNvPr>
          <p:cNvSpPr/>
          <p:nvPr/>
        </p:nvSpPr>
        <p:spPr>
          <a:xfrm>
            <a:off x="4930906" y="4993317"/>
            <a:ext cx="1679661" cy="486047"/>
          </a:xfrm>
          <a:prstGeom prst="round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TTS</a:t>
            </a:r>
            <a:r>
              <a:rPr lang="zh-CN" altLang="en-US" sz="1400" dirty="0">
                <a:solidFill>
                  <a:schemeClr val="tx1"/>
                </a:solidFill>
              </a:rPr>
              <a:t>语音合成服务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25116E7-DD7E-9BFD-CA84-0DC28661A53B}"/>
              </a:ext>
            </a:extLst>
          </p:cNvPr>
          <p:cNvSpPr/>
          <p:nvPr/>
        </p:nvSpPr>
        <p:spPr>
          <a:xfrm>
            <a:off x="1679790" y="3755113"/>
            <a:ext cx="9879981" cy="957116"/>
          </a:xfrm>
          <a:prstGeom prst="roundRect">
            <a:avLst/>
          </a:prstGeom>
          <a:solidFill>
            <a:srgbClr val="F1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449BF54-FA2C-4797-FB96-2907B840A5B2}"/>
              </a:ext>
            </a:extLst>
          </p:cNvPr>
          <p:cNvSpPr/>
          <p:nvPr/>
        </p:nvSpPr>
        <p:spPr>
          <a:xfrm>
            <a:off x="3914528" y="3837503"/>
            <a:ext cx="1305589" cy="256218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输入处理模块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7C9A30E-EC1F-B9E9-9571-BF728803742E}"/>
              </a:ext>
            </a:extLst>
          </p:cNvPr>
          <p:cNvSpPr/>
          <p:nvPr/>
        </p:nvSpPr>
        <p:spPr>
          <a:xfrm>
            <a:off x="8143106" y="3838065"/>
            <a:ext cx="1833063" cy="301617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模型资产管理模块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18A3BF0-EA65-D89D-E080-2EA8CB0D2BF0}"/>
              </a:ext>
            </a:extLst>
          </p:cNvPr>
          <p:cNvSpPr/>
          <p:nvPr/>
        </p:nvSpPr>
        <p:spPr>
          <a:xfrm>
            <a:off x="102411" y="4879406"/>
            <a:ext cx="1217775" cy="729108"/>
          </a:xfrm>
          <a:prstGeom prst="round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基础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能力层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69E97F1-798A-5F2B-CC5F-45D00B2A5D08}"/>
              </a:ext>
            </a:extLst>
          </p:cNvPr>
          <p:cNvSpPr/>
          <p:nvPr/>
        </p:nvSpPr>
        <p:spPr>
          <a:xfrm>
            <a:off x="1571313" y="2815970"/>
            <a:ext cx="9879981" cy="7623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DD7FD12-51DB-122F-EE81-46543A41DA37}"/>
              </a:ext>
            </a:extLst>
          </p:cNvPr>
          <p:cNvSpPr/>
          <p:nvPr/>
        </p:nvSpPr>
        <p:spPr>
          <a:xfrm>
            <a:off x="1606837" y="1665775"/>
            <a:ext cx="9879981" cy="988205"/>
          </a:xfrm>
          <a:prstGeom prst="roundRect">
            <a:avLst/>
          </a:prstGeom>
          <a:solidFill>
            <a:srgbClr val="E7F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CFAA4E-1854-7EA2-586B-7270DC8E6110}"/>
              </a:ext>
            </a:extLst>
          </p:cNvPr>
          <p:cNvSpPr/>
          <p:nvPr/>
        </p:nvSpPr>
        <p:spPr>
          <a:xfrm>
            <a:off x="102411" y="2800506"/>
            <a:ext cx="1207857" cy="791354"/>
          </a:xfrm>
          <a:prstGeom prst="roundRect">
            <a:avLst/>
          </a:prstGeom>
          <a:solidFill>
            <a:srgbClr val="F8AD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接口与通信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5ECFA0F-D995-690F-A0B6-B19CB83821F6}"/>
              </a:ext>
            </a:extLst>
          </p:cNvPr>
          <p:cNvSpPr/>
          <p:nvPr/>
        </p:nvSpPr>
        <p:spPr>
          <a:xfrm>
            <a:off x="102411" y="1665777"/>
            <a:ext cx="1218601" cy="818868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应用层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DAE1E1A-A0B4-BDA5-A52E-C3369E8093F1}"/>
              </a:ext>
            </a:extLst>
          </p:cNvPr>
          <p:cNvSpPr/>
          <p:nvPr/>
        </p:nvSpPr>
        <p:spPr>
          <a:xfrm>
            <a:off x="3851738" y="4337754"/>
            <a:ext cx="1442855" cy="218698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对话编排模块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B977400-61E0-2D97-D538-59B621FF3416}"/>
              </a:ext>
            </a:extLst>
          </p:cNvPr>
          <p:cNvSpPr/>
          <p:nvPr/>
        </p:nvSpPr>
        <p:spPr>
          <a:xfrm>
            <a:off x="5561368" y="4327100"/>
            <a:ext cx="1334642" cy="239513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情绪感知模块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2936E36-4890-14AC-5370-40EBC9E4A129}"/>
              </a:ext>
            </a:extLst>
          </p:cNvPr>
          <p:cNvSpPr/>
          <p:nvPr/>
        </p:nvSpPr>
        <p:spPr>
          <a:xfrm>
            <a:off x="2078800" y="4352602"/>
            <a:ext cx="1334642" cy="206293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记忆管理模块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52AA93D-7D0C-BEB1-6EE8-AA0506961F29}"/>
              </a:ext>
            </a:extLst>
          </p:cNvPr>
          <p:cNvSpPr/>
          <p:nvPr/>
        </p:nvSpPr>
        <p:spPr>
          <a:xfrm>
            <a:off x="1754459" y="1957646"/>
            <a:ext cx="1799583" cy="458329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首页智能体页面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2B7EBA6-604C-DEE5-67ED-56ADB5606CEA}"/>
              </a:ext>
            </a:extLst>
          </p:cNvPr>
          <p:cNvSpPr/>
          <p:nvPr/>
        </p:nvSpPr>
        <p:spPr>
          <a:xfrm>
            <a:off x="3881201" y="1957646"/>
            <a:ext cx="1497912" cy="456856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角色创建页面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19D135A-747C-195B-0DCC-451D7F0C7AC4}"/>
              </a:ext>
            </a:extLst>
          </p:cNvPr>
          <p:cNvSpPr/>
          <p:nvPr/>
        </p:nvSpPr>
        <p:spPr>
          <a:xfrm>
            <a:off x="5020399" y="2853004"/>
            <a:ext cx="2207711" cy="244636"/>
          </a:xfrm>
          <a:prstGeom prst="roundRect">
            <a:avLst/>
          </a:prstGeom>
          <a:solidFill>
            <a:srgbClr val="F8AD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Flask REST API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9C49FB6-8719-0424-F33A-0E47EFC90508}"/>
              </a:ext>
            </a:extLst>
          </p:cNvPr>
          <p:cNvSpPr/>
          <p:nvPr/>
        </p:nvSpPr>
        <p:spPr>
          <a:xfrm>
            <a:off x="3222386" y="3295002"/>
            <a:ext cx="1724304" cy="248680"/>
          </a:xfrm>
          <a:prstGeom prst="roundRect">
            <a:avLst/>
          </a:prstGeom>
          <a:solidFill>
            <a:srgbClr val="F8AD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文件上传接口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F779178-883B-C896-1C13-5367A6B65E40}"/>
              </a:ext>
            </a:extLst>
          </p:cNvPr>
          <p:cNvSpPr/>
          <p:nvPr/>
        </p:nvSpPr>
        <p:spPr>
          <a:xfrm>
            <a:off x="5478435" y="3275432"/>
            <a:ext cx="1300904" cy="255718"/>
          </a:xfrm>
          <a:prstGeom prst="roundRect">
            <a:avLst/>
          </a:prstGeom>
          <a:solidFill>
            <a:srgbClr val="F8AD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模型管理接口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1F03D82-F28B-E550-87F8-E185D869EF92}"/>
              </a:ext>
            </a:extLst>
          </p:cNvPr>
          <p:cNvSpPr/>
          <p:nvPr/>
        </p:nvSpPr>
        <p:spPr>
          <a:xfrm>
            <a:off x="3479596" y="4936264"/>
            <a:ext cx="997182" cy="609600"/>
          </a:xfrm>
          <a:prstGeom prst="round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ASR</a:t>
            </a:r>
            <a:r>
              <a:rPr lang="zh-CN" altLang="en-US" sz="1400" dirty="0">
                <a:solidFill>
                  <a:schemeClr val="tx1"/>
                </a:solidFill>
              </a:rPr>
              <a:t>语音识别服务</a:t>
            </a: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8D4D6D85-4FC1-9058-F63D-74E05CAE4A8E}"/>
              </a:ext>
            </a:extLst>
          </p:cNvPr>
          <p:cNvSpPr/>
          <p:nvPr/>
        </p:nvSpPr>
        <p:spPr>
          <a:xfrm>
            <a:off x="1629757" y="5879123"/>
            <a:ext cx="9879981" cy="904491"/>
          </a:xfrm>
          <a:prstGeom prst="roundRect">
            <a:avLst/>
          </a:prstGeom>
          <a:solidFill>
            <a:srgbClr val="D8B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5AAC2D88-545C-5429-BD08-AAB9803B4981}"/>
              </a:ext>
            </a:extLst>
          </p:cNvPr>
          <p:cNvSpPr/>
          <p:nvPr/>
        </p:nvSpPr>
        <p:spPr>
          <a:xfrm>
            <a:off x="3455986" y="5909676"/>
            <a:ext cx="2954122" cy="225513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SQLite</a:t>
            </a:r>
            <a:r>
              <a:rPr lang="zh-CN" altLang="en-US" sz="1400" dirty="0">
                <a:solidFill>
                  <a:schemeClr val="tx1"/>
                </a:solidFill>
              </a:rPr>
              <a:t>数据库</a:t>
            </a: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8262CBD1-2D31-05B4-B424-7B1B76DA3262}"/>
              </a:ext>
            </a:extLst>
          </p:cNvPr>
          <p:cNvSpPr/>
          <p:nvPr/>
        </p:nvSpPr>
        <p:spPr>
          <a:xfrm>
            <a:off x="4149048" y="6450385"/>
            <a:ext cx="1441405" cy="310252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聊天记录数据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E588E97A-0E9F-68CA-94E6-811BBF1F8BF3}"/>
              </a:ext>
            </a:extLst>
          </p:cNvPr>
          <p:cNvSpPr/>
          <p:nvPr/>
        </p:nvSpPr>
        <p:spPr>
          <a:xfrm>
            <a:off x="103237" y="5879123"/>
            <a:ext cx="1215279" cy="826477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数据与资源支撑</a:t>
            </a: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5C25B65A-5AB7-6547-750C-0422ECDBF2A9}"/>
              </a:ext>
            </a:extLst>
          </p:cNvPr>
          <p:cNvSpPr/>
          <p:nvPr/>
        </p:nvSpPr>
        <p:spPr>
          <a:xfrm>
            <a:off x="2543389" y="6440554"/>
            <a:ext cx="1319834" cy="302135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角色信息数据</a:t>
            </a: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DBDEEF15-F17D-46F4-EDB8-752F95F3F2C4}"/>
              </a:ext>
            </a:extLst>
          </p:cNvPr>
          <p:cNvSpPr/>
          <p:nvPr/>
        </p:nvSpPr>
        <p:spPr>
          <a:xfrm>
            <a:off x="5928078" y="6432437"/>
            <a:ext cx="1319834" cy="310252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情绪记录数据</a:t>
            </a: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4910D50D-FF9F-8C27-EB21-643369E69B42}"/>
              </a:ext>
            </a:extLst>
          </p:cNvPr>
          <p:cNvSpPr/>
          <p:nvPr/>
        </p:nvSpPr>
        <p:spPr>
          <a:xfrm>
            <a:off x="7606197" y="6086535"/>
            <a:ext cx="1430123" cy="294969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记忆文件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A29C606-3767-4484-4B26-9180DC197B50}"/>
              </a:ext>
            </a:extLst>
          </p:cNvPr>
          <p:cNvSpPr/>
          <p:nvPr/>
        </p:nvSpPr>
        <p:spPr>
          <a:xfrm>
            <a:off x="5476663" y="1054037"/>
            <a:ext cx="1103830" cy="381653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FC69D23-BC80-010D-EC49-E6F3CE022F9D}"/>
              </a:ext>
            </a:extLst>
          </p:cNvPr>
          <p:cNvSpPr/>
          <p:nvPr/>
        </p:nvSpPr>
        <p:spPr>
          <a:xfrm>
            <a:off x="5638532" y="1957646"/>
            <a:ext cx="1436571" cy="456856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骨骼绑定页面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519A170-A7FB-0084-18E3-04CC2DEFBDDF}"/>
              </a:ext>
            </a:extLst>
          </p:cNvPr>
          <p:cNvSpPr/>
          <p:nvPr/>
        </p:nvSpPr>
        <p:spPr>
          <a:xfrm>
            <a:off x="7447288" y="1950212"/>
            <a:ext cx="982084" cy="456856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互动页面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41DF4B4-1930-5F53-F27F-87DD13CF44DC}"/>
              </a:ext>
            </a:extLst>
          </p:cNvPr>
          <p:cNvSpPr/>
          <p:nvPr/>
        </p:nvSpPr>
        <p:spPr>
          <a:xfrm>
            <a:off x="8649123" y="1957902"/>
            <a:ext cx="1078778" cy="436123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管理页面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B4FE478-66C1-0A64-4933-C767608368FC}"/>
              </a:ext>
            </a:extLst>
          </p:cNvPr>
          <p:cNvSpPr/>
          <p:nvPr/>
        </p:nvSpPr>
        <p:spPr>
          <a:xfrm>
            <a:off x="10208862" y="1970049"/>
            <a:ext cx="788536" cy="436123"/>
          </a:xfrm>
          <a:prstGeom prst="roundRect">
            <a:avLst/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安卓端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807C6330-D443-D063-0933-B99E93E88425}"/>
              </a:ext>
            </a:extLst>
          </p:cNvPr>
          <p:cNvSpPr/>
          <p:nvPr/>
        </p:nvSpPr>
        <p:spPr>
          <a:xfrm>
            <a:off x="7491755" y="3285130"/>
            <a:ext cx="1300904" cy="233596"/>
          </a:xfrm>
          <a:prstGeom prst="roundRect">
            <a:avLst/>
          </a:prstGeom>
          <a:solidFill>
            <a:srgbClr val="F8AD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对话交互接口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2E4BF06-89EF-35C4-0677-70DDFF29B1B8}"/>
              </a:ext>
            </a:extLst>
          </p:cNvPr>
          <p:cNvSpPr/>
          <p:nvPr/>
        </p:nvSpPr>
        <p:spPr>
          <a:xfrm>
            <a:off x="10018732" y="2987743"/>
            <a:ext cx="1300904" cy="398567"/>
          </a:xfrm>
          <a:prstGeom prst="roundRect">
            <a:avLst/>
          </a:prstGeom>
          <a:solidFill>
            <a:srgbClr val="F8AD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WebSocket</a:t>
            </a:r>
            <a:r>
              <a:rPr lang="zh-CN" altLang="en-US" sz="1400" dirty="0">
                <a:solidFill>
                  <a:schemeClr val="tx1"/>
                </a:solidFill>
              </a:rPr>
              <a:t>实时通信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C0C3575-1C04-CA2D-E1DA-7F57CE7E2206}"/>
              </a:ext>
            </a:extLst>
          </p:cNvPr>
          <p:cNvSpPr/>
          <p:nvPr/>
        </p:nvSpPr>
        <p:spPr>
          <a:xfrm>
            <a:off x="5966104" y="3850922"/>
            <a:ext cx="1305589" cy="237955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角色生成模块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2C51738-0682-7F5A-6A2F-716A479CF51A}"/>
              </a:ext>
            </a:extLst>
          </p:cNvPr>
          <p:cNvSpPr/>
          <p:nvPr/>
        </p:nvSpPr>
        <p:spPr>
          <a:xfrm>
            <a:off x="10419568" y="3817527"/>
            <a:ext cx="900068" cy="403803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动作状态控制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1384CE16-29F5-0A4C-4471-2140E2489813}"/>
              </a:ext>
            </a:extLst>
          </p:cNvPr>
          <p:cNvSpPr/>
          <p:nvPr/>
        </p:nvSpPr>
        <p:spPr>
          <a:xfrm>
            <a:off x="9291118" y="6099187"/>
            <a:ext cx="1430123" cy="310252"/>
          </a:xfrm>
          <a:prstGeom prst="roundRect">
            <a:avLst/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模型资源文件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3E49F62-89C7-9E15-B214-B8B8D4C44DAE}"/>
              </a:ext>
            </a:extLst>
          </p:cNvPr>
          <p:cNvSpPr/>
          <p:nvPr/>
        </p:nvSpPr>
        <p:spPr>
          <a:xfrm>
            <a:off x="8034180" y="4976203"/>
            <a:ext cx="1232969" cy="503161"/>
          </a:xfrm>
          <a:prstGeom prst="round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Hunyuan3D</a:t>
            </a:r>
            <a:r>
              <a:rPr lang="zh-CN" altLang="en-US" sz="1400" dirty="0">
                <a:solidFill>
                  <a:schemeClr val="tx1"/>
                </a:solidFill>
              </a:rPr>
              <a:t>生成服务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61E0590F-9882-B6C4-1EA2-B161C27F86AC}"/>
              </a:ext>
            </a:extLst>
          </p:cNvPr>
          <p:cNvSpPr/>
          <p:nvPr/>
        </p:nvSpPr>
        <p:spPr>
          <a:xfrm>
            <a:off x="9512374" y="5001341"/>
            <a:ext cx="1232969" cy="503161"/>
          </a:xfrm>
          <a:prstGeom prst="round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MIA</a:t>
            </a:r>
            <a:r>
              <a:rPr lang="zh-CN" altLang="en-US" sz="1400" dirty="0">
                <a:solidFill>
                  <a:schemeClr val="tx1"/>
                </a:solidFill>
              </a:rPr>
              <a:t>自动骨骼绑定服务</a:t>
            </a:r>
          </a:p>
        </p:txBody>
      </p:sp>
      <p:cxnSp>
        <p:nvCxnSpPr>
          <p:cNvPr id="118" name="连接符: 曲线 117">
            <a:extLst>
              <a:ext uri="{FF2B5EF4-FFF2-40B4-BE49-F238E27FC236}">
                <a16:creationId xmlns:a16="http://schemas.microsoft.com/office/drawing/2014/main" id="{C261ECF7-878C-7CD5-7E02-24BFC35B0170}"/>
              </a:ext>
            </a:extLst>
          </p:cNvPr>
          <p:cNvCxnSpPr>
            <a:cxnSpLocks/>
            <a:stCxn id="5" idx="2"/>
            <a:endCxn id="139" idx="0"/>
          </p:cNvCxnSpPr>
          <p:nvPr/>
        </p:nvCxnSpPr>
        <p:spPr>
          <a:xfrm rot="16200000" flipH="1">
            <a:off x="3537678" y="4514307"/>
            <a:ext cx="363812" cy="2426925"/>
          </a:xfrm>
          <a:prstGeom prst="curvedConnector3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曲线 119">
            <a:extLst>
              <a:ext uri="{FF2B5EF4-FFF2-40B4-BE49-F238E27FC236}">
                <a16:creationId xmlns:a16="http://schemas.microsoft.com/office/drawing/2014/main" id="{E29BF243-BBDD-4BE8-438D-68696AF09FA5}"/>
              </a:ext>
            </a:extLst>
          </p:cNvPr>
          <p:cNvCxnSpPr>
            <a:cxnSpLocks/>
            <a:stCxn id="45" idx="2"/>
            <a:endCxn id="139" idx="0"/>
          </p:cNvCxnSpPr>
          <p:nvPr/>
        </p:nvCxnSpPr>
        <p:spPr>
          <a:xfrm rot="16200000" flipH="1">
            <a:off x="4273711" y="5250340"/>
            <a:ext cx="363812" cy="954860"/>
          </a:xfrm>
          <a:prstGeom prst="curvedConnector3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曲线 123">
            <a:extLst>
              <a:ext uri="{FF2B5EF4-FFF2-40B4-BE49-F238E27FC236}">
                <a16:creationId xmlns:a16="http://schemas.microsoft.com/office/drawing/2014/main" id="{B149C545-EF01-55D9-DFD2-B89D56184223}"/>
              </a:ext>
            </a:extLst>
          </p:cNvPr>
          <p:cNvCxnSpPr>
            <a:cxnSpLocks/>
            <a:stCxn id="139" idx="2"/>
            <a:endCxn id="143" idx="0"/>
          </p:cNvCxnSpPr>
          <p:nvPr/>
        </p:nvCxnSpPr>
        <p:spPr>
          <a:xfrm rot="5400000">
            <a:off x="3915495" y="5423001"/>
            <a:ext cx="305365" cy="1729741"/>
          </a:xfrm>
          <a:prstGeom prst="curvedConnector3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连接符: 曲线 125">
            <a:extLst>
              <a:ext uri="{FF2B5EF4-FFF2-40B4-BE49-F238E27FC236}">
                <a16:creationId xmlns:a16="http://schemas.microsoft.com/office/drawing/2014/main" id="{23FBE4B7-E108-5F6E-5688-790D8F396B00}"/>
              </a:ext>
            </a:extLst>
          </p:cNvPr>
          <p:cNvCxnSpPr>
            <a:endCxn id="140" idx="0"/>
          </p:cNvCxnSpPr>
          <p:nvPr/>
        </p:nvCxnSpPr>
        <p:spPr>
          <a:xfrm>
            <a:off x="4343195" y="6213411"/>
            <a:ext cx="526556" cy="236974"/>
          </a:xfrm>
          <a:prstGeom prst="curved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曲线 127">
            <a:extLst>
              <a:ext uri="{FF2B5EF4-FFF2-40B4-BE49-F238E27FC236}">
                <a16:creationId xmlns:a16="http://schemas.microsoft.com/office/drawing/2014/main" id="{7DA4E631-8FB8-9FFA-4129-55265D9A270F}"/>
              </a:ext>
            </a:extLst>
          </p:cNvPr>
          <p:cNvCxnSpPr>
            <a:endCxn id="147" idx="0"/>
          </p:cNvCxnSpPr>
          <p:nvPr/>
        </p:nvCxnSpPr>
        <p:spPr>
          <a:xfrm>
            <a:off x="4363876" y="6227067"/>
            <a:ext cx="2224119" cy="205370"/>
          </a:xfrm>
          <a:prstGeom prst="curved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曲线 129">
            <a:extLst>
              <a:ext uri="{FF2B5EF4-FFF2-40B4-BE49-F238E27FC236}">
                <a16:creationId xmlns:a16="http://schemas.microsoft.com/office/drawing/2014/main" id="{170F6803-F139-2184-F54A-6B82341AA00F}"/>
              </a:ext>
            </a:extLst>
          </p:cNvPr>
          <p:cNvCxnSpPr>
            <a:stCxn id="80" idx="2"/>
            <a:endCxn id="77" idx="0"/>
          </p:cNvCxnSpPr>
          <p:nvPr/>
        </p:nvCxnSpPr>
        <p:spPr>
          <a:xfrm rot="16200000" flipH="1">
            <a:off x="9018511" y="5111517"/>
            <a:ext cx="619823" cy="1355515"/>
          </a:xfrm>
          <a:prstGeom prst="curvedConnector3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曲线 131">
            <a:extLst>
              <a:ext uri="{FF2B5EF4-FFF2-40B4-BE49-F238E27FC236}">
                <a16:creationId xmlns:a16="http://schemas.microsoft.com/office/drawing/2014/main" id="{59C1240D-460F-11F1-6057-27CA3777D12F}"/>
              </a:ext>
            </a:extLst>
          </p:cNvPr>
          <p:cNvCxnSpPr>
            <a:stCxn id="81" idx="2"/>
            <a:endCxn id="77" idx="0"/>
          </p:cNvCxnSpPr>
          <p:nvPr/>
        </p:nvCxnSpPr>
        <p:spPr>
          <a:xfrm rot="5400000">
            <a:off x="9770178" y="5740505"/>
            <a:ext cx="594685" cy="122679"/>
          </a:xfrm>
          <a:prstGeom prst="curvedConnector3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连接符: 曲线 133">
            <a:extLst>
              <a:ext uri="{FF2B5EF4-FFF2-40B4-BE49-F238E27FC236}">
                <a16:creationId xmlns:a16="http://schemas.microsoft.com/office/drawing/2014/main" id="{E7CBA6CC-1A51-395E-473F-C77F6592022F}"/>
              </a:ext>
            </a:extLst>
          </p:cNvPr>
          <p:cNvCxnSpPr>
            <a:cxnSpLocks/>
          </p:cNvCxnSpPr>
          <p:nvPr/>
        </p:nvCxnSpPr>
        <p:spPr>
          <a:xfrm rot="5400000">
            <a:off x="10292328" y="5643856"/>
            <a:ext cx="722586" cy="246090"/>
          </a:xfrm>
          <a:prstGeom prst="curvedConnector3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F405A0C3-DD3F-2399-55F7-326626A75E6A}"/>
              </a:ext>
            </a:extLst>
          </p:cNvPr>
          <p:cNvSpPr/>
          <p:nvPr/>
        </p:nvSpPr>
        <p:spPr>
          <a:xfrm>
            <a:off x="1754459" y="4913949"/>
            <a:ext cx="5083033" cy="663039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72F94B7C-0E23-FC24-1F4A-AB63CB487B22}"/>
              </a:ext>
            </a:extLst>
          </p:cNvPr>
          <p:cNvSpPr/>
          <p:nvPr/>
        </p:nvSpPr>
        <p:spPr>
          <a:xfrm>
            <a:off x="7642278" y="4913949"/>
            <a:ext cx="3530605" cy="653579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箭头: 下 226">
            <a:extLst>
              <a:ext uri="{FF2B5EF4-FFF2-40B4-BE49-F238E27FC236}">
                <a16:creationId xmlns:a16="http://schemas.microsoft.com/office/drawing/2014/main" id="{9DFDEA94-2D71-ED3E-CFA2-7ADC732D6143}"/>
              </a:ext>
            </a:extLst>
          </p:cNvPr>
          <p:cNvSpPr/>
          <p:nvPr/>
        </p:nvSpPr>
        <p:spPr>
          <a:xfrm>
            <a:off x="4443056" y="5625231"/>
            <a:ext cx="644165" cy="18278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5B5B72D9-80EB-77B4-DE40-74CED52C10E2}"/>
              </a:ext>
            </a:extLst>
          </p:cNvPr>
          <p:cNvSpPr/>
          <p:nvPr/>
        </p:nvSpPr>
        <p:spPr>
          <a:xfrm>
            <a:off x="102411" y="3801334"/>
            <a:ext cx="1217775" cy="791354"/>
          </a:xfrm>
          <a:prstGeom prst="roundRect">
            <a:avLst/>
          </a:prstGeom>
          <a:solidFill>
            <a:srgbClr val="D6E7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业务处理与编排层</a:t>
            </a:r>
          </a:p>
        </p:txBody>
      </p:sp>
      <p:sp>
        <p:nvSpPr>
          <p:cNvPr id="242" name="箭头: 上下 241">
            <a:extLst>
              <a:ext uri="{FF2B5EF4-FFF2-40B4-BE49-F238E27FC236}">
                <a16:creationId xmlns:a16="http://schemas.microsoft.com/office/drawing/2014/main" id="{1FBB8A95-BBCC-4833-FFFB-6D08C3A51617}"/>
              </a:ext>
            </a:extLst>
          </p:cNvPr>
          <p:cNvSpPr/>
          <p:nvPr/>
        </p:nvSpPr>
        <p:spPr>
          <a:xfrm>
            <a:off x="5917525" y="1435690"/>
            <a:ext cx="205432" cy="285011"/>
          </a:xfrm>
          <a:prstGeom prst="upDownArrow">
            <a:avLst>
              <a:gd name="adj1" fmla="val 42763"/>
              <a:gd name="adj2" fmla="val 50000"/>
            </a:avLst>
          </a:prstGeom>
          <a:solidFill>
            <a:srgbClr val="8EB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箭头: 下 242">
            <a:extLst>
              <a:ext uri="{FF2B5EF4-FFF2-40B4-BE49-F238E27FC236}">
                <a16:creationId xmlns:a16="http://schemas.microsoft.com/office/drawing/2014/main" id="{29BAE89A-62E7-5AD2-201D-81B057361FE8}"/>
              </a:ext>
            </a:extLst>
          </p:cNvPr>
          <p:cNvSpPr/>
          <p:nvPr/>
        </p:nvSpPr>
        <p:spPr>
          <a:xfrm>
            <a:off x="5575148" y="2644554"/>
            <a:ext cx="557561" cy="170221"/>
          </a:xfrm>
          <a:prstGeom prst="downArrow">
            <a:avLst/>
          </a:prstGeom>
          <a:solidFill>
            <a:srgbClr val="6BA3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650CD68A-3EFA-175A-1F33-DA15645403E0}"/>
              </a:ext>
            </a:extLst>
          </p:cNvPr>
          <p:cNvSpPr txBox="1"/>
          <p:nvPr/>
        </p:nvSpPr>
        <p:spPr>
          <a:xfrm>
            <a:off x="8690441" y="2402916"/>
            <a:ext cx="3530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前端实现：</a:t>
            </a:r>
            <a:r>
              <a:rPr lang="en-US" altLang="zh-CN" sz="1400" dirty="0"/>
              <a:t>React+Vite+Three.js</a:t>
            </a:r>
          </a:p>
          <a:p>
            <a:endParaRPr lang="zh-CN" altLang="en-US" sz="1400" dirty="0"/>
          </a:p>
        </p:txBody>
      </p: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1FFDDDBA-3DF4-65C4-EA9F-646291AED397}"/>
              </a:ext>
            </a:extLst>
          </p:cNvPr>
          <p:cNvCxnSpPr>
            <a:stCxn id="11" idx="3"/>
            <a:endCxn id="71" idx="1"/>
          </p:cNvCxnSpPr>
          <p:nvPr/>
        </p:nvCxnSpPr>
        <p:spPr>
          <a:xfrm>
            <a:off x="5220117" y="3965612"/>
            <a:ext cx="745987" cy="42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34B422CB-195A-0F3B-652A-647FCF4385FE}"/>
              </a:ext>
            </a:extLst>
          </p:cNvPr>
          <p:cNvCxnSpPr>
            <a:cxnSpLocks/>
            <a:stCxn id="71" idx="3"/>
            <a:endCxn id="12" idx="1"/>
          </p:cNvCxnSpPr>
          <p:nvPr/>
        </p:nvCxnSpPr>
        <p:spPr>
          <a:xfrm>
            <a:off x="7271693" y="3969900"/>
            <a:ext cx="871413" cy="1897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连接符: 曲线 264">
            <a:extLst>
              <a:ext uri="{FF2B5EF4-FFF2-40B4-BE49-F238E27FC236}">
                <a16:creationId xmlns:a16="http://schemas.microsoft.com/office/drawing/2014/main" id="{8104647E-5A39-14D1-0BAD-FFD5983DA43F}"/>
              </a:ext>
            </a:extLst>
          </p:cNvPr>
          <p:cNvCxnSpPr>
            <a:stCxn id="80" idx="0"/>
            <a:endCxn id="71" idx="2"/>
          </p:cNvCxnSpPr>
          <p:nvPr/>
        </p:nvCxnSpPr>
        <p:spPr>
          <a:xfrm rot="16200000" flipV="1">
            <a:off x="7191119" y="3516657"/>
            <a:ext cx="887326" cy="2031766"/>
          </a:xfrm>
          <a:prstGeom prst="curvedConnector3">
            <a:avLst>
              <a:gd name="adj1" fmla="val 72621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连接符: 曲线 266">
            <a:extLst>
              <a:ext uri="{FF2B5EF4-FFF2-40B4-BE49-F238E27FC236}">
                <a16:creationId xmlns:a16="http://schemas.microsoft.com/office/drawing/2014/main" id="{EDC2D394-28FC-3ECD-F0B6-A8F9BDE914A2}"/>
              </a:ext>
            </a:extLst>
          </p:cNvPr>
          <p:cNvCxnSpPr>
            <a:stCxn id="81" idx="0"/>
            <a:endCxn id="71" idx="2"/>
          </p:cNvCxnSpPr>
          <p:nvPr/>
        </p:nvCxnSpPr>
        <p:spPr>
          <a:xfrm rot="16200000" flipV="1">
            <a:off x="7917647" y="2790129"/>
            <a:ext cx="912464" cy="3509960"/>
          </a:xfrm>
          <a:prstGeom prst="curvedConnector3">
            <a:avLst>
              <a:gd name="adj1" fmla="val 80145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2FC6C8C9-4F00-BCDC-A90C-2587CFD5C0F5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>
            <a:off x="4567323" y="4093721"/>
            <a:ext cx="5843" cy="2440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直接箭头连接符 295">
            <a:extLst>
              <a:ext uri="{FF2B5EF4-FFF2-40B4-BE49-F238E27FC236}">
                <a16:creationId xmlns:a16="http://schemas.microsoft.com/office/drawing/2014/main" id="{4AA5BDE2-7C4E-DECE-0B44-B97EEDCFF4B6}"/>
              </a:ext>
            </a:extLst>
          </p:cNvPr>
          <p:cNvCxnSpPr>
            <a:stCxn id="25" idx="3"/>
            <a:endCxn id="23" idx="1"/>
          </p:cNvCxnSpPr>
          <p:nvPr/>
        </p:nvCxnSpPr>
        <p:spPr>
          <a:xfrm flipV="1">
            <a:off x="3413442" y="4447103"/>
            <a:ext cx="438296" cy="8646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B445EC26-76E9-91F8-513B-187517C297FF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 flipV="1">
            <a:off x="5294593" y="4446856"/>
            <a:ext cx="257014" cy="247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连接符: 曲线 308">
            <a:extLst>
              <a:ext uri="{FF2B5EF4-FFF2-40B4-BE49-F238E27FC236}">
                <a16:creationId xmlns:a16="http://schemas.microsoft.com/office/drawing/2014/main" id="{D1F5641C-67FE-0CED-3FAD-29EF5D9A16FC}"/>
              </a:ext>
            </a:extLst>
          </p:cNvPr>
          <p:cNvCxnSpPr>
            <a:stCxn id="5" idx="0"/>
            <a:endCxn id="23" idx="2"/>
          </p:cNvCxnSpPr>
          <p:nvPr/>
        </p:nvCxnSpPr>
        <p:spPr>
          <a:xfrm rot="5400000" flipH="1" flipV="1">
            <a:off x="3349738" y="3712836"/>
            <a:ext cx="379812" cy="2067044"/>
          </a:xfrm>
          <a:prstGeom prst="curved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连接符: 曲线 309">
            <a:extLst>
              <a:ext uri="{FF2B5EF4-FFF2-40B4-BE49-F238E27FC236}">
                <a16:creationId xmlns:a16="http://schemas.microsoft.com/office/drawing/2014/main" id="{7BEDD855-DA64-C9C1-4E31-F473E0CD1AE2}"/>
              </a:ext>
            </a:extLst>
          </p:cNvPr>
          <p:cNvCxnSpPr>
            <a:cxnSpLocks/>
          </p:cNvCxnSpPr>
          <p:nvPr/>
        </p:nvCxnSpPr>
        <p:spPr>
          <a:xfrm flipV="1">
            <a:off x="3978187" y="4592688"/>
            <a:ext cx="589136" cy="321261"/>
          </a:xfrm>
          <a:prstGeom prst="curvedConnector3">
            <a:avLst>
              <a:gd name="adj1" fmla="val 94166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连接符: 曲线 312">
            <a:extLst>
              <a:ext uri="{FF2B5EF4-FFF2-40B4-BE49-F238E27FC236}">
                <a16:creationId xmlns:a16="http://schemas.microsoft.com/office/drawing/2014/main" id="{675B1910-9515-1C7C-5D27-E1047A597BB7}"/>
              </a:ext>
            </a:extLst>
          </p:cNvPr>
          <p:cNvCxnSpPr>
            <a:cxnSpLocks/>
            <a:stCxn id="6" idx="0"/>
            <a:endCxn id="23" idx="2"/>
          </p:cNvCxnSpPr>
          <p:nvPr/>
        </p:nvCxnSpPr>
        <p:spPr>
          <a:xfrm rot="16200000" flipV="1">
            <a:off x="4953520" y="4176099"/>
            <a:ext cx="436865" cy="1197571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0B7FED96-C47C-AF83-E6DF-2F1EAA395580}"/>
              </a:ext>
            </a:extLst>
          </p:cNvPr>
          <p:cNvSpPr/>
          <p:nvPr/>
        </p:nvSpPr>
        <p:spPr>
          <a:xfrm>
            <a:off x="2493357" y="6388441"/>
            <a:ext cx="4776429" cy="366406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箭头: 上下 318">
            <a:extLst>
              <a:ext uri="{FF2B5EF4-FFF2-40B4-BE49-F238E27FC236}">
                <a16:creationId xmlns:a16="http://schemas.microsoft.com/office/drawing/2014/main" id="{B958EBCD-B8BC-D6C9-AB85-B390BB02508B}"/>
              </a:ext>
            </a:extLst>
          </p:cNvPr>
          <p:cNvSpPr/>
          <p:nvPr/>
        </p:nvSpPr>
        <p:spPr>
          <a:xfrm>
            <a:off x="4747315" y="6122387"/>
            <a:ext cx="228381" cy="256223"/>
          </a:xfrm>
          <a:prstGeom prst="upDownArrow">
            <a:avLst>
              <a:gd name="adj1" fmla="val 42763"/>
              <a:gd name="adj2" fmla="val 30470"/>
            </a:avLst>
          </a:prstGeom>
          <a:solidFill>
            <a:srgbClr val="C69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E7738CD3-85B2-2113-812B-1E22F020F91B}"/>
              </a:ext>
            </a:extLst>
          </p:cNvPr>
          <p:cNvCxnSpPr>
            <a:cxnSpLocks/>
          </p:cNvCxnSpPr>
          <p:nvPr/>
        </p:nvCxnSpPr>
        <p:spPr>
          <a:xfrm>
            <a:off x="10002617" y="3988874"/>
            <a:ext cx="392496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448B3B59-760A-A15D-4EFC-5934C5BC7B75}"/>
              </a:ext>
            </a:extLst>
          </p:cNvPr>
          <p:cNvCxnSpPr>
            <a:cxnSpLocks/>
          </p:cNvCxnSpPr>
          <p:nvPr/>
        </p:nvCxnSpPr>
        <p:spPr>
          <a:xfrm>
            <a:off x="10267345" y="4507571"/>
            <a:ext cx="35927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350049BC-17C6-3153-CF2B-61B5A26677A5}"/>
              </a:ext>
            </a:extLst>
          </p:cNvPr>
          <p:cNvCxnSpPr>
            <a:cxnSpLocks/>
          </p:cNvCxnSpPr>
          <p:nvPr/>
        </p:nvCxnSpPr>
        <p:spPr>
          <a:xfrm>
            <a:off x="10267345" y="4669077"/>
            <a:ext cx="35927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3" name="文本框 352">
            <a:extLst>
              <a:ext uri="{FF2B5EF4-FFF2-40B4-BE49-F238E27FC236}">
                <a16:creationId xmlns:a16="http://schemas.microsoft.com/office/drawing/2014/main" id="{29768112-6F52-B6CB-0CA2-19269B318F2E}"/>
              </a:ext>
            </a:extLst>
          </p:cNvPr>
          <p:cNvSpPr txBox="1"/>
          <p:nvPr/>
        </p:nvSpPr>
        <p:spPr>
          <a:xfrm>
            <a:off x="10585693" y="4321299"/>
            <a:ext cx="1566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3D</a:t>
            </a:r>
            <a:r>
              <a:rPr lang="zh-CN" altLang="en-US" sz="1200" dirty="0"/>
              <a:t>模型链路</a:t>
            </a:r>
            <a:endParaRPr lang="en-US" altLang="zh-CN" sz="1200" dirty="0"/>
          </a:p>
          <a:p>
            <a:r>
              <a:rPr lang="zh-CN" altLang="en-US" sz="1200" dirty="0"/>
              <a:t>对话链路</a:t>
            </a:r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89E21F92-D47F-FC7F-79A1-105E10D75410}"/>
              </a:ext>
            </a:extLst>
          </p:cNvPr>
          <p:cNvCxnSpPr>
            <a:cxnSpLocks/>
          </p:cNvCxnSpPr>
          <p:nvPr/>
        </p:nvCxnSpPr>
        <p:spPr>
          <a:xfrm>
            <a:off x="10267345" y="4515005"/>
            <a:ext cx="35927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6" name="箭头: 下 365">
            <a:extLst>
              <a:ext uri="{FF2B5EF4-FFF2-40B4-BE49-F238E27FC236}">
                <a16:creationId xmlns:a16="http://schemas.microsoft.com/office/drawing/2014/main" id="{A3B8F323-B0C2-4E2E-AC39-6413E4ADF31E}"/>
              </a:ext>
            </a:extLst>
          </p:cNvPr>
          <p:cNvSpPr/>
          <p:nvPr/>
        </p:nvSpPr>
        <p:spPr>
          <a:xfrm>
            <a:off x="9963931" y="5578456"/>
            <a:ext cx="164927" cy="544819"/>
          </a:xfrm>
          <a:prstGeom prst="downArrow">
            <a:avLst>
              <a:gd name="adj1" fmla="val 34173"/>
              <a:gd name="adj2" fmla="val 4604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8" name="直接箭头连接符 367">
            <a:extLst>
              <a:ext uri="{FF2B5EF4-FFF2-40B4-BE49-F238E27FC236}">
                <a16:creationId xmlns:a16="http://schemas.microsoft.com/office/drawing/2014/main" id="{CCCC8C7F-5674-5BB8-89B6-1224C60FFE8E}"/>
              </a:ext>
            </a:extLst>
          </p:cNvPr>
          <p:cNvCxnSpPr/>
          <p:nvPr/>
        </p:nvCxnSpPr>
        <p:spPr>
          <a:xfrm flipV="1">
            <a:off x="10745343" y="3429000"/>
            <a:ext cx="0" cy="37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9" name="矩形: 圆角 368">
            <a:extLst>
              <a:ext uri="{FF2B5EF4-FFF2-40B4-BE49-F238E27FC236}">
                <a16:creationId xmlns:a16="http://schemas.microsoft.com/office/drawing/2014/main" id="{4B3327CE-AC65-67AF-E15E-A4106279F3F6}"/>
              </a:ext>
            </a:extLst>
          </p:cNvPr>
          <p:cNvSpPr/>
          <p:nvPr/>
        </p:nvSpPr>
        <p:spPr>
          <a:xfrm>
            <a:off x="3127654" y="3262068"/>
            <a:ext cx="6014282" cy="308719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箭头: 上下 369">
            <a:extLst>
              <a:ext uri="{FF2B5EF4-FFF2-40B4-BE49-F238E27FC236}">
                <a16:creationId xmlns:a16="http://schemas.microsoft.com/office/drawing/2014/main" id="{7B44E1B8-F418-9D86-6899-323B582F135B}"/>
              </a:ext>
            </a:extLst>
          </p:cNvPr>
          <p:cNvSpPr/>
          <p:nvPr/>
        </p:nvSpPr>
        <p:spPr>
          <a:xfrm>
            <a:off x="6024159" y="3083035"/>
            <a:ext cx="150524" cy="189635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箭头: 上下 370">
            <a:extLst>
              <a:ext uri="{FF2B5EF4-FFF2-40B4-BE49-F238E27FC236}">
                <a16:creationId xmlns:a16="http://schemas.microsoft.com/office/drawing/2014/main" id="{F0181852-AE78-9FD7-C655-36BF83BB5B57}"/>
              </a:ext>
            </a:extLst>
          </p:cNvPr>
          <p:cNvSpPr/>
          <p:nvPr/>
        </p:nvSpPr>
        <p:spPr>
          <a:xfrm>
            <a:off x="5703404" y="3564441"/>
            <a:ext cx="150524" cy="189635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矩形: 圆角 376">
            <a:extLst>
              <a:ext uri="{FF2B5EF4-FFF2-40B4-BE49-F238E27FC236}">
                <a16:creationId xmlns:a16="http://schemas.microsoft.com/office/drawing/2014/main" id="{A41AF403-9E8B-8217-AFB9-BF82F5E4DF0F}"/>
              </a:ext>
            </a:extLst>
          </p:cNvPr>
          <p:cNvSpPr/>
          <p:nvPr/>
        </p:nvSpPr>
        <p:spPr>
          <a:xfrm>
            <a:off x="7382107" y="5957386"/>
            <a:ext cx="3471748" cy="760116"/>
          </a:xfrm>
          <a:prstGeom prst="round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08712D1F-20E4-8CE7-553C-5C90EA7CE992}"/>
              </a:ext>
            </a:extLst>
          </p:cNvPr>
          <p:cNvSpPr txBox="1"/>
          <p:nvPr/>
        </p:nvSpPr>
        <p:spPr>
          <a:xfrm>
            <a:off x="9727901" y="6450385"/>
            <a:ext cx="898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文件资源</a:t>
            </a:r>
          </a:p>
        </p:txBody>
      </p:sp>
    </p:spTree>
    <p:extLst>
      <p:ext uri="{BB962C8B-B14F-4D97-AF65-F5344CB8AC3E}">
        <p14:creationId xmlns:p14="http://schemas.microsoft.com/office/powerpoint/2010/main" val="298597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52A4-C69E-695C-4D65-4A7B1B7C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26687-6552-33D2-F001-C53D6392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研究内容及步骤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20C0A-7EEB-0F5C-E0E5-ED7763DB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454" y="694155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406212C2-F0E1-8BA4-CF5C-E844ED897E16}"/>
              </a:ext>
            </a:extLst>
          </p:cNvPr>
          <p:cNvSpPr txBox="1"/>
          <p:nvPr/>
        </p:nvSpPr>
        <p:spPr>
          <a:xfrm>
            <a:off x="-53547" y="1161660"/>
            <a:ext cx="12019280" cy="511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dirty="0"/>
              <a:t>系统核心运行流程图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94E096-0359-2E69-7B3C-5EAF122053BA}"/>
              </a:ext>
            </a:extLst>
          </p:cNvPr>
          <p:cNvSpPr txBox="1"/>
          <p:nvPr/>
        </p:nvSpPr>
        <p:spPr>
          <a:xfrm>
            <a:off x="294500" y="2360551"/>
            <a:ext cx="750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用户输入文本</a:t>
            </a:r>
            <a:r>
              <a:rPr lang="en-US" altLang="zh-CN" sz="1400" dirty="0"/>
              <a:t>/</a:t>
            </a:r>
            <a:r>
              <a:rPr lang="zh-CN" altLang="en-US" sz="1400" dirty="0"/>
              <a:t>语音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5BFFBA-FB87-DCB5-D626-75236E9B05A1}"/>
              </a:ext>
            </a:extLst>
          </p:cNvPr>
          <p:cNvSpPr/>
          <p:nvPr/>
        </p:nvSpPr>
        <p:spPr>
          <a:xfrm>
            <a:off x="2451019" y="3808621"/>
            <a:ext cx="1057286" cy="756584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语音识别模块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88E7481-F768-1B6F-91E3-0BB62A31A05E}"/>
              </a:ext>
            </a:extLst>
          </p:cNvPr>
          <p:cNvSpPr/>
          <p:nvPr/>
        </p:nvSpPr>
        <p:spPr>
          <a:xfrm>
            <a:off x="6430212" y="2508963"/>
            <a:ext cx="1122248" cy="726518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对话编排模块组织</a:t>
            </a:r>
            <a:r>
              <a:rPr lang="en-US" altLang="zh-CN" sz="1400" dirty="0">
                <a:solidFill>
                  <a:schemeClr val="tx1"/>
                </a:solidFill>
              </a:rPr>
              <a:t>Prompt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19CEE0-035A-6926-8ABF-FC1C4558FC97}"/>
              </a:ext>
            </a:extLst>
          </p:cNvPr>
          <p:cNvSpPr txBox="1"/>
          <p:nvPr/>
        </p:nvSpPr>
        <p:spPr>
          <a:xfrm>
            <a:off x="199683" y="5714045"/>
            <a:ext cx="940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角色创建</a:t>
            </a:r>
            <a:endParaRPr lang="en-US" altLang="zh-CN" sz="1400" dirty="0"/>
          </a:p>
          <a:p>
            <a:pPr algn="ctr"/>
            <a:r>
              <a:rPr lang="zh-CN" altLang="en-US" sz="1400" dirty="0"/>
              <a:t>请求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20E32D4-7C8A-5092-164D-F2851F99CA2B}"/>
              </a:ext>
            </a:extLst>
          </p:cNvPr>
          <p:cNvSpPr/>
          <p:nvPr/>
        </p:nvSpPr>
        <p:spPr>
          <a:xfrm>
            <a:off x="3368552" y="5207909"/>
            <a:ext cx="1291819" cy="5287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模型生成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Hunyuan3D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3D7CF04-5017-1DCD-E0BE-30E11BEA03A4}"/>
              </a:ext>
            </a:extLst>
          </p:cNvPr>
          <p:cNvSpPr/>
          <p:nvPr/>
        </p:nvSpPr>
        <p:spPr>
          <a:xfrm>
            <a:off x="4886571" y="5112904"/>
            <a:ext cx="1383217" cy="7380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自动骨骼绑定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Make It Animatable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7158170-A9D9-73F1-E30C-4AF6599E7411}"/>
              </a:ext>
            </a:extLst>
          </p:cNvPr>
          <p:cNvSpPr/>
          <p:nvPr/>
        </p:nvSpPr>
        <p:spPr>
          <a:xfrm>
            <a:off x="6602341" y="5212570"/>
            <a:ext cx="1003610" cy="553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生成动作模型资源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FB124FB-04B9-5909-FC0D-B4EBF0E51E15}"/>
              </a:ext>
            </a:extLst>
          </p:cNvPr>
          <p:cNvSpPr/>
          <p:nvPr/>
        </p:nvSpPr>
        <p:spPr>
          <a:xfrm>
            <a:off x="204446" y="5063914"/>
            <a:ext cx="10872431" cy="1524050"/>
          </a:xfrm>
          <a:prstGeom prst="round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C2BDFF3-98C3-651F-CE5D-6187C38EA7F7}"/>
              </a:ext>
            </a:extLst>
          </p:cNvPr>
          <p:cNvSpPr/>
          <p:nvPr/>
        </p:nvSpPr>
        <p:spPr>
          <a:xfrm>
            <a:off x="366130" y="5085139"/>
            <a:ext cx="2712998" cy="29940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3D</a:t>
            </a:r>
            <a:r>
              <a:rPr lang="zh-CN" altLang="en-US" sz="1400" b="1" dirty="0">
                <a:solidFill>
                  <a:schemeClr val="tx1"/>
                </a:solidFill>
              </a:rPr>
              <a:t>角色生成与驱动链路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453520A-B707-8D60-22A6-1E7F9E99F8AC}"/>
              </a:ext>
            </a:extLst>
          </p:cNvPr>
          <p:cNvSpPr/>
          <p:nvPr/>
        </p:nvSpPr>
        <p:spPr>
          <a:xfrm>
            <a:off x="204447" y="1794085"/>
            <a:ext cx="9796573" cy="3222757"/>
          </a:xfrm>
          <a:prstGeom prst="roundRect">
            <a:avLst>
              <a:gd name="adj" fmla="val 8824"/>
            </a:avLst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E1622FC-C32F-EB69-BEC2-BFA28C3BC19F}"/>
              </a:ext>
            </a:extLst>
          </p:cNvPr>
          <p:cNvSpPr txBox="1"/>
          <p:nvPr/>
        </p:nvSpPr>
        <p:spPr>
          <a:xfrm>
            <a:off x="9991097" y="3636346"/>
            <a:ext cx="804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音频流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02EA6A9-609F-4DBA-C9BF-BCB75CD68B26}"/>
              </a:ext>
            </a:extLst>
          </p:cNvPr>
          <p:cNvSpPr/>
          <p:nvPr/>
        </p:nvSpPr>
        <p:spPr>
          <a:xfrm>
            <a:off x="9976981" y="5508697"/>
            <a:ext cx="951333" cy="5852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Three.js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动作驱动</a:t>
            </a:r>
          </a:p>
        </p:txBody>
      </p:sp>
      <p:sp>
        <p:nvSpPr>
          <p:cNvPr id="40" name="箭头: 直角上 39">
            <a:extLst>
              <a:ext uri="{FF2B5EF4-FFF2-40B4-BE49-F238E27FC236}">
                <a16:creationId xmlns:a16="http://schemas.microsoft.com/office/drawing/2014/main" id="{A6AC18F7-F712-2642-E6E4-37B9050EA804}"/>
              </a:ext>
            </a:extLst>
          </p:cNvPr>
          <p:cNvSpPr/>
          <p:nvPr/>
        </p:nvSpPr>
        <p:spPr>
          <a:xfrm>
            <a:off x="10941987" y="5003400"/>
            <a:ext cx="395086" cy="847577"/>
          </a:xfrm>
          <a:prstGeom prst="bentUpArrow">
            <a:avLst>
              <a:gd name="adj1" fmla="val 25000"/>
              <a:gd name="adj2" fmla="val 2596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139E369D-E9C0-E830-8D6C-B5E251AD4466}"/>
              </a:ext>
            </a:extLst>
          </p:cNvPr>
          <p:cNvSpPr/>
          <p:nvPr/>
        </p:nvSpPr>
        <p:spPr>
          <a:xfrm>
            <a:off x="9706510" y="3900739"/>
            <a:ext cx="934429" cy="24536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7566817C-565F-3C52-FFD6-AE0E2F55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583" y="1895734"/>
            <a:ext cx="1447707" cy="2904937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54A4A9F2-893C-E7ED-DDE0-94800939FA5B}"/>
              </a:ext>
            </a:extLst>
          </p:cNvPr>
          <p:cNvSpPr txBox="1"/>
          <p:nvPr/>
        </p:nvSpPr>
        <p:spPr>
          <a:xfrm>
            <a:off x="9995421" y="2356772"/>
            <a:ext cx="1049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文本流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34CB985-EE46-8F31-0287-657819639821}"/>
              </a:ext>
            </a:extLst>
          </p:cNvPr>
          <p:cNvSpPr/>
          <p:nvPr/>
        </p:nvSpPr>
        <p:spPr>
          <a:xfrm>
            <a:off x="366130" y="1839212"/>
            <a:ext cx="2036956" cy="29940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交互运行链路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8865482-5B10-A291-3A94-41E426EF2274}"/>
              </a:ext>
            </a:extLst>
          </p:cNvPr>
          <p:cNvSpPr txBox="1"/>
          <p:nvPr/>
        </p:nvSpPr>
        <p:spPr>
          <a:xfrm>
            <a:off x="11210692" y="5340471"/>
            <a:ext cx="817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3D</a:t>
            </a:r>
            <a:r>
              <a:rPr lang="zh-CN" altLang="en-US" sz="1400" dirty="0"/>
              <a:t>模型</a:t>
            </a: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759F1C1D-1C94-2B76-129E-DB116DEC12DF}"/>
              </a:ext>
            </a:extLst>
          </p:cNvPr>
          <p:cNvSpPr/>
          <p:nvPr/>
        </p:nvSpPr>
        <p:spPr>
          <a:xfrm>
            <a:off x="9706510" y="2642282"/>
            <a:ext cx="1000370" cy="307777"/>
          </a:xfrm>
          <a:prstGeom prst="rightArrow">
            <a:avLst>
              <a:gd name="adj1" fmla="val 40339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32020CA-0F9F-218F-711E-86989C3A9301}"/>
              </a:ext>
            </a:extLst>
          </p:cNvPr>
          <p:cNvSpPr/>
          <p:nvPr/>
        </p:nvSpPr>
        <p:spPr>
          <a:xfrm>
            <a:off x="1291448" y="2499958"/>
            <a:ext cx="862361" cy="813442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输入处理</a:t>
            </a:r>
          </a:p>
        </p:txBody>
      </p:sp>
      <p:sp>
        <p:nvSpPr>
          <p:cNvPr id="48" name="流程图: 决策 47">
            <a:extLst>
              <a:ext uri="{FF2B5EF4-FFF2-40B4-BE49-F238E27FC236}">
                <a16:creationId xmlns:a16="http://schemas.microsoft.com/office/drawing/2014/main" id="{431589CE-A8F1-1214-C37F-5A887E2DD5BE}"/>
              </a:ext>
            </a:extLst>
          </p:cNvPr>
          <p:cNvSpPr/>
          <p:nvPr/>
        </p:nvSpPr>
        <p:spPr>
          <a:xfrm>
            <a:off x="2383713" y="2447496"/>
            <a:ext cx="1191898" cy="918365"/>
          </a:xfrm>
          <a:prstGeom prst="flowChartDecision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输入类型判断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7FD14BB-ABB7-F63D-6D55-1A64919DEB45}"/>
              </a:ext>
            </a:extLst>
          </p:cNvPr>
          <p:cNvCxnSpPr>
            <a:endCxn id="35" idx="1"/>
          </p:cNvCxnSpPr>
          <p:nvPr/>
        </p:nvCxnSpPr>
        <p:spPr>
          <a:xfrm>
            <a:off x="914400" y="2898103"/>
            <a:ext cx="377048" cy="85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4A15DA5-4A86-8B1C-15C1-7F252AA4C258}"/>
              </a:ext>
            </a:extLst>
          </p:cNvPr>
          <p:cNvCxnSpPr>
            <a:stCxn id="35" idx="3"/>
            <a:endCxn id="48" idx="1"/>
          </p:cNvCxnSpPr>
          <p:nvPr/>
        </p:nvCxnSpPr>
        <p:spPr>
          <a:xfrm>
            <a:off x="2153809" y="2906679"/>
            <a:ext cx="22990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9F00E4F-D4D2-5E34-6FD7-E7ADBDA3DA64}"/>
              </a:ext>
            </a:extLst>
          </p:cNvPr>
          <p:cNvCxnSpPr>
            <a:stCxn id="48" idx="2"/>
            <a:endCxn id="6" idx="0"/>
          </p:cNvCxnSpPr>
          <p:nvPr/>
        </p:nvCxnSpPr>
        <p:spPr>
          <a:xfrm>
            <a:off x="2979662" y="3365861"/>
            <a:ext cx="0" cy="44276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7069D55B-C00D-969E-B6DF-965237623830}"/>
              </a:ext>
            </a:extLst>
          </p:cNvPr>
          <p:cNvSpPr txBox="1"/>
          <p:nvPr/>
        </p:nvSpPr>
        <p:spPr>
          <a:xfrm>
            <a:off x="2147229" y="3442379"/>
            <a:ext cx="607580" cy="3077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语音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A738A1E-76F4-76DB-BAD1-F0F5DB7AE3BF}"/>
              </a:ext>
            </a:extLst>
          </p:cNvPr>
          <p:cNvCxnSpPr>
            <a:cxnSpLocks/>
          </p:cNvCxnSpPr>
          <p:nvPr/>
        </p:nvCxnSpPr>
        <p:spPr>
          <a:xfrm>
            <a:off x="3570248" y="2910323"/>
            <a:ext cx="31781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403BAD5B-6D01-2571-1E7E-A78B10D46BBD}"/>
              </a:ext>
            </a:extLst>
          </p:cNvPr>
          <p:cNvCxnSpPr>
            <a:stCxn id="6" idx="3"/>
          </p:cNvCxnSpPr>
          <p:nvPr/>
        </p:nvCxnSpPr>
        <p:spPr>
          <a:xfrm flipV="1">
            <a:off x="3508305" y="3313400"/>
            <a:ext cx="810934" cy="87351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CF0930B-B2CA-804F-0CF9-C6ABAAF044EB}"/>
              </a:ext>
            </a:extLst>
          </p:cNvPr>
          <p:cNvSpPr/>
          <p:nvPr/>
        </p:nvSpPr>
        <p:spPr>
          <a:xfrm>
            <a:off x="3906314" y="2465501"/>
            <a:ext cx="993663" cy="813442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进入对话处理流程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5BF53A0-0EFE-530F-581A-80BE169E39A8}"/>
              </a:ext>
            </a:extLst>
          </p:cNvPr>
          <p:cNvSpPr/>
          <p:nvPr/>
        </p:nvSpPr>
        <p:spPr>
          <a:xfrm>
            <a:off x="5220798" y="2470168"/>
            <a:ext cx="993663" cy="813442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读取当前角色信息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22550A7D-7C75-C778-F1E2-19E45268FADA}"/>
              </a:ext>
            </a:extLst>
          </p:cNvPr>
          <p:cNvSpPr/>
          <p:nvPr/>
        </p:nvSpPr>
        <p:spPr>
          <a:xfrm>
            <a:off x="7680925" y="2510855"/>
            <a:ext cx="993663" cy="735524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调用</a:t>
            </a:r>
            <a:r>
              <a:rPr lang="en-US" altLang="zh-CN" sz="1400" dirty="0">
                <a:solidFill>
                  <a:schemeClr val="tx1"/>
                </a:solidFill>
              </a:rPr>
              <a:t>LLM</a:t>
            </a:r>
            <a:r>
              <a:rPr lang="zh-CN" altLang="en-US" sz="1400" dirty="0">
                <a:solidFill>
                  <a:schemeClr val="tx1"/>
                </a:solidFill>
              </a:rPr>
              <a:t>生成回复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5CCC931-BB7C-9722-154D-72660F809E50}"/>
              </a:ext>
            </a:extLst>
          </p:cNvPr>
          <p:cNvSpPr/>
          <p:nvPr/>
        </p:nvSpPr>
        <p:spPr>
          <a:xfrm>
            <a:off x="5220798" y="3629277"/>
            <a:ext cx="993663" cy="578933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读取历史记录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8D2D3AB-D995-C89F-ACE8-A326A660F512}"/>
              </a:ext>
            </a:extLst>
          </p:cNvPr>
          <p:cNvSpPr/>
          <p:nvPr/>
        </p:nvSpPr>
        <p:spPr>
          <a:xfrm>
            <a:off x="7707449" y="3927200"/>
            <a:ext cx="934428" cy="433080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生成回复文本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A969CF88-8801-4556-7E92-F3F17F286FF7}"/>
              </a:ext>
            </a:extLst>
          </p:cNvPr>
          <p:cNvSpPr/>
          <p:nvPr/>
        </p:nvSpPr>
        <p:spPr>
          <a:xfrm>
            <a:off x="8851460" y="2559238"/>
            <a:ext cx="882078" cy="558005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生成文本回复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012BD1D-FE6D-E654-8E58-3DD1ABC9AC1E}"/>
              </a:ext>
            </a:extLst>
          </p:cNvPr>
          <p:cNvSpPr/>
          <p:nvPr/>
        </p:nvSpPr>
        <p:spPr>
          <a:xfrm>
            <a:off x="8906407" y="3613914"/>
            <a:ext cx="804066" cy="735524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调用</a:t>
            </a:r>
            <a:r>
              <a:rPr lang="en-US" altLang="zh-CN" sz="1400" dirty="0">
                <a:solidFill>
                  <a:schemeClr val="tx1"/>
                </a:solidFill>
              </a:rPr>
              <a:t>TTS</a:t>
            </a:r>
            <a:r>
              <a:rPr lang="zh-CN" altLang="en-US" sz="1400" dirty="0">
                <a:solidFill>
                  <a:schemeClr val="tx1"/>
                </a:solidFill>
              </a:rPr>
              <a:t>合成语音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45365AF8-8C80-0227-E7D3-DDE318127006}"/>
              </a:ext>
            </a:extLst>
          </p:cNvPr>
          <p:cNvSpPr/>
          <p:nvPr/>
        </p:nvSpPr>
        <p:spPr>
          <a:xfrm>
            <a:off x="6426810" y="3980840"/>
            <a:ext cx="934428" cy="341468"/>
          </a:xfrm>
          <a:prstGeom prst="roundRect">
            <a:avLst/>
          </a:prstGeom>
          <a:solidFill>
            <a:srgbClr val="F7E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写入记录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7D5BFFC-3286-FE59-6E9D-6B88121E3369}"/>
              </a:ext>
            </a:extLst>
          </p:cNvPr>
          <p:cNvCxnSpPr>
            <a:stCxn id="66" idx="3"/>
            <a:endCxn id="67" idx="1"/>
          </p:cNvCxnSpPr>
          <p:nvPr/>
        </p:nvCxnSpPr>
        <p:spPr>
          <a:xfrm>
            <a:off x="4899977" y="2872222"/>
            <a:ext cx="320821" cy="4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ACE6702E-31F3-A17B-2A79-259749B4447C}"/>
              </a:ext>
            </a:extLst>
          </p:cNvPr>
          <p:cNvCxnSpPr>
            <a:stCxn id="67" idx="2"/>
            <a:endCxn id="71" idx="0"/>
          </p:cNvCxnSpPr>
          <p:nvPr/>
        </p:nvCxnSpPr>
        <p:spPr>
          <a:xfrm>
            <a:off x="5717630" y="3283610"/>
            <a:ext cx="0" cy="345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9B735163-CCE3-EDDC-A24E-05D5DCDD3123}"/>
              </a:ext>
            </a:extLst>
          </p:cNvPr>
          <p:cNvCxnSpPr>
            <a:stCxn id="71" idx="3"/>
            <a:endCxn id="9" idx="2"/>
          </p:cNvCxnSpPr>
          <p:nvPr/>
        </p:nvCxnSpPr>
        <p:spPr>
          <a:xfrm flipV="1">
            <a:off x="6214461" y="3235481"/>
            <a:ext cx="776875" cy="68326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ED516555-3B47-17BC-C3AD-4E021F9C816C}"/>
              </a:ext>
            </a:extLst>
          </p:cNvPr>
          <p:cNvCxnSpPr>
            <a:stCxn id="67" idx="3"/>
            <a:endCxn id="9" idx="1"/>
          </p:cNvCxnSpPr>
          <p:nvPr/>
        </p:nvCxnSpPr>
        <p:spPr>
          <a:xfrm flipV="1">
            <a:off x="6214461" y="2872222"/>
            <a:ext cx="215751" cy="4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08687529-2C77-B018-2576-79BCFA94E7A1}"/>
              </a:ext>
            </a:extLst>
          </p:cNvPr>
          <p:cNvCxnSpPr>
            <a:stCxn id="9" idx="3"/>
            <a:endCxn id="70" idx="1"/>
          </p:cNvCxnSpPr>
          <p:nvPr/>
        </p:nvCxnSpPr>
        <p:spPr>
          <a:xfrm>
            <a:off x="7552460" y="2872222"/>
            <a:ext cx="128465" cy="63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628A7791-9B2C-F25F-9C09-CAC0806A2A4B}"/>
              </a:ext>
            </a:extLst>
          </p:cNvPr>
          <p:cNvCxnSpPr>
            <a:cxnSpLocks/>
            <a:stCxn id="70" idx="2"/>
            <a:endCxn id="72" idx="0"/>
          </p:cNvCxnSpPr>
          <p:nvPr/>
        </p:nvCxnSpPr>
        <p:spPr>
          <a:xfrm flipH="1">
            <a:off x="8174663" y="3246379"/>
            <a:ext cx="3094" cy="6808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0CD7F08B-F187-F613-E0BC-5D37A7CBCEEC}"/>
              </a:ext>
            </a:extLst>
          </p:cNvPr>
          <p:cNvCxnSpPr>
            <a:stCxn id="72" idx="1"/>
            <a:endCxn id="75" idx="3"/>
          </p:cNvCxnSpPr>
          <p:nvPr/>
        </p:nvCxnSpPr>
        <p:spPr>
          <a:xfrm flipH="1">
            <a:off x="7361238" y="4143740"/>
            <a:ext cx="346211" cy="783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1FAB4E31-2635-5D75-460B-F80F9095BD3D}"/>
              </a:ext>
            </a:extLst>
          </p:cNvPr>
          <p:cNvCxnSpPr>
            <a:stCxn id="72" idx="3"/>
            <a:endCxn id="73" idx="1"/>
          </p:cNvCxnSpPr>
          <p:nvPr/>
        </p:nvCxnSpPr>
        <p:spPr>
          <a:xfrm flipV="1">
            <a:off x="8641877" y="2838241"/>
            <a:ext cx="209583" cy="1305499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02E466EE-4A13-D930-4C3E-75AF9545D622}"/>
              </a:ext>
            </a:extLst>
          </p:cNvPr>
          <p:cNvCxnSpPr>
            <a:stCxn id="72" idx="3"/>
            <a:endCxn id="74" idx="1"/>
          </p:cNvCxnSpPr>
          <p:nvPr/>
        </p:nvCxnSpPr>
        <p:spPr>
          <a:xfrm flipV="1">
            <a:off x="8641877" y="3981676"/>
            <a:ext cx="264530" cy="16206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43AA6FFE-73E8-80B1-DE43-49A150295189}"/>
              </a:ext>
            </a:extLst>
          </p:cNvPr>
          <p:cNvSpPr/>
          <p:nvPr/>
        </p:nvSpPr>
        <p:spPr>
          <a:xfrm>
            <a:off x="1470741" y="5672070"/>
            <a:ext cx="1019108" cy="5577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生成角色属性信息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CC00D4CD-E696-10C3-E0A0-52FBEEB2A4A4}"/>
              </a:ext>
            </a:extLst>
          </p:cNvPr>
          <p:cNvSpPr/>
          <p:nvPr/>
        </p:nvSpPr>
        <p:spPr>
          <a:xfrm>
            <a:off x="4273154" y="6052954"/>
            <a:ext cx="1717054" cy="44736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模型资产管理模块保存模型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02B481AD-BE95-8141-E27A-17A344026098}"/>
              </a:ext>
            </a:extLst>
          </p:cNvPr>
          <p:cNvSpPr/>
          <p:nvPr/>
        </p:nvSpPr>
        <p:spPr>
          <a:xfrm>
            <a:off x="7032538" y="5999947"/>
            <a:ext cx="1003610" cy="553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前端加载模型</a:t>
            </a: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6241C14-7EF9-0B2F-D4C2-D2216FCE96F3}"/>
              </a:ext>
            </a:extLst>
          </p:cNvPr>
          <p:cNvSpPr/>
          <p:nvPr/>
        </p:nvSpPr>
        <p:spPr>
          <a:xfrm>
            <a:off x="8600605" y="5526607"/>
            <a:ext cx="1003610" cy="553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动作状态控制模块</a:t>
            </a: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38B612CD-69FD-E98D-1F93-1BC06C29594B}"/>
              </a:ext>
            </a:extLst>
          </p:cNvPr>
          <p:cNvCxnSpPr>
            <a:stCxn id="72" idx="2"/>
            <a:endCxn id="103" idx="0"/>
          </p:cNvCxnSpPr>
          <p:nvPr/>
        </p:nvCxnSpPr>
        <p:spPr>
          <a:xfrm rot="16200000" flipH="1">
            <a:off x="8055373" y="4479569"/>
            <a:ext cx="1166327" cy="927747"/>
          </a:xfrm>
          <a:prstGeom prst="bentConnector3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6ABBEB86-1B7C-6E54-D033-BEA3CDC3EAF2}"/>
              </a:ext>
            </a:extLst>
          </p:cNvPr>
          <p:cNvCxnSpPr/>
          <p:nvPr/>
        </p:nvCxnSpPr>
        <p:spPr>
          <a:xfrm>
            <a:off x="1061529" y="5950947"/>
            <a:ext cx="377048" cy="85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93A2BB6-1074-F548-0528-62018BDE9B98}"/>
              </a:ext>
            </a:extLst>
          </p:cNvPr>
          <p:cNvSpPr txBox="1"/>
          <p:nvPr/>
        </p:nvSpPr>
        <p:spPr>
          <a:xfrm>
            <a:off x="3397900" y="2565008"/>
            <a:ext cx="56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文本</a:t>
            </a:r>
          </a:p>
        </p:txBody>
      </p: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BF91290E-22ED-B7E6-647F-C297E8E726BC}"/>
              </a:ext>
            </a:extLst>
          </p:cNvPr>
          <p:cNvCxnSpPr>
            <a:stCxn id="98" idx="3"/>
            <a:endCxn id="13" idx="1"/>
          </p:cNvCxnSpPr>
          <p:nvPr/>
        </p:nvCxnSpPr>
        <p:spPr>
          <a:xfrm flipV="1">
            <a:off x="2489849" y="5472277"/>
            <a:ext cx="878703" cy="47867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2EA2FC5E-3816-BDFB-FB7C-DAAD1464C955}"/>
              </a:ext>
            </a:extLst>
          </p:cNvPr>
          <p:cNvCxnSpPr>
            <a:stCxn id="98" idx="3"/>
            <a:endCxn id="99" idx="1"/>
          </p:cNvCxnSpPr>
          <p:nvPr/>
        </p:nvCxnSpPr>
        <p:spPr>
          <a:xfrm>
            <a:off x="2489849" y="5950947"/>
            <a:ext cx="1783305" cy="3256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CDACB10A-6FC6-7F36-5AE4-97A5A02A045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660371" y="5472277"/>
            <a:ext cx="226200" cy="9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B0FB22D3-EAF3-877C-891C-01C5BADE235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6269788" y="5481941"/>
            <a:ext cx="332553" cy="73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AECB5606-236B-696C-F642-F25D5B4BBE2F}"/>
              </a:ext>
            </a:extLst>
          </p:cNvPr>
          <p:cNvCxnSpPr>
            <a:cxnSpLocks/>
            <a:stCxn id="15" idx="2"/>
            <a:endCxn id="99" idx="0"/>
          </p:cNvCxnSpPr>
          <p:nvPr/>
        </p:nvCxnSpPr>
        <p:spPr>
          <a:xfrm rot="5400000">
            <a:off x="5974411" y="4923218"/>
            <a:ext cx="287007" cy="1972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082A18AD-89D2-3AE8-FF43-C84DC3C4EC40}"/>
              </a:ext>
            </a:extLst>
          </p:cNvPr>
          <p:cNvCxnSpPr>
            <a:stCxn id="99" idx="3"/>
            <a:endCxn id="100" idx="1"/>
          </p:cNvCxnSpPr>
          <p:nvPr/>
        </p:nvCxnSpPr>
        <p:spPr>
          <a:xfrm flipV="1">
            <a:off x="5990208" y="6276636"/>
            <a:ext cx="104233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>
            <a:extLst>
              <a:ext uri="{FF2B5EF4-FFF2-40B4-BE49-F238E27FC236}">
                <a16:creationId xmlns:a16="http://schemas.microsoft.com/office/drawing/2014/main" id="{613C83DC-15B7-65DD-5F27-47AF5410A3FD}"/>
              </a:ext>
            </a:extLst>
          </p:cNvPr>
          <p:cNvCxnSpPr>
            <a:stCxn id="100" idx="3"/>
            <a:endCxn id="103" idx="1"/>
          </p:cNvCxnSpPr>
          <p:nvPr/>
        </p:nvCxnSpPr>
        <p:spPr>
          <a:xfrm flipV="1">
            <a:off x="8036148" y="5803296"/>
            <a:ext cx="564457" cy="47334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D7CBB08-1A64-5D24-CF2A-0D80836BEA16}"/>
              </a:ext>
            </a:extLst>
          </p:cNvPr>
          <p:cNvCxnSpPr>
            <a:stCxn id="103" idx="3"/>
            <a:endCxn id="39" idx="1"/>
          </p:cNvCxnSpPr>
          <p:nvPr/>
        </p:nvCxnSpPr>
        <p:spPr>
          <a:xfrm flipV="1">
            <a:off x="9604215" y="5801335"/>
            <a:ext cx="372766" cy="19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34D6B81-DE27-1540-FA09-47D38770CAFF}"/>
              </a:ext>
            </a:extLst>
          </p:cNvPr>
          <p:cNvSpPr txBox="1"/>
          <p:nvPr/>
        </p:nvSpPr>
        <p:spPr>
          <a:xfrm>
            <a:off x="8288889" y="4673631"/>
            <a:ext cx="1003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状态信号</a:t>
            </a:r>
          </a:p>
        </p:txBody>
      </p:sp>
    </p:spTree>
    <p:extLst>
      <p:ext uri="{BB962C8B-B14F-4D97-AF65-F5344CB8AC3E}">
        <p14:creationId xmlns:p14="http://schemas.microsoft.com/office/powerpoint/2010/main" val="2725731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E951-6109-021B-37DE-4757EECCA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6F7A8-F839-A332-C818-AD649386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项目价值与场景化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FB1EF-FA6F-0FC3-40F2-F097087F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454" y="694155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981EB622-E975-1B7E-0C72-2B6C6F71933D}"/>
              </a:ext>
            </a:extLst>
          </p:cNvPr>
          <p:cNvSpPr txBox="1"/>
          <p:nvPr/>
        </p:nvSpPr>
        <p:spPr>
          <a:xfrm>
            <a:off x="-53547" y="1161660"/>
            <a:ext cx="12019280" cy="511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dirty="0"/>
              <a:t>本系统可应用于情感陪伴、智能问答和虚拟角色互动等场景，支持语音</a:t>
            </a:r>
            <a:r>
              <a:rPr lang="en-US" altLang="zh-CN" dirty="0"/>
              <a:t>/</a:t>
            </a:r>
            <a:r>
              <a:rPr lang="zh-CN" altLang="en-US" dirty="0"/>
              <a:t>文本输入、智能回复以及 </a:t>
            </a:r>
            <a:r>
              <a:rPr lang="en-US" altLang="zh-CN" dirty="0"/>
              <a:t>3D </a:t>
            </a:r>
            <a:r>
              <a:rPr lang="zh-CN" altLang="en-US" dirty="0"/>
              <a:t>角色反馈。系统兼顾陪伴交流、信息服务和沉浸式体验，具有一定的实际应用价值。</a:t>
            </a:r>
            <a:endParaRPr lang="en-US" altLang="zh-CN" sz="2400" dirty="0"/>
          </a:p>
          <a:p>
            <a:pPr algn="just">
              <a:buFont typeface="Wingdings" panose="05000000000000000000" charset="0"/>
              <a:buChar char="n"/>
            </a:pPr>
            <a:endParaRPr lang="en-US" altLang="zh-CN" sz="18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8CA5871E-64B6-EBB0-39C9-B3D894B0B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6296" y="1818382"/>
            <a:ext cx="1200987" cy="1440345"/>
          </a:xfrm>
          <a:prstGeom prst="rect">
            <a:avLst/>
          </a:prstGeom>
        </p:spPr>
      </p:pic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D583B77-AF9B-88D9-7B5D-5D5D497800F2}"/>
              </a:ext>
            </a:extLst>
          </p:cNvPr>
          <p:cNvSpPr/>
          <p:nvPr/>
        </p:nvSpPr>
        <p:spPr>
          <a:xfrm>
            <a:off x="8967283" y="1814588"/>
            <a:ext cx="2416098" cy="92183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学生放学回家后感到疲惫，对智能体说：“今天上课很多，作业也多，我真的有点累。”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72CCC26-F0B8-91F1-2BA8-59240C3E16CB}"/>
              </a:ext>
            </a:extLst>
          </p:cNvPr>
          <p:cNvSpPr txBox="1"/>
          <p:nvPr/>
        </p:nvSpPr>
        <p:spPr>
          <a:xfrm>
            <a:off x="7383810" y="3711176"/>
            <a:ext cx="15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系统处理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5A72B531-8F0A-E744-FF47-0D5E46297977}"/>
              </a:ext>
            </a:extLst>
          </p:cNvPr>
          <p:cNvSpPr/>
          <p:nvPr/>
        </p:nvSpPr>
        <p:spPr>
          <a:xfrm>
            <a:off x="8587634" y="3294072"/>
            <a:ext cx="3122340" cy="127029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系统完成语音识别与情绪判断，识别出用户当前存在疲劳和低落倾向；随后结合对话上下文生成安抚性回复，并调用数字人角色与互动内容模块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9C3197F-2F32-CC5E-6234-3CB985ED320D}"/>
              </a:ext>
            </a:extLst>
          </p:cNvPr>
          <p:cNvSpPr txBox="1"/>
          <p:nvPr/>
        </p:nvSpPr>
        <p:spPr>
          <a:xfrm>
            <a:off x="7383810" y="5749668"/>
            <a:ext cx="126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系统输出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77FE3EA-04A8-4559-4354-A7F07B9CC8F7}"/>
              </a:ext>
            </a:extLst>
          </p:cNvPr>
          <p:cNvSpPr/>
          <p:nvPr/>
        </p:nvSpPr>
        <p:spPr>
          <a:xfrm>
            <a:off x="8392610" y="5271622"/>
            <a:ext cx="3636894" cy="152802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“今天辛苦了，你已经很努力了，可以先休息一下。我可以陪你聊一会儿，或者给你创建一个 </a:t>
            </a:r>
            <a:r>
              <a:rPr lang="en-US" altLang="zh-CN" sz="1400" dirty="0">
                <a:solidFill>
                  <a:schemeClr val="tx1"/>
                </a:solidFill>
              </a:rPr>
              <a:t>3D </a:t>
            </a:r>
            <a:r>
              <a:rPr lang="zh-CN" altLang="en-US" sz="1400" dirty="0">
                <a:solidFill>
                  <a:schemeClr val="tx1"/>
                </a:solidFill>
              </a:rPr>
              <a:t>互动角色，一起玩一个轻松的小游戏放松一下。”</a:t>
            </a:r>
            <a:br>
              <a:rPr lang="zh-CN" altLang="en-US" sz="1400" dirty="0">
                <a:solidFill>
                  <a:schemeClr val="tx1"/>
                </a:solidFill>
              </a:rPr>
            </a:br>
            <a:r>
              <a:rPr lang="zh-CN" altLang="en-US" sz="1400" dirty="0">
                <a:solidFill>
                  <a:schemeClr val="tx1"/>
                </a:solidFill>
              </a:rPr>
              <a:t>同时，系统驱动 </a:t>
            </a:r>
            <a:r>
              <a:rPr lang="en-US" altLang="zh-CN" sz="1400" dirty="0">
                <a:solidFill>
                  <a:schemeClr val="tx1"/>
                </a:solidFill>
              </a:rPr>
              <a:t>3D </a:t>
            </a:r>
            <a:r>
              <a:rPr lang="zh-CN" altLang="en-US" sz="1400" dirty="0">
                <a:solidFill>
                  <a:schemeClr val="tx1"/>
                </a:solidFill>
              </a:rPr>
              <a:t>角色进入说话和陪伴状态，增强交互沉浸感。</a:t>
            </a:r>
          </a:p>
        </p:txBody>
      </p:sp>
      <p:pic>
        <p:nvPicPr>
          <p:cNvPr id="3" name="2026-03-27 14-17-43">
            <a:hlinkClick r:id="" action="ppaction://media"/>
            <a:extLst>
              <a:ext uri="{FF2B5EF4-FFF2-40B4-BE49-F238E27FC236}">
                <a16:creationId xmlns:a16="http://schemas.microsoft.com/office/drawing/2014/main" id="{BDB00CE8-A8FD-F620-A9D1-B8FD10F4A5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49429" t="1739" r="13490" b="2608"/>
          <a:stretch>
            <a:fillRect/>
          </a:stretch>
        </p:blipFill>
        <p:spPr>
          <a:xfrm>
            <a:off x="457234" y="2200506"/>
            <a:ext cx="2794496" cy="4657493"/>
          </a:xfrm>
          <a:prstGeom prst="rect">
            <a:avLst/>
          </a:prstGeom>
        </p:spPr>
      </p:pic>
      <p:sp>
        <p:nvSpPr>
          <p:cNvPr id="5" name="箭头: 下 4">
            <a:extLst>
              <a:ext uri="{FF2B5EF4-FFF2-40B4-BE49-F238E27FC236}">
                <a16:creationId xmlns:a16="http://schemas.microsoft.com/office/drawing/2014/main" id="{E3D5199A-B3F1-C19E-2A1C-30F23ABD1693}"/>
              </a:ext>
            </a:extLst>
          </p:cNvPr>
          <p:cNvSpPr/>
          <p:nvPr/>
        </p:nvSpPr>
        <p:spPr>
          <a:xfrm>
            <a:off x="9988356" y="2736422"/>
            <a:ext cx="320897" cy="52230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080B5576-E213-5307-C705-6547A23E5B90}"/>
              </a:ext>
            </a:extLst>
          </p:cNvPr>
          <p:cNvSpPr/>
          <p:nvPr/>
        </p:nvSpPr>
        <p:spPr>
          <a:xfrm>
            <a:off x="9954896" y="4656843"/>
            <a:ext cx="320897" cy="52230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2026-03-27 16-58-02">
            <a:hlinkClick r:id="" action="ppaction://media"/>
            <a:extLst>
              <a:ext uri="{FF2B5EF4-FFF2-40B4-BE49-F238E27FC236}">
                <a16:creationId xmlns:a16="http://schemas.microsoft.com/office/drawing/2014/main" id="{95C83BE8-08D4-CE0E-B45E-9082FF0116A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rcRect l="49077" t="912" r="13509" b="2142"/>
          <a:stretch>
            <a:fillRect/>
          </a:stretch>
        </p:blipFill>
        <p:spPr>
          <a:xfrm>
            <a:off x="3839122" y="2200506"/>
            <a:ext cx="2861613" cy="458844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6E9D271-2C8C-9FB5-5BAD-08B575092E33}"/>
              </a:ext>
            </a:extLst>
          </p:cNvPr>
          <p:cNvSpPr txBox="1"/>
          <p:nvPr/>
        </p:nvSpPr>
        <p:spPr>
          <a:xfrm>
            <a:off x="1175446" y="1799062"/>
            <a:ext cx="2348339" cy="379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生成与互动</a:t>
            </a:r>
          </a:p>
        </p:txBody>
      </p:sp>
    </p:spTree>
    <p:extLst>
      <p:ext uri="{BB962C8B-B14F-4D97-AF65-F5344CB8AC3E}">
        <p14:creationId xmlns:p14="http://schemas.microsoft.com/office/powerpoint/2010/main" val="139861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72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B56A-E40A-E21F-5EC7-DB4C1FAC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47B7E-FE6F-8D68-0F56-7339B58D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研究内容及步骤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18B273-0020-10DF-ADF8-45851B10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454" y="694155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98B246D9-815C-79BD-344B-D439AEF8AC56}"/>
              </a:ext>
            </a:extLst>
          </p:cNvPr>
          <p:cNvSpPr txBox="1"/>
          <p:nvPr/>
        </p:nvSpPr>
        <p:spPr>
          <a:xfrm>
            <a:off x="-53547" y="1161660"/>
            <a:ext cx="12019280" cy="511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更新互动页面背景</a:t>
            </a:r>
            <a:endParaRPr lang="en-US" altLang="zh-CN" dirty="0"/>
          </a:p>
        </p:txBody>
      </p:sp>
      <p:pic>
        <p:nvPicPr>
          <p:cNvPr id="5" name="4cccd3879d8fce3ae5bb7ea9b686ab95_raw">
            <a:hlinkClick r:id="" action="ppaction://media"/>
            <a:extLst>
              <a:ext uri="{FF2B5EF4-FFF2-40B4-BE49-F238E27FC236}">
                <a16:creationId xmlns:a16="http://schemas.microsoft.com/office/drawing/2014/main" id="{006B2E3C-0C09-BC11-A7A5-03290B0502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5821" y="2063286"/>
            <a:ext cx="6641977" cy="4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52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9BB8-C616-4FFE-E20D-C8567590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39C5C-039E-231C-61F6-A8262A696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研究内容及步骤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A705AE-B017-DF0A-FF93-44E68EEA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454" y="694155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29984315-C7FA-92AE-0BA2-0DBED1D20283}"/>
              </a:ext>
            </a:extLst>
          </p:cNvPr>
          <p:cNvSpPr txBox="1"/>
          <p:nvPr/>
        </p:nvSpPr>
        <p:spPr>
          <a:xfrm>
            <a:off x="-53547" y="1161660"/>
            <a:ext cx="12019280" cy="511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展示：其他模型及动作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094A8D1-4A53-1947-74F2-AAC442B30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8" r="7597"/>
          <a:stretch>
            <a:fillRect/>
          </a:stretch>
        </p:blipFill>
        <p:spPr>
          <a:xfrm>
            <a:off x="6727320" y="2430966"/>
            <a:ext cx="4630987" cy="34603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C374A19-9E42-F3BC-EB08-8500BF2B4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7" r="6781"/>
          <a:stretch>
            <a:fillRect/>
          </a:stretch>
        </p:blipFill>
        <p:spPr>
          <a:xfrm>
            <a:off x="896387" y="2430966"/>
            <a:ext cx="4629447" cy="338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10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3635-D6AD-D86C-7C15-4C52B8EA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98CD5-704D-6045-9D06-C4C6B97D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14" y="0"/>
            <a:ext cx="10850563" cy="1028699"/>
          </a:xfrm>
        </p:spPr>
        <p:txBody>
          <a:bodyPr/>
          <a:lstStyle/>
          <a:p>
            <a:r>
              <a:rPr lang="zh-CN" altLang="zh-CN" dirty="0"/>
              <a:t>步骤</a:t>
            </a:r>
            <a:r>
              <a:rPr lang="zh-CN" altLang="en-US" dirty="0"/>
              <a:t>一</a:t>
            </a:r>
            <a:r>
              <a:rPr lang="zh-CN" altLang="zh-CN" dirty="0"/>
              <a:t>：搭建系统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A3D8AB-0617-0D01-ED7D-36093C47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CB1F3CC6-EFA8-413A-8961-32BE284098E1}"/>
              </a:ext>
            </a:extLst>
          </p:cNvPr>
          <p:cNvSpPr txBox="1"/>
          <p:nvPr/>
        </p:nvSpPr>
        <p:spPr>
          <a:xfrm>
            <a:off x="0" y="1196751"/>
            <a:ext cx="12192000" cy="32609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根据现有开源项目构建原型系统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项目结构：</a:t>
            </a:r>
            <a:endParaRPr lang="en-US" altLang="zh-CN" sz="2200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1800" dirty="0"/>
              <a:t>使用</a:t>
            </a:r>
            <a:r>
              <a:rPr lang="en-US" altLang="zh-CN" sz="1800" b="1" dirty="0"/>
              <a:t>fay</a:t>
            </a:r>
            <a:r>
              <a:rPr lang="zh-CN" altLang="en-US" sz="1800" dirty="0"/>
              <a:t>框架作为后端调度数据与模型信息管理、前端支持</a:t>
            </a:r>
            <a:r>
              <a:rPr lang="en-US" altLang="zh-CN" sz="1800" b="1" dirty="0"/>
              <a:t>web</a:t>
            </a:r>
            <a:r>
              <a:rPr lang="zh-CN" altLang="en-US" sz="1800" b="1" dirty="0"/>
              <a:t>、安卓端</a:t>
            </a:r>
            <a:r>
              <a:rPr lang="zh-CN" altLang="en-US" sz="1800" dirty="0"/>
              <a:t>进行展示</a:t>
            </a:r>
            <a:endParaRPr lang="en-US" altLang="zh-CN" sz="18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项目设计</a:t>
            </a:r>
            <a:endParaRPr lang="en-US" altLang="zh-CN" sz="2200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1800" dirty="0"/>
              <a:t>支持文字或图片生成</a:t>
            </a:r>
            <a:r>
              <a:rPr lang="en-US" altLang="zh-CN" sz="1800" dirty="0"/>
              <a:t>3D</a:t>
            </a:r>
            <a:r>
              <a:rPr lang="zh-CN" altLang="en-US" sz="1800" dirty="0"/>
              <a:t>模型、骨骼绑定、基于动画库的</a:t>
            </a:r>
            <a:r>
              <a:rPr lang="en-US" altLang="zh-CN" sz="1800" dirty="0"/>
              <a:t>3D</a:t>
            </a:r>
            <a:r>
              <a:rPr lang="zh-CN" altLang="en-US" sz="1800" dirty="0"/>
              <a:t>模型简单驱动功能、文本对话、</a:t>
            </a:r>
            <a:r>
              <a:rPr lang="en-US" altLang="zh-CN" sz="1800" dirty="0"/>
              <a:t>3D</a:t>
            </a:r>
            <a:r>
              <a:rPr lang="zh-CN" altLang="en-US" sz="1800" dirty="0"/>
              <a:t>模型管理功能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现有问题</a:t>
            </a:r>
            <a:endParaRPr lang="en-US" altLang="zh-CN" sz="2200" dirty="0"/>
          </a:p>
          <a:p>
            <a:pPr lvl="2" algn="just">
              <a:buFont typeface="Wingdings" panose="05000000000000000000" charset="0"/>
              <a:buChar char="n"/>
            </a:pPr>
            <a:r>
              <a:rPr lang="en-US" altLang="zh-CN" sz="1800" dirty="0"/>
              <a:t>3D</a:t>
            </a:r>
            <a:r>
              <a:rPr lang="zh-CN" altLang="en-US" sz="1800" dirty="0"/>
              <a:t>模型驱动比较简单效果一般，且只有身体，没有头部面部表情驱动，所以对于这一问题展开调研与研究</a:t>
            </a:r>
            <a:endParaRPr lang="en-US" altLang="zh-CN" sz="1800" dirty="0"/>
          </a:p>
        </p:txBody>
      </p:sp>
      <p:pic>
        <p:nvPicPr>
          <p:cNvPr id="7" name="图片 6" descr="电脑游戏的截图&#10;&#10;AI 生成的内容可能不正确。">
            <a:extLst>
              <a:ext uri="{FF2B5EF4-FFF2-40B4-BE49-F238E27FC236}">
                <a16:creationId xmlns:a16="http://schemas.microsoft.com/office/drawing/2014/main" id="{A17566AC-7444-07D9-CC7C-5352C69C5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429" y="4302213"/>
            <a:ext cx="2150385" cy="2403496"/>
          </a:xfrm>
          <a:prstGeom prst="rect">
            <a:avLst/>
          </a:prstGeom>
        </p:spPr>
      </p:pic>
      <p:pic>
        <p:nvPicPr>
          <p:cNvPr id="5" name="图片 4" descr="图形用户界面, 应用程序, Word&#10;&#10;AI 生成的内容可能不正确。">
            <a:extLst>
              <a:ext uri="{FF2B5EF4-FFF2-40B4-BE49-F238E27FC236}">
                <a16:creationId xmlns:a16="http://schemas.microsoft.com/office/drawing/2014/main" id="{1676C18A-FE98-D2AF-1719-8046D7C1C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677" y="4539178"/>
            <a:ext cx="2463039" cy="12121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723290-DFAF-FD80-F0E0-CC192D332A3D}"/>
              </a:ext>
            </a:extLst>
          </p:cNvPr>
          <p:cNvSpPr txBox="1"/>
          <p:nvPr/>
        </p:nvSpPr>
        <p:spPr>
          <a:xfrm>
            <a:off x="4950606" y="4050850"/>
            <a:ext cx="1821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Fay</a:t>
            </a:r>
            <a:r>
              <a:rPr lang="zh-CN" altLang="en-US" sz="1400" dirty="0"/>
              <a:t>作为后端大脑</a:t>
            </a:r>
          </a:p>
        </p:txBody>
      </p:sp>
      <p:pic>
        <p:nvPicPr>
          <p:cNvPr id="11" name="图片 10" descr="图示, 文本, 聊天或短信&#10;&#10;AI 生成的内容可能不正确。">
            <a:extLst>
              <a:ext uri="{FF2B5EF4-FFF2-40B4-BE49-F238E27FC236}">
                <a16:creationId xmlns:a16="http://schemas.microsoft.com/office/drawing/2014/main" id="{A2E88CBE-18E8-4957-CDD1-0FE50895A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275" y="4291836"/>
            <a:ext cx="1275311" cy="85344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A56F12D-E258-0AA2-A429-58F18291BEC4}"/>
              </a:ext>
            </a:extLst>
          </p:cNvPr>
          <p:cNvCxnSpPr>
            <a:stCxn id="11" idx="3"/>
            <a:endCxn id="5" idx="1"/>
          </p:cNvCxnSpPr>
          <p:nvPr/>
        </p:nvCxnSpPr>
        <p:spPr>
          <a:xfrm>
            <a:off x="2880586" y="4718556"/>
            <a:ext cx="1749091" cy="42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0A2DC9B-F34D-597F-1D08-01CC75914C19}"/>
              </a:ext>
            </a:extLst>
          </p:cNvPr>
          <p:cNvSpPr txBox="1"/>
          <p:nvPr/>
        </p:nvSpPr>
        <p:spPr>
          <a:xfrm>
            <a:off x="1724862" y="3984059"/>
            <a:ext cx="1003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生成模型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3F867F7-36A5-8547-3981-A50490A14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666" y="5342850"/>
            <a:ext cx="522217" cy="59033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2470743-B711-E00A-5665-1401FB82F431}"/>
              </a:ext>
            </a:extLst>
          </p:cNvPr>
          <p:cNvSpPr txBox="1"/>
          <p:nvPr/>
        </p:nvSpPr>
        <p:spPr>
          <a:xfrm>
            <a:off x="1425281" y="5179617"/>
            <a:ext cx="1559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处理并生成文字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39214F0-24D9-19CE-BB7A-6AE9F54B74B4}"/>
              </a:ext>
            </a:extLst>
          </p:cNvPr>
          <p:cNvCxnSpPr>
            <a:stCxn id="16" idx="3"/>
            <a:endCxn id="5" idx="1"/>
          </p:cNvCxnSpPr>
          <p:nvPr/>
        </p:nvCxnSpPr>
        <p:spPr>
          <a:xfrm flipV="1">
            <a:off x="2258883" y="5145276"/>
            <a:ext cx="2370794" cy="492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圆圈&#10;&#10;AI 生成的内容可能不正确。">
            <a:extLst>
              <a:ext uri="{FF2B5EF4-FFF2-40B4-BE49-F238E27FC236}">
                <a16:creationId xmlns:a16="http://schemas.microsoft.com/office/drawing/2014/main" id="{3AE39339-49F7-0331-5408-7F0FFD2377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3814" y="4436510"/>
            <a:ext cx="434998" cy="425472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0099F8-3917-72D4-B2C8-E50930A683F3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7092716" y="5145276"/>
            <a:ext cx="1871713" cy="358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CA1047C-B071-A4C7-563E-5D04F11E8A0F}"/>
              </a:ext>
            </a:extLst>
          </p:cNvPr>
          <p:cNvSpPr txBox="1"/>
          <p:nvPr/>
        </p:nvSpPr>
        <p:spPr>
          <a:xfrm>
            <a:off x="9087894" y="3994436"/>
            <a:ext cx="2026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平台展示：</a:t>
            </a:r>
            <a:r>
              <a:rPr lang="en-US" altLang="zh-CN" sz="1400" dirty="0"/>
              <a:t>web</a:t>
            </a:r>
            <a:r>
              <a:rPr lang="zh-CN" altLang="en-US" sz="1400" dirty="0"/>
              <a:t>、安卓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D4F96B3-1C8D-E4CB-B505-29123472C5AF}"/>
              </a:ext>
            </a:extLst>
          </p:cNvPr>
          <p:cNvSpPr txBox="1"/>
          <p:nvPr/>
        </p:nvSpPr>
        <p:spPr>
          <a:xfrm>
            <a:off x="1589738" y="5772988"/>
            <a:ext cx="1003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音频生成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F7BED84-92F0-1C04-7822-17B577A3246C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258883" y="5145276"/>
            <a:ext cx="2370794" cy="1189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徽标&#10;&#10;AI 生成的内容可能不正确。">
            <a:extLst>
              <a:ext uri="{FF2B5EF4-FFF2-40B4-BE49-F238E27FC236}">
                <a16:creationId xmlns:a16="http://schemas.microsoft.com/office/drawing/2014/main" id="{3E5F2226-912A-3D20-D25D-1B2127009E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205" y="5949974"/>
            <a:ext cx="1644735" cy="488975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CA29770B-6B1F-026F-9E24-477DCC05FF92}"/>
              </a:ext>
            </a:extLst>
          </p:cNvPr>
          <p:cNvSpPr txBox="1"/>
          <p:nvPr/>
        </p:nvSpPr>
        <p:spPr>
          <a:xfrm>
            <a:off x="6078646" y="6447032"/>
            <a:ext cx="1949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实现骨骼绑定和动画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9D9840E-F85B-C2D8-DCF7-7E9825D295C9}"/>
              </a:ext>
            </a:extLst>
          </p:cNvPr>
          <p:cNvCxnSpPr>
            <a:stCxn id="45" idx="3"/>
            <a:endCxn id="7" idx="1"/>
          </p:cNvCxnSpPr>
          <p:nvPr/>
        </p:nvCxnSpPr>
        <p:spPr>
          <a:xfrm flipV="1">
            <a:off x="7739940" y="5503961"/>
            <a:ext cx="1224489" cy="690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B9BC60C-1D42-E3F2-3FD2-0E34158AF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6666" y="6040091"/>
            <a:ext cx="522217" cy="59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41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zh-CN" dirty="0"/>
              <a:t>步骤</a:t>
            </a:r>
            <a:r>
              <a:rPr lang="zh-CN" altLang="en-US" dirty="0"/>
              <a:t>一</a:t>
            </a:r>
            <a:r>
              <a:rPr lang="zh-CN" altLang="zh-CN" dirty="0"/>
              <a:t>：搭建系统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26" name="内容占位符 4"/>
          <p:cNvSpPr txBox="1"/>
          <p:nvPr/>
        </p:nvSpPr>
        <p:spPr>
          <a:xfrm>
            <a:off x="0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完善后端模型管理与对话存储功能，优化页面颜色</a:t>
            </a:r>
          </a:p>
          <a:p>
            <a:pPr marL="0" indent="0" algn="just">
              <a:buNone/>
            </a:pP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F6A188-E37B-C708-DDC6-8472829987E6}"/>
              </a:ext>
            </a:extLst>
          </p:cNvPr>
          <p:cNvSpPr txBox="1"/>
          <p:nvPr/>
        </p:nvSpPr>
        <p:spPr>
          <a:xfrm>
            <a:off x="283606" y="2153803"/>
            <a:ext cx="6103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现有功能：</a:t>
            </a:r>
            <a:endParaRPr lang="en-US" altLang="zh-CN" dirty="0"/>
          </a:p>
          <a:p>
            <a:r>
              <a:rPr lang="zh-CN" altLang="en-US" dirty="0"/>
              <a:t>生成</a:t>
            </a:r>
            <a:r>
              <a:rPr lang="en-US" altLang="zh-CN" dirty="0"/>
              <a:t>3D</a:t>
            </a:r>
            <a:r>
              <a:rPr lang="zh-CN" altLang="en-US" dirty="0"/>
              <a:t>模型：</a:t>
            </a:r>
            <a:r>
              <a:rPr lang="en-US" altLang="zh-CN" dirty="0"/>
              <a:t> </a:t>
            </a:r>
            <a:r>
              <a:rPr lang="en-US" altLang="zh-CN" dirty="0" err="1"/>
              <a:t>Hunyuan3D</a:t>
            </a:r>
            <a:r>
              <a:rPr lang="en-US" altLang="zh-CN" dirty="0"/>
              <a:t>-2</a:t>
            </a:r>
            <a:r>
              <a:rPr lang="zh-CN" altLang="en-US" dirty="0"/>
              <a:t>实现</a:t>
            </a:r>
            <a:endParaRPr lang="en-US" altLang="zh-CN" dirty="0"/>
          </a:p>
          <a:p>
            <a:r>
              <a:rPr lang="zh-CN" altLang="en-US" dirty="0"/>
              <a:t>绑定人物骨骼以及简单</a:t>
            </a:r>
            <a:r>
              <a:rPr lang="en-US" altLang="zh-CN" dirty="0"/>
              <a:t>3D</a:t>
            </a:r>
            <a:r>
              <a:rPr lang="zh-CN" altLang="en-US" dirty="0"/>
              <a:t>模型动画：</a:t>
            </a:r>
            <a:r>
              <a:rPr lang="en-US" altLang="zh-CN" dirty="0" err="1"/>
              <a:t>mesh2motion</a:t>
            </a:r>
            <a:r>
              <a:rPr lang="zh-CN" altLang="en-US" dirty="0"/>
              <a:t>实现</a:t>
            </a:r>
            <a:endParaRPr lang="en-US" altLang="zh-CN" dirty="0"/>
          </a:p>
          <a:p>
            <a:r>
              <a:rPr lang="zh-CN" altLang="en-US" dirty="0"/>
              <a:t>模型管理功能与对话存储</a:t>
            </a:r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914ED62B-99C9-ED10-1ACE-812804818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994" y="1196751"/>
            <a:ext cx="2912653" cy="5454868"/>
          </a:xfrm>
          <a:prstGeom prst="rect">
            <a:avLst/>
          </a:prstGeom>
        </p:spPr>
      </p:pic>
      <p:pic>
        <p:nvPicPr>
          <p:cNvPr id="16" name="图片 15" descr="图形用户界面, 应用程序, Word&#10;&#10;AI 生成的内容可能不正确。">
            <a:extLst>
              <a:ext uri="{FF2B5EF4-FFF2-40B4-BE49-F238E27FC236}">
                <a16:creationId xmlns:a16="http://schemas.microsoft.com/office/drawing/2014/main" id="{B99B0B1A-D662-94E0-13D1-3FEFB4C9B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66" y="3810252"/>
            <a:ext cx="4373880" cy="21526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CE98-3DE5-298A-5033-BC6212645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6955C-D19F-E09B-AFEA-4342DAF4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zh-CN" dirty="0"/>
              <a:t>步骤</a:t>
            </a:r>
            <a:r>
              <a:rPr lang="zh-CN" altLang="en-US" dirty="0"/>
              <a:t>一</a:t>
            </a:r>
            <a:r>
              <a:rPr lang="zh-CN" altLang="zh-CN" dirty="0"/>
              <a:t>：搭建系统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CB98BB-2AB8-8AF4-D7F2-6AB2C933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4E1A40EB-392E-8D6B-D0F6-3E7E09345C84}"/>
              </a:ext>
            </a:extLst>
          </p:cNvPr>
          <p:cNvSpPr txBox="1"/>
          <p:nvPr/>
        </p:nvSpPr>
        <p:spPr>
          <a:xfrm>
            <a:off x="0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完善后端模型管理与对话存储功能，优化页面颜色</a:t>
            </a:r>
          </a:p>
          <a:p>
            <a:pPr marL="0" indent="0" algn="just">
              <a:buNone/>
            </a:pP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DC447C-80E4-5104-5AE2-3C485460C0B9}"/>
              </a:ext>
            </a:extLst>
          </p:cNvPr>
          <p:cNvSpPr txBox="1"/>
          <p:nvPr/>
        </p:nvSpPr>
        <p:spPr>
          <a:xfrm>
            <a:off x="752733" y="2090192"/>
            <a:ext cx="6103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现有功能：</a:t>
            </a:r>
            <a:endParaRPr lang="en-US" altLang="zh-CN" dirty="0"/>
          </a:p>
          <a:p>
            <a:r>
              <a:rPr lang="zh-CN" altLang="en-US" dirty="0"/>
              <a:t>生成</a:t>
            </a:r>
            <a:r>
              <a:rPr lang="en-US" altLang="zh-CN" dirty="0"/>
              <a:t>3D</a:t>
            </a:r>
            <a:r>
              <a:rPr lang="zh-CN" altLang="en-US" dirty="0"/>
              <a:t>模型：</a:t>
            </a:r>
            <a:r>
              <a:rPr lang="en-US" altLang="zh-CN" dirty="0"/>
              <a:t> </a:t>
            </a:r>
            <a:r>
              <a:rPr lang="en-US" altLang="zh-CN" dirty="0" err="1"/>
              <a:t>Hunyuan3D</a:t>
            </a:r>
            <a:r>
              <a:rPr lang="en-US" altLang="zh-CN" dirty="0"/>
              <a:t>-2</a:t>
            </a:r>
            <a:r>
              <a:rPr lang="zh-CN" altLang="en-US" dirty="0"/>
              <a:t>实现</a:t>
            </a:r>
            <a:endParaRPr lang="en-US" altLang="zh-CN" dirty="0"/>
          </a:p>
          <a:p>
            <a:r>
              <a:rPr lang="zh-CN" altLang="en-US" dirty="0"/>
              <a:t>绑定人物骨骼以及简单</a:t>
            </a:r>
            <a:r>
              <a:rPr lang="en-US" altLang="zh-CN" dirty="0"/>
              <a:t>3D</a:t>
            </a:r>
            <a:r>
              <a:rPr lang="zh-CN" altLang="en-US" dirty="0"/>
              <a:t>模型动画：</a:t>
            </a:r>
            <a:r>
              <a:rPr lang="en-US" altLang="zh-CN" dirty="0" err="1"/>
              <a:t>mesh2motion</a:t>
            </a:r>
            <a:r>
              <a:rPr lang="zh-CN" altLang="en-US" dirty="0"/>
              <a:t>实现</a:t>
            </a:r>
            <a:endParaRPr lang="en-US" altLang="zh-CN" dirty="0"/>
          </a:p>
          <a:p>
            <a:r>
              <a:rPr lang="zh-CN" altLang="en-US" dirty="0"/>
              <a:t>模型管理功能与对话存储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FC29DA-2C2A-7FA6-346F-1E83F3DC1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7" r="32860"/>
          <a:stretch>
            <a:fillRect/>
          </a:stretch>
        </p:blipFill>
        <p:spPr>
          <a:xfrm>
            <a:off x="8155098" y="1357135"/>
            <a:ext cx="3365389" cy="52225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667A2F3-D743-1B3B-A511-970DBF8DD47B}"/>
              </a:ext>
            </a:extLst>
          </p:cNvPr>
          <p:cNvSpPr txBox="1"/>
          <p:nvPr/>
        </p:nvSpPr>
        <p:spPr>
          <a:xfrm>
            <a:off x="879149" y="3713126"/>
            <a:ext cx="521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互动端展示</a:t>
            </a:r>
          </a:p>
        </p:txBody>
      </p:sp>
    </p:spTree>
    <p:extLst>
      <p:ext uri="{BB962C8B-B14F-4D97-AF65-F5344CB8AC3E}">
        <p14:creationId xmlns:p14="http://schemas.microsoft.com/office/powerpoint/2010/main" val="2725710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模型生成选型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282112" y="67659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26" name="内容占位符 4"/>
          <p:cNvSpPr txBox="1"/>
          <p:nvPr/>
        </p:nvSpPr>
        <p:spPr>
          <a:xfrm>
            <a:off x="0" y="1196975"/>
            <a:ext cx="11743055" cy="20554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研究描述：在系统搭建的基础上，添加</a:t>
            </a:r>
            <a:r>
              <a:rPr lang="en-US" altLang="zh-CN" sz="2000" b="1" dirty="0">
                <a:sym typeface="+mn-ea"/>
              </a:rPr>
              <a:t>3D</a:t>
            </a:r>
            <a:r>
              <a:rPr lang="zh-CN" altLang="en-US" sz="2000" b="1" dirty="0">
                <a:sym typeface="+mn-ea"/>
              </a:rPr>
              <a:t>模型生成功能，测试现有</a:t>
            </a:r>
            <a:r>
              <a:rPr lang="en-US" altLang="zh-CN" sz="2000" b="1" dirty="0" err="1">
                <a:sym typeface="+mn-ea"/>
              </a:rPr>
              <a:t>Tripo</a:t>
            </a:r>
            <a:r>
              <a:rPr lang="en-US" altLang="zh-CN" sz="2000" b="1" dirty="0">
                <a:sym typeface="+mn-ea"/>
              </a:rPr>
              <a:t> Studio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 err="1">
                <a:sym typeface="+mn-ea"/>
              </a:rPr>
              <a:t>hunyuan3D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 err="1">
                <a:sym typeface="+mn-ea"/>
              </a:rPr>
              <a:t>Fast3D</a:t>
            </a:r>
            <a:r>
              <a:rPr lang="zh-CN" altLang="en-US" sz="2000" b="1" dirty="0">
                <a:sym typeface="+mn-ea"/>
              </a:rPr>
              <a:t>等</a:t>
            </a:r>
            <a:r>
              <a:rPr lang="en-US" altLang="zh-CN" sz="2000" b="1" dirty="0" err="1">
                <a:sym typeface="+mn-ea"/>
              </a:rPr>
              <a:t>3d</a:t>
            </a:r>
            <a:r>
              <a:rPr lang="zh-CN" altLang="en-US" sz="2000" b="1" dirty="0">
                <a:sym typeface="+mn-ea"/>
              </a:rPr>
              <a:t>模型生成效果，选择合适的模型集成到系统中</a:t>
            </a:r>
            <a:endParaRPr lang="en-US" altLang="zh-CN" sz="2000" b="1" dirty="0">
              <a:sym typeface="+mn-ea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研究步骤：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b="1" dirty="0">
                <a:sym typeface="+mn-ea"/>
              </a:rPr>
              <a:t>1</a:t>
            </a:r>
            <a:r>
              <a:rPr lang="zh-CN" altLang="en-US" sz="2000" b="1" dirty="0">
                <a:sym typeface="+mn-ea"/>
              </a:rPr>
              <a:t>、官网体验上述模型生成效果：</a:t>
            </a:r>
            <a:r>
              <a:rPr lang="zh-CN" altLang="en-US" sz="2000" dirty="0">
                <a:sym typeface="+mn-ea"/>
              </a:rPr>
              <a:t>自备相同图片和文字内容生成</a:t>
            </a:r>
            <a:r>
              <a:rPr lang="en-US" altLang="zh-CN" sz="2000" dirty="0">
                <a:sym typeface="+mn-ea"/>
              </a:rPr>
              <a:t>3D</a:t>
            </a:r>
            <a:r>
              <a:rPr lang="zh-CN" altLang="en-US" sz="2000" dirty="0">
                <a:sym typeface="+mn-ea"/>
              </a:rPr>
              <a:t>模型，观察模型生成效果</a:t>
            </a:r>
            <a:endParaRPr lang="en-US" altLang="zh-CN" sz="2000" dirty="0">
              <a:sym typeface="+mn-ea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研究结论：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b="1" dirty="0" err="1">
                <a:sym typeface="+mn-ea"/>
              </a:rPr>
              <a:t>Fast3D</a:t>
            </a:r>
            <a:r>
              <a:rPr lang="en-US" altLang="zh-CN" sz="2000" b="1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优点：材质准确、速度快；缺点：细节缺失、复杂模型边缘糊；</a:t>
            </a:r>
            <a:r>
              <a:rPr lang="en-US" altLang="zh-CN" sz="2000" b="1" dirty="0">
                <a:sym typeface="+mn-ea"/>
              </a:rPr>
              <a:t> </a:t>
            </a:r>
            <a:r>
              <a:rPr lang="en-US" altLang="zh-CN" sz="2000" b="1" dirty="0" err="1">
                <a:sym typeface="+mn-ea"/>
              </a:rPr>
              <a:t>Tripo</a:t>
            </a:r>
            <a:r>
              <a:rPr lang="en-US" altLang="zh-CN" sz="2000" b="1" dirty="0">
                <a:sym typeface="+mn-ea"/>
              </a:rPr>
              <a:t> Studio</a:t>
            </a:r>
            <a:r>
              <a:rPr lang="zh-CN" altLang="en-US" sz="2000" dirty="0">
                <a:sym typeface="+mn-ea"/>
              </a:rPr>
              <a:t>优点：配色鲜艳；缺点：纹理全无、结构塌陷；</a:t>
            </a:r>
            <a:r>
              <a:rPr lang="en-US" altLang="zh-CN" sz="2000" b="1" dirty="0">
                <a:sym typeface="+mn-ea"/>
              </a:rPr>
              <a:t> </a:t>
            </a:r>
            <a:r>
              <a:rPr lang="en-US" altLang="zh-CN" sz="2000" b="1" dirty="0" err="1">
                <a:sym typeface="+mn-ea"/>
              </a:rPr>
              <a:t>hunyuan3D</a:t>
            </a:r>
            <a:r>
              <a:rPr lang="zh-CN" altLang="en-US" sz="2000" b="1" dirty="0">
                <a:sym typeface="+mn-ea"/>
              </a:rPr>
              <a:t>：</a:t>
            </a:r>
            <a:r>
              <a:rPr lang="zh-CN" altLang="en-US" sz="2000" dirty="0">
                <a:sym typeface="+mn-ea"/>
              </a:rPr>
              <a:t>官网生成模型及纹理精致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、目前仅</a:t>
            </a:r>
            <a:r>
              <a:rPr lang="en-US" altLang="zh-CN" sz="2000" dirty="0">
                <a:sym typeface="+mn-ea"/>
              </a:rPr>
              <a:t>Hunyuan3D</a:t>
            </a:r>
            <a:r>
              <a:rPr lang="zh-CN" altLang="en-US" sz="2000" dirty="0">
                <a:sym typeface="+mn-ea"/>
              </a:rPr>
              <a:t>开源且生成效果较好，所以部署并测试开源模型</a:t>
            </a:r>
          </a:p>
        </p:txBody>
      </p:sp>
      <p:sp>
        <p:nvSpPr>
          <p:cNvPr id="7" name="矩形 6"/>
          <p:cNvSpPr/>
          <p:nvPr/>
        </p:nvSpPr>
        <p:spPr>
          <a:xfrm>
            <a:off x="396240" y="4140820"/>
            <a:ext cx="5699760" cy="2547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303533" y="4140820"/>
            <a:ext cx="5806440" cy="25463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6B26EC-3F3E-2265-60D3-DAB03CCC7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78" y="4302125"/>
            <a:ext cx="1704973" cy="2385060"/>
          </a:xfrm>
          <a:prstGeom prst="rect">
            <a:avLst/>
          </a:prstGeom>
        </p:spPr>
      </p:pic>
      <p:pic>
        <p:nvPicPr>
          <p:cNvPr id="6" name="图片 5" descr="日程表&#10;&#10;AI 生成的内容可能不正确。">
            <a:extLst>
              <a:ext uri="{FF2B5EF4-FFF2-40B4-BE49-F238E27FC236}">
                <a16:creationId xmlns:a16="http://schemas.microsoft.com/office/drawing/2014/main" id="{00F23E82-0D8B-3A80-EFF0-7827A80C4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66" y="4712443"/>
            <a:ext cx="2229359" cy="18971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F160FF-A042-646E-AD8A-350D51CFF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465" y="4519961"/>
            <a:ext cx="1651587" cy="20689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11AC65-61E5-EE31-22F4-2224DCB81B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038" y="4712443"/>
            <a:ext cx="1514160" cy="18976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75A8A23-48B1-9BE5-C7BA-BDE6069BA381}"/>
              </a:ext>
            </a:extLst>
          </p:cNvPr>
          <p:cNvSpPr txBox="1"/>
          <p:nvPr/>
        </p:nvSpPr>
        <p:spPr>
          <a:xfrm>
            <a:off x="6907645" y="4290382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24F18F-A25B-ADFC-D5DF-B3FEB1D1E005}"/>
              </a:ext>
            </a:extLst>
          </p:cNvPr>
          <p:cNvSpPr txBox="1"/>
          <p:nvPr/>
        </p:nvSpPr>
        <p:spPr>
          <a:xfrm>
            <a:off x="10390934" y="4150629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32D8DBD-BFFE-D647-7444-B1A602140B9A}"/>
              </a:ext>
            </a:extLst>
          </p:cNvPr>
          <p:cNvCxnSpPr/>
          <p:nvPr/>
        </p:nvCxnSpPr>
        <p:spPr>
          <a:xfrm>
            <a:off x="8310282" y="5289176"/>
            <a:ext cx="896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C219-E976-3ADA-270D-8355188A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60D17-2A06-B3F5-1AFC-7FD3F185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模型生成选型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12BB3F-3DBA-DCC8-8F8E-E4B62DF2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543E27DD-E982-269F-A764-647D3E4B0BD9}"/>
              </a:ext>
            </a:extLst>
          </p:cNvPr>
          <p:cNvSpPr txBox="1"/>
          <p:nvPr/>
        </p:nvSpPr>
        <p:spPr>
          <a:xfrm>
            <a:off x="0" y="1196752"/>
            <a:ext cx="11520487" cy="6121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对</a:t>
            </a:r>
            <a:r>
              <a:rPr lang="en-US" altLang="zh-CN" sz="2400" b="1" dirty="0"/>
              <a:t>3D</a:t>
            </a:r>
            <a:r>
              <a:rPr lang="zh-CN" altLang="en-US" sz="2400" b="1" dirty="0"/>
              <a:t>模型生成研究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部署</a:t>
            </a:r>
            <a:r>
              <a:rPr lang="en-US" altLang="zh-CN" sz="2200" dirty="0" err="1"/>
              <a:t>hunyuan3D</a:t>
            </a:r>
            <a:r>
              <a:rPr lang="zh-CN" altLang="en-US" sz="2200" dirty="0"/>
              <a:t>开源并进行测试</a:t>
            </a:r>
            <a:endParaRPr lang="en-US" altLang="zh-CN" sz="2000" dirty="0"/>
          </a:p>
        </p:txBody>
      </p:sp>
      <p:pic>
        <p:nvPicPr>
          <p:cNvPr id="5" name="图片 4" descr="图形用户界面, 网站&#10;&#10;AI 生成的内容可能不正确。">
            <a:extLst>
              <a:ext uri="{FF2B5EF4-FFF2-40B4-BE49-F238E27FC236}">
                <a16:creationId xmlns:a16="http://schemas.microsoft.com/office/drawing/2014/main" id="{33D81AC1-8A8D-1A13-FF3F-7DB364554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71" y="2575110"/>
            <a:ext cx="4214885" cy="3310320"/>
          </a:xfrm>
          <a:prstGeom prst="rect">
            <a:avLst/>
          </a:prstGeom>
        </p:spPr>
      </p:pic>
      <p:pic>
        <p:nvPicPr>
          <p:cNvPr id="7" name="图片 6" descr="穿白色衣服的人&#10;&#10;AI 生成的内容可能不正确。">
            <a:extLst>
              <a:ext uri="{FF2B5EF4-FFF2-40B4-BE49-F238E27FC236}">
                <a16:creationId xmlns:a16="http://schemas.microsoft.com/office/drawing/2014/main" id="{1325C0F5-2E99-4273-18AB-4633DA36D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403" y="2451690"/>
            <a:ext cx="2515644" cy="34758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ABD146-786E-1E2E-1FF1-0D7D9A12A8E9}"/>
              </a:ext>
            </a:extLst>
          </p:cNvPr>
          <p:cNvSpPr txBox="1"/>
          <p:nvPr/>
        </p:nvSpPr>
        <p:spPr>
          <a:xfrm>
            <a:off x="2810421" y="2053618"/>
            <a:ext cx="1772728" cy="367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Hunyuan3D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E2661E-27F9-489C-993F-4BBAE83FB850}"/>
              </a:ext>
            </a:extLst>
          </p:cNvPr>
          <p:cNvSpPr txBox="1"/>
          <p:nvPr/>
        </p:nvSpPr>
        <p:spPr>
          <a:xfrm>
            <a:off x="8037888" y="1945640"/>
            <a:ext cx="202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Hunyuan3D</a:t>
            </a:r>
            <a:r>
              <a:rPr lang="en-US" altLang="zh-CN" dirty="0"/>
              <a:t>-2.1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22146F-2339-A301-0A1D-405746571226}"/>
              </a:ext>
            </a:extLst>
          </p:cNvPr>
          <p:cNvSpPr txBox="1"/>
          <p:nvPr/>
        </p:nvSpPr>
        <p:spPr>
          <a:xfrm>
            <a:off x="545980" y="5992172"/>
            <a:ext cx="1031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结论：测试后发现</a:t>
            </a:r>
            <a:r>
              <a:rPr lang="en-US" altLang="zh-CN" dirty="0" err="1"/>
              <a:t>hunyuan3D</a:t>
            </a:r>
            <a:r>
              <a:rPr lang="zh-CN" altLang="en-US" dirty="0"/>
              <a:t>文生</a:t>
            </a:r>
            <a:r>
              <a:rPr lang="en-US" altLang="zh-CN" dirty="0"/>
              <a:t>3D</a:t>
            </a:r>
            <a:r>
              <a:rPr lang="zh-CN" altLang="en-US" dirty="0"/>
              <a:t>也是先生成图片再生成</a:t>
            </a:r>
            <a:r>
              <a:rPr lang="en-US" altLang="zh-CN" dirty="0"/>
              <a:t>3D</a:t>
            </a:r>
            <a:r>
              <a:rPr lang="zh-CN" altLang="en-US" dirty="0"/>
              <a:t>模型，</a:t>
            </a:r>
            <a:r>
              <a:rPr lang="en-US" altLang="zh-CN" dirty="0"/>
              <a:t>2.1</a:t>
            </a:r>
            <a:r>
              <a:rPr lang="zh-CN" altLang="en-US" dirty="0"/>
              <a:t>版本生成效果较好</a:t>
            </a:r>
          </a:p>
        </p:txBody>
      </p:sp>
    </p:spTree>
    <p:extLst>
      <p:ext uri="{BB962C8B-B14F-4D97-AF65-F5344CB8AC3E}">
        <p14:creationId xmlns:p14="http://schemas.microsoft.com/office/powerpoint/2010/main" val="4134943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E42FE-C8DD-CD82-F864-D4B61882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9D04B-2837-3B90-7CFE-9CD20F01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步骤二：</a:t>
            </a:r>
            <a:r>
              <a:rPr lang="en-US" altLang="zh-CN" dirty="0"/>
              <a:t>3D</a:t>
            </a:r>
            <a:r>
              <a:rPr lang="zh-CN" altLang="en-US" dirty="0"/>
              <a:t>模型生成选型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28D30A-73A7-48D4-189C-B97D99A0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00B237CE-BA7A-2C87-9FB3-8D35FD7ED111}"/>
              </a:ext>
            </a:extLst>
          </p:cNvPr>
          <p:cNvSpPr txBox="1"/>
          <p:nvPr/>
        </p:nvSpPr>
        <p:spPr>
          <a:xfrm>
            <a:off x="71171" y="1151519"/>
            <a:ext cx="6846790" cy="55001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b="1" dirty="0"/>
              <a:t>部署运行</a:t>
            </a:r>
            <a:r>
              <a:rPr lang="en-US" altLang="zh-CN" sz="2000" b="1" dirty="0" err="1"/>
              <a:t>miro</a:t>
            </a:r>
            <a:r>
              <a:rPr lang="zh-CN" altLang="en-US" sz="2000" b="1" dirty="0"/>
              <a:t>可编辑的</a:t>
            </a:r>
            <a:r>
              <a:rPr lang="en-US" altLang="zh-CN" sz="2000" b="1" dirty="0"/>
              <a:t>3D</a:t>
            </a:r>
            <a:r>
              <a:rPr lang="zh-CN" altLang="en-US" sz="2000" b="1" dirty="0"/>
              <a:t>模型生成</a:t>
            </a:r>
            <a:endParaRPr lang="en-US" altLang="zh-CN" sz="2000" b="1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/>
              <a:t>功能：具备多轮对话式编辑功能。用户可以通过自然语言或图像对话，迭代地优化 </a:t>
            </a:r>
            <a:r>
              <a:rPr lang="en-US" altLang="zh-CN" sz="2000" dirty="0"/>
              <a:t>3D </a:t>
            </a:r>
            <a:r>
              <a:rPr lang="zh-CN" altLang="en-US" sz="2000" dirty="0"/>
              <a:t>模型，逐步调整直至达到理想效果。</a:t>
            </a:r>
            <a:endParaRPr lang="en-US" altLang="zh-CN" sz="2000" dirty="0"/>
          </a:p>
          <a:p>
            <a:pPr lvl="2" algn="just">
              <a:buFont typeface="Wingdings" panose="05000000000000000000" charset="0"/>
              <a:buChar char="n"/>
            </a:pPr>
            <a:r>
              <a:rPr lang="zh-CN" altLang="en-US" sz="2000" dirty="0"/>
              <a:t>问题：模型生成没有纹理，尝试给他加上纹理优点：生成的模型较之前质量高，和本项目比较合适</a:t>
            </a:r>
            <a:endParaRPr lang="en-US" altLang="zh-CN" sz="2000" dirty="0"/>
          </a:p>
          <a:p>
            <a:pPr marL="457200" lvl="1" indent="0" algn="just">
              <a:buNone/>
            </a:pPr>
            <a:endParaRPr lang="en-US" altLang="zh-CN" dirty="0"/>
          </a:p>
          <a:p>
            <a:pPr marL="914400" lvl="2" indent="0" algn="just">
              <a:buNone/>
            </a:pPr>
            <a:endParaRPr lang="en-US" altLang="zh-CN" dirty="0"/>
          </a:p>
          <a:p>
            <a:pPr marL="457200" lvl="1" indent="0" algn="just">
              <a:buNone/>
            </a:pPr>
            <a:r>
              <a:rPr lang="en-US" altLang="zh-CN" b="1" dirty="0"/>
              <a:t>	</a:t>
            </a:r>
          </a:p>
          <a:p>
            <a:pPr lvl="2" algn="just">
              <a:buFont typeface="Wingdings" panose="05000000000000000000" charset="0"/>
              <a:buChar char="n"/>
            </a:pPr>
            <a:endParaRPr lang="en-US" altLang="zh-CN" b="1" dirty="0"/>
          </a:p>
        </p:txBody>
      </p:sp>
      <p:pic>
        <p:nvPicPr>
          <p:cNvPr id="7" name="图片 6" descr="手机截图图人的照片&#10;&#10;AI 生成的内容可能不正确。">
            <a:extLst>
              <a:ext uri="{FF2B5EF4-FFF2-40B4-BE49-F238E27FC236}">
                <a16:creationId xmlns:a16="http://schemas.microsoft.com/office/drawing/2014/main" id="{1701366D-FC16-A66A-B9A5-67AFFBCE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607" y="2269317"/>
            <a:ext cx="5105432" cy="31416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3CC6CE-CDD6-97F0-EFA6-B17A57B23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938" y="3696036"/>
            <a:ext cx="4930062" cy="270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84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A649B-F9AF-F70D-DAD0-D959132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52125-F7B7-94E0-63D4-37C1E93C6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测试骨骼绑定模型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5C6F7-1F57-EB31-5D4F-4FC01666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7659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17C4E838-1669-1B9F-5071-84B831AE58D1}"/>
              </a:ext>
            </a:extLst>
          </p:cNvPr>
          <p:cNvSpPr txBox="1"/>
          <p:nvPr/>
        </p:nvSpPr>
        <p:spPr>
          <a:xfrm>
            <a:off x="0" y="1196975"/>
            <a:ext cx="11743055" cy="20554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研究描述：基于生成的模型进行骨骼绑定与动作驱动，测试现有</a:t>
            </a:r>
            <a:r>
              <a:rPr lang="en-US" altLang="zh-CN" sz="2000" b="1" dirty="0" err="1">
                <a:sym typeface="+mn-ea"/>
              </a:rPr>
              <a:t>unirig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puppeteer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 err="1">
                <a:sym typeface="+mn-ea"/>
              </a:rPr>
              <a:t>mesh2motion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mia</a:t>
            </a:r>
            <a:r>
              <a:rPr lang="zh-CN" altLang="en-US" sz="2000" b="1" dirty="0">
                <a:sym typeface="+mn-ea"/>
              </a:rPr>
              <a:t>骨骼绑定模型并尝试进行自动驱动</a:t>
            </a:r>
            <a:endParaRPr lang="en-US" altLang="zh-CN" sz="2000" b="1" dirty="0">
              <a:sym typeface="+mn-ea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研究步骤：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b="1" dirty="0">
                <a:sym typeface="+mn-ea"/>
              </a:rPr>
              <a:t>1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zh-CN" altLang="en-US" sz="2000" dirty="0">
                <a:sym typeface="+mn-ea"/>
              </a:rPr>
              <a:t>部署上述项目并进行测试</a:t>
            </a:r>
            <a:endParaRPr lang="en-US" altLang="zh-CN" sz="2000" dirty="0">
              <a:sym typeface="+mn-ea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研究结论：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 </a:t>
            </a:r>
            <a:r>
              <a:rPr lang="en-US" altLang="zh-CN" sz="2000" dirty="0" err="1">
                <a:sym typeface="+mn-ea"/>
              </a:rPr>
              <a:t>unirig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puppeteer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mia </a:t>
            </a:r>
            <a:r>
              <a:rPr lang="zh-CN" altLang="en-US" sz="2000" dirty="0">
                <a:sym typeface="+mn-ea"/>
              </a:rPr>
              <a:t>都属于自动骨骼绑定，</a:t>
            </a:r>
            <a:r>
              <a:rPr lang="en-US" altLang="zh-CN" sz="2000" dirty="0" err="1">
                <a:sym typeface="+mn-ea"/>
              </a:rPr>
              <a:t>mesh2motion</a:t>
            </a:r>
            <a:r>
              <a:rPr lang="zh-CN" altLang="en-US" sz="2000" dirty="0">
                <a:sym typeface="+mn-ea"/>
              </a:rPr>
              <a:t>属于前端骨骼绑定，</a:t>
            </a:r>
            <a:r>
              <a:rPr lang="en-US" altLang="zh-CN" sz="2000" dirty="0">
                <a:sym typeface="+mn-ea"/>
              </a:rPr>
              <a:t>mia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 err="1">
                <a:sym typeface="+mn-ea"/>
              </a:rPr>
              <a:t>mesh2motion</a:t>
            </a:r>
            <a:r>
              <a:rPr lang="zh-CN" altLang="en-US" sz="2000" dirty="0">
                <a:sym typeface="+mn-ea"/>
              </a:rPr>
              <a:t>都支持基于自身动画库驱动</a:t>
            </a:r>
            <a:endParaRPr lang="en-US" altLang="zh-CN" sz="2000" dirty="0">
              <a:sym typeface="+mn-ea"/>
            </a:endParaRP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、目前三种骨骼绑定效果大致相同，还需结合具体驱动效果评判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24ABAC-21F0-5E7F-058C-EB5FBEC30767}"/>
              </a:ext>
            </a:extLst>
          </p:cNvPr>
          <p:cNvSpPr/>
          <p:nvPr/>
        </p:nvSpPr>
        <p:spPr>
          <a:xfrm>
            <a:off x="231775" y="4177989"/>
            <a:ext cx="5699760" cy="25091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22EE61-7E6C-12F4-A718-6F05002FF7EC}"/>
              </a:ext>
            </a:extLst>
          </p:cNvPr>
          <p:cNvSpPr/>
          <p:nvPr/>
        </p:nvSpPr>
        <p:spPr>
          <a:xfrm>
            <a:off x="6223635" y="4177989"/>
            <a:ext cx="5806440" cy="25091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79A5C4-D31F-283D-728C-7FB8F69DA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09" y="4547142"/>
            <a:ext cx="2354143" cy="20037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E74477-BE14-C6CD-5BA6-B74F440EA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55" y="4402423"/>
            <a:ext cx="2389660" cy="2157301"/>
          </a:xfrm>
          <a:prstGeom prst="rect">
            <a:avLst/>
          </a:prstGeom>
        </p:spPr>
      </p:pic>
      <p:pic>
        <p:nvPicPr>
          <p:cNvPr id="6" name="图片 5" descr="图示, 地图&#10;&#10;AI 生成的内容可能不正确。">
            <a:extLst>
              <a:ext uri="{FF2B5EF4-FFF2-40B4-BE49-F238E27FC236}">
                <a16:creationId xmlns:a16="http://schemas.microsoft.com/office/drawing/2014/main" id="{091F6403-C10F-78F7-61C0-23DD7AE84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594" y="4402422"/>
            <a:ext cx="1869682" cy="2061241"/>
          </a:xfrm>
          <a:prstGeom prst="rect">
            <a:avLst/>
          </a:prstGeom>
        </p:spPr>
      </p:pic>
      <p:pic>
        <p:nvPicPr>
          <p:cNvPr id="9" name="图片 8" descr="图片包含 游戏机, 桌子, 房间, 衬衫&#10;&#10;AI 生成的内容可能不正确。">
            <a:extLst>
              <a:ext uri="{FF2B5EF4-FFF2-40B4-BE49-F238E27FC236}">
                <a16:creationId xmlns:a16="http://schemas.microsoft.com/office/drawing/2014/main" id="{73FA16CD-0037-06AC-CA7D-40E026AC4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8128" y="4311804"/>
            <a:ext cx="2077659" cy="21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36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20A7-3618-B507-A11B-444D2D5A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1A152-37FD-8402-BF83-F8719409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936F1D63-73D4-EF88-5345-A21C2EE0BBF9}"/>
              </a:ext>
            </a:extLst>
          </p:cNvPr>
          <p:cNvSpPr txBox="1"/>
          <p:nvPr/>
        </p:nvSpPr>
        <p:spPr>
          <a:xfrm>
            <a:off x="0" y="1196752"/>
            <a:ext cx="11520487" cy="9637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对骨骼绑定研究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200" dirty="0"/>
              <a:t>对于自动骨骼绑定研究</a:t>
            </a:r>
            <a:r>
              <a:rPr lang="en-US" altLang="zh-CN" sz="2200" dirty="0" err="1"/>
              <a:t>unirig</a:t>
            </a:r>
            <a:r>
              <a:rPr lang="zh-CN" altLang="en-US" sz="2200" dirty="0"/>
              <a:t>、</a:t>
            </a:r>
            <a:r>
              <a:rPr lang="en-US" altLang="zh-CN" sz="2200" dirty="0"/>
              <a:t>puppeteer</a:t>
            </a:r>
            <a:r>
              <a:rPr lang="zh-CN" altLang="en-US" sz="2200" dirty="0"/>
              <a:t>、</a:t>
            </a:r>
            <a:r>
              <a:rPr lang="en-US" altLang="zh-CN" sz="2200" dirty="0"/>
              <a:t>mia</a:t>
            </a:r>
          </a:p>
          <a:p>
            <a:pPr marL="457200" lvl="1" indent="0" algn="just" fontAlgn="auto">
              <a:lnSpc>
                <a:spcPct val="110000"/>
              </a:lnSpc>
              <a:spcAft>
                <a:spcPts val="1200"/>
              </a:spcAft>
              <a:buNone/>
            </a:pP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3D22BB-77AB-5F2E-2DB3-65AA2B65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26" y="2058273"/>
            <a:ext cx="3993607" cy="37607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260E09C-B72C-1743-6F2E-794DDEAD35CF}"/>
              </a:ext>
            </a:extLst>
          </p:cNvPr>
          <p:cNvSpPr txBox="1"/>
          <p:nvPr/>
        </p:nvSpPr>
        <p:spPr>
          <a:xfrm>
            <a:off x="669924" y="5286900"/>
            <a:ext cx="221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unirig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4E6B42-882E-8642-1E6C-AF1A55B03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531" y="2058273"/>
            <a:ext cx="4259538" cy="37795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DA6CB05-91D6-5E85-97A7-B8EDD1018EFF}"/>
              </a:ext>
            </a:extLst>
          </p:cNvPr>
          <p:cNvSpPr txBox="1"/>
          <p:nvPr/>
        </p:nvSpPr>
        <p:spPr>
          <a:xfrm>
            <a:off x="5093113" y="5180371"/>
            <a:ext cx="187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puppeteer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DB42C3-F0D1-B772-9CAB-880AC708E5F9}"/>
              </a:ext>
            </a:extLst>
          </p:cNvPr>
          <p:cNvSpPr txBox="1"/>
          <p:nvPr/>
        </p:nvSpPr>
        <p:spPr>
          <a:xfrm>
            <a:off x="1071721" y="5934088"/>
            <a:ext cx="2980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优点：骨骼细致</a:t>
            </a:r>
            <a:endParaRPr lang="en-US" altLang="zh-CN" dirty="0"/>
          </a:p>
          <a:p>
            <a:r>
              <a:rPr lang="zh-CN" altLang="en-US" dirty="0"/>
              <a:t>缺点：人体主体骨骼不清晰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BE998EA9-CCD4-DA99-996D-A89E847D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测试骨骼绑定模型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2F967C-FAD6-3FFF-21EA-5933698F269A}"/>
              </a:ext>
            </a:extLst>
          </p:cNvPr>
          <p:cNvSpPr txBox="1"/>
          <p:nvPr/>
        </p:nvSpPr>
        <p:spPr>
          <a:xfrm>
            <a:off x="6128224" y="5934088"/>
            <a:ext cx="184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优点：主体清晰</a:t>
            </a:r>
          </a:p>
        </p:txBody>
      </p:sp>
      <p:pic>
        <p:nvPicPr>
          <p:cNvPr id="14" name="图片 13" descr="图形用户界面&#10;&#10;AI 生成的内容可能不正确。">
            <a:extLst>
              <a:ext uri="{FF2B5EF4-FFF2-40B4-BE49-F238E27FC236}">
                <a16:creationId xmlns:a16="http://schemas.microsoft.com/office/drawing/2014/main" id="{D11B3959-5A49-C31C-C04E-679005565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945" y="2058273"/>
            <a:ext cx="3145341" cy="377958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C69FD93-E8BE-4ACD-B6EC-1B75903BDFBF}"/>
              </a:ext>
            </a:extLst>
          </p:cNvPr>
          <p:cNvSpPr txBox="1"/>
          <p:nvPr/>
        </p:nvSpPr>
        <p:spPr>
          <a:xfrm>
            <a:off x="8716156" y="5286900"/>
            <a:ext cx="63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MIA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84FEB4-2B04-07A0-7AFA-6EA3F7FA3196}"/>
              </a:ext>
            </a:extLst>
          </p:cNvPr>
          <p:cNvSpPr txBox="1"/>
          <p:nvPr/>
        </p:nvSpPr>
        <p:spPr>
          <a:xfrm>
            <a:off x="9034403" y="5934088"/>
            <a:ext cx="14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优点：支持自动驱动</a:t>
            </a:r>
          </a:p>
        </p:txBody>
      </p:sp>
    </p:spTree>
    <p:extLst>
      <p:ext uri="{BB962C8B-B14F-4D97-AF65-F5344CB8AC3E}">
        <p14:creationId xmlns:p14="http://schemas.microsoft.com/office/powerpoint/2010/main" val="1327695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F536-5D03-32D1-6EEE-E9C283E1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2F6614-EDB7-6C67-C39A-1E755778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3E2286-5189-36BE-D28C-B68EBE73FC3E}"/>
              </a:ext>
            </a:extLst>
          </p:cNvPr>
          <p:cNvSpPr txBox="1"/>
          <p:nvPr/>
        </p:nvSpPr>
        <p:spPr>
          <a:xfrm>
            <a:off x="1116785" y="1747159"/>
            <a:ext cx="8165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对比</a:t>
            </a:r>
            <a:r>
              <a:rPr lang="en-US" altLang="zh-CN" sz="2000" dirty="0" err="1"/>
              <a:t>unirig</a:t>
            </a:r>
            <a:r>
              <a:rPr lang="zh-CN" altLang="en-US" sz="2000" dirty="0"/>
              <a:t>和</a:t>
            </a:r>
            <a:r>
              <a:rPr lang="en-US" altLang="zh-CN" sz="2000" dirty="0"/>
              <a:t>puppeteer</a:t>
            </a:r>
            <a:r>
              <a:rPr lang="zh-CN" altLang="en-US" sz="2000" dirty="0"/>
              <a:t>骨骼绑定发现</a:t>
            </a:r>
            <a:r>
              <a:rPr lang="en-US" altLang="zh-CN" sz="2000" dirty="0"/>
              <a:t>puppeteer</a:t>
            </a:r>
            <a:r>
              <a:rPr lang="zh-CN" altLang="en-US" sz="2000" dirty="0"/>
              <a:t>骨骼绑定层级清晰，所以编写脚本自动完成骨骼重命名，符合</a:t>
            </a:r>
            <a:r>
              <a:rPr lang="en-US" altLang="zh-CN" sz="2000" dirty="0"/>
              <a:t>Make-It-Animatable</a:t>
            </a:r>
            <a:r>
              <a:rPr lang="zh-CN" altLang="en-US" sz="2000" dirty="0"/>
              <a:t>中要求，替代其绑骨，仅进行动画库驱动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1CCA63-5121-43D0-06E6-4DA3CAF7E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102" y="3199452"/>
            <a:ext cx="2956495" cy="326266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D0B7254-7233-A3DF-FDB5-29004D875034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6841597" y="4830787"/>
            <a:ext cx="12062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91960FE0-C2DB-1A21-D2B2-1868E2585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893" y="3199453"/>
            <a:ext cx="3693772" cy="32626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DB6A4E-3FEF-D51D-ED20-2CEEA4585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29" y="3251328"/>
            <a:ext cx="3281536" cy="2911785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822C93D5-818A-0656-5549-55CB9E85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测试骨骼绑定模型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B82DB2-A621-9A09-4FCB-164DC92A03B2}"/>
              </a:ext>
            </a:extLst>
          </p:cNvPr>
          <p:cNvSpPr txBox="1"/>
          <p:nvPr/>
        </p:nvSpPr>
        <p:spPr>
          <a:xfrm>
            <a:off x="173889" y="115709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研究</a:t>
            </a:r>
            <a:r>
              <a:rPr lang="en-US" altLang="zh-CN" sz="2400" b="1" dirty="0"/>
              <a:t>puppeteer</a:t>
            </a:r>
            <a:r>
              <a:rPr lang="zh-CN" altLang="en-US" sz="2400" b="1" dirty="0"/>
              <a:t>自动绑定结合</a:t>
            </a:r>
            <a:r>
              <a:rPr lang="en-US" altLang="zh-CN" sz="2400" b="1" dirty="0"/>
              <a:t>mia</a:t>
            </a:r>
            <a:r>
              <a:rPr lang="zh-CN" altLang="en-US" sz="2400" b="1" dirty="0"/>
              <a:t>驱动</a:t>
            </a:r>
            <a:r>
              <a:rPr lang="zh-CN" altLang="en-US" sz="2400" dirty="0"/>
              <a:t>：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61368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0FEF1-E546-16DB-3DFD-2C873898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1CF759-2171-0EFC-3FC2-0B6EB413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67DF1A-0863-943D-B905-148A0C953DA3}"/>
              </a:ext>
            </a:extLst>
          </p:cNvPr>
          <p:cNvSpPr txBox="1"/>
          <p:nvPr/>
        </p:nvSpPr>
        <p:spPr>
          <a:xfrm>
            <a:off x="906779" y="1424869"/>
            <a:ext cx="7292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基于项目中动画库自动驱动结果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0A171A-759C-C71F-1F6C-8927D4C20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29400"/>
          <a:stretch>
            <a:fillRect/>
          </a:stretch>
        </p:blipFill>
        <p:spPr>
          <a:xfrm>
            <a:off x="906779" y="1909617"/>
            <a:ext cx="2636520" cy="326959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C97A21-7FC1-A1B0-AC90-DDFDD6FABF82}"/>
              </a:ext>
            </a:extLst>
          </p:cNvPr>
          <p:cNvSpPr txBox="1"/>
          <p:nvPr/>
        </p:nvSpPr>
        <p:spPr>
          <a:xfrm>
            <a:off x="737663" y="5593742"/>
            <a:ext cx="882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研究发现是由于绑定骨骼时是直接拖拽骨骼破坏原有旋转，导致驱动时没有正确的旋转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7FBAA4-183E-CFC7-801F-2245D86C0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3" r="28992"/>
          <a:stretch>
            <a:fillRect/>
          </a:stretch>
        </p:blipFill>
        <p:spPr>
          <a:xfrm>
            <a:off x="6095205" y="1861349"/>
            <a:ext cx="2636683" cy="32024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75E212B-95F2-2B9E-056E-29AF23B67F1A}"/>
              </a:ext>
            </a:extLst>
          </p:cNvPr>
          <p:cNvSpPr txBox="1"/>
          <p:nvPr/>
        </p:nvSpPr>
        <p:spPr>
          <a:xfrm>
            <a:off x="777" y="103342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研究</a:t>
            </a:r>
            <a:r>
              <a:rPr lang="en-US" altLang="zh-CN" sz="2400" b="1" dirty="0"/>
              <a:t>puppeteer</a:t>
            </a:r>
            <a:r>
              <a:rPr lang="zh-CN" altLang="en-US" sz="2400" b="1" dirty="0"/>
              <a:t>自动绑定结合</a:t>
            </a:r>
            <a:r>
              <a:rPr lang="en-US" altLang="zh-CN" sz="2400" b="1" dirty="0"/>
              <a:t>mia</a:t>
            </a:r>
            <a:r>
              <a:rPr lang="zh-CN" altLang="en-US" sz="2400" b="1" dirty="0"/>
              <a:t>驱动</a:t>
            </a:r>
            <a:r>
              <a:rPr lang="zh-CN" altLang="en-US" sz="2400" dirty="0"/>
              <a:t>：</a:t>
            </a:r>
            <a:endParaRPr lang="en-US" altLang="zh-CN" sz="2400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5EEA9AB-075A-93DA-AF10-096C7E3E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测试骨骼绑定于驱动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9112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7927-1D53-D316-EC14-F09447E9B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B7121-A1F9-229C-9BCF-4EEA51FE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C02ED-FD39-D799-17F7-20BE36A8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7659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5A7FD098-25AC-3DB6-D1AB-11B46C265631}"/>
              </a:ext>
            </a:extLst>
          </p:cNvPr>
          <p:cNvSpPr txBox="1"/>
          <p:nvPr/>
        </p:nvSpPr>
        <p:spPr>
          <a:xfrm>
            <a:off x="0" y="1196975"/>
            <a:ext cx="11743055" cy="2232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研究描述：基于生成模型的骨骼绑定，研究对模型的驱动，测试现有</a:t>
            </a:r>
            <a:r>
              <a:rPr lang="en-US" altLang="zh-CN" sz="2000" b="1" dirty="0" err="1">
                <a:sym typeface="+mn-ea"/>
              </a:rPr>
              <a:t>mesh2motion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en-US" altLang="zh-CN" sz="2000" b="1" dirty="0">
                <a:sym typeface="+mn-ea"/>
              </a:rPr>
              <a:t>mia</a:t>
            </a:r>
            <a:r>
              <a:rPr lang="zh-CN" altLang="en-US" sz="2000" b="1" dirty="0">
                <a:sym typeface="+mn-ea"/>
              </a:rPr>
              <a:t>的动画库驱动</a:t>
            </a:r>
            <a:endParaRPr lang="en-US" altLang="zh-CN" sz="2000" b="1" dirty="0">
              <a:sym typeface="+mn-ea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研究步骤：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b="1" dirty="0">
                <a:sym typeface="+mn-ea"/>
              </a:rPr>
              <a:t>1</a:t>
            </a:r>
            <a:r>
              <a:rPr lang="zh-CN" altLang="en-US" sz="2000" b="1" dirty="0">
                <a:sym typeface="+mn-ea"/>
              </a:rPr>
              <a:t>、</a:t>
            </a:r>
            <a:r>
              <a:rPr lang="zh-CN" altLang="en-US" sz="2000" dirty="0">
                <a:sym typeface="+mn-ea"/>
              </a:rPr>
              <a:t>部署上述项目并进行测试</a:t>
            </a:r>
            <a:endParaRPr lang="en-US" altLang="zh-CN" sz="2000" dirty="0">
              <a:sym typeface="+mn-ea"/>
            </a:endParaRP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、研究自定义动作库实现驱动</a:t>
            </a:r>
            <a:endParaRPr lang="en-US" altLang="zh-CN" sz="2000" dirty="0">
              <a:sym typeface="+mn-ea"/>
            </a:endParaRP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3</a:t>
            </a:r>
            <a:r>
              <a:rPr lang="zh-CN" altLang="en-US" sz="2000" dirty="0">
                <a:sym typeface="+mn-ea"/>
              </a:rPr>
              <a:t>、研究面部驱动</a:t>
            </a:r>
            <a:endParaRPr lang="en-US" altLang="zh-CN" sz="2000" dirty="0">
              <a:sym typeface="+mn-ea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研究结论：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MIA</a:t>
            </a:r>
            <a:r>
              <a:rPr lang="zh-CN" altLang="en-US" sz="2000" dirty="0">
                <a:sym typeface="+mn-ea"/>
              </a:rPr>
              <a:t>驱动效果较好，但如需自制动作需要符合</a:t>
            </a:r>
            <a:r>
              <a:rPr lang="en-US" altLang="zh-CN" sz="2000" dirty="0" err="1">
                <a:sym typeface="+mn-ea"/>
              </a:rPr>
              <a:t>mixamo</a:t>
            </a:r>
            <a:r>
              <a:rPr lang="zh-CN" altLang="en-US" sz="2000" dirty="0">
                <a:sym typeface="+mn-ea"/>
              </a:rPr>
              <a:t>骨架命名</a:t>
            </a:r>
            <a:endParaRPr lang="en-US" altLang="zh-CN" sz="2000" dirty="0">
              <a:sym typeface="+mn-ea"/>
            </a:endParaRP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、基于</a:t>
            </a:r>
            <a:r>
              <a:rPr lang="en-US" altLang="zh-CN" sz="2000" dirty="0" err="1"/>
              <a:t>MediaPipe</a:t>
            </a:r>
            <a:r>
              <a:rPr lang="en-US" altLang="zh-CN" sz="2000" dirty="0"/>
              <a:t> Face </a:t>
            </a:r>
            <a:r>
              <a:rPr lang="en-US" altLang="zh-CN" sz="2000" dirty="0" err="1"/>
              <a:t>Landmarker</a:t>
            </a:r>
            <a:r>
              <a:rPr lang="zh-CN" altLang="en-US" sz="2000" dirty="0"/>
              <a:t>可以实现简单的面部驱动</a:t>
            </a:r>
            <a:endParaRPr lang="zh-CN" altLang="en-US" sz="2000" dirty="0">
              <a:sym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B6137E-FED8-7AB4-8589-0C6107870CB7}"/>
              </a:ext>
            </a:extLst>
          </p:cNvPr>
          <p:cNvSpPr/>
          <p:nvPr/>
        </p:nvSpPr>
        <p:spPr>
          <a:xfrm>
            <a:off x="231775" y="4505093"/>
            <a:ext cx="5699760" cy="218209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D00A84-FB80-7D6B-4491-E139CDAE030A}"/>
              </a:ext>
            </a:extLst>
          </p:cNvPr>
          <p:cNvSpPr/>
          <p:nvPr/>
        </p:nvSpPr>
        <p:spPr>
          <a:xfrm>
            <a:off x="6223635" y="4505093"/>
            <a:ext cx="5806440" cy="218209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E3E8CB8-4619-9D90-3BC8-99D5C51C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50" y="4612560"/>
            <a:ext cx="4827395" cy="90513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F0DEF73-3DEC-F891-7FC5-D6F595DAC827}"/>
              </a:ext>
            </a:extLst>
          </p:cNvPr>
          <p:cNvSpPr txBox="1"/>
          <p:nvPr/>
        </p:nvSpPr>
        <p:spPr>
          <a:xfrm>
            <a:off x="231775" y="4839629"/>
            <a:ext cx="438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9EB7A9-D868-3A4A-A098-0294EF62ACD1}"/>
              </a:ext>
            </a:extLst>
          </p:cNvPr>
          <p:cNvSpPr txBox="1"/>
          <p:nvPr/>
        </p:nvSpPr>
        <p:spPr>
          <a:xfrm>
            <a:off x="896898" y="5865183"/>
            <a:ext cx="4827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/>
              <a:t>角色模型 </a:t>
            </a:r>
            <a:r>
              <a:rPr lang="en-US" altLang="zh-CN" sz="1400" dirty="0"/>
              <a:t>-&gt; </a:t>
            </a:r>
            <a:r>
              <a:rPr lang="zh-CN" altLang="en-US" sz="1400" dirty="0"/>
              <a:t>头部截图 </a:t>
            </a:r>
            <a:r>
              <a:rPr lang="en-US" altLang="zh-CN" sz="1400" dirty="0"/>
              <a:t>-&gt; </a:t>
            </a:r>
            <a:r>
              <a:rPr lang="zh-CN" altLang="en-US" sz="1400" dirty="0"/>
              <a:t>面部检测 </a:t>
            </a:r>
            <a:r>
              <a:rPr lang="en-US" altLang="zh-CN" sz="1400" dirty="0"/>
              <a:t>-&gt; </a:t>
            </a:r>
            <a:r>
              <a:rPr lang="en-US" altLang="zh-CN" sz="1400" dirty="0" err="1"/>
              <a:t>2D</a:t>
            </a:r>
            <a:r>
              <a:rPr lang="en-US" altLang="zh-CN" sz="1400" dirty="0"/>
              <a:t> </a:t>
            </a:r>
            <a:r>
              <a:rPr lang="zh-CN" altLang="en-US" sz="1400" dirty="0"/>
              <a:t>到 </a:t>
            </a:r>
            <a:r>
              <a:rPr lang="en-US" altLang="zh-CN" sz="1400" dirty="0"/>
              <a:t>3D </a:t>
            </a:r>
            <a:r>
              <a:rPr lang="zh-CN" altLang="en-US" sz="1400" dirty="0"/>
              <a:t>回投 </a:t>
            </a:r>
            <a:r>
              <a:rPr lang="en-US" altLang="zh-CN" sz="1400" dirty="0"/>
              <a:t>-&gt; </a:t>
            </a:r>
            <a:r>
              <a:rPr lang="zh-CN" altLang="en-US" sz="1400" dirty="0"/>
              <a:t>面部锚点 </a:t>
            </a:r>
            <a:r>
              <a:rPr lang="en-US" altLang="zh-CN" sz="1400" dirty="0"/>
              <a:t>-&gt; </a:t>
            </a:r>
            <a:r>
              <a:rPr lang="zh-CN" altLang="en-US" sz="1400" dirty="0"/>
              <a:t>控制器基底 </a:t>
            </a:r>
            <a:r>
              <a:rPr lang="en-US" altLang="zh-CN" sz="1400" dirty="0"/>
              <a:t>-&gt; </a:t>
            </a:r>
            <a:r>
              <a:rPr lang="zh-CN" altLang="en-US" sz="1400" dirty="0"/>
              <a:t>语义参数 </a:t>
            </a:r>
            <a:r>
              <a:rPr lang="en-US" altLang="zh-CN" sz="1400" dirty="0"/>
              <a:t>-&gt; </a:t>
            </a:r>
            <a:r>
              <a:rPr lang="zh-CN" altLang="en-US" sz="1400" dirty="0"/>
              <a:t>角色驱动参数 </a:t>
            </a:r>
            <a:r>
              <a:rPr lang="en-US" altLang="zh-CN" sz="1400" dirty="0"/>
              <a:t>-&gt; geometry fallback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8C2209-0D4C-DAA3-DB4B-428944E08583}"/>
              </a:ext>
            </a:extLst>
          </p:cNvPr>
          <p:cNvSpPr txBox="1"/>
          <p:nvPr/>
        </p:nvSpPr>
        <p:spPr>
          <a:xfrm>
            <a:off x="283765" y="5911349"/>
            <a:ext cx="38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面部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B19A8D7-22C9-4E17-7F83-AD0C547B8E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8" r="29095"/>
          <a:stretch>
            <a:fillRect/>
          </a:stretch>
        </p:blipFill>
        <p:spPr>
          <a:xfrm>
            <a:off x="7243429" y="4674548"/>
            <a:ext cx="1146364" cy="19729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C159802-A2FB-8CF8-6021-C40FB47EA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30" t="9955" r="36488" b="64718"/>
          <a:stretch>
            <a:fillRect/>
          </a:stretch>
        </p:blipFill>
        <p:spPr>
          <a:xfrm>
            <a:off x="9475951" y="4591392"/>
            <a:ext cx="2298989" cy="185260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3F4E469-EC84-E004-BAEE-16A2D991A657}"/>
              </a:ext>
            </a:extLst>
          </p:cNvPr>
          <p:cNvSpPr txBox="1"/>
          <p:nvPr/>
        </p:nvSpPr>
        <p:spPr>
          <a:xfrm>
            <a:off x="6445405" y="5162794"/>
            <a:ext cx="661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个性化动作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E52D31-9912-DB4E-5C64-1286C3FCC8EC}"/>
              </a:ext>
            </a:extLst>
          </p:cNvPr>
          <p:cNvSpPr txBox="1"/>
          <p:nvPr/>
        </p:nvSpPr>
        <p:spPr>
          <a:xfrm>
            <a:off x="8858362" y="5236680"/>
            <a:ext cx="69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面部驱动</a:t>
            </a:r>
          </a:p>
        </p:txBody>
      </p:sp>
    </p:spTree>
    <p:extLst>
      <p:ext uri="{BB962C8B-B14F-4D97-AF65-F5344CB8AC3E}">
        <p14:creationId xmlns:p14="http://schemas.microsoft.com/office/powerpoint/2010/main" val="2044223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F536-5D03-32D1-6EEE-E9C283E1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2F6614-EDB7-6C67-C39A-1E755778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33</a:t>
            </a:fld>
            <a:endParaRPr lang="zh-CN" altLang="en-US" dirty="0"/>
          </a:p>
        </p:txBody>
      </p:sp>
      <p:pic>
        <p:nvPicPr>
          <p:cNvPr id="15" name="图片 14" descr="图示, 地图&#10;&#10;AI 生成的内容可能不正确。">
            <a:extLst>
              <a:ext uri="{FF2B5EF4-FFF2-40B4-BE49-F238E27FC236}">
                <a16:creationId xmlns:a16="http://schemas.microsoft.com/office/drawing/2014/main" id="{D59A132A-F9BF-5522-91A9-A41B674A5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522" y="1888795"/>
            <a:ext cx="3334073" cy="427575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9CD54FA-A02C-763E-B686-7321ACCF1D97}"/>
              </a:ext>
            </a:extLst>
          </p:cNvPr>
          <p:cNvSpPr txBox="1"/>
          <p:nvPr/>
        </p:nvSpPr>
        <p:spPr>
          <a:xfrm>
            <a:off x="561561" y="1242464"/>
            <a:ext cx="22959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2000" dirty="0"/>
              <a:t>优点：开源项目为前端项目，便于集成</a:t>
            </a:r>
            <a:endParaRPr lang="en-US" altLang="zh-CN" sz="2000" dirty="0"/>
          </a:p>
          <a:p>
            <a:r>
              <a:rPr lang="zh-CN" altLang="en-US" sz="2000" dirty="0"/>
              <a:t>问题：</a:t>
            </a:r>
            <a:endParaRPr lang="en-US" altLang="zh-CN" sz="2000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、绑定后权重有问题长袖没有被带起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、骨骼转轴有问题，手臂后摆</a:t>
            </a:r>
          </a:p>
        </p:txBody>
      </p:sp>
      <p:pic>
        <p:nvPicPr>
          <p:cNvPr id="18" name="图片 17" descr="图片包含 女人, 游戏机, 水, 电话&#10;&#10;AI 生成的内容可能不正确。">
            <a:extLst>
              <a:ext uri="{FF2B5EF4-FFF2-40B4-BE49-F238E27FC236}">
                <a16:creationId xmlns:a16="http://schemas.microsoft.com/office/drawing/2014/main" id="{74556846-37B7-8074-B2B3-BDACA66A6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502" y="1721054"/>
            <a:ext cx="2561491" cy="427575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955F346-B8E7-00B3-747F-2C173A6C366B}"/>
              </a:ext>
            </a:extLst>
          </p:cNvPr>
          <p:cNvSpPr txBox="1"/>
          <p:nvPr/>
        </p:nvSpPr>
        <p:spPr>
          <a:xfrm>
            <a:off x="3916018" y="1519463"/>
            <a:ext cx="210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骨骼绑定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95C6BB-D590-6463-5521-7263D07117CF}"/>
              </a:ext>
            </a:extLst>
          </p:cNvPr>
          <p:cNvSpPr txBox="1"/>
          <p:nvPr/>
        </p:nvSpPr>
        <p:spPr>
          <a:xfrm>
            <a:off x="8140148" y="1351722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模型驱动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34CE1C-14DC-3D21-A369-091E3FFBB5CC}"/>
              </a:ext>
            </a:extLst>
          </p:cNvPr>
          <p:cNvSpPr txBox="1"/>
          <p:nvPr/>
        </p:nvSpPr>
        <p:spPr>
          <a:xfrm>
            <a:off x="209747" y="101163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研究</a:t>
            </a:r>
            <a:r>
              <a:rPr lang="en-US" altLang="zh-CN" sz="2400" b="1" dirty="0" err="1"/>
              <a:t>mesh2motion</a:t>
            </a:r>
            <a:r>
              <a:rPr lang="zh-CN" altLang="en-US" sz="2400" b="1" dirty="0"/>
              <a:t>绑定与驱动</a:t>
            </a:r>
            <a:r>
              <a:rPr lang="zh-CN" altLang="en-US" sz="2400" dirty="0"/>
              <a:t>：</a:t>
            </a:r>
            <a:endParaRPr lang="en-US" altLang="zh-CN" sz="24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E268D0A-BDE9-F074-E3E0-7859BAC2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595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32466-4215-285C-71F8-B80516EB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36C1DD-D178-2FA9-C3B0-96D4454D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41EC30-F3AB-92D0-207A-AE0335D2FAF8}"/>
              </a:ext>
            </a:extLst>
          </p:cNvPr>
          <p:cNvSpPr txBox="1"/>
          <p:nvPr/>
        </p:nvSpPr>
        <p:spPr>
          <a:xfrm>
            <a:off x="906779" y="1424869"/>
            <a:ext cx="7292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 err="1"/>
              <a:t>miro</a:t>
            </a:r>
            <a:r>
              <a:rPr lang="zh-CN" altLang="en-US" sz="2000" dirty="0"/>
              <a:t>项目，设置提示词，使得生成模型时自动生成</a:t>
            </a:r>
            <a:r>
              <a:rPr lang="en-US" altLang="zh-CN" sz="2000" dirty="0"/>
              <a:t>T-pose</a:t>
            </a:r>
            <a:r>
              <a:rPr lang="zh-CN" altLang="en-US" sz="2000" dirty="0"/>
              <a:t>姿态的模型，这样便于绑定和驱动，使用</a:t>
            </a:r>
            <a:r>
              <a:rPr lang="en-US" altLang="zh-CN" sz="2000" dirty="0"/>
              <a:t>mia</a:t>
            </a:r>
            <a:r>
              <a:rPr lang="zh-CN" altLang="en-US" sz="2000" dirty="0"/>
              <a:t>绑定并驱动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D5032E-AD20-0103-1151-AE3662662622}"/>
              </a:ext>
            </a:extLst>
          </p:cNvPr>
          <p:cNvSpPr txBox="1"/>
          <p:nvPr/>
        </p:nvSpPr>
        <p:spPr>
          <a:xfrm>
            <a:off x="777" y="103342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对</a:t>
            </a:r>
            <a:r>
              <a:rPr lang="en-US" altLang="zh-CN" sz="2400" b="1" dirty="0"/>
              <a:t>MIA</a:t>
            </a:r>
            <a:r>
              <a:rPr lang="zh-CN" altLang="en-US" sz="2400" b="1" dirty="0"/>
              <a:t>绑定的驱动结果优化</a:t>
            </a:r>
            <a:r>
              <a:rPr lang="zh-CN" altLang="en-US" sz="2400" dirty="0"/>
              <a:t>：</a:t>
            </a:r>
            <a:endParaRPr lang="en-US" altLang="zh-CN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DFA46A0-3E46-6DFF-AEBF-79354110E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507" y="2098437"/>
            <a:ext cx="3655493" cy="45531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DB1E08-D642-FD2A-816C-086614B4F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000" y="1962767"/>
            <a:ext cx="3829775" cy="48245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122ADF7-17FA-FE2B-18CB-1877B007C0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5" r="22438"/>
          <a:stretch>
            <a:fillRect/>
          </a:stretch>
        </p:blipFill>
        <p:spPr>
          <a:xfrm>
            <a:off x="620732" y="2275414"/>
            <a:ext cx="3252159" cy="4014141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8764DFB-817C-7279-44CA-8ADEC48DF1E6}"/>
              </a:ext>
            </a:extLst>
          </p:cNvPr>
          <p:cNvSpPr txBox="1">
            <a:spLocks/>
          </p:cNvSpPr>
          <p:nvPr/>
        </p:nvSpPr>
        <p:spPr>
          <a:xfrm>
            <a:off x="566935" y="4725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323300-0B4A-0AE9-AFE5-AD04D8F14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789" y="2098437"/>
            <a:ext cx="3655493" cy="455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03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BC68-7C97-500D-0387-B3D88B70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EDB162-979F-9A76-FAEE-90C213E8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5527D2-4775-F52D-A12C-4BA6D6F43611}"/>
              </a:ext>
            </a:extLst>
          </p:cNvPr>
          <p:cNvSpPr txBox="1"/>
          <p:nvPr/>
        </p:nvSpPr>
        <p:spPr>
          <a:xfrm>
            <a:off x="209747" y="101163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对生成的</a:t>
            </a:r>
            <a:r>
              <a:rPr lang="en-US" altLang="zh-CN" sz="2400" b="1" dirty="0"/>
              <a:t>T-pose</a:t>
            </a:r>
            <a:r>
              <a:rPr lang="zh-CN" altLang="en-US" sz="2400" b="1" dirty="0"/>
              <a:t>模型进行自动骨骼绑定</a:t>
            </a:r>
            <a:r>
              <a:rPr lang="zh-CN" altLang="en-US" sz="2400" dirty="0"/>
              <a:t>：</a:t>
            </a:r>
            <a:endParaRPr lang="en-US" altLang="zh-CN" sz="24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6F69461-0A5B-A067-C407-476D74C6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98DE61-52C1-5403-695C-1BDE7786C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121" y="1575532"/>
            <a:ext cx="4667453" cy="51792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E318CDC-2F97-6F29-B796-B44EAF1A1C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12" y="1473297"/>
            <a:ext cx="4207196" cy="503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12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C7BE-2921-9709-CE7E-C4FE4139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3456CC-F700-E6FA-F0E2-6159E24A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ED9A18-D9B5-0806-A7AB-34C5126998F4}"/>
              </a:ext>
            </a:extLst>
          </p:cNvPr>
          <p:cNvSpPr txBox="1"/>
          <p:nvPr/>
        </p:nvSpPr>
        <p:spPr>
          <a:xfrm>
            <a:off x="209746" y="1011632"/>
            <a:ext cx="107853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设计模型动作</a:t>
            </a:r>
            <a:endParaRPr lang="en-US" altLang="zh-CN" sz="2400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b="1" dirty="0"/>
              <a:t>制作符合</a:t>
            </a:r>
            <a:r>
              <a:rPr lang="en-US" altLang="zh-CN" sz="2000" b="1" dirty="0" err="1"/>
              <a:t>mixamo</a:t>
            </a:r>
            <a:r>
              <a:rPr lang="zh-CN" altLang="en-US" sz="2000" b="1" dirty="0"/>
              <a:t>的骨架动作给</a:t>
            </a:r>
            <a:r>
              <a:rPr lang="en-US" altLang="zh-CN" sz="2000" b="1" dirty="0"/>
              <a:t>MIA</a:t>
            </a:r>
            <a:r>
              <a:rPr lang="zh-CN" altLang="en-US" sz="2000" b="1" dirty="0"/>
              <a:t>模型实现重定向</a:t>
            </a:r>
            <a:endParaRPr lang="en-US" altLang="zh-CN" sz="20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C07602-82D2-F246-2EB9-C42EDCC3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790132-6577-3DEE-2360-D95D0C05E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2" r="26781"/>
          <a:stretch>
            <a:fillRect/>
          </a:stretch>
        </p:blipFill>
        <p:spPr>
          <a:xfrm>
            <a:off x="5281566" y="1770376"/>
            <a:ext cx="1627278" cy="26686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F829414-F663-826B-5E54-44267FCCE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6" r="30391" b="3303"/>
          <a:stretch>
            <a:fillRect/>
          </a:stretch>
        </p:blipFill>
        <p:spPr>
          <a:xfrm>
            <a:off x="7061087" y="1781073"/>
            <a:ext cx="1844427" cy="26686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E7D97ED-B6E3-203A-49A9-D01199D1D1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5" r="44049"/>
          <a:stretch>
            <a:fillRect/>
          </a:stretch>
        </p:blipFill>
        <p:spPr>
          <a:xfrm>
            <a:off x="9057757" y="1770377"/>
            <a:ext cx="1438443" cy="26686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02C7F14-5BEB-4908-5248-0C476B0A9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071" y="2650688"/>
            <a:ext cx="3629331" cy="357663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8F1B8CC-CBF4-B3A1-CC2E-F36BB09443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6" r="46585"/>
          <a:stretch>
            <a:fillRect/>
          </a:stretch>
        </p:blipFill>
        <p:spPr>
          <a:xfrm>
            <a:off x="9168302" y="4478183"/>
            <a:ext cx="1214088" cy="237981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152C81C-5DA9-C9AF-BA2D-5CC093DD6B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9" r="44592"/>
          <a:stretch>
            <a:fillRect/>
          </a:stretch>
        </p:blipFill>
        <p:spPr>
          <a:xfrm>
            <a:off x="7379784" y="4478183"/>
            <a:ext cx="1214088" cy="237981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E021EAC-D7F3-9F43-768E-F8952D5793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9" r="44592"/>
          <a:stretch>
            <a:fillRect/>
          </a:stretch>
        </p:blipFill>
        <p:spPr>
          <a:xfrm>
            <a:off x="5452943" y="4478183"/>
            <a:ext cx="1286114" cy="235583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B4933FC-5DB0-DD01-7A86-07FC622F3BCD}"/>
              </a:ext>
            </a:extLst>
          </p:cNvPr>
          <p:cNvSpPr txBox="1"/>
          <p:nvPr/>
        </p:nvSpPr>
        <p:spPr>
          <a:xfrm>
            <a:off x="4401015" y="2854712"/>
            <a:ext cx="788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古代角色动作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95149D-047B-076B-E743-57FDBFB88FAA}"/>
              </a:ext>
            </a:extLst>
          </p:cNvPr>
          <p:cNvSpPr txBox="1"/>
          <p:nvPr/>
        </p:nvSpPr>
        <p:spPr>
          <a:xfrm>
            <a:off x="4484503" y="4923038"/>
            <a:ext cx="788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现代角色动作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8821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68A6209-1CF4-DC62-F791-B32DBA43BFB9}"/>
              </a:ext>
            </a:extLst>
          </p:cNvPr>
          <p:cNvSpPr/>
          <p:nvPr/>
        </p:nvSpPr>
        <p:spPr>
          <a:xfrm>
            <a:off x="1609195" y="2939562"/>
            <a:ext cx="1082040" cy="12649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用户文本</a:t>
            </a:r>
            <a:r>
              <a:rPr lang="en-US" altLang="zh-CN" dirty="0"/>
              <a:t>/</a:t>
            </a:r>
            <a:r>
              <a:rPr lang="zh-CN" altLang="en-US" dirty="0"/>
              <a:t>图片描述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B6CF6AA-F724-707B-BDB9-48564994F563}"/>
              </a:ext>
            </a:extLst>
          </p:cNvPr>
          <p:cNvCxnSpPr>
            <a:stCxn id="3" idx="3"/>
          </p:cNvCxnSpPr>
          <p:nvPr/>
        </p:nvCxnSpPr>
        <p:spPr>
          <a:xfrm flipV="1">
            <a:off x="2691235" y="3564402"/>
            <a:ext cx="388620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745B7FAC-A533-D194-6A28-4B54295130E8}"/>
              </a:ext>
            </a:extLst>
          </p:cNvPr>
          <p:cNvSpPr/>
          <p:nvPr/>
        </p:nvSpPr>
        <p:spPr>
          <a:xfrm>
            <a:off x="3148435" y="2596662"/>
            <a:ext cx="883920" cy="1935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千问图片编辑生成</a:t>
            </a:r>
            <a:r>
              <a:rPr lang="en-US" altLang="zh-CN" dirty="0"/>
              <a:t>T-POSE</a:t>
            </a:r>
            <a:r>
              <a:rPr lang="zh-CN" altLang="en-US" dirty="0"/>
              <a:t>图片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CC404DD-0D5C-94E8-21B8-5335B55DCC1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032355" y="3564402"/>
            <a:ext cx="44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0B64A3-30C3-4A12-A51E-23FB00542854}"/>
              </a:ext>
            </a:extLst>
          </p:cNvPr>
          <p:cNvSpPr/>
          <p:nvPr/>
        </p:nvSpPr>
        <p:spPr>
          <a:xfrm>
            <a:off x="4542895" y="3008142"/>
            <a:ext cx="1280160" cy="112776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混元模型</a:t>
            </a:r>
            <a:endParaRPr lang="en-US" altLang="zh-CN" dirty="0"/>
          </a:p>
          <a:p>
            <a:pPr algn="ctr"/>
            <a:r>
              <a:rPr lang="zh-CN" altLang="en-US" dirty="0"/>
              <a:t>图生</a:t>
            </a:r>
            <a:r>
              <a:rPr lang="en-US" altLang="zh-CN" dirty="0"/>
              <a:t>3D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37B42CB-F593-D2A6-9A98-59E03207F5A9}"/>
              </a:ext>
            </a:extLst>
          </p:cNvPr>
          <p:cNvCxnSpPr/>
          <p:nvPr/>
        </p:nvCxnSpPr>
        <p:spPr>
          <a:xfrm>
            <a:off x="5899255" y="3572022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8EF8B53-E09A-681F-2A8B-F7C117FD7FDF}"/>
              </a:ext>
            </a:extLst>
          </p:cNvPr>
          <p:cNvSpPr/>
          <p:nvPr/>
        </p:nvSpPr>
        <p:spPr>
          <a:xfrm>
            <a:off x="6470755" y="3023383"/>
            <a:ext cx="1371600" cy="112775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MIA</a:t>
            </a:r>
            <a:r>
              <a:rPr lang="zh-CN" altLang="en-US" dirty="0"/>
              <a:t>自动骨骼绑定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63BD743-E6E9-753A-2DBD-79CCC2DAEF43}"/>
              </a:ext>
            </a:extLst>
          </p:cNvPr>
          <p:cNvCxnSpPr/>
          <p:nvPr/>
        </p:nvCxnSpPr>
        <p:spPr>
          <a:xfrm>
            <a:off x="7910935" y="3572022"/>
            <a:ext cx="7391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D404FED-A929-F170-5B1C-868DED8218D2}"/>
              </a:ext>
            </a:extLst>
          </p:cNvPr>
          <p:cNvSpPr/>
          <p:nvPr/>
        </p:nvSpPr>
        <p:spPr>
          <a:xfrm>
            <a:off x="8650075" y="2744279"/>
            <a:ext cx="1508760" cy="17636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返回</a:t>
            </a:r>
            <a:r>
              <a:rPr lang="en-US" altLang="zh-CN" dirty="0"/>
              <a:t>wave</a:t>
            </a:r>
            <a:r>
              <a:rPr lang="zh-CN" altLang="en-US" dirty="0"/>
              <a:t>、</a:t>
            </a:r>
            <a:r>
              <a:rPr lang="en-US" altLang="zh-CN" dirty="0"/>
              <a:t>idle</a:t>
            </a:r>
            <a:r>
              <a:rPr lang="zh-CN" altLang="en-US" dirty="0"/>
              <a:t>、</a:t>
            </a:r>
            <a:r>
              <a:rPr lang="en-US" altLang="zh-CN" dirty="0"/>
              <a:t>talk</a:t>
            </a:r>
            <a:r>
              <a:rPr lang="zh-CN" altLang="en-US" dirty="0"/>
              <a:t>三个动画进入状态机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137E26E-5287-CC9B-EBEC-E6215F9A0D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43" y="4910773"/>
            <a:ext cx="1172708" cy="175906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45F02AA-3D3A-DE29-B2B7-2B1DC2FAC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686" y="4962100"/>
            <a:ext cx="1656410" cy="165641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D906BCA-654F-6CAC-7D7E-3CF10EE0E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181" y="4532142"/>
            <a:ext cx="1930048" cy="232585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B9FC92CA-C1EB-B798-B73A-D81024CFB346}"/>
              </a:ext>
            </a:extLst>
          </p:cNvPr>
          <p:cNvSpPr txBox="1"/>
          <p:nvPr/>
        </p:nvSpPr>
        <p:spPr>
          <a:xfrm>
            <a:off x="7575524" y="4270532"/>
            <a:ext cx="1101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进入互动及点击时触发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322157-A12B-B222-C956-56DFA4406655}"/>
              </a:ext>
            </a:extLst>
          </p:cNvPr>
          <p:cNvSpPr txBox="1"/>
          <p:nvPr/>
        </p:nvSpPr>
        <p:spPr>
          <a:xfrm>
            <a:off x="9120944" y="4579615"/>
            <a:ext cx="1101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待机状态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15112F-822E-AE67-AF86-86E322EEE97E}"/>
              </a:ext>
            </a:extLst>
          </p:cNvPr>
          <p:cNvSpPr txBox="1"/>
          <p:nvPr/>
        </p:nvSpPr>
        <p:spPr>
          <a:xfrm>
            <a:off x="10544096" y="4521547"/>
            <a:ext cx="1101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说话状态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811E79E-40F9-D8FD-0621-91DCF92A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14783E-EF86-4C50-8B58-52FDD10241FD}"/>
              </a:ext>
            </a:extLst>
          </p:cNvPr>
          <p:cNvSpPr txBox="1"/>
          <p:nvPr/>
        </p:nvSpPr>
        <p:spPr>
          <a:xfrm>
            <a:off x="0" y="1011632"/>
            <a:ext cx="12192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000" b="1" dirty="0"/>
              <a:t>系统集成：</a:t>
            </a:r>
            <a:endParaRPr lang="en-US" altLang="zh-CN" sz="2000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引入图片编辑，稳定生成</a:t>
            </a:r>
            <a:r>
              <a:rPr lang="en-US" altLang="zh-CN" sz="2000" dirty="0"/>
              <a:t>T-POSE</a:t>
            </a:r>
            <a:r>
              <a:rPr lang="zh-CN" altLang="en-US" sz="2000" dirty="0"/>
              <a:t>图片</a:t>
            </a: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对生成的</a:t>
            </a:r>
            <a:r>
              <a:rPr lang="en-US" altLang="zh-CN" sz="2000" dirty="0"/>
              <a:t>T-POSE</a:t>
            </a:r>
            <a:r>
              <a:rPr lang="zh-CN" altLang="en-US" sz="2000" dirty="0"/>
              <a:t>模型使用</a:t>
            </a:r>
            <a:r>
              <a:rPr lang="en-US" altLang="zh-CN" sz="2000" dirty="0"/>
              <a:t>Make-It-Animatable </a:t>
            </a:r>
            <a:r>
              <a:rPr lang="zh-CN" altLang="en-US" sz="2000" dirty="0"/>
              <a:t>模型 实现自动骨骼绑定，无需手动绑骨</a:t>
            </a: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更新动作驱动的状态机，骨骼绑定后返回多个动作</a:t>
            </a: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完善互动页面与生成页面的语音对话功能</a:t>
            </a:r>
          </a:p>
          <a:p>
            <a:pPr algn="just">
              <a:buFont typeface="Wingdings" panose="05000000000000000000" charset="0"/>
              <a:buChar char="n"/>
            </a:pPr>
            <a:endParaRPr lang="en-US" altLang="zh-CN" sz="2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63CC1D1-FCFF-1748-1E49-E0FB5EC48F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8" r="28442"/>
          <a:stretch>
            <a:fillRect/>
          </a:stretch>
        </p:blipFill>
        <p:spPr>
          <a:xfrm>
            <a:off x="10380759" y="4776407"/>
            <a:ext cx="1183233" cy="20005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C8EBE72-CFA2-5754-DC5F-1653C616B16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1" r="28261"/>
          <a:stretch>
            <a:fillRect/>
          </a:stretch>
        </p:blipFill>
        <p:spPr>
          <a:xfrm>
            <a:off x="9000512" y="4887392"/>
            <a:ext cx="1158323" cy="193915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F3D83D1-0616-40DF-4CCA-790A584D2E2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8" r="29095"/>
          <a:stretch>
            <a:fillRect/>
          </a:stretch>
        </p:blipFill>
        <p:spPr>
          <a:xfrm>
            <a:off x="7575524" y="4870492"/>
            <a:ext cx="1146364" cy="197295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F49E4-8FAC-BF29-0E01-7513A99BD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FDB43F-5E69-0147-4C6C-D5BB3102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0872A3E-1AA0-E5FE-509A-D2A1B3E0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模型驱动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746157-1D24-9A84-0191-B0513081FA07}"/>
              </a:ext>
            </a:extLst>
          </p:cNvPr>
          <p:cNvSpPr txBox="1"/>
          <p:nvPr/>
        </p:nvSpPr>
        <p:spPr>
          <a:xfrm>
            <a:off x="0" y="1028700"/>
            <a:ext cx="1219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charset="0"/>
              <a:buChar char="n"/>
            </a:pPr>
            <a:r>
              <a:rPr lang="zh-CN" altLang="en-US" sz="2000" b="1" dirty="0"/>
              <a:t>驱动方法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预先设计语义的面部</a:t>
            </a:r>
            <a:r>
              <a:rPr lang="zh-CN" altLang="en-US" sz="2000" b="1" dirty="0"/>
              <a:t>控制器基底</a:t>
            </a:r>
            <a:endParaRPr lang="en-US" altLang="zh-CN" sz="2000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通过前端多视角截图并进行使用</a:t>
            </a:r>
            <a:r>
              <a:rPr lang="en-US" altLang="zh-CN" dirty="0" err="1"/>
              <a:t>MediaPipe</a:t>
            </a:r>
            <a:r>
              <a:rPr lang="en-US" altLang="zh-CN" dirty="0"/>
              <a:t> Face </a:t>
            </a:r>
            <a:r>
              <a:rPr lang="en-US" altLang="zh-CN" dirty="0" err="1"/>
              <a:t>Landmarker</a:t>
            </a:r>
            <a:r>
              <a:rPr lang="zh-CN" altLang="en-US" sz="2000" dirty="0"/>
              <a:t>面部特征识别确定面部特征在</a:t>
            </a:r>
            <a:r>
              <a:rPr lang="zh-CN" altLang="en-US" sz="2000" b="1" dirty="0"/>
              <a:t>空间点位</a:t>
            </a:r>
            <a:endParaRPr lang="en-US" altLang="zh-CN" sz="2000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将带有语义参数的面部控制器放置在标有点位的</a:t>
            </a:r>
            <a:r>
              <a:rPr lang="en-US" altLang="zh-CN" sz="2000" dirty="0"/>
              <a:t>3D</a:t>
            </a:r>
            <a:r>
              <a:rPr lang="zh-CN" altLang="en-US" sz="2000" dirty="0"/>
              <a:t>网格中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设计简单的驱动算法</a:t>
            </a:r>
            <a:r>
              <a:rPr lang="zh-CN" altLang="en-US" sz="2000" b="1" dirty="0"/>
              <a:t>接收</a:t>
            </a:r>
            <a:r>
              <a:rPr lang="en-US" altLang="zh-CN" sz="2000" b="1" dirty="0"/>
              <a:t>viseme</a:t>
            </a:r>
            <a:r>
              <a:rPr lang="zh-CN" altLang="en-US" sz="2000" b="1" dirty="0"/>
              <a:t>参数</a:t>
            </a:r>
            <a:r>
              <a:rPr lang="zh-CN" altLang="en-US" sz="2000" dirty="0"/>
              <a:t>实现驱动</a:t>
            </a:r>
            <a:endParaRPr lang="en-US" altLang="zh-CN" sz="2000" b="1" dirty="0"/>
          </a:p>
          <a:p>
            <a:pPr algn="just">
              <a:buFont typeface="Wingdings" panose="05000000000000000000" charset="0"/>
              <a:buChar char="n"/>
            </a:pPr>
            <a:r>
              <a:rPr lang="zh-CN" altLang="en-US" sz="2000" b="1" dirty="0"/>
              <a:t>工作流程</a:t>
            </a:r>
            <a:r>
              <a:rPr lang="zh-CN" altLang="en-US" sz="2000" dirty="0"/>
              <a:t>：角色模型 </a:t>
            </a:r>
            <a:r>
              <a:rPr lang="en-US" altLang="zh-CN" sz="2000" dirty="0"/>
              <a:t>-&gt; </a:t>
            </a:r>
            <a:r>
              <a:rPr lang="zh-CN" altLang="en-US" sz="2000" dirty="0"/>
              <a:t>头部截图 </a:t>
            </a:r>
            <a:r>
              <a:rPr lang="en-US" altLang="zh-CN" sz="2000" dirty="0"/>
              <a:t>-&gt; </a:t>
            </a:r>
            <a:r>
              <a:rPr lang="zh-CN" altLang="en-US" sz="2000" dirty="0"/>
              <a:t>面部检测 </a:t>
            </a:r>
            <a:r>
              <a:rPr lang="en-US" altLang="zh-CN" sz="2000" dirty="0"/>
              <a:t>-&gt; </a:t>
            </a:r>
            <a:r>
              <a:rPr lang="en-US" altLang="zh-CN" sz="2000" dirty="0" err="1"/>
              <a:t>2D</a:t>
            </a:r>
            <a:r>
              <a:rPr lang="en-US" altLang="zh-CN" sz="2000" dirty="0"/>
              <a:t> </a:t>
            </a:r>
            <a:r>
              <a:rPr lang="zh-CN" altLang="en-US" sz="2000" dirty="0"/>
              <a:t>到 </a:t>
            </a:r>
            <a:r>
              <a:rPr lang="en-US" altLang="zh-CN" sz="2000" dirty="0"/>
              <a:t>3D </a:t>
            </a:r>
            <a:r>
              <a:rPr lang="zh-CN" altLang="en-US" sz="2000" dirty="0"/>
              <a:t>回投 </a:t>
            </a:r>
            <a:r>
              <a:rPr lang="en-US" altLang="zh-CN" sz="2000" dirty="0"/>
              <a:t>-&gt; </a:t>
            </a:r>
            <a:r>
              <a:rPr lang="zh-CN" altLang="en-US" sz="2000" dirty="0"/>
              <a:t>面部锚点 </a:t>
            </a:r>
            <a:r>
              <a:rPr lang="en-US" altLang="zh-CN" sz="2000" dirty="0"/>
              <a:t>-&gt; </a:t>
            </a:r>
            <a:r>
              <a:rPr lang="zh-CN" altLang="en-US" sz="2000" dirty="0"/>
              <a:t>控制器基底 </a:t>
            </a:r>
            <a:r>
              <a:rPr lang="en-US" altLang="zh-CN" sz="2000" dirty="0"/>
              <a:t>-&gt; </a:t>
            </a:r>
            <a:r>
              <a:rPr lang="zh-CN" altLang="en-US" sz="2000" dirty="0"/>
              <a:t>语义参数 </a:t>
            </a:r>
            <a:r>
              <a:rPr lang="en-US" altLang="zh-CN" sz="2000" dirty="0"/>
              <a:t>-&gt; </a:t>
            </a:r>
            <a:r>
              <a:rPr lang="zh-CN" altLang="en-US" sz="2000" dirty="0"/>
              <a:t>角色驱动参数 </a:t>
            </a:r>
            <a:r>
              <a:rPr lang="en-US" altLang="zh-CN" sz="2000" dirty="0"/>
              <a:t>-&gt; geometry fallback</a:t>
            </a:r>
          </a:p>
          <a:p>
            <a:pPr algn="just">
              <a:buFont typeface="Wingdings" panose="05000000000000000000" charset="0"/>
              <a:buChar char="n"/>
            </a:pPr>
            <a:r>
              <a:rPr lang="zh-CN" altLang="en-US" sz="2000" b="1" dirty="0"/>
              <a:t>存在问题：</a:t>
            </a:r>
            <a:r>
              <a:rPr lang="zh-CN" altLang="en-US" sz="2000" dirty="0"/>
              <a:t>目前偏向真实角色的人脸有效，卡通形象效果不好；仅实现嘴部的简单驱动还不涉及更多丰富表情；对于头部大幅晃动的动作效果不好</a:t>
            </a:r>
            <a:endParaRPr lang="en-US" altLang="zh-CN" sz="2000" dirty="0"/>
          </a:p>
          <a:p>
            <a:pPr algn="just"/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75A8BB-29B2-FF65-88C4-EE0B1D203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71" y="4057187"/>
            <a:ext cx="2005822" cy="28008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EDDDDE-2E2E-2D89-3E53-6A33E7DD0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41" y="4057187"/>
            <a:ext cx="1782334" cy="28008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84B63CB-7939-1C49-53A7-1D9F93E88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8" r="28442"/>
          <a:stretch>
            <a:fillRect/>
          </a:stretch>
        </p:blipFill>
        <p:spPr>
          <a:xfrm>
            <a:off x="5864681" y="3687901"/>
            <a:ext cx="1874970" cy="31700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253C18A-B7F9-74E8-C252-FD60D38F4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30" t="9955" r="36488" b="64718"/>
          <a:stretch>
            <a:fillRect/>
          </a:stretch>
        </p:blipFill>
        <p:spPr>
          <a:xfrm>
            <a:off x="8081998" y="3963876"/>
            <a:ext cx="3227951" cy="260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63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5C5F4-287D-CB8A-85E5-BECB43D8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0F6BA-DE01-D3CD-3DEC-14460312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步骤四：多模态情绪感知与情绪化回复生成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EC915F-6721-E644-4557-F1EC90FF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7659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C0D28B49-ADBB-C512-7213-2DA13F4FFBBC}"/>
              </a:ext>
            </a:extLst>
          </p:cNvPr>
          <p:cNvSpPr txBox="1"/>
          <p:nvPr/>
        </p:nvSpPr>
        <p:spPr>
          <a:xfrm>
            <a:off x="0" y="1028700"/>
            <a:ext cx="11743055" cy="5829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研究描述：围绕虚拟陪伴场景，研究用户情绪的多模态感知方法研究步骤：</a:t>
            </a:r>
            <a:endParaRPr lang="en-US" altLang="zh-CN" sz="2000" b="1" dirty="0">
              <a:sym typeface="+mn-ea"/>
            </a:endParaRPr>
          </a:p>
          <a:p>
            <a:pPr lvl="2">
              <a:lnSpc>
                <a:spcPct val="100000"/>
              </a:lnSpc>
              <a:buFont typeface="Wingdings" panose="05000000000000000000" charset="0"/>
              <a:buChar char="n"/>
            </a:pPr>
            <a:r>
              <a:rPr kumimoji="1" lang="zh-CN" altLang="en-US" sz="2000" dirty="0"/>
              <a:t>调研文本、语音、表情三类情绪识别方法，分析各模态的优势与局限。</a:t>
            </a:r>
          </a:p>
          <a:p>
            <a:pPr lvl="2">
              <a:lnSpc>
                <a:spcPct val="100000"/>
              </a:lnSpc>
              <a:buFont typeface="Wingdings" panose="05000000000000000000" charset="0"/>
              <a:buChar char="n"/>
            </a:pPr>
            <a:r>
              <a:rPr kumimoji="1" lang="zh-CN" altLang="en-US" sz="2000" dirty="0"/>
              <a:t>结合项目场景，设计“前端采集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后端识别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对话调节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语音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动作反馈”的整体流程。</a:t>
            </a:r>
          </a:p>
          <a:p>
            <a:pPr lvl="2">
              <a:lnSpc>
                <a:spcPct val="100000"/>
              </a:lnSpc>
              <a:buFont typeface="Wingdings" panose="05000000000000000000" charset="0"/>
              <a:buChar char="n"/>
            </a:pPr>
            <a:r>
              <a:rPr kumimoji="1" lang="zh-CN" altLang="en-US" sz="2000" dirty="0"/>
              <a:t>实现表情识别、语音情绪识别与文本情绪补充分析，并将识别结果传入回复生成模块。</a:t>
            </a:r>
            <a:endParaRPr lang="en-US" altLang="zh-CN" sz="2000" b="1" dirty="0">
              <a:sym typeface="+mn-ea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ym typeface="+mn-ea"/>
              </a:rPr>
              <a:t>研究结论：</a:t>
            </a:r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kumimoji="1" lang="zh-CN" altLang="en-US" sz="2000" dirty="0"/>
              <a:t>当前系统已实现表情、语音、文本参与的多模态情绪感知链路。</a:t>
            </a:r>
            <a:endParaRPr kumimoji="1" lang="en-US" altLang="zh-CN" sz="2000" dirty="0"/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r>
              <a:rPr kumimoji="1" lang="zh-CN" altLang="en-US" sz="2000" dirty="0"/>
              <a:t>目前仅完成对于文本语音视频的情绪识别，对于如何影响驱动还有待研究</a:t>
            </a:r>
            <a:endParaRPr kumimoji="1" lang="en-US" altLang="zh-CN" sz="2000" dirty="0"/>
          </a:p>
          <a:p>
            <a:pPr lvl="2" fontAlgn="auto">
              <a:lnSpc>
                <a:spcPct val="100000"/>
              </a:lnSpc>
              <a:buFont typeface="Wingdings" panose="05000000000000000000" charset="0"/>
              <a:buChar char="n"/>
            </a:pPr>
            <a:endParaRPr lang="zh-CN" altLang="en-US" sz="2000" dirty="0">
              <a:sym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5BE249-D019-C137-404B-D5CC95C6695B}"/>
              </a:ext>
            </a:extLst>
          </p:cNvPr>
          <p:cNvSpPr/>
          <p:nvPr/>
        </p:nvSpPr>
        <p:spPr>
          <a:xfrm>
            <a:off x="396240" y="3895726"/>
            <a:ext cx="5699760" cy="279209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A6A059-BDBB-91C0-65F2-50D4321AD540}"/>
              </a:ext>
            </a:extLst>
          </p:cNvPr>
          <p:cNvSpPr/>
          <p:nvPr/>
        </p:nvSpPr>
        <p:spPr>
          <a:xfrm>
            <a:off x="6223635" y="3895092"/>
            <a:ext cx="5806440" cy="279209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0A21CB-CEED-874E-9275-C0DA982C3080}"/>
              </a:ext>
            </a:extLst>
          </p:cNvPr>
          <p:cNvSpPr txBox="1"/>
          <p:nvPr/>
        </p:nvSpPr>
        <p:spPr>
          <a:xfrm>
            <a:off x="877229" y="4283661"/>
            <a:ext cx="4040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多模态情绪感知流程图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dirty="0"/>
              <a:t>文本</a:t>
            </a:r>
            <a:r>
              <a:rPr lang="en-US" altLang="zh-CN" dirty="0"/>
              <a:t>/</a:t>
            </a:r>
            <a:r>
              <a:rPr lang="zh-CN" altLang="en-US" dirty="0"/>
              <a:t>语音</a:t>
            </a:r>
            <a:r>
              <a:rPr lang="en-US" altLang="zh-CN" dirty="0"/>
              <a:t>/</a:t>
            </a:r>
            <a:r>
              <a:rPr lang="zh-CN" altLang="en-US" dirty="0"/>
              <a:t>表情输入 </a:t>
            </a:r>
            <a:r>
              <a:rPr lang="en-US" altLang="zh-CN" dirty="0"/>
              <a:t>-&gt; </a:t>
            </a:r>
            <a:r>
              <a:rPr lang="zh-CN" altLang="en-US" dirty="0"/>
              <a:t>情绪识别 </a:t>
            </a:r>
            <a:r>
              <a:rPr lang="en-US" altLang="zh-CN" dirty="0"/>
              <a:t>-&gt; </a:t>
            </a:r>
            <a:r>
              <a:rPr lang="zh-CN" altLang="en-US" dirty="0"/>
              <a:t>情绪标签</a:t>
            </a:r>
            <a:r>
              <a:rPr lang="en-US" altLang="zh-CN" dirty="0"/>
              <a:t>/</a:t>
            </a:r>
            <a:r>
              <a:rPr lang="zh-CN" altLang="en-US" dirty="0"/>
              <a:t>强度 </a:t>
            </a:r>
            <a:r>
              <a:rPr lang="en-US" altLang="zh-CN" dirty="0"/>
              <a:t>-&gt; </a:t>
            </a:r>
            <a:r>
              <a:rPr lang="zh-CN" altLang="en-US" dirty="0"/>
              <a:t>回复生成 </a:t>
            </a:r>
            <a:r>
              <a:rPr lang="en-US" altLang="zh-CN" dirty="0"/>
              <a:t>-&gt; TTS/</a:t>
            </a:r>
            <a:r>
              <a:rPr lang="zh-CN" altLang="en-US" dirty="0"/>
              <a:t>动作输出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0FD64E-B5CB-EA83-0343-4A392880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135" y="4106517"/>
            <a:ext cx="1884663" cy="25514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2CEA87-CC63-A978-DDA6-32F422680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789" y="4042451"/>
            <a:ext cx="1562951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42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20A5-43EA-0331-4BE8-9606F21A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66A05-16AB-9C23-D86C-F1FD8290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zh-CN" dirty="0"/>
              <a:t>步骤</a:t>
            </a:r>
            <a:r>
              <a:rPr lang="zh-CN" altLang="en-US" dirty="0"/>
              <a:t>四</a:t>
            </a:r>
            <a:r>
              <a:rPr lang="zh-CN" altLang="zh-CN" dirty="0"/>
              <a:t>：</a:t>
            </a:r>
            <a:r>
              <a:rPr lang="zh-CN" altLang="en-US" dirty="0"/>
              <a:t>多模态情绪感知与回复及动作生成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353219-139C-6862-B0F0-3C5C3CE5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2FC42A1A-D9EF-87C2-4D90-BAB5D9E4A954}"/>
              </a:ext>
            </a:extLst>
          </p:cNvPr>
          <p:cNvSpPr txBox="1"/>
          <p:nvPr/>
        </p:nvSpPr>
        <p:spPr>
          <a:xfrm>
            <a:off x="0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endParaRPr lang="zh-CN" altLang="en-US" sz="2400" b="1" dirty="0"/>
          </a:p>
          <a:p>
            <a:pPr marL="0" indent="0" algn="just">
              <a:buNone/>
            </a:pPr>
            <a:r>
              <a:rPr lang="en-US" altLang="zh-CN" sz="2400" dirty="0"/>
              <a:t>	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24B811D9-F6AF-BAF1-F838-7338F63E007C}"/>
              </a:ext>
            </a:extLst>
          </p:cNvPr>
          <p:cNvSpPr txBox="1"/>
          <p:nvPr/>
        </p:nvSpPr>
        <p:spPr>
          <a:xfrm>
            <a:off x="169653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研究多模态情绪感知调研信息</a:t>
            </a:r>
            <a:endParaRPr lang="en-US" altLang="zh-CN" sz="2400" b="1" dirty="0"/>
          </a:p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分析 了</a:t>
            </a:r>
            <a:r>
              <a:rPr lang="en-US" altLang="zh-CN" sz="2400" b="1" dirty="0"/>
              <a:t>MISA</a:t>
            </a:r>
            <a:r>
              <a:rPr lang="en-US" altLang="zh-CN" sz="2400" dirty="0"/>
              <a:t> (ACM MM 2020)</a:t>
            </a:r>
            <a:r>
              <a:rPr lang="zh-CN" altLang="en-US" sz="2400" dirty="0"/>
              <a:t>、</a:t>
            </a:r>
            <a:r>
              <a:rPr lang="en-US" altLang="zh-CN" sz="2400" b="1" dirty="0"/>
              <a:t>Emotion-</a:t>
            </a:r>
            <a:r>
              <a:rPr lang="en-US" altLang="zh-CN" sz="2400" b="1" dirty="0" err="1"/>
              <a:t>LLaMA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NeurIPS</a:t>
            </a:r>
            <a:r>
              <a:rPr lang="en-US" altLang="zh-CN" sz="2400" dirty="0"/>
              <a:t> 2024) </a:t>
            </a:r>
            <a:r>
              <a:rPr lang="zh-CN" altLang="en-US" sz="2400" dirty="0"/>
              <a:t>等主流多模态模型，以及 </a:t>
            </a:r>
            <a:r>
              <a:rPr lang="en-US" altLang="zh-CN" sz="2400" b="1" dirty="0"/>
              <a:t>MAE-DFER</a:t>
            </a:r>
            <a:r>
              <a:rPr lang="en-US" altLang="zh-CN" sz="2400" dirty="0"/>
              <a:t> (MM '23) </a:t>
            </a:r>
            <a:r>
              <a:rPr lang="zh-CN" altLang="en-US" sz="2400" dirty="0"/>
              <a:t>微表情识别技术</a:t>
            </a:r>
            <a:endParaRPr lang="en-US" altLang="zh-CN" sz="2400" dirty="0"/>
          </a:p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分析各种模型的应用场景以及了解原理</a:t>
            </a:r>
            <a:endParaRPr lang="en-US" altLang="zh-CN" sz="2400" b="1" dirty="0"/>
          </a:p>
          <a:p>
            <a:pPr marL="0" indent="0" algn="just">
              <a:buNone/>
            </a:pPr>
            <a:r>
              <a:rPr lang="en-US" altLang="zh-CN" sz="2400" dirty="0"/>
              <a:t>	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8A224D-6C95-13A6-1F62-1B0562858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679" y="1330546"/>
            <a:ext cx="4965808" cy="256777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084AFB-54F9-7714-19CA-FBC8C7D725DD}"/>
              </a:ext>
            </a:extLst>
          </p:cNvPr>
          <p:cNvSpPr txBox="1"/>
          <p:nvPr/>
        </p:nvSpPr>
        <p:spPr>
          <a:xfrm>
            <a:off x="7350824" y="3898316"/>
            <a:ext cx="2909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/>
              <a:t>DialogueRNN</a:t>
            </a:r>
            <a:r>
              <a:rPr lang="en-US" altLang="zh-CN" dirty="0"/>
              <a:t> </a:t>
            </a:r>
            <a:r>
              <a:rPr lang="en-US" altLang="zh-CN" sz="1200" b="1" dirty="0"/>
              <a:t>AAAI 2019 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5197326-75E2-9319-D0F4-1473AB48A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317" y="4338075"/>
            <a:ext cx="5100284" cy="23244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18290F7-95AD-55F4-4CE0-42A13FBB9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98" y="4219219"/>
            <a:ext cx="5552894" cy="24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75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4DD8-BCA1-27F3-8AF7-0CD6DE77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6DB30-C09A-4002-7B73-A41DB9FC2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zh-CN" dirty="0"/>
              <a:t>步骤</a:t>
            </a:r>
            <a:r>
              <a:rPr lang="zh-CN" altLang="en-US" dirty="0"/>
              <a:t>四</a:t>
            </a:r>
            <a:r>
              <a:rPr lang="zh-CN" altLang="zh-CN" dirty="0"/>
              <a:t>：</a:t>
            </a:r>
            <a:r>
              <a:rPr lang="zh-CN" altLang="en-US" dirty="0"/>
              <a:t>多模态情绪感知与回复及动作生成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AD0478-849A-6A58-3940-A7596635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AB43640E-6E9F-BD48-B79F-3EA780FC6C90}"/>
              </a:ext>
            </a:extLst>
          </p:cNvPr>
          <p:cNvSpPr txBox="1"/>
          <p:nvPr/>
        </p:nvSpPr>
        <p:spPr>
          <a:xfrm>
            <a:off x="0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endParaRPr lang="zh-CN" altLang="en-US" sz="2400" b="1" dirty="0"/>
          </a:p>
          <a:p>
            <a:pPr marL="0" indent="0" algn="just">
              <a:buNone/>
            </a:pPr>
            <a:r>
              <a:rPr lang="en-US" altLang="zh-CN" sz="2400" dirty="0"/>
              <a:t>	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5B1691F1-24C2-272C-DEF2-1175ADDEB793}"/>
              </a:ext>
            </a:extLst>
          </p:cNvPr>
          <p:cNvSpPr txBox="1"/>
          <p:nvPr/>
        </p:nvSpPr>
        <p:spPr>
          <a:xfrm>
            <a:off x="169653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b="1" dirty="0"/>
              <a:t>研究多模态情绪感知调研信息</a:t>
            </a:r>
            <a:endParaRPr lang="en-US" altLang="zh-CN" sz="2400" b="1" dirty="0"/>
          </a:p>
          <a:p>
            <a:pPr marL="0" indent="0" algn="just">
              <a:buNone/>
            </a:pPr>
            <a:r>
              <a:rPr lang="en-US" altLang="zh-CN" sz="2400" dirty="0"/>
              <a:t>	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4C2E643-8393-2091-C530-4B8BD5B8A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178934"/>
              </p:ext>
            </p:extLst>
          </p:nvPr>
        </p:nvGraphicFramePr>
        <p:xfrm>
          <a:off x="635580" y="1553967"/>
          <a:ext cx="10507398" cy="52008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64504">
                  <a:extLst>
                    <a:ext uri="{9D8B030D-6E8A-4147-A177-3AD203B41FA5}">
                      <a16:colId xmlns:a16="http://schemas.microsoft.com/office/drawing/2014/main" val="4011420687"/>
                    </a:ext>
                  </a:extLst>
                </a:gridCol>
                <a:gridCol w="1469572">
                  <a:extLst>
                    <a:ext uri="{9D8B030D-6E8A-4147-A177-3AD203B41FA5}">
                      <a16:colId xmlns:a16="http://schemas.microsoft.com/office/drawing/2014/main" val="1910474592"/>
                    </a:ext>
                  </a:extLst>
                </a:gridCol>
                <a:gridCol w="2579914">
                  <a:extLst>
                    <a:ext uri="{9D8B030D-6E8A-4147-A177-3AD203B41FA5}">
                      <a16:colId xmlns:a16="http://schemas.microsoft.com/office/drawing/2014/main" val="4071365591"/>
                    </a:ext>
                  </a:extLst>
                </a:gridCol>
                <a:gridCol w="5193408">
                  <a:extLst>
                    <a:ext uri="{9D8B030D-6E8A-4147-A177-3AD203B41FA5}">
                      <a16:colId xmlns:a16="http://schemas.microsoft.com/office/drawing/2014/main" val="1665635376"/>
                    </a:ext>
                  </a:extLst>
                </a:gridCol>
              </a:tblGrid>
              <a:tr h="3147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模态场景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具体形式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涉及技术</a:t>
                      </a:r>
                      <a:r>
                        <a:rPr lang="en-US" altLang="zh-CN" sz="1600" b="1" dirty="0">
                          <a:solidFill>
                            <a:srgbClr val="1F1F1F"/>
                          </a:solidFill>
                          <a:effectLst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模型 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本项目启发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572326"/>
                  </a:ext>
                </a:extLst>
              </a:tr>
              <a:tr h="776743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200" b="1" dirty="0">
                          <a:solidFill>
                            <a:srgbClr val="1F1F1F"/>
                          </a:solidFill>
                          <a:effectLst/>
                        </a:rPr>
                        <a:t>1. </a:t>
                      </a: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文本模态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对话脚本 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Emotion-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</a:rPr>
                        <a:t>LLaMA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2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MISA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语义理解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：作为情绪识别的“骨架”。利用 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</a:rPr>
                        <a:t>LLM 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分析对话中的显性语义（说了什么）和上下文逻辑。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2067"/>
                  </a:ext>
                </a:extLst>
              </a:tr>
              <a:tr h="580346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歌词与风格描述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SongGen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 / </a:t>
                      </a: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ECSG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风格引导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：参考歌曲生成中的 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</a:rPr>
                        <a:t>Prompt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（如“悲伤的旋律”），用于控制虚拟人回复的语体风格。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85142"/>
                  </a:ext>
                </a:extLst>
              </a:tr>
              <a:tr h="776743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200" b="1" dirty="0">
                          <a:solidFill>
                            <a:srgbClr val="1F1F1F"/>
                          </a:solidFill>
                          <a:effectLst/>
                        </a:rPr>
                        <a:t>2. </a:t>
                      </a: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音频模态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人声韵律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Emotion-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</a:rPr>
                        <a:t>LLaMA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 (Audio Encoder)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2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Wav2Vec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语气感知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：提取音高 、响度 和停顿。识别“反语”（如语气生硬的“谢谢”）。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930319"/>
                  </a:ext>
                </a:extLst>
              </a:tr>
              <a:tr h="580346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音乐与参考音频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ECSG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 (Audio Prompt)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生成控制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：借鉴其</a:t>
                      </a:r>
                      <a:r>
                        <a:rPr lang="en-US" altLang="zh-CN" sz="1200" b="1" dirty="0">
                          <a:solidFill>
                            <a:srgbClr val="1F1F1F"/>
                          </a:solidFill>
                          <a:effectLst/>
                        </a:rPr>
                        <a:t>Logit Steering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技术，将音频的情绪特征映射为动作生成的驱动参数（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</a:rPr>
                        <a:t>Arousal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值）。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543281"/>
                  </a:ext>
                </a:extLst>
              </a:tr>
              <a:tr h="776743">
                <a:tc rowSpan="3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200" b="1" dirty="0">
                          <a:solidFill>
                            <a:srgbClr val="1F1F1F"/>
                          </a:solidFill>
                          <a:effectLst/>
                        </a:rPr>
                        <a:t>3. </a:t>
                      </a: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视频模态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宏观面部表情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MISA (Visual Encoder)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2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ResNet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 Features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显性情绪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：识别常规的大幅度表情（大笑、痛哭），用于基础交互判断。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206"/>
                  </a:ext>
                </a:extLst>
              </a:tr>
              <a:tr h="776743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微表情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MAE-DFER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2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CASME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 II Dataset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隐性情绪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</a:t>
                      </a: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核心亮点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。捕捉 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</a:rPr>
                        <a:t>&lt;</a:t>
                      </a:r>
                      <a:r>
                        <a:rPr lang="en-US" altLang="zh-CN" sz="1200" dirty="0" err="1">
                          <a:solidFill>
                            <a:srgbClr val="1F1F1F"/>
                          </a:solidFill>
                          <a:effectLst/>
                        </a:rPr>
                        <a:t>200ms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的面部肌肉颤动（如压抑的嘴角抽动），用于检测用户伪装情绪。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59798"/>
                  </a:ext>
                </a:extLst>
              </a:tr>
              <a:tr h="580346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肢体与头部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IEMOCAP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 (</a:t>
                      </a: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</a:rPr>
                        <a:t>MoCap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 Data)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</a:rPr>
                        <a:t>动作驱动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：利用 </a:t>
                      </a:r>
                      <a:r>
                        <a:rPr lang="en-US" altLang="zh-CN" sz="1200" dirty="0" err="1">
                          <a:solidFill>
                            <a:srgbClr val="1F1F1F"/>
                          </a:solidFill>
                          <a:effectLst/>
                        </a:rPr>
                        <a:t>IEMOCAP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</a:rPr>
                        <a:t>中的动捕数据，训练从“音频情绪”到“肢体动作”的映射模型。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055" marR="41055" marT="27370" marB="2737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14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723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39E4-51B2-67A5-E8A6-80B8CFC3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C28C4-9383-120A-4672-5863D494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zh-CN" dirty="0"/>
              <a:t>步骤</a:t>
            </a:r>
            <a:r>
              <a:rPr lang="zh-CN" altLang="en-US" dirty="0"/>
              <a:t>四</a:t>
            </a:r>
            <a:r>
              <a:rPr lang="zh-CN" altLang="zh-CN" dirty="0"/>
              <a:t>：</a:t>
            </a:r>
            <a:r>
              <a:rPr lang="zh-CN" altLang="en-US" dirty="0"/>
              <a:t>多模态情绪感知与回复及动作生成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836F9C-DFD0-BDED-A4C6-2A251ABC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0489F72C-2E2A-5346-E7A9-0FA94FFCEAD6}"/>
              </a:ext>
            </a:extLst>
          </p:cNvPr>
          <p:cNvSpPr txBox="1"/>
          <p:nvPr/>
        </p:nvSpPr>
        <p:spPr>
          <a:xfrm>
            <a:off x="169652" y="1196751"/>
            <a:ext cx="11710113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b="1" dirty="0"/>
              <a:t>系统集成</a:t>
            </a:r>
            <a:endParaRPr lang="en-US" altLang="zh-CN" b="1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前端通过摄像头采集表情图像，通过麦克风采集语音信号，并保留文本输入内容。</a:t>
            </a: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后端对图像进行人脸关键点</a:t>
            </a:r>
            <a:r>
              <a:rPr lang="en-US" altLang="zh-CN" sz="2000" dirty="0"/>
              <a:t>/</a:t>
            </a:r>
            <a:r>
              <a:rPr lang="zh-CN" altLang="en-US" sz="2000" dirty="0"/>
              <a:t>表情识别，对语音进行转写和声学特征分析，对文本进行情感倾向补充判断。</a:t>
            </a:r>
          </a:p>
          <a:p>
            <a:pPr lvl="1" algn="just">
              <a:buFont typeface="Wingdings" panose="05000000000000000000" charset="0"/>
              <a:buChar char="n"/>
            </a:pPr>
            <a:r>
              <a:rPr lang="zh-CN" altLang="en-US" sz="2000" dirty="0"/>
              <a:t>系统输出统一的情绪标签，如“开心、难过、疲惫、感激、平静”等，供后续对话模块调用。</a:t>
            </a:r>
            <a:r>
              <a:rPr lang="en-US" altLang="zh-CN" sz="2400" dirty="0"/>
              <a:t>	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3266F1-383D-EF79-AA4C-0333B5AF3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98" y="4533852"/>
            <a:ext cx="1908943" cy="18302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7008B27-A673-4CBE-4C82-D800E6067E63}"/>
              </a:ext>
            </a:extLst>
          </p:cNvPr>
          <p:cNvSpPr txBox="1"/>
          <p:nvPr/>
        </p:nvSpPr>
        <p:spPr>
          <a:xfrm>
            <a:off x="1216505" y="3480330"/>
            <a:ext cx="256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可以通过摄像头以及音频采集，判断情绪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CBDAA45-3BD4-4570-4D9B-CF2599130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942" y="3131555"/>
            <a:ext cx="2286736" cy="36538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1AA94CA-B789-E464-413F-317B3D158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588" y="3227045"/>
            <a:ext cx="2446788" cy="35303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7896C1B-66FB-1F25-E08C-7A877965DF1C}"/>
              </a:ext>
            </a:extLst>
          </p:cNvPr>
          <p:cNvSpPr txBox="1"/>
          <p:nvPr/>
        </p:nvSpPr>
        <p:spPr>
          <a:xfrm>
            <a:off x="6403152" y="2689662"/>
            <a:ext cx="375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支持导出近期情绪与训练报告</a:t>
            </a:r>
          </a:p>
        </p:txBody>
      </p:sp>
    </p:spTree>
    <p:extLst>
      <p:ext uri="{BB962C8B-B14F-4D97-AF65-F5344CB8AC3E}">
        <p14:creationId xmlns:p14="http://schemas.microsoft.com/office/powerpoint/2010/main" val="1657331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8A4A-7D8A-28C8-0F72-231AB2725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BE964-D406-AB06-792F-3632C288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后续计划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72F82-C348-D0B5-8090-273EF644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6E2C83AE-8DDF-F46E-EFC9-B43CA597D25E}"/>
              </a:ext>
            </a:extLst>
          </p:cNvPr>
          <p:cNvSpPr txBox="1"/>
          <p:nvPr/>
        </p:nvSpPr>
        <p:spPr>
          <a:xfrm>
            <a:off x="0" y="1196751"/>
            <a:ext cx="5804452" cy="5661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endParaRPr lang="zh-CN" altLang="en-US" sz="2400" b="1" dirty="0"/>
          </a:p>
          <a:p>
            <a:pPr marL="0" indent="0" algn="just">
              <a:buNone/>
            </a:pPr>
            <a:r>
              <a:rPr lang="en-US" altLang="zh-C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02102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16A0-4473-A0A0-0411-736207568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5135B-28B3-92DD-2D86-73A34879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zh-CN" altLang="en-US" dirty="0"/>
              <a:t>实验过程及结论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9DB8D2-2820-25DD-FBD6-15F08871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112" y="6651619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26" name="内容占位符 4">
            <a:extLst>
              <a:ext uri="{FF2B5EF4-FFF2-40B4-BE49-F238E27FC236}">
                <a16:creationId xmlns:a16="http://schemas.microsoft.com/office/drawing/2014/main" id="{C3C60FB0-E64B-D5C9-BEA3-AAC899777857}"/>
              </a:ext>
            </a:extLst>
          </p:cNvPr>
          <p:cNvSpPr txBox="1"/>
          <p:nvPr/>
        </p:nvSpPr>
        <p:spPr>
          <a:xfrm>
            <a:off x="-83284" y="1161659"/>
            <a:ext cx="12019280" cy="2011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charset="0"/>
              <a:buChar char="n"/>
            </a:pPr>
            <a:r>
              <a:rPr lang="zh-CN" altLang="en-US" sz="2400" dirty="0"/>
              <a:t>本项目</a:t>
            </a:r>
          </a:p>
          <a:p>
            <a:pPr lvl="1" algn="just">
              <a:buFont typeface="Wingdings" panose="05000000000000000000" charset="0"/>
              <a:buChar char="n"/>
            </a:pPr>
            <a:endParaRPr lang="en-US" altLang="zh-CN" sz="2000" dirty="0"/>
          </a:p>
          <a:p>
            <a:pPr lvl="1" algn="just">
              <a:buFont typeface="Wingdings" panose="05000000000000000000" charset="0"/>
              <a:buChar char="n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3139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414001" y="3262479"/>
            <a:ext cx="5556326" cy="1508067"/>
          </a:xfrm>
        </p:spPr>
        <p:txBody>
          <a:bodyPr/>
          <a:lstStyle/>
          <a:p>
            <a:r>
              <a:rPr lang="zh-CN" altLang="en-US" dirty="0"/>
              <a:t>姓名</a:t>
            </a:r>
            <a:br>
              <a:rPr lang="en-US" altLang="zh-CN" dirty="0"/>
            </a:br>
            <a:r>
              <a:rPr lang="en-US" altLang="zh-CN" dirty="0" err="1"/>
              <a:t>xxx@mail.sdu.edu.cn</a:t>
            </a:r>
            <a:endParaRPr lang="zh-CN" altLang="en-US" dirty="0"/>
          </a:p>
        </p:txBody>
      </p:sp>
      <p:pic>
        <p:nvPicPr>
          <p:cNvPr id="16" name="图片占位符 96" descr="C:\Users\Administrator\Desktop\山东大学\图片\d28895ba80cc1d17e92a4445f8dcb0c.jpgd28895ba80cc1d17e92a4445f8dcb0c"/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344505" y="-1"/>
            <a:ext cx="5302885" cy="3667306"/>
          </a:xfrm>
        </p:spPr>
      </p:pic>
      <p:cxnSp>
        <p:nvCxnSpPr>
          <p:cNvPr id="3" name="直接连接符 2"/>
          <p:cNvCxnSpPr/>
          <p:nvPr/>
        </p:nvCxnSpPr>
        <p:spPr>
          <a:xfrm>
            <a:off x="6414001" y="4846929"/>
            <a:ext cx="43973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76"/>
          <p:cNvSpPr txBox="1"/>
          <p:nvPr/>
        </p:nvSpPr>
        <p:spPr>
          <a:xfrm>
            <a:off x="6452101" y="2898523"/>
            <a:ext cx="2917186" cy="556735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600" b="1" dirty="0">
                <a:solidFill>
                  <a:schemeClr val="accent1"/>
                </a:solidFill>
                <a:latin typeface="+mn-lt"/>
              </a:rPr>
              <a:t>THANKS!</a:t>
            </a:r>
            <a:endParaRPr lang="zh-CN" altLang="en-US" sz="16600" b="1" dirty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6414001" y="3695228"/>
            <a:ext cx="44202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C:\Users\Administrator\Desktop\山东大学\图片\3C5EEB60D8612D4B7AC81916BAD_73A9D09F_43B8.png3C5EEB60D8612D4B7AC81916BAD_73A9D09F_43B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8245" y="3811905"/>
            <a:ext cx="3828415" cy="1704975"/>
          </a:xfrm>
          <a:prstGeom prst="rect">
            <a:avLst/>
          </a:prstGeom>
        </p:spPr>
      </p:pic>
      <p:pic>
        <p:nvPicPr>
          <p:cNvPr id="11" name="图片 10" descr="文本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887" y="5903612"/>
            <a:ext cx="5638800" cy="111460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c2abdb06-b479-484f-9e04-0cb30f5778f9"/>
</p:tagLst>
</file>

<file path=ppt/theme/theme1.xml><?xml version="1.0" encoding="utf-8"?>
<a:theme xmlns:a="http://schemas.openxmlformats.org/drawingml/2006/main" name="主题5">
  <a:themeElements>
    <a:clrScheme name="自定义 34">
      <a:dk1>
        <a:srgbClr val="000000"/>
      </a:dk1>
      <a:lt1>
        <a:srgbClr val="FFFFFF"/>
      </a:lt1>
      <a:dk2>
        <a:srgbClr val="778495"/>
      </a:dk2>
      <a:lt2>
        <a:srgbClr val="F2F2F2"/>
      </a:lt2>
      <a:accent1>
        <a:srgbClr val="F15931"/>
      </a:accent1>
      <a:accent2>
        <a:srgbClr val="666666"/>
      </a:accent2>
      <a:accent3>
        <a:srgbClr val="727272"/>
      </a:accent3>
      <a:accent4>
        <a:srgbClr val="999999"/>
      </a:accent4>
      <a:accent5>
        <a:srgbClr val="9B8357"/>
      </a:accent5>
      <a:accent6>
        <a:srgbClr val="94A088"/>
      </a:accent6>
      <a:hlink>
        <a:srgbClr val="F15931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7512</TotalTime>
  <Words>7239</Words>
  <Application>Microsoft Office PowerPoint</Application>
  <PresentationFormat>宽屏</PresentationFormat>
  <Paragraphs>566</Paragraphs>
  <Slides>45</Slides>
  <Notes>42</Notes>
  <HiddenSlides>0</HiddenSlides>
  <MMClips>3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Google Sans Text</vt:lpstr>
      <vt:lpstr>Noto Sans SC</vt:lpstr>
      <vt:lpstr>华文新魏</vt:lpstr>
      <vt:lpstr>微软雅黑</vt:lpstr>
      <vt:lpstr>Arial</vt:lpstr>
      <vt:lpstr>Calibri</vt:lpstr>
      <vt:lpstr>Impact</vt:lpstr>
      <vt:lpstr>Times New Roman</vt:lpstr>
      <vt:lpstr>Wingdings</vt:lpstr>
      <vt:lpstr>主题5</vt:lpstr>
      <vt:lpstr>PowerPoint 演示文稿</vt:lpstr>
      <vt:lpstr>工作时间线</vt:lpstr>
      <vt:lpstr>工作总结</vt:lpstr>
      <vt:lpstr>PowerPoint 演示文稿</vt:lpstr>
      <vt:lpstr>研究背景及目的</vt:lpstr>
      <vt:lpstr>研究背景及目的</vt:lpstr>
      <vt:lpstr>研究背景及目的</vt:lpstr>
      <vt:lpstr>研究背景及目的</vt:lpstr>
      <vt:lpstr>PowerPoint 演示文稿</vt:lpstr>
      <vt:lpstr>研究现状及问题</vt:lpstr>
      <vt:lpstr>研究现状及问题</vt:lpstr>
      <vt:lpstr>研究现状及问题</vt:lpstr>
      <vt:lpstr>研究现状及问题</vt:lpstr>
      <vt:lpstr>PowerPoint 演示文稿</vt:lpstr>
      <vt:lpstr>研究内容及步骤</vt:lpstr>
      <vt:lpstr>研究内容及步骤</vt:lpstr>
      <vt:lpstr>研究内容及步骤</vt:lpstr>
      <vt:lpstr>研究内容及步骤</vt:lpstr>
      <vt:lpstr>项目价值与场景化</vt:lpstr>
      <vt:lpstr>研究内容及步骤</vt:lpstr>
      <vt:lpstr>研究内容及步骤</vt:lpstr>
      <vt:lpstr>步骤一：搭建系统</vt:lpstr>
      <vt:lpstr>步骤一：搭建系统</vt:lpstr>
      <vt:lpstr>步骤一：搭建系统</vt:lpstr>
      <vt:lpstr>步骤二：3D模型生成选型</vt:lpstr>
      <vt:lpstr>步骤二：3D模型生成选型</vt:lpstr>
      <vt:lpstr>步骤二：3D模型生成选型</vt:lpstr>
      <vt:lpstr>步骤三：测试骨骼绑定模型</vt:lpstr>
      <vt:lpstr>步骤三：测试骨骼绑定模型</vt:lpstr>
      <vt:lpstr>步骤三：测试骨骼绑定模型</vt:lpstr>
      <vt:lpstr>步骤三：测试骨骼绑定于驱动</vt:lpstr>
      <vt:lpstr>步骤四：研究3D模型驱动</vt:lpstr>
      <vt:lpstr>步骤四：研究3D模型驱动</vt:lpstr>
      <vt:lpstr>PowerPoint 演示文稿</vt:lpstr>
      <vt:lpstr>步骤四：研究3D模型驱动</vt:lpstr>
      <vt:lpstr>步骤四：研究3D模型驱动</vt:lpstr>
      <vt:lpstr>步骤四：研究3D模型驱动</vt:lpstr>
      <vt:lpstr>步骤四：研究3D模型驱动</vt:lpstr>
      <vt:lpstr>步骤四：多模态情绪感知与情绪化回复生成</vt:lpstr>
      <vt:lpstr>步骤四：多模态情绪感知与回复及动作生成</vt:lpstr>
      <vt:lpstr>步骤四：多模态情绪感知与回复及动作生成</vt:lpstr>
      <vt:lpstr>步骤四：多模态情绪感知与回复及动作生成</vt:lpstr>
      <vt:lpstr>后续计划</vt:lpstr>
      <vt:lpstr>实验过程及结论</vt:lpstr>
      <vt:lpstr>姓名 xxx@mail.sdu.edu.cn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world hello</cp:lastModifiedBy>
  <cp:revision>469</cp:revision>
  <cp:lastPrinted>2017-09-04T16:00:00Z</cp:lastPrinted>
  <dcterms:created xsi:type="dcterms:W3CDTF">2017-09-04T16:00:00Z</dcterms:created>
  <dcterms:modified xsi:type="dcterms:W3CDTF">2026-08-23T02:11:42Z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b7ccc1b2-cf53-4400-957a-3ac962aedd74</vt:lpwstr>
  </property>
  <property fmtid="{D5CDD505-2E9C-101B-9397-08002B2CF9AE}" pid="3" name="KSOProductBuildVer">
    <vt:lpwstr>2052-12.1.0.23542</vt:lpwstr>
  </property>
  <property fmtid="{D5CDD505-2E9C-101B-9397-08002B2CF9AE}" pid="4" name="ICV">
    <vt:lpwstr>30E210155D9946ECBDF8233D6CBF0B19_13</vt:lpwstr>
  </property>
</Properties>
</file>